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
  <Relationship Id="rId19" Type="http://schemas.openxmlformats.org/officeDocument/2006/relationships/presProps" Target="presProps.xml"/>
  <Relationship Id="rId20" Type="http://schemas.openxmlformats.org/officeDocument/2006/relationships/viewProps" Target="viewProps.xml"/>
  <Relationship Id="rId21" Type="http://schemas.openxmlformats.org/officeDocument/2006/relationships/tableStyles" Target="tableStyles.xml"/>
  <Relationship Id="rId2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82900290374-61"/>
          <p:cNvPicPr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" name="el-1782900286378-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0B0D1A">
                  <a:alpha val="92000"/>
                </a:srgbClr>
              </a:gs>
              <a:gs pos="50000">
                <a:srgbClr val="0B0D1A">
                  <a:alpha val="60000"/>
                </a:srgbClr>
              </a:gs>
              <a:gs pos="100000">
                <a:srgbClr val="0B0D1A">
                  <a:alpha val="88000"/>
                </a:srgbClr>
              </a:gs>
            </a:gsLst>
            <a:lin ang="33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l-1782900286385-4"/>
          <p:cNvSpPr/>
          <p:nvPr/>
        </p:nvSpPr>
        <p:spPr>
          <a:xfrm>
            <a:off x="6429375" y="0"/>
            <a:ext cx="2714625" cy="2857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0800"/>
                </a:moveTo>
                <a:lnTo>
                  <a:pt x="96804" y="92620"/>
                </a:lnTo>
                <a:lnTo>
                  <a:pt x="90965" y="95243"/>
                </a:lnTo>
                <a:lnTo>
                  <a:pt x="84888" y="97310"/>
                </a:lnTo>
                <a:lnTo>
                  <a:pt x="78625" y="98800"/>
                </a:lnTo>
                <a:lnTo>
                  <a:pt x="72239" y="99700"/>
                </a:lnTo>
                <a:lnTo>
                  <a:pt x="65789" y="100000"/>
                </a:lnTo>
                <a:lnTo>
                  <a:pt x="59340" y="99700"/>
                </a:lnTo>
                <a:lnTo>
                  <a:pt x="52954" y="98800"/>
                </a:lnTo>
                <a:lnTo>
                  <a:pt x="46691" y="97310"/>
                </a:lnTo>
                <a:lnTo>
                  <a:pt x="40614" y="95243"/>
                </a:lnTo>
                <a:lnTo>
                  <a:pt x="34775" y="92620"/>
                </a:lnTo>
                <a:lnTo>
                  <a:pt x="29239" y="89467"/>
                </a:lnTo>
                <a:lnTo>
                  <a:pt x="24053" y="85813"/>
                </a:lnTo>
                <a:lnTo>
                  <a:pt x="19270" y="81693"/>
                </a:lnTo>
                <a:lnTo>
                  <a:pt x="14933" y="77150"/>
                </a:lnTo>
                <a:lnTo>
                  <a:pt x="11088" y="72223"/>
                </a:lnTo>
                <a:lnTo>
                  <a:pt x="7768" y="66963"/>
                </a:lnTo>
                <a:lnTo>
                  <a:pt x="5007" y="61417"/>
                </a:lnTo>
                <a:lnTo>
                  <a:pt x="2832" y="55643"/>
                </a:lnTo>
                <a:lnTo>
                  <a:pt x="1263" y="49693"/>
                </a:lnTo>
                <a:lnTo>
                  <a:pt x="316" y="43627"/>
                </a:lnTo>
                <a:lnTo>
                  <a:pt x="0" y="37500"/>
                </a:lnTo>
                <a:lnTo>
                  <a:pt x="316" y="31373"/>
                </a:lnTo>
                <a:lnTo>
                  <a:pt x="1263" y="25307"/>
                </a:lnTo>
                <a:lnTo>
                  <a:pt x="2832" y="19357"/>
                </a:lnTo>
                <a:lnTo>
                  <a:pt x="5007" y="13583"/>
                </a:lnTo>
                <a:lnTo>
                  <a:pt x="7768" y="8037"/>
                </a:lnTo>
                <a:lnTo>
                  <a:pt x="11088" y="2777"/>
                </a:lnTo>
                <a:lnTo>
                  <a:pt x="13256" y="0"/>
                </a:lnTo>
                <a:lnTo>
                  <a:pt x="100000" y="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8000"/>
                </a:srgbClr>
              </a:gs>
              <a:gs pos="70000">
                <a:srgbClr val="D4A017">
                  <a:alpha val="0"/>
                </a:srgbClr>
              </a:gs>
            </a:gsLst>
            <a:path path="circle">
              <a:fillToRect l="30000" t="40000" r="70000" b="6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l-1782900286388-5"/>
          <p:cNvSpPr/>
          <p:nvPr/>
        </p:nvSpPr>
        <p:spPr>
          <a:xfrm>
            <a:off x="0" y="28575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62500"/>
                </a:moveTo>
                <a:lnTo>
                  <a:pt x="99700" y="68625"/>
                </a:lnTo>
                <a:lnTo>
                  <a:pt x="98800" y="74692"/>
                </a:lnTo>
                <a:lnTo>
                  <a:pt x="97308" y="80642"/>
                </a:lnTo>
                <a:lnTo>
                  <a:pt x="95242" y="86417"/>
                </a:lnTo>
                <a:lnTo>
                  <a:pt x="92621" y="91963"/>
                </a:lnTo>
                <a:lnTo>
                  <a:pt x="89467" y="97225"/>
                </a:lnTo>
                <a:lnTo>
                  <a:pt x="87408" y="100000"/>
                </a:lnTo>
                <a:lnTo>
                  <a:pt x="0" y="100000"/>
                </a:lnTo>
                <a:lnTo>
                  <a:pt x="0" y="12592"/>
                </a:lnTo>
                <a:lnTo>
                  <a:pt x="2775" y="10533"/>
                </a:lnTo>
                <a:lnTo>
                  <a:pt x="8038" y="7379"/>
                </a:lnTo>
                <a:lnTo>
                  <a:pt x="13583" y="4758"/>
                </a:lnTo>
                <a:lnTo>
                  <a:pt x="19358" y="2692"/>
                </a:lnTo>
                <a:lnTo>
                  <a:pt x="25308" y="1200"/>
                </a:lnTo>
                <a:lnTo>
                  <a:pt x="31375" y="300"/>
                </a:lnTo>
                <a:lnTo>
                  <a:pt x="37500" y="0"/>
                </a:lnTo>
                <a:lnTo>
                  <a:pt x="43625" y="300"/>
                </a:lnTo>
                <a:lnTo>
                  <a:pt x="49692" y="1200"/>
                </a:lnTo>
                <a:lnTo>
                  <a:pt x="55642" y="2692"/>
                </a:lnTo>
                <a:lnTo>
                  <a:pt x="61417" y="4758"/>
                </a:lnTo>
                <a:lnTo>
                  <a:pt x="66963" y="7379"/>
                </a:lnTo>
                <a:lnTo>
                  <a:pt x="72225" y="10533"/>
                </a:lnTo>
                <a:lnTo>
                  <a:pt x="77150" y="14188"/>
                </a:lnTo>
                <a:lnTo>
                  <a:pt x="81696" y="18304"/>
                </a:lnTo>
                <a:lnTo>
                  <a:pt x="85813" y="22850"/>
                </a:lnTo>
                <a:lnTo>
                  <a:pt x="89467" y="27775"/>
                </a:lnTo>
                <a:lnTo>
                  <a:pt x="92621" y="33038"/>
                </a:lnTo>
                <a:lnTo>
                  <a:pt x="95242" y="38583"/>
                </a:lnTo>
                <a:lnTo>
                  <a:pt x="97308" y="44358"/>
                </a:lnTo>
                <a:lnTo>
                  <a:pt x="98800" y="50308"/>
                </a:lnTo>
                <a:lnTo>
                  <a:pt x="99700" y="56375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5000"/>
                </a:srgbClr>
              </a:gs>
              <a:gs pos="70000">
                <a:srgbClr val="D4A017">
                  <a:alpha val="0"/>
                </a:srgbClr>
              </a:gs>
            </a:gsLst>
            <a:path path="circle">
              <a:fillToRect l="70000" t="60000" r="30000" b="4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82900287243-19"/>
          <p:cNvSpPr/>
          <p:nvPr/>
        </p:nvSpPr>
        <p:spPr>
          <a:xfrm>
            <a:off x="4286250" y="2982516"/>
            <a:ext cx="571500" cy="21431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82900287229-11"/>
          <p:cNvSpPr/>
          <p:nvPr/>
        </p:nvSpPr>
        <p:spPr>
          <a:xfrm>
            <a:off x="1652081" y="3161109"/>
            <a:ext cx="5839748" cy="52578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4A017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" name="el-1782900287236-17"/>
          <p:cNvCxnSpPr/>
          <p:nvPr/>
        </p:nvCxnSpPr>
        <p:spPr>
          <a:xfrm>
            <a:off x="7481114" y="3161109"/>
            <a:ext cx="914" cy="525780"/>
          </a:xfrm>
          <a:prstGeom prst="line">
            <a:avLst/>
          </a:prstGeom>
          <a:ln w="21431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00287236-18"/>
          <p:cNvCxnSpPr/>
          <p:nvPr/>
        </p:nvCxnSpPr>
        <p:spPr>
          <a:xfrm>
            <a:off x="1662797" y="3161109"/>
            <a:ext cx="914" cy="525780"/>
          </a:xfrm>
          <a:prstGeom prst="line">
            <a:avLst/>
          </a:prstGeom>
          <a:ln w="21431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00287215-7"/>
          <p:cNvSpPr txBox="1"/>
          <p:nvPr/>
        </p:nvSpPr>
        <p:spPr>
          <a:xfrm>
            <a:off x="2994392" y="1456611"/>
            <a:ext cx="3155127" cy="502920"/>
          </a:xfrm>
          <a:prstGeom prst="rect">
            <a:avLst/>
          </a:prstGeom>
          <a:noFill/>
          <a:ln>
            <a:noFill/>
          </a:ln>
          <a:effectLst>
            <a:outerShdw blurRad="142875" dist="14288" dir="5400000" sx="100000" sy="100000" kx="0" ky="0" algn="ctr">
              <a:srgbClr val="D4A017">
                <a:alpha val="2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3600" spc="338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</a:t>
            </a:r>
            <a:r>
              <a:rPr b="1" sz="3600" spc="338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Pilot</a:t>
            </a:r>
            <a:endParaRPr/>
          </a:p>
        </p:txBody>
      </p:sp>
      <p:sp>
        <p:nvSpPr>
          <p:cNvPr id="11" name="el-1782900287222-8"/>
          <p:cNvSpPr txBox="1"/>
          <p:nvPr/>
        </p:nvSpPr>
        <p:spPr>
          <a:xfrm>
            <a:off x="2652028" y="2059543"/>
            <a:ext cx="3839855" cy="2800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1570" spc="113">
                <a:solidFill>
                  <a:srgbClr val="EDEDF0"/>
                </a:solidFill>
                <a:latin typeface="Microsoft YaHei"/>
                <a:ea typeface="Microsoft YaHei"/>
                <a:cs typeface="Microsoft YaHei"/>
              </a:rPr>
              <a:t>以帧为中心的 Android 调度辅助系统</a:t>
            </a:r>
            <a:endParaRPr/>
          </a:p>
        </p:txBody>
      </p:sp>
      <p:sp>
        <p:nvSpPr>
          <p:cNvPr id="12" name="el-1782900287223-9"/>
          <p:cNvSpPr txBox="1"/>
          <p:nvPr/>
        </p:nvSpPr>
        <p:spPr>
          <a:xfrm>
            <a:off x="1643063" y="2411016"/>
            <a:ext cx="5857875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680"/>
              </a:lnSpc>
            </a:pPr>
            <a:r>
              <a:rPr sz="1120" spc="56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A Frame-aligned, dependency-aware scheduling assistant targeting Android interaction workloads</a:t>
            </a:r>
            <a:endParaRPr/>
          </a:p>
        </p:txBody>
      </p:sp>
      <p:sp>
        <p:nvSpPr>
          <p:cNvPr id="13" name="el-1782900287225-10"/>
          <p:cNvSpPr txBox="1"/>
          <p:nvPr/>
        </p:nvSpPr>
        <p:spPr>
          <a:xfrm>
            <a:off x="1832104" y="3218259"/>
            <a:ext cx="5479703" cy="411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616"/>
              </a:lnSpc>
            </a:pPr>
            <a:r>
              <a:rPr sz="1010" spc="17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cs typeface="Microsoft YaHei"/>
              </a:rPr>
              <a:t>以帧为中心的 Android 调度辅助系统，通过 eBPF 采集内核调度事件，Perfetto 标定帧边界，</a:t>
            </a:r>
            <a:endParaRPr/>
          </a:p>
          <a:p>
            <a:pPr algn="ctr">
              <a:lnSpc>
                <a:spcPts val="1616"/>
              </a:lnSpc>
            </a:pPr>
            <a:r>
              <a:rPr sz="1010" spc="17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cs typeface="Microsoft YaHei"/>
              </a:rPr>
              <a:t>构建帧级依赖路径图，识别卡顿根因并输出调度建议</a:t>
            </a:r>
            <a:endParaRPr/>
          </a:p>
        </p:txBody>
      </p:sp>
      <p:cxnSp>
        <p:nvCxnSpPr>
          <p:cNvPr id="14" name="el-1782900286275-1"/>
          <p:cNvCxnSpPr/>
          <p:nvPr/>
        </p:nvCxnSpPr>
        <p:spPr>
          <a:xfrm>
            <a:off x="0" y="5139928"/>
            <a:ext cx="9144000" cy="914"/>
          </a:xfrm>
          <a:prstGeom prst="line">
            <a:avLst/>
          </a:prstGeom>
          <a:ln w="9525" cap="flat">
            <a:solidFill>
              <a:srgbClr val="D4A017">
                <a:alpha val="15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00287230-12"/>
          <p:cNvSpPr txBox="1"/>
          <p:nvPr/>
        </p:nvSpPr>
        <p:spPr>
          <a:xfrm>
            <a:off x="5824567" y="4583430"/>
            <a:ext cx="291938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spc="2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cs typeface="Microsoft YaHei"/>
              </a:rPr>
              <a:t>TracePilot 团队 · 潘智勇 李松茂 邵晨轩 贺小轩 杨子皓</a:t>
            </a:r>
            <a:endParaRPr/>
          </a:p>
        </p:txBody>
      </p:sp>
      <p:sp>
        <p:nvSpPr>
          <p:cNvPr id="16" name="el-1782900287230-13"/>
          <p:cNvSpPr txBox="1"/>
          <p:nvPr/>
        </p:nvSpPr>
        <p:spPr>
          <a:xfrm>
            <a:off x="7950101" y="4772025"/>
            <a:ext cx="79384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spc="56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2026 年 6 月</a:t>
            </a:r>
            <a:endParaRPr/>
          </a:p>
        </p:txBody>
      </p:sp>
      <p:sp>
        <p:nvSpPr>
          <p:cNvPr id="17" name="el-1782900286284-2"/>
          <p:cNvSpPr txBox="1"/>
          <p:nvPr/>
        </p:nvSpPr>
        <p:spPr>
          <a:xfrm>
            <a:off x="400050" y="4806315"/>
            <a:ext cx="157850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225">
                <a:solidFill>
                  <a:srgbClr val="D4A017">
                    <a:alpha val="25000"/>
                  </a:srgbClr>
                </a:solidFill>
                <a:latin typeface="Microsoft YaHei"/>
                <a:ea typeface="Microsoft YaHei"/>
                <a:cs typeface="Microsoft YaHei"/>
              </a:rPr>
              <a:t>TRACEPILOT · 帧级调度</a:t>
            </a:r>
            <a:endParaRPr/>
          </a:p>
        </p:txBody>
      </p:sp>
      <p:sp>
        <p:nvSpPr>
          <p:cNvPr id="18" name="el-1782900286393-6"/>
          <p:cNvSpPr/>
          <p:nvPr/>
        </p:nvSpPr>
        <p:spPr>
          <a:xfrm>
            <a:off x="8075742" y="171450"/>
            <a:ext cx="782509" cy="260033"/>
          </a:xfrm>
          <a:prstGeom prst="roundRect">
            <a:avLst>
              <a:gd name="adj" fmla="val 50000"/>
            </a:avLst>
          </a:prstGeom>
          <a:solidFill>
            <a:srgbClr val="0B0D1A">
              <a:alpha val="30000"/>
            </a:srgbClr>
          </a:solidFill>
          <a:ln w="7144" algn="in">
            <a:solidFill>
              <a:srgbClr val="D4A017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l-1782900287231-14"/>
          <p:cNvSpPr txBox="1"/>
          <p:nvPr/>
        </p:nvSpPr>
        <p:spPr>
          <a:xfrm>
            <a:off x="8182898" y="207169"/>
            <a:ext cx="26199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56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20" name="el-1782900287232-15"/>
          <p:cNvSpPr txBox="1"/>
          <p:nvPr/>
        </p:nvSpPr>
        <p:spPr>
          <a:xfrm>
            <a:off x="8437215" y="207169"/>
            <a:ext cx="139660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56">
                <a:solidFill>
                  <a:srgbClr val="FFFFFF">
                    <a:alpha val="2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endParaRPr/>
          </a:p>
        </p:txBody>
      </p:sp>
      <p:sp>
        <p:nvSpPr>
          <p:cNvPr id="21" name="el-1782900287233-16"/>
          <p:cNvSpPr txBox="1"/>
          <p:nvPr/>
        </p:nvSpPr>
        <p:spPr>
          <a:xfrm>
            <a:off x="8569196" y="207169"/>
            <a:ext cx="25333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56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89406-1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89410-3"/>
          <p:cNvCxnSpPr/>
          <p:nvPr/>
        </p:nvCxnSpPr>
        <p:spPr>
          <a:xfrm>
            <a:off x="994231" y="167878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89423-8"/>
          <p:cNvSpPr/>
          <p:nvPr/>
        </p:nvSpPr>
        <p:spPr>
          <a:xfrm>
            <a:off x="400050" y="891183"/>
            <a:ext cx="4029075" cy="9286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89430-13"/>
          <p:cNvCxnSpPr/>
          <p:nvPr/>
        </p:nvCxnSpPr>
        <p:spPr>
          <a:xfrm>
            <a:off x="414338" y="891183"/>
            <a:ext cx="914" cy="92868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89424-9"/>
          <p:cNvSpPr/>
          <p:nvPr/>
        </p:nvSpPr>
        <p:spPr>
          <a:xfrm>
            <a:off x="400050" y="1962745"/>
            <a:ext cx="4029075" cy="122515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l-1782900289469-25"/>
          <p:cNvSpPr/>
          <p:nvPr/>
        </p:nvSpPr>
        <p:spPr>
          <a:xfrm>
            <a:off x="550069" y="2312789"/>
            <a:ext cx="740539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82900289471-28"/>
          <p:cNvSpPr/>
          <p:nvPr/>
        </p:nvSpPr>
        <p:spPr>
          <a:xfrm>
            <a:off x="1504920" y="2312789"/>
            <a:ext cx="976461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82900289475-31"/>
          <p:cNvSpPr/>
          <p:nvPr/>
        </p:nvSpPr>
        <p:spPr>
          <a:xfrm>
            <a:off x="2695694" y="2312789"/>
            <a:ext cx="562035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82900289477-34"/>
          <p:cNvSpPr/>
          <p:nvPr/>
        </p:nvSpPr>
        <p:spPr>
          <a:xfrm>
            <a:off x="550069" y="2569964"/>
            <a:ext cx="97923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89479-37"/>
          <p:cNvSpPr/>
          <p:nvPr/>
        </p:nvSpPr>
        <p:spPr>
          <a:xfrm>
            <a:off x="1743611" y="2569964"/>
            <a:ext cx="99691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82900289425-10"/>
          <p:cNvSpPr/>
          <p:nvPr/>
        </p:nvSpPr>
        <p:spPr>
          <a:xfrm>
            <a:off x="400050" y="3330773"/>
            <a:ext cx="4029075" cy="10929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l-1782900289482-39"/>
          <p:cNvSpPr/>
          <p:nvPr/>
        </p:nvSpPr>
        <p:spPr>
          <a:xfrm>
            <a:off x="550069" y="3652242"/>
            <a:ext cx="695176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82900289484-42"/>
          <p:cNvSpPr/>
          <p:nvPr/>
        </p:nvSpPr>
        <p:spPr>
          <a:xfrm>
            <a:off x="550069" y="3887986"/>
            <a:ext cx="571500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82900289486-44"/>
          <p:cNvSpPr/>
          <p:nvPr/>
        </p:nvSpPr>
        <p:spPr>
          <a:xfrm>
            <a:off x="550069" y="4123730"/>
            <a:ext cx="660529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82900289427-11"/>
          <p:cNvSpPr/>
          <p:nvPr/>
        </p:nvSpPr>
        <p:spPr>
          <a:xfrm>
            <a:off x="4714875" y="1409105"/>
            <a:ext cx="4029075" cy="1371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7" name="el-1782900289433-14"/>
          <p:cNvCxnSpPr/>
          <p:nvPr/>
        </p:nvCxnSpPr>
        <p:spPr>
          <a:xfrm>
            <a:off x="4729163" y="1409105"/>
            <a:ext cx="914" cy="137160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2900289428-12"/>
          <p:cNvSpPr/>
          <p:nvPr/>
        </p:nvSpPr>
        <p:spPr>
          <a:xfrm>
            <a:off x="4714875" y="2923580"/>
            <a:ext cx="4029075" cy="9822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l-1782900289489-47"/>
          <p:cNvSpPr/>
          <p:nvPr/>
        </p:nvSpPr>
        <p:spPr>
          <a:xfrm>
            <a:off x="4864894" y="3287911"/>
            <a:ext cx="1014859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82900289491-50"/>
          <p:cNvSpPr/>
          <p:nvPr/>
        </p:nvSpPr>
        <p:spPr>
          <a:xfrm>
            <a:off x="6108353" y="3287911"/>
            <a:ext cx="471666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82900289493-53"/>
          <p:cNvSpPr/>
          <p:nvPr/>
        </p:nvSpPr>
        <p:spPr>
          <a:xfrm>
            <a:off x="6808619" y="3287911"/>
            <a:ext cx="537031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82900289495-56"/>
          <p:cNvSpPr/>
          <p:nvPr/>
        </p:nvSpPr>
        <p:spPr>
          <a:xfrm>
            <a:off x="7574251" y="3287911"/>
            <a:ext cx="846624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3" name="el-1782900289407-2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2900289412-4"/>
          <p:cNvSpPr txBox="1"/>
          <p:nvPr/>
        </p:nvSpPr>
        <p:spPr>
          <a:xfrm>
            <a:off x="400050" y="179308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02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25" name="el-1782900289414-5"/>
          <p:cNvSpPr txBox="1"/>
          <p:nvPr/>
        </p:nvSpPr>
        <p:spPr>
          <a:xfrm>
            <a:off x="1140678" y="159306"/>
            <a:ext cx="255737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Android 卡顿：从何而来，如何定位？</a:t>
            </a:r>
            <a:endParaRPr/>
          </a:p>
        </p:txBody>
      </p:sp>
      <p:sp>
        <p:nvSpPr>
          <p:cNvPr id="26" name="el-1782900289445-18"/>
          <p:cNvSpPr txBox="1"/>
          <p:nvPr/>
        </p:nvSpPr>
        <p:spPr>
          <a:xfrm>
            <a:off x="571500" y="1026914"/>
            <a:ext cx="37719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 spc="28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◆ 核心问题</a:t>
            </a:r>
            <a:endParaRPr/>
          </a:p>
        </p:txBody>
      </p:sp>
      <p:sp>
        <p:nvSpPr>
          <p:cNvPr id="27" name="el-1782900289439-15"/>
          <p:cNvSpPr txBox="1"/>
          <p:nvPr/>
        </p:nvSpPr>
        <p:spPr>
          <a:xfrm>
            <a:off x="571500" y="1255514"/>
            <a:ext cx="3707606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Android 交互卡顿（Jank）严重影响用户体验，根因往往是</a:t>
            </a: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跨进程等待链</a:t>
            </a: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/>
          </a:p>
        </p:txBody>
      </p:sp>
      <p:sp>
        <p:nvSpPr>
          <p:cNvPr id="28" name="el-1782900289446-19"/>
          <p:cNvSpPr txBox="1"/>
          <p:nvPr/>
        </p:nvSpPr>
        <p:spPr>
          <a:xfrm>
            <a:off x="550069" y="2084189"/>
            <a:ext cx="37933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跨进程等待链</a:t>
            </a:r>
            <a:endParaRPr/>
          </a:p>
        </p:txBody>
      </p:sp>
      <p:sp>
        <p:nvSpPr>
          <p:cNvPr id="29" name="el-1782900289467-24"/>
          <p:cNvSpPr txBox="1"/>
          <p:nvPr/>
        </p:nvSpPr>
        <p:spPr>
          <a:xfrm>
            <a:off x="650081" y="2355652"/>
            <a:ext cx="69410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UI Thread</a:t>
            </a:r>
            <a:endParaRPr/>
          </a:p>
        </p:txBody>
      </p:sp>
      <p:sp>
        <p:nvSpPr>
          <p:cNvPr id="30" name="el-1782900289469-26"/>
          <p:cNvSpPr txBox="1"/>
          <p:nvPr/>
        </p:nvSpPr>
        <p:spPr>
          <a:xfrm>
            <a:off x="1319183" y="2348508"/>
            <a:ext cx="235744" cy="1571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1" name="el-1782900289470-27"/>
          <p:cNvSpPr txBox="1"/>
          <p:nvPr/>
        </p:nvSpPr>
        <p:spPr>
          <a:xfrm>
            <a:off x="1604933" y="2355652"/>
            <a:ext cx="930027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RenderThread</a:t>
            </a:r>
            <a:endParaRPr/>
          </a:p>
        </p:txBody>
      </p:sp>
      <p:sp>
        <p:nvSpPr>
          <p:cNvPr id="32" name="el-1782900289472-29"/>
          <p:cNvSpPr txBox="1"/>
          <p:nvPr/>
        </p:nvSpPr>
        <p:spPr>
          <a:xfrm>
            <a:off x="2509957" y="2348508"/>
            <a:ext cx="235744" cy="1571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3" name="el-1782900289472-30"/>
          <p:cNvSpPr txBox="1"/>
          <p:nvPr/>
        </p:nvSpPr>
        <p:spPr>
          <a:xfrm>
            <a:off x="2795707" y="2355652"/>
            <a:ext cx="51560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Binder</a:t>
            </a:r>
            <a:endParaRPr/>
          </a:p>
        </p:txBody>
      </p:sp>
      <p:sp>
        <p:nvSpPr>
          <p:cNvPr id="34" name="el-1782900289475-32"/>
          <p:cNvSpPr txBox="1"/>
          <p:nvPr/>
        </p:nvSpPr>
        <p:spPr>
          <a:xfrm>
            <a:off x="3286304" y="2348508"/>
            <a:ext cx="235744" cy="1571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5" name="el-1782900289476-33"/>
          <p:cNvSpPr txBox="1"/>
          <p:nvPr/>
        </p:nvSpPr>
        <p:spPr>
          <a:xfrm>
            <a:off x="650081" y="2612827"/>
            <a:ext cx="93279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system_server</a:t>
            </a:r>
            <a:endParaRPr/>
          </a:p>
        </p:txBody>
      </p:sp>
      <p:sp>
        <p:nvSpPr>
          <p:cNvPr id="36" name="el-1782900289477-35"/>
          <p:cNvSpPr txBox="1"/>
          <p:nvPr/>
        </p:nvSpPr>
        <p:spPr>
          <a:xfrm>
            <a:off x="1557873" y="2605683"/>
            <a:ext cx="235744" cy="1571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37" name="el-1782900289478-36"/>
          <p:cNvSpPr txBox="1"/>
          <p:nvPr/>
        </p:nvSpPr>
        <p:spPr>
          <a:xfrm>
            <a:off x="1843623" y="2612827"/>
            <a:ext cx="95047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SurfaceFlinger</a:t>
            </a:r>
            <a:endParaRPr/>
          </a:p>
        </p:txBody>
      </p:sp>
      <p:sp>
        <p:nvSpPr>
          <p:cNvPr id="38" name="el-1782900289440-16"/>
          <p:cNvSpPr txBox="1"/>
          <p:nvPr/>
        </p:nvSpPr>
        <p:spPr>
          <a:xfrm>
            <a:off x="550069" y="2884289"/>
            <a:ext cx="378975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⛓️ 卡顿根源在此</a:t>
            </a: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— 传统单进程分析方法无法有效定位跨进程依赖</a:t>
            </a:r>
            <a:endParaRPr/>
          </a:p>
        </p:txBody>
      </p:sp>
      <p:sp>
        <p:nvSpPr>
          <p:cNvPr id="39" name="el-1782900289448-20"/>
          <p:cNvSpPr txBox="1"/>
          <p:nvPr/>
        </p:nvSpPr>
        <p:spPr>
          <a:xfrm>
            <a:off x="550069" y="3437930"/>
            <a:ext cx="37933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❌ 为什么 PID-Centric 不可行</a:t>
            </a:r>
            <a:endParaRPr/>
          </a:p>
        </p:txBody>
      </p:sp>
      <p:sp>
        <p:nvSpPr>
          <p:cNvPr id="40" name="el-1782900289480-38"/>
          <p:cNvSpPr txBox="1"/>
          <p:nvPr/>
        </p:nvSpPr>
        <p:spPr>
          <a:xfrm>
            <a:off x="607219" y="3652242"/>
            <a:ext cx="69517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PID 不稳定</a:t>
            </a:r>
            <a:endParaRPr/>
          </a:p>
        </p:txBody>
      </p:sp>
      <p:sp>
        <p:nvSpPr>
          <p:cNvPr id="41" name="el-1782900289482-40"/>
          <p:cNvSpPr txBox="1"/>
          <p:nvPr/>
        </p:nvSpPr>
        <p:spPr>
          <a:xfrm>
            <a:off x="1316682" y="3652242"/>
            <a:ext cx="274311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同一 App 每次启动 PID 不同，还会被系统复用</a:t>
            </a:r>
            <a:endParaRPr/>
          </a:p>
        </p:txBody>
      </p:sp>
      <p:sp>
        <p:nvSpPr>
          <p:cNvPr id="42" name="el-1782900289482-41"/>
          <p:cNvSpPr txBox="1"/>
          <p:nvPr/>
        </p:nvSpPr>
        <p:spPr>
          <a:xfrm>
            <a:off x="607219" y="3887986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全局缺失</a:t>
            </a:r>
            <a:endParaRPr/>
          </a:p>
        </p:txBody>
      </p:sp>
      <p:sp>
        <p:nvSpPr>
          <p:cNvPr id="43" name="el-1782900289466-23"/>
          <p:cNvSpPr txBox="1"/>
          <p:nvPr/>
        </p:nvSpPr>
        <p:spPr>
          <a:xfrm>
            <a:off x="1193006" y="3887986"/>
            <a:ext cx="3105477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卡顿不是单个 PID 的问题：Jank 根因是</a:t>
            </a: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跨进程等待链</a:t>
            </a:r>
            <a:endParaRPr/>
          </a:p>
        </p:txBody>
      </p:sp>
      <p:sp>
        <p:nvSpPr>
          <p:cNvPr id="44" name="el-1782900289485-43"/>
          <p:cNvSpPr txBox="1"/>
          <p:nvPr/>
        </p:nvSpPr>
        <p:spPr>
          <a:xfrm>
            <a:off x="607219" y="4123730"/>
            <a:ext cx="66052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局限</a:t>
            </a:r>
            <a:endParaRPr/>
          </a:p>
        </p:txBody>
      </p:sp>
      <p:sp>
        <p:nvSpPr>
          <p:cNvPr id="45" name="el-1782900289487-45"/>
          <p:cNvSpPr txBox="1"/>
          <p:nvPr/>
        </p:nvSpPr>
        <p:spPr>
          <a:xfrm>
            <a:off x="1282035" y="4123730"/>
            <a:ext cx="289321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只能观测内核事件，无法回答“用户在经历什么”</a:t>
            </a:r>
            <a:endParaRPr/>
          </a:p>
        </p:txBody>
      </p:sp>
      <p:sp>
        <p:nvSpPr>
          <p:cNvPr id="46" name="el-1782900289448-21"/>
          <p:cNvSpPr txBox="1"/>
          <p:nvPr/>
        </p:nvSpPr>
        <p:spPr>
          <a:xfrm>
            <a:off x="4886325" y="1544836"/>
            <a:ext cx="37719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对比结论 · PID vs Frame</a:t>
            </a:r>
            <a:endParaRPr/>
          </a:p>
        </p:txBody>
      </p:sp>
      <p:sp>
        <p:nvSpPr>
          <p:cNvPr id="47" name="el-1782900289516-59"/>
          <p:cNvSpPr txBox="1"/>
          <p:nvPr/>
        </p:nvSpPr>
        <p:spPr>
          <a:xfrm>
            <a:off x="4886325" y="1787723"/>
            <a:ext cx="18823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B00020"/>
                </a:solidFill>
                <a:latin typeface="Microsoft YaHei"/>
                <a:ea typeface="Microsoft YaHei"/>
                <a:cs typeface="Microsoft YaHei"/>
              </a:rPr>
              <a:t>✕</a:t>
            </a:r>
            <a:endParaRPr/>
          </a:p>
        </p:txBody>
      </p:sp>
      <p:sp>
        <p:nvSpPr>
          <p:cNvPr id="48" name="el-1782900289513-57"/>
          <p:cNvSpPr txBox="1"/>
          <p:nvPr/>
        </p:nvSpPr>
        <p:spPr>
          <a:xfrm>
            <a:off x="5074563" y="1787723"/>
            <a:ext cx="3519368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b="1"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PID 视角：</a:t>
            </a: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看到 pid=1234 进程 CPU 占用高 → </a:t>
            </a:r>
            <a:r>
              <a:rPr sz="106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无法定位根因</a:t>
            </a:r>
            <a:endParaRPr/>
          </a:p>
        </p:txBody>
      </p:sp>
      <p:sp>
        <p:nvSpPr>
          <p:cNvPr id="49" name="el-1782900289516-60"/>
          <p:cNvSpPr txBox="1"/>
          <p:nvPr/>
        </p:nvSpPr>
        <p:spPr>
          <a:xfrm>
            <a:off x="4886325" y="2237780"/>
            <a:ext cx="17850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</a:t>
            </a:r>
            <a:endParaRPr/>
          </a:p>
        </p:txBody>
      </p:sp>
      <p:sp>
        <p:nvSpPr>
          <p:cNvPr id="50" name="el-1782900289516-58"/>
          <p:cNvSpPr txBox="1"/>
          <p:nvPr/>
        </p:nvSpPr>
        <p:spPr>
          <a:xfrm>
            <a:off x="5064829" y="2237780"/>
            <a:ext cx="3529102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b="1"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Frame 视角：</a:t>
            </a: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看到 </a:t>
            </a:r>
            <a:r>
              <a:rPr b="1" sz="106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f32 帧</a:t>
            </a: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内 SurfaceFlinger 被 Binder 调用阻塞 </a:t>
            </a:r>
            <a:r>
              <a:rPr b="1" sz="106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12ms</a:t>
            </a: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b="1"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精准定位</a:t>
            </a:r>
            <a:endParaRPr/>
          </a:p>
        </p:txBody>
      </p:sp>
      <p:sp>
        <p:nvSpPr>
          <p:cNvPr id="51" name="el-1782900289449-22"/>
          <p:cNvSpPr txBox="1"/>
          <p:nvPr/>
        </p:nvSpPr>
        <p:spPr>
          <a:xfrm>
            <a:off x="4864894" y="3045023"/>
            <a:ext cx="37933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正确路径 · 四步闭环</a:t>
            </a:r>
            <a:endParaRPr/>
          </a:p>
        </p:txBody>
      </p:sp>
      <p:sp>
        <p:nvSpPr>
          <p:cNvPr id="52" name="el-1782900289487-46"/>
          <p:cNvSpPr txBox="1"/>
          <p:nvPr/>
        </p:nvSpPr>
        <p:spPr>
          <a:xfrm>
            <a:off x="4964906" y="3330773"/>
            <a:ext cx="96842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FrameTimeline</a:t>
            </a:r>
            <a:endParaRPr/>
          </a:p>
        </p:txBody>
      </p:sp>
      <p:sp>
        <p:nvSpPr>
          <p:cNvPr id="53" name="el-1782900289489-48"/>
          <p:cNvSpPr txBox="1"/>
          <p:nvPr/>
        </p:nvSpPr>
        <p:spPr>
          <a:xfrm>
            <a:off x="5922615" y="3307914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54" name="el-1782900289490-49"/>
          <p:cNvSpPr txBox="1"/>
          <p:nvPr/>
        </p:nvSpPr>
        <p:spPr>
          <a:xfrm>
            <a:off x="6208365" y="3330773"/>
            <a:ext cx="42523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eBPF</a:t>
            </a:r>
            <a:endParaRPr/>
          </a:p>
        </p:txBody>
      </p:sp>
      <p:sp>
        <p:nvSpPr>
          <p:cNvPr id="55" name="el-1782900289491-51"/>
          <p:cNvSpPr txBox="1"/>
          <p:nvPr/>
        </p:nvSpPr>
        <p:spPr>
          <a:xfrm>
            <a:off x="6622882" y="3307914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56" name="el-1782900289491-52"/>
          <p:cNvSpPr txBox="1"/>
          <p:nvPr/>
        </p:nvSpPr>
        <p:spPr>
          <a:xfrm>
            <a:off x="6908632" y="3330773"/>
            <a:ext cx="490597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Graph</a:t>
            </a:r>
            <a:endParaRPr/>
          </a:p>
        </p:txBody>
      </p:sp>
      <p:sp>
        <p:nvSpPr>
          <p:cNvPr id="57" name="el-1782900289493-54"/>
          <p:cNvSpPr txBox="1"/>
          <p:nvPr/>
        </p:nvSpPr>
        <p:spPr>
          <a:xfrm>
            <a:off x="7388513" y="3307914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58" name="el-1782900289494-55"/>
          <p:cNvSpPr txBox="1"/>
          <p:nvPr/>
        </p:nvSpPr>
        <p:spPr>
          <a:xfrm>
            <a:off x="7674263" y="3330773"/>
            <a:ext cx="80018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84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Hint Engine</a:t>
            </a:r>
            <a:endParaRPr/>
          </a:p>
        </p:txBody>
      </p:sp>
      <p:sp>
        <p:nvSpPr>
          <p:cNvPr id="59" name="el-1782900289444-17"/>
          <p:cNvSpPr txBox="1"/>
          <p:nvPr/>
        </p:nvSpPr>
        <p:spPr>
          <a:xfrm>
            <a:off x="4864894" y="3602236"/>
            <a:ext cx="378975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定义问题</a:t>
            </a: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提供原因</a:t>
            </a: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找关键路径</a:t>
            </a: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受控干预</a:t>
            </a:r>
            <a:endParaRPr/>
          </a:p>
        </p:txBody>
      </p:sp>
      <p:sp>
        <p:nvSpPr>
          <p:cNvPr id="60" name="el-1782900289414-6"/>
          <p:cNvSpPr txBox="1"/>
          <p:nvPr/>
        </p:nvSpPr>
        <p:spPr>
          <a:xfrm>
            <a:off x="400050" y="4904184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61" name="el-1782900289415-7"/>
          <p:cNvSpPr txBox="1"/>
          <p:nvPr/>
        </p:nvSpPr>
        <p:spPr>
          <a:xfrm>
            <a:off x="7709267" y="4904184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89238-1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89254-3"/>
          <p:cNvCxnSpPr/>
          <p:nvPr/>
        </p:nvCxnSpPr>
        <p:spPr>
          <a:xfrm>
            <a:off x="994231" y="167878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89305-11"/>
          <p:cNvSpPr/>
          <p:nvPr/>
        </p:nvSpPr>
        <p:spPr>
          <a:xfrm>
            <a:off x="400050" y="1268016"/>
            <a:ext cx="28575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l-1782900289311-13"/>
          <p:cNvSpPr/>
          <p:nvPr/>
        </p:nvSpPr>
        <p:spPr>
          <a:xfrm>
            <a:off x="400050" y="1553766"/>
            <a:ext cx="8343900" cy="12644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el-1782900289280-8"/>
          <p:cNvSpPr/>
          <p:nvPr/>
        </p:nvSpPr>
        <p:spPr>
          <a:xfrm>
            <a:off x="400050" y="3018234"/>
            <a:ext cx="8343900" cy="10429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89288-9"/>
          <p:cNvCxnSpPr/>
          <p:nvPr/>
        </p:nvCxnSpPr>
        <p:spPr>
          <a:xfrm>
            <a:off x="414338" y="3018234"/>
            <a:ext cx="914" cy="104298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00289328-18"/>
          <p:cNvSpPr txBox="1"/>
          <p:nvPr/>
        </p:nvSpPr>
        <p:spPr>
          <a:xfrm>
            <a:off x="585788" y="3368278"/>
            <a:ext cx="213062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9" name="el-1782900289330-19"/>
          <p:cNvSpPr txBox="1"/>
          <p:nvPr/>
        </p:nvSpPr>
        <p:spPr>
          <a:xfrm>
            <a:off x="3292019" y="3368278"/>
            <a:ext cx="213062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10" name="el-1782900289333-20"/>
          <p:cNvSpPr txBox="1"/>
          <p:nvPr/>
        </p:nvSpPr>
        <p:spPr>
          <a:xfrm>
            <a:off x="5051524" y="3368278"/>
            <a:ext cx="213062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11" name="el-1782900289336-21"/>
          <p:cNvSpPr txBox="1"/>
          <p:nvPr/>
        </p:nvSpPr>
        <p:spPr>
          <a:xfrm>
            <a:off x="6700480" y="3368278"/>
            <a:ext cx="213062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12" name="el-1782900289338-22"/>
          <p:cNvSpPr txBox="1"/>
          <p:nvPr/>
        </p:nvSpPr>
        <p:spPr>
          <a:xfrm>
            <a:off x="585788" y="3704034"/>
            <a:ext cx="213062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12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cxnSp>
        <p:nvCxnSpPr>
          <p:cNvPr id="13" name="el-1782900289242-2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2900289259-4"/>
          <p:cNvSpPr txBox="1"/>
          <p:nvPr/>
        </p:nvSpPr>
        <p:spPr>
          <a:xfrm>
            <a:off x="400050" y="179308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03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15" name="el-1782900289264-5"/>
          <p:cNvSpPr txBox="1"/>
          <p:nvPr/>
        </p:nvSpPr>
        <p:spPr>
          <a:xfrm>
            <a:off x="1140678" y="159306"/>
            <a:ext cx="107156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项目开发路线图</a:t>
            </a:r>
            <a:endParaRPr/>
          </a:p>
        </p:txBody>
      </p:sp>
      <p:sp>
        <p:nvSpPr>
          <p:cNvPr id="16" name="el-1782900289299-10"/>
          <p:cNvSpPr txBox="1"/>
          <p:nvPr/>
        </p:nvSpPr>
        <p:spPr>
          <a:xfrm>
            <a:off x="500063" y="1253728"/>
            <a:ext cx="83081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 spc="23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分阶段实施</a:t>
            </a:r>
            <a:endParaRPr/>
          </a:p>
        </p:txBody>
      </p:sp>
      <p:sp>
        <p:nvSpPr>
          <p:cNvPr id="17" name="el-1782900289307-12"/>
          <p:cNvSpPr txBox="1"/>
          <p:nvPr/>
        </p:nvSpPr>
        <p:spPr>
          <a:xfrm>
            <a:off x="585788" y="3139678"/>
            <a:ext cx="80581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✦ 老师指导与迭代</a:t>
            </a:r>
            <a:endParaRPr/>
          </a:p>
        </p:txBody>
      </p:sp>
      <p:sp>
        <p:nvSpPr>
          <p:cNvPr id="18" name="el-1782900289341-23"/>
          <p:cNvSpPr txBox="1"/>
          <p:nvPr/>
        </p:nvSpPr>
        <p:spPr>
          <a:xfrm>
            <a:off x="777419" y="3390424"/>
            <a:ext cx="214312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从</a:t>
            </a:r>
            <a:endParaRPr/>
          </a:p>
        </p:txBody>
      </p:sp>
      <p:sp>
        <p:nvSpPr>
          <p:cNvPr id="19" name="el-1782900289368-52"/>
          <p:cNvSpPr txBox="1"/>
          <p:nvPr/>
        </p:nvSpPr>
        <p:spPr>
          <a:xfrm>
            <a:off x="977444" y="3378994"/>
            <a:ext cx="9286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“全量采集”</a:t>
            </a:r>
            <a:endParaRPr/>
          </a:p>
        </p:txBody>
      </p:sp>
      <p:sp>
        <p:nvSpPr>
          <p:cNvPr id="20" name="el-1782900289342-24"/>
          <p:cNvSpPr txBox="1"/>
          <p:nvPr/>
        </p:nvSpPr>
        <p:spPr>
          <a:xfrm>
            <a:off x="1891844" y="3390424"/>
            <a:ext cx="3571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转向</a:t>
            </a:r>
            <a:endParaRPr/>
          </a:p>
        </p:txBody>
      </p:sp>
      <p:sp>
        <p:nvSpPr>
          <p:cNvPr id="21" name="el-1782900289369-53"/>
          <p:cNvSpPr txBox="1"/>
          <p:nvPr/>
        </p:nvSpPr>
        <p:spPr>
          <a:xfrm>
            <a:off x="2234744" y="3378994"/>
            <a:ext cx="9286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“场景驱动”</a:t>
            </a:r>
            <a:endParaRPr/>
          </a:p>
        </p:txBody>
      </p:sp>
      <p:sp>
        <p:nvSpPr>
          <p:cNvPr id="22" name="el-1782900289342-25"/>
          <p:cNvSpPr txBox="1"/>
          <p:nvPr/>
        </p:nvSpPr>
        <p:spPr>
          <a:xfrm>
            <a:off x="3483650" y="3390424"/>
            <a:ext cx="3571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聚焦</a:t>
            </a:r>
            <a:endParaRPr/>
          </a:p>
        </p:txBody>
      </p:sp>
      <p:sp>
        <p:nvSpPr>
          <p:cNvPr id="23" name="el-1782900289370-54"/>
          <p:cNvSpPr txBox="1"/>
          <p:nvPr/>
        </p:nvSpPr>
        <p:spPr>
          <a:xfrm>
            <a:off x="3826550" y="3378994"/>
            <a:ext cx="324862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1–2</a:t>
            </a:r>
            <a:endParaRPr/>
          </a:p>
        </p:txBody>
      </p:sp>
      <p:sp>
        <p:nvSpPr>
          <p:cNvPr id="24" name="el-1782900289343-26"/>
          <p:cNvSpPr txBox="1"/>
          <p:nvPr/>
        </p:nvSpPr>
        <p:spPr>
          <a:xfrm>
            <a:off x="4137124" y="3390424"/>
            <a:ext cx="7858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个核心场景</a:t>
            </a:r>
            <a:endParaRPr/>
          </a:p>
        </p:txBody>
      </p:sp>
      <p:sp>
        <p:nvSpPr>
          <p:cNvPr id="25" name="el-1782900289343-27"/>
          <p:cNvSpPr txBox="1"/>
          <p:nvPr/>
        </p:nvSpPr>
        <p:spPr>
          <a:xfrm>
            <a:off x="5243155" y="3390424"/>
            <a:ext cx="3571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建立</a:t>
            </a:r>
            <a:endParaRPr/>
          </a:p>
        </p:txBody>
      </p:sp>
      <p:sp>
        <p:nvSpPr>
          <p:cNvPr id="26" name="el-1782900289371-55"/>
          <p:cNvSpPr txBox="1"/>
          <p:nvPr/>
        </p:nvSpPr>
        <p:spPr>
          <a:xfrm>
            <a:off x="5586055" y="3378994"/>
            <a:ext cx="64293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数据质检</a:t>
            </a:r>
            <a:endParaRPr/>
          </a:p>
        </p:txBody>
      </p:sp>
      <p:sp>
        <p:nvSpPr>
          <p:cNvPr id="27" name="el-1782900289344-28"/>
          <p:cNvSpPr txBox="1"/>
          <p:nvPr/>
        </p:nvSpPr>
        <p:spPr>
          <a:xfrm>
            <a:off x="6214705" y="3390424"/>
            <a:ext cx="3571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流程</a:t>
            </a:r>
            <a:endParaRPr/>
          </a:p>
        </p:txBody>
      </p:sp>
      <p:sp>
        <p:nvSpPr>
          <p:cNvPr id="28" name="el-1782900289344-29"/>
          <p:cNvSpPr txBox="1"/>
          <p:nvPr/>
        </p:nvSpPr>
        <p:spPr>
          <a:xfrm>
            <a:off x="6892112" y="3390424"/>
            <a:ext cx="3571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做好</a:t>
            </a:r>
            <a:endParaRPr/>
          </a:p>
        </p:txBody>
      </p:sp>
      <p:sp>
        <p:nvSpPr>
          <p:cNvPr id="29" name="el-1782900289371-56"/>
          <p:cNvSpPr txBox="1"/>
          <p:nvPr/>
        </p:nvSpPr>
        <p:spPr>
          <a:xfrm>
            <a:off x="7235012" y="3378994"/>
            <a:ext cx="9286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特征语义映射</a:t>
            </a:r>
            <a:endParaRPr/>
          </a:p>
        </p:txBody>
      </p:sp>
      <p:sp>
        <p:nvSpPr>
          <p:cNvPr id="30" name="el-1782900289345-30"/>
          <p:cNvSpPr txBox="1"/>
          <p:nvPr/>
        </p:nvSpPr>
        <p:spPr>
          <a:xfrm>
            <a:off x="777419" y="3726180"/>
            <a:ext cx="1971139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→ 项目据此调整方向：收敛到</a:t>
            </a:r>
            <a:endParaRPr/>
          </a:p>
        </p:txBody>
      </p:sp>
      <p:sp>
        <p:nvSpPr>
          <p:cNvPr id="31" name="el-1782900289372-57"/>
          <p:cNvSpPr txBox="1"/>
          <p:nvPr/>
        </p:nvSpPr>
        <p:spPr>
          <a:xfrm>
            <a:off x="2734270" y="3714750"/>
            <a:ext cx="1408390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页面切换 + 视频浏览</a:t>
            </a:r>
            <a:endParaRPr/>
          </a:p>
        </p:txBody>
      </p:sp>
      <p:sp>
        <p:nvSpPr>
          <p:cNvPr id="32" name="el-1782900289346-31"/>
          <p:cNvSpPr txBox="1"/>
          <p:nvPr/>
        </p:nvSpPr>
        <p:spPr>
          <a:xfrm>
            <a:off x="4128373" y="3726180"/>
            <a:ext cx="6429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两大场景</a:t>
            </a:r>
            <a:endParaRPr/>
          </a:p>
        </p:txBody>
      </p:sp>
      <p:sp>
        <p:nvSpPr>
          <p:cNvPr id="33" name="el-1782900289269-6"/>
          <p:cNvSpPr txBox="1"/>
          <p:nvPr/>
        </p:nvSpPr>
        <p:spPr>
          <a:xfrm>
            <a:off x="400050" y="4904184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34" name="el-1782900289270-7"/>
          <p:cNvSpPr txBox="1"/>
          <p:nvPr/>
        </p:nvSpPr>
        <p:spPr>
          <a:xfrm>
            <a:off x="7709267" y="4904184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  <p:sp>
        <p:nvSpPr>
          <p:cNvPr id="35" name="el-1782900289321-14"/>
          <p:cNvSpPr/>
          <p:nvPr/>
        </p:nvSpPr>
        <p:spPr>
          <a:xfrm>
            <a:off x="2158841" y="1879521"/>
            <a:ext cx="7144" cy="6129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el-1782900289353-35"/>
          <p:cNvSpPr/>
          <p:nvPr/>
        </p:nvSpPr>
        <p:spPr>
          <a:xfrm>
            <a:off x="1051828" y="2389584"/>
            <a:ext cx="605165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el-1782900289322-15"/>
          <p:cNvSpPr/>
          <p:nvPr/>
        </p:nvSpPr>
        <p:spPr>
          <a:xfrm>
            <a:off x="3767614" y="1879521"/>
            <a:ext cx="7144" cy="6129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82900289357-39"/>
          <p:cNvSpPr/>
          <p:nvPr/>
        </p:nvSpPr>
        <p:spPr>
          <a:xfrm>
            <a:off x="2660600" y="2389584"/>
            <a:ext cx="605165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el-1782900289323-16"/>
          <p:cNvSpPr/>
          <p:nvPr/>
        </p:nvSpPr>
        <p:spPr>
          <a:xfrm>
            <a:off x="5376386" y="1879521"/>
            <a:ext cx="7144" cy="6129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el-1782900289361-43"/>
          <p:cNvSpPr/>
          <p:nvPr/>
        </p:nvSpPr>
        <p:spPr>
          <a:xfrm>
            <a:off x="4269373" y="2389584"/>
            <a:ext cx="605165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-1782900289324-17"/>
          <p:cNvSpPr/>
          <p:nvPr/>
        </p:nvSpPr>
        <p:spPr>
          <a:xfrm>
            <a:off x="6985159" y="1879521"/>
            <a:ext cx="7144" cy="6129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el-1782900289364-47"/>
          <p:cNvSpPr/>
          <p:nvPr/>
        </p:nvSpPr>
        <p:spPr>
          <a:xfrm>
            <a:off x="5878146" y="2525316"/>
            <a:ext cx="605165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el-1782900289368-51"/>
          <p:cNvSpPr/>
          <p:nvPr/>
        </p:nvSpPr>
        <p:spPr>
          <a:xfrm>
            <a:off x="7499956" y="2389584"/>
            <a:ext cx="579180" cy="1857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144" algn="in">
            <a:solidFill>
              <a:srgbClr val="5A5A7A"/>
            </a:solidFill>
            <a:prstDash val="sysDash"/>
          </a:ln>
        </p:spPr>
        <p:txBody>
          <a:bodyPr/>
          <a:lstStyle/>
          <a:p>
            <a:endParaRPr/>
          </a:p>
        </p:txBody>
      </p:sp>
      <p:sp>
        <p:nvSpPr>
          <p:cNvPr id="44" name="el-1782900289350-32"/>
          <p:cNvSpPr txBox="1"/>
          <p:nvPr/>
        </p:nvSpPr>
        <p:spPr>
          <a:xfrm>
            <a:off x="1114425" y="1675209"/>
            <a:ext cx="480060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前期调研</a:t>
            </a:r>
            <a:endParaRPr/>
          </a:p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第1个月</a:t>
            </a:r>
            <a:endParaRPr/>
          </a:p>
        </p:txBody>
      </p:sp>
      <p:sp>
        <p:nvSpPr>
          <p:cNvPr id="45" name="el-1782900289351-33"/>
          <p:cNvSpPr txBox="1"/>
          <p:nvPr/>
        </p:nvSpPr>
        <p:spPr>
          <a:xfrm>
            <a:off x="1044416" y="2018109"/>
            <a:ext cx="620078" cy="314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4份调研报告</a:t>
            </a:r>
            <a:endParaRPr/>
          </a:p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可行性分析</a:t>
            </a:r>
            <a:endParaRPr/>
          </a:p>
        </p:txBody>
      </p:sp>
      <p:sp>
        <p:nvSpPr>
          <p:cNvPr id="46" name="el-1782900289352-34"/>
          <p:cNvSpPr txBox="1"/>
          <p:nvPr/>
        </p:nvSpPr>
        <p:spPr>
          <a:xfrm>
            <a:off x="1083975" y="2403872"/>
            <a:ext cx="54087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8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  <a:endParaRPr/>
          </a:p>
        </p:txBody>
      </p:sp>
      <p:sp>
        <p:nvSpPr>
          <p:cNvPr id="47" name="el-1782900289354-36"/>
          <p:cNvSpPr txBox="1"/>
          <p:nvPr/>
        </p:nvSpPr>
        <p:spPr>
          <a:xfrm>
            <a:off x="2723198" y="1675209"/>
            <a:ext cx="480060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1</a:t>
            </a:r>
            <a:endParaRPr/>
          </a:p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基础能力</a:t>
            </a:r>
            <a:endParaRPr/>
          </a:p>
        </p:txBody>
      </p:sp>
      <p:sp>
        <p:nvSpPr>
          <p:cNvPr id="48" name="el-1782900289355-37"/>
          <p:cNvSpPr txBox="1"/>
          <p:nvPr/>
        </p:nvSpPr>
        <p:spPr>
          <a:xfrm>
            <a:off x="2355027" y="2018109"/>
            <a:ext cx="1216313" cy="314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FrameTimeline + sched</a:t>
            </a:r>
            <a:endParaRPr/>
          </a:p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身份层 + delay + Hint</a:t>
            </a:r>
            <a:endParaRPr/>
          </a:p>
        </p:txBody>
      </p:sp>
      <p:sp>
        <p:nvSpPr>
          <p:cNvPr id="49" name="el-1782900289355-38"/>
          <p:cNvSpPr txBox="1"/>
          <p:nvPr/>
        </p:nvSpPr>
        <p:spPr>
          <a:xfrm>
            <a:off x="2692747" y="2403872"/>
            <a:ext cx="54087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8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  <a:endParaRPr/>
          </a:p>
        </p:txBody>
      </p:sp>
      <p:sp>
        <p:nvSpPr>
          <p:cNvPr id="50" name="el-1782900289357-40"/>
          <p:cNvSpPr txBox="1"/>
          <p:nvPr/>
        </p:nvSpPr>
        <p:spPr>
          <a:xfrm>
            <a:off x="4331970" y="1675209"/>
            <a:ext cx="480060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2</a:t>
            </a:r>
            <a:endParaRPr/>
          </a:p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增强能力</a:t>
            </a:r>
            <a:endParaRPr/>
          </a:p>
        </p:txBody>
      </p:sp>
      <p:sp>
        <p:nvSpPr>
          <p:cNvPr id="51" name="el-1782900289358-41"/>
          <p:cNvSpPr txBox="1"/>
          <p:nvPr/>
        </p:nvSpPr>
        <p:spPr>
          <a:xfrm>
            <a:off x="4040237" y="2018109"/>
            <a:ext cx="1063526" cy="314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Binder/Futex 图</a:t>
            </a:r>
            <a:endParaRPr/>
          </a:p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Jank 分类 + 视频扩展</a:t>
            </a:r>
            <a:endParaRPr/>
          </a:p>
        </p:txBody>
      </p:sp>
      <p:sp>
        <p:nvSpPr>
          <p:cNvPr id="52" name="el-1782900289359-42"/>
          <p:cNvSpPr txBox="1"/>
          <p:nvPr/>
        </p:nvSpPr>
        <p:spPr>
          <a:xfrm>
            <a:off x="4301520" y="2403872"/>
            <a:ext cx="54087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8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  <a:endParaRPr/>
          </a:p>
        </p:txBody>
      </p:sp>
      <p:sp>
        <p:nvSpPr>
          <p:cNvPr id="53" name="el-1782900289361-44"/>
          <p:cNvSpPr txBox="1"/>
          <p:nvPr/>
        </p:nvSpPr>
        <p:spPr>
          <a:xfrm>
            <a:off x="5989499" y="1675209"/>
            <a:ext cx="382459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3</a:t>
            </a:r>
            <a:endParaRPr/>
          </a:p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深化</a:t>
            </a:r>
            <a:endParaRPr/>
          </a:p>
        </p:txBody>
      </p:sp>
      <p:sp>
        <p:nvSpPr>
          <p:cNvPr id="54" name="el-1782900289363-45"/>
          <p:cNvSpPr txBox="1"/>
          <p:nvPr/>
        </p:nvSpPr>
        <p:spPr>
          <a:xfrm>
            <a:off x="5419249" y="2018109"/>
            <a:ext cx="1523047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Thermal 深化</a:t>
            </a:r>
            <a:endParaRPr/>
          </a:p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Inference-aware + Multi-session</a:t>
            </a:r>
            <a:endParaRPr/>
          </a:p>
        </p:txBody>
      </p:sp>
      <p:sp>
        <p:nvSpPr>
          <p:cNvPr id="55" name="el-1782900289363-46"/>
          <p:cNvSpPr txBox="1"/>
          <p:nvPr/>
        </p:nvSpPr>
        <p:spPr>
          <a:xfrm>
            <a:off x="5910292" y="2539603"/>
            <a:ext cx="54087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8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  <a:endParaRPr/>
          </a:p>
        </p:txBody>
      </p:sp>
      <p:sp>
        <p:nvSpPr>
          <p:cNvPr id="56" name="el-1782900289365-48"/>
          <p:cNvSpPr txBox="1"/>
          <p:nvPr/>
        </p:nvSpPr>
        <p:spPr>
          <a:xfrm>
            <a:off x="7554784" y="1675209"/>
            <a:ext cx="469523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3+</a:t>
            </a:r>
            <a:endParaRPr/>
          </a:p>
          <a:p>
            <a:pPr algn="ctr">
              <a:lnSpc>
                <a:spcPts val="117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展望</a:t>
            </a:r>
            <a:endParaRPr/>
          </a:p>
        </p:txBody>
      </p:sp>
      <p:sp>
        <p:nvSpPr>
          <p:cNvPr id="57" name="el-1782900289366-49"/>
          <p:cNvSpPr txBox="1"/>
          <p:nvPr/>
        </p:nvSpPr>
        <p:spPr>
          <a:xfrm>
            <a:off x="7239298" y="2018109"/>
            <a:ext cx="1100495" cy="314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Learned policy</a:t>
            </a:r>
            <a:endParaRPr/>
          </a:p>
          <a:p>
            <a:pPr algn="ctr">
              <a:lnSpc>
                <a:spcPts val="1176"/>
              </a:lnSpc>
            </a:pPr>
            <a:r>
              <a:rPr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Cuttlefish · sched_ext</a:t>
            </a:r>
            <a:endParaRPr/>
          </a:p>
        </p:txBody>
      </p:sp>
      <p:sp>
        <p:nvSpPr>
          <p:cNvPr id="58" name="el-1782900289366-50"/>
          <p:cNvSpPr txBox="1"/>
          <p:nvPr/>
        </p:nvSpPr>
        <p:spPr>
          <a:xfrm>
            <a:off x="7539246" y="2411016"/>
            <a:ext cx="50059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⏸ 未做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0654-1"/>
          <p:cNvCxnSpPr/>
          <p:nvPr/>
        </p:nvCxnSpPr>
        <p:spPr>
          <a:xfrm>
            <a:off x="0" y="19216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0658-3"/>
          <p:cNvCxnSpPr/>
          <p:nvPr/>
        </p:nvCxnSpPr>
        <p:spPr>
          <a:xfrm>
            <a:off x="994231" y="8573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0670-8"/>
          <p:cNvSpPr/>
          <p:nvPr/>
        </p:nvSpPr>
        <p:spPr>
          <a:xfrm>
            <a:off x="400050" y="195739"/>
            <a:ext cx="4114800" cy="8658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90677-15"/>
          <p:cNvCxnSpPr/>
          <p:nvPr/>
        </p:nvCxnSpPr>
        <p:spPr>
          <a:xfrm>
            <a:off x="414338" y="195739"/>
            <a:ext cx="914" cy="8658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90671-9"/>
          <p:cNvSpPr/>
          <p:nvPr/>
        </p:nvSpPr>
        <p:spPr>
          <a:xfrm>
            <a:off x="4629150" y="195739"/>
            <a:ext cx="4114800" cy="8658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90678-16"/>
          <p:cNvCxnSpPr/>
          <p:nvPr/>
        </p:nvCxnSpPr>
        <p:spPr>
          <a:xfrm>
            <a:off x="4643438" y="195739"/>
            <a:ext cx="914" cy="8658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00290672-10"/>
          <p:cNvSpPr/>
          <p:nvPr/>
        </p:nvSpPr>
        <p:spPr>
          <a:xfrm>
            <a:off x="400050" y="1175861"/>
            <a:ext cx="4114800" cy="8658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9" name="el-1782900290680-17"/>
          <p:cNvCxnSpPr/>
          <p:nvPr/>
        </p:nvCxnSpPr>
        <p:spPr>
          <a:xfrm>
            <a:off x="414338" y="1175861"/>
            <a:ext cx="914" cy="8658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00290673-11"/>
          <p:cNvSpPr/>
          <p:nvPr/>
        </p:nvSpPr>
        <p:spPr>
          <a:xfrm>
            <a:off x="4629150" y="1175861"/>
            <a:ext cx="4114800" cy="8658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1" name="el-1782900290681-18"/>
          <p:cNvCxnSpPr/>
          <p:nvPr/>
        </p:nvCxnSpPr>
        <p:spPr>
          <a:xfrm>
            <a:off x="4643438" y="1175861"/>
            <a:ext cx="914" cy="8658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00290674-12"/>
          <p:cNvSpPr/>
          <p:nvPr/>
        </p:nvSpPr>
        <p:spPr>
          <a:xfrm>
            <a:off x="400050" y="2184559"/>
            <a:ext cx="2705070" cy="100226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3" name="el-1782900290682-19"/>
          <p:cNvCxnSpPr/>
          <p:nvPr/>
        </p:nvCxnSpPr>
        <p:spPr>
          <a:xfrm>
            <a:off x="414338" y="2184559"/>
            <a:ext cx="914" cy="100226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2900290675-13"/>
          <p:cNvSpPr/>
          <p:nvPr/>
        </p:nvSpPr>
        <p:spPr>
          <a:xfrm>
            <a:off x="3219420" y="2184559"/>
            <a:ext cx="2705070" cy="100226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5" name="el-1782900290683-20"/>
          <p:cNvCxnSpPr/>
          <p:nvPr/>
        </p:nvCxnSpPr>
        <p:spPr>
          <a:xfrm>
            <a:off x="3233708" y="2184559"/>
            <a:ext cx="914" cy="100226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2900290676-14"/>
          <p:cNvSpPr/>
          <p:nvPr/>
        </p:nvSpPr>
        <p:spPr>
          <a:xfrm>
            <a:off x="6038791" y="2184559"/>
            <a:ext cx="2705160" cy="100226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7" name="el-1782900290684-21"/>
          <p:cNvCxnSpPr/>
          <p:nvPr/>
        </p:nvCxnSpPr>
        <p:spPr>
          <a:xfrm>
            <a:off x="6053078" y="2184559"/>
            <a:ext cx="914" cy="100226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2900290656-2"/>
          <p:cNvCxnSpPr/>
          <p:nvPr/>
        </p:nvCxnSpPr>
        <p:spPr>
          <a:xfrm>
            <a:off x="0" y="3190399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00290660-4"/>
          <p:cNvSpPr txBox="1"/>
          <p:nvPr/>
        </p:nvSpPr>
        <p:spPr>
          <a:xfrm>
            <a:off x="400050" y="20002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04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20" name="el-1782900290661-5"/>
          <p:cNvSpPr txBox="1"/>
          <p:nvPr/>
        </p:nvSpPr>
        <p:spPr>
          <a:xfrm>
            <a:off x="1140678" y="0"/>
            <a:ext cx="262729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前期调研 — 技术路线确立（第 1 个月）</a:t>
            </a:r>
            <a:endParaRPr/>
          </a:p>
        </p:txBody>
      </p:sp>
      <p:sp>
        <p:nvSpPr>
          <p:cNvPr id="21" name="el-1782900290700-29"/>
          <p:cNvSpPr txBox="1"/>
          <p:nvPr/>
        </p:nvSpPr>
        <p:spPr>
          <a:xfrm>
            <a:off x="557213" y="317183"/>
            <a:ext cx="3893344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📄 调研报告</a:t>
            </a:r>
            <a:endParaRPr/>
          </a:p>
        </p:txBody>
      </p:sp>
      <p:sp>
        <p:nvSpPr>
          <p:cNvPr id="22" name="el-1782900290691-22"/>
          <p:cNvSpPr txBox="1"/>
          <p:nvPr/>
        </p:nvSpPr>
        <p:spPr>
          <a:xfrm>
            <a:off x="557213" y="554355"/>
            <a:ext cx="3821906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Android 16 eBPF 预测调度方案，</a:t>
            </a: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LLM/自研时序模型</a:t>
            </a: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+ 调频指令注入内核</a:t>
            </a:r>
            <a:endParaRPr/>
          </a:p>
        </p:txBody>
      </p:sp>
      <p:sp>
        <p:nvSpPr>
          <p:cNvPr id="23" name="el-1782900290701-30"/>
          <p:cNvSpPr txBox="1"/>
          <p:nvPr/>
        </p:nvSpPr>
        <p:spPr>
          <a:xfrm>
            <a:off x="4786313" y="317183"/>
            <a:ext cx="3893344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📄 可行性报告</a:t>
            </a:r>
            <a:endParaRPr/>
          </a:p>
        </p:txBody>
      </p:sp>
      <p:sp>
        <p:nvSpPr>
          <p:cNvPr id="24" name="el-1782900290692-23"/>
          <p:cNvSpPr txBox="1"/>
          <p:nvPr/>
        </p:nvSpPr>
        <p:spPr>
          <a:xfrm>
            <a:off x="4786313" y="554355"/>
            <a:ext cx="388620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数据采集 </a:t>
            </a: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7 层模型</a:t>
            </a: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设计：统一上下文层 → 可扩展观测层</a:t>
            </a:r>
            <a:endParaRPr/>
          </a:p>
        </p:txBody>
      </p:sp>
      <p:sp>
        <p:nvSpPr>
          <p:cNvPr id="25" name="el-1782900290702-31"/>
          <p:cNvSpPr txBox="1"/>
          <p:nvPr/>
        </p:nvSpPr>
        <p:spPr>
          <a:xfrm>
            <a:off x="557213" y="1297305"/>
            <a:ext cx="3893344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📄 补充调研</a:t>
            </a:r>
            <a:endParaRPr/>
          </a:p>
        </p:txBody>
      </p:sp>
      <p:sp>
        <p:nvSpPr>
          <p:cNvPr id="26" name="el-1782900290694-24"/>
          <p:cNvSpPr txBox="1"/>
          <p:nvPr/>
        </p:nvSpPr>
        <p:spPr>
          <a:xfrm>
            <a:off x="557213" y="1534478"/>
            <a:ext cx="3821906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系统行为观测扩展（网络/传感器）、高频场景扩展、</a:t>
            </a: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关键线程识别方法论</a:t>
            </a:r>
            <a:endParaRPr/>
          </a:p>
        </p:txBody>
      </p:sp>
      <p:sp>
        <p:nvSpPr>
          <p:cNvPr id="27" name="el-1782900290703-32"/>
          <p:cNvSpPr txBox="1"/>
          <p:nvPr/>
        </p:nvSpPr>
        <p:spPr>
          <a:xfrm>
            <a:off x="4786313" y="1297305"/>
            <a:ext cx="3893344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📄 TracePilot 调研扩展</a:t>
            </a:r>
            <a:endParaRPr/>
          </a:p>
        </p:txBody>
      </p:sp>
      <p:sp>
        <p:nvSpPr>
          <p:cNvPr id="28" name="el-1782900290696-25"/>
          <p:cNvSpPr txBox="1"/>
          <p:nvPr/>
        </p:nvSpPr>
        <p:spPr>
          <a:xfrm>
            <a:off x="4786313" y="1534478"/>
            <a:ext cx="388620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Page Turning</a:t>
            </a: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Feed Scroll</a:t>
            </a:r>
            <a:r>
              <a:rPr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场景的行为特征分析</a:t>
            </a:r>
            <a:endParaRPr/>
          </a:p>
        </p:txBody>
      </p:sp>
      <p:sp>
        <p:nvSpPr>
          <p:cNvPr id="29" name="el-1782900290704-33"/>
          <p:cNvSpPr txBox="1"/>
          <p:nvPr/>
        </p:nvSpPr>
        <p:spPr>
          <a:xfrm>
            <a:off x="557213" y="2291715"/>
            <a:ext cx="2469327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◆ 结论 1</a:t>
            </a:r>
            <a:endParaRPr/>
          </a:p>
        </p:txBody>
      </p:sp>
      <p:sp>
        <p:nvSpPr>
          <p:cNvPr id="30" name="el-1782900290697-26"/>
          <p:cNvSpPr txBox="1"/>
          <p:nvPr/>
        </p:nvSpPr>
        <p:spPr>
          <a:xfrm>
            <a:off x="557213" y="2468880"/>
            <a:ext cx="2412177" cy="6107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适合承担内核态行为观测，最关键是</a:t>
            </a:r>
            <a:r>
              <a:rPr b="1" sz="106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调度事件 + Binder + Futex + CPU 频率</a:t>
            </a:r>
            <a:endParaRPr/>
          </a:p>
        </p:txBody>
      </p:sp>
      <p:sp>
        <p:nvSpPr>
          <p:cNvPr id="31" name="el-1782900290705-34"/>
          <p:cNvSpPr txBox="1"/>
          <p:nvPr/>
        </p:nvSpPr>
        <p:spPr>
          <a:xfrm>
            <a:off x="3376583" y="2291715"/>
            <a:ext cx="2469327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◆ 结论 2</a:t>
            </a:r>
            <a:endParaRPr/>
          </a:p>
        </p:txBody>
      </p:sp>
      <p:sp>
        <p:nvSpPr>
          <p:cNvPr id="32" name="el-1782900290698-27"/>
          <p:cNvSpPr txBox="1"/>
          <p:nvPr/>
        </p:nvSpPr>
        <p:spPr>
          <a:xfrm>
            <a:off x="3376583" y="2468880"/>
            <a:ext cx="2412177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一期聚焦</a:t>
            </a:r>
            <a:r>
              <a:rPr b="1" sz="106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页面切换</a:t>
            </a: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，不承诺网络栈/文件系统/IRQ 等扩展观测</a:t>
            </a:r>
            <a:endParaRPr/>
          </a:p>
        </p:txBody>
      </p:sp>
      <p:sp>
        <p:nvSpPr>
          <p:cNvPr id="33" name="el-1782900290706-35"/>
          <p:cNvSpPr txBox="1"/>
          <p:nvPr/>
        </p:nvSpPr>
        <p:spPr>
          <a:xfrm>
            <a:off x="6195953" y="2291715"/>
            <a:ext cx="246941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◆ 结论 3</a:t>
            </a:r>
            <a:endParaRPr/>
          </a:p>
        </p:txBody>
      </p:sp>
      <p:sp>
        <p:nvSpPr>
          <p:cNvPr id="34" name="el-1782900290699-28"/>
          <p:cNvSpPr txBox="1"/>
          <p:nvPr/>
        </p:nvSpPr>
        <p:spPr>
          <a:xfrm>
            <a:off x="6195953" y="2468880"/>
            <a:ext cx="2412266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采用 </a:t>
            </a:r>
            <a:r>
              <a:rPr b="1" sz="106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Frame-Centric</a:t>
            </a:r>
            <a:r>
              <a:rPr sz="106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而非 PID-Centric 的观测视角</a:t>
            </a:r>
            <a:endParaRPr/>
          </a:p>
        </p:txBody>
      </p:sp>
      <p:sp>
        <p:nvSpPr>
          <p:cNvPr id="35" name="el-1782900290662-6"/>
          <p:cNvSpPr txBox="1"/>
          <p:nvPr/>
        </p:nvSpPr>
        <p:spPr>
          <a:xfrm>
            <a:off x="400050" y="3193971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36" name="el-1782900290663-7"/>
          <p:cNvSpPr txBox="1"/>
          <p:nvPr/>
        </p:nvSpPr>
        <p:spPr>
          <a:xfrm>
            <a:off x="7709267" y="3193971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0726-1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0730-3"/>
          <p:cNvCxnSpPr/>
          <p:nvPr/>
        </p:nvCxnSpPr>
        <p:spPr>
          <a:xfrm>
            <a:off x="994231" y="167878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0741-10"/>
          <p:cNvSpPr/>
          <p:nvPr/>
        </p:nvSpPr>
        <p:spPr>
          <a:xfrm>
            <a:off x="400050" y="1170146"/>
            <a:ext cx="4029075" cy="326040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l-1782900290754-16"/>
          <p:cNvSpPr/>
          <p:nvPr/>
        </p:nvSpPr>
        <p:spPr>
          <a:xfrm>
            <a:off x="407194" y="1177290"/>
            <a:ext cx="4014788" cy="4900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DD3DE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6" name="el-1782900290763-25"/>
          <p:cNvCxnSpPr/>
          <p:nvPr/>
        </p:nvCxnSpPr>
        <p:spPr>
          <a:xfrm>
            <a:off x="407194" y="1663779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00290790-47"/>
          <p:cNvSpPr/>
          <p:nvPr/>
        </p:nvSpPr>
        <p:spPr>
          <a:xfrm>
            <a:off x="550069" y="1333024"/>
            <a:ext cx="642938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82900290755-17"/>
          <p:cNvSpPr/>
          <p:nvPr/>
        </p:nvSpPr>
        <p:spPr>
          <a:xfrm>
            <a:off x="407194" y="1895951"/>
            <a:ext cx="4014788" cy="4900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6DBE4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" name="el-1782900290764-26"/>
          <p:cNvCxnSpPr/>
          <p:nvPr/>
        </p:nvCxnSpPr>
        <p:spPr>
          <a:xfrm>
            <a:off x="407194" y="2382441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00290793-50"/>
          <p:cNvSpPr/>
          <p:nvPr/>
        </p:nvSpPr>
        <p:spPr>
          <a:xfrm>
            <a:off x="550069" y="2051685"/>
            <a:ext cx="757327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90756-18"/>
          <p:cNvSpPr/>
          <p:nvPr/>
        </p:nvSpPr>
        <p:spPr>
          <a:xfrm>
            <a:off x="407194" y="2614613"/>
            <a:ext cx="4014788" cy="4900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FE3E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2" name="el-1782900290764-27"/>
          <p:cNvCxnSpPr/>
          <p:nvPr/>
        </p:nvCxnSpPr>
        <p:spPr>
          <a:xfrm>
            <a:off x="407194" y="3101102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00290795-53"/>
          <p:cNvSpPr/>
          <p:nvPr/>
        </p:nvSpPr>
        <p:spPr>
          <a:xfrm>
            <a:off x="550069" y="2770346"/>
            <a:ext cx="642938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A5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82900290757-19"/>
          <p:cNvSpPr/>
          <p:nvPr/>
        </p:nvSpPr>
        <p:spPr>
          <a:xfrm>
            <a:off x="407194" y="3333274"/>
            <a:ext cx="4014788" cy="4900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5" name="el-1782900290765-28"/>
          <p:cNvCxnSpPr/>
          <p:nvPr/>
        </p:nvCxnSpPr>
        <p:spPr>
          <a:xfrm>
            <a:off x="407194" y="3819763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2900290797-55"/>
          <p:cNvSpPr/>
          <p:nvPr/>
        </p:nvSpPr>
        <p:spPr>
          <a:xfrm>
            <a:off x="550069" y="3489007"/>
            <a:ext cx="707321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4A6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82900290758-20"/>
          <p:cNvSpPr/>
          <p:nvPr/>
        </p:nvSpPr>
        <p:spPr>
          <a:xfrm>
            <a:off x="407194" y="4051935"/>
            <a:ext cx="4014788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2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82900290800-57"/>
          <p:cNvSpPr/>
          <p:nvPr/>
        </p:nvSpPr>
        <p:spPr>
          <a:xfrm>
            <a:off x="550069" y="4151948"/>
            <a:ext cx="642938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5A7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82900290742-11"/>
          <p:cNvSpPr/>
          <p:nvPr/>
        </p:nvSpPr>
        <p:spPr>
          <a:xfrm>
            <a:off x="4714875" y="1903095"/>
            <a:ext cx="4029075" cy="17945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0" name="el-1782900290760-21"/>
          <p:cNvCxnSpPr/>
          <p:nvPr/>
        </p:nvCxnSpPr>
        <p:spPr>
          <a:xfrm>
            <a:off x="4722019" y="2220992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00290781-35"/>
          <p:cNvSpPr/>
          <p:nvPr/>
        </p:nvSpPr>
        <p:spPr>
          <a:xfrm>
            <a:off x="4722019" y="1910239"/>
            <a:ext cx="857250" cy="307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2" name="el-1782900290801-59"/>
          <p:cNvCxnSpPr/>
          <p:nvPr/>
        </p:nvCxnSpPr>
        <p:spPr>
          <a:xfrm>
            <a:off x="5575697" y="1910239"/>
            <a:ext cx="914" cy="307181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2900290760-22"/>
          <p:cNvCxnSpPr/>
          <p:nvPr/>
        </p:nvCxnSpPr>
        <p:spPr>
          <a:xfrm>
            <a:off x="4722019" y="2535317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2900290783-37"/>
          <p:cNvSpPr/>
          <p:nvPr/>
        </p:nvSpPr>
        <p:spPr>
          <a:xfrm>
            <a:off x="4722019" y="2224564"/>
            <a:ext cx="857250" cy="307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5" name="el-1782900290801-60"/>
          <p:cNvCxnSpPr/>
          <p:nvPr/>
        </p:nvCxnSpPr>
        <p:spPr>
          <a:xfrm>
            <a:off x="5575697" y="2224564"/>
            <a:ext cx="914" cy="307181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2900290761-23"/>
          <p:cNvCxnSpPr/>
          <p:nvPr/>
        </p:nvCxnSpPr>
        <p:spPr>
          <a:xfrm>
            <a:off x="4722019" y="2953941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2900290784-39"/>
          <p:cNvSpPr/>
          <p:nvPr/>
        </p:nvSpPr>
        <p:spPr>
          <a:xfrm>
            <a:off x="4722019" y="2538889"/>
            <a:ext cx="857250" cy="41148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8" name="el-1782900290802-61"/>
          <p:cNvCxnSpPr/>
          <p:nvPr/>
        </p:nvCxnSpPr>
        <p:spPr>
          <a:xfrm>
            <a:off x="5575697" y="2538889"/>
            <a:ext cx="914" cy="411480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-1782900290762-24"/>
          <p:cNvCxnSpPr/>
          <p:nvPr/>
        </p:nvCxnSpPr>
        <p:spPr>
          <a:xfrm>
            <a:off x="4722019" y="3372564"/>
            <a:ext cx="40147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2900290786-42"/>
          <p:cNvSpPr/>
          <p:nvPr/>
        </p:nvSpPr>
        <p:spPr>
          <a:xfrm>
            <a:off x="4722019" y="2957513"/>
            <a:ext cx="857250" cy="41148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1" name="el-1782900290803-62"/>
          <p:cNvCxnSpPr/>
          <p:nvPr/>
        </p:nvCxnSpPr>
        <p:spPr>
          <a:xfrm>
            <a:off x="5575697" y="2957513"/>
            <a:ext cx="914" cy="411480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00290788-44"/>
          <p:cNvSpPr/>
          <p:nvPr/>
        </p:nvSpPr>
        <p:spPr>
          <a:xfrm>
            <a:off x="4722019" y="3376136"/>
            <a:ext cx="857250" cy="3143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3" name="el-1782900290804-63"/>
          <p:cNvCxnSpPr/>
          <p:nvPr/>
        </p:nvCxnSpPr>
        <p:spPr>
          <a:xfrm>
            <a:off x="5575697" y="3376136"/>
            <a:ext cx="914" cy="314325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-1782900290728-2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l-1782900290732-4"/>
          <p:cNvSpPr txBox="1"/>
          <p:nvPr/>
        </p:nvSpPr>
        <p:spPr>
          <a:xfrm>
            <a:off x="400050" y="179308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05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36" name="el-1782900290733-5"/>
          <p:cNvSpPr txBox="1"/>
          <p:nvPr/>
        </p:nvSpPr>
        <p:spPr>
          <a:xfrm>
            <a:off x="1140678" y="159306"/>
            <a:ext cx="12144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技术栈与系统架构</a:t>
            </a:r>
            <a:endParaRPr/>
          </a:p>
        </p:txBody>
      </p:sp>
      <p:sp>
        <p:nvSpPr>
          <p:cNvPr id="37" name="el-1782900290738-8"/>
          <p:cNvSpPr txBox="1"/>
          <p:nvPr/>
        </p:nvSpPr>
        <p:spPr>
          <a:xfrm>
            <a:off x="400050" y="884396"/>
            <a:ext cx="409336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▎分层架构（自底向上）</a:t>
            </a:r>
            <a:endParaRPr/>
          </a:p>
        </p:txBody>
      </p:sp>
      <p:sp>
        <p:nvSpPr>
          <p:cNvPr id="38" name="el-1782900290789-46"/>
          <p:cNvSpPr txBox="1"/>
          <p:nvPr/>
        </p:nvSpPr>
        <p:spPr>
          <a:xfrm>
            <a:off x="582216" y="1347311"/>
            <a:ext cx="5786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ctr">
              <a:lnSpc>
                <a:spcPct val="100000"/>
              </a:lnSpc>
            </a:pPr>
            <a:r>
              <a:rPr b="1" sz="840" spc="1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分析层</a:t>
            </a:r>
            <a:endParaRPr/>
          </a:p>
        </p:txBody>
      </p:sp>
      <p:sp>
        <p:nvSpPr>
          <p:cNvPr id="39" name="el-1782900290791-48"/>
          <p:cNvSpPr txBox="1"/>
          <p:nvPr/>
        </p:nvSpPr>
        <p:spPr>
          <a:xfrm>
            <a:off x="1307306" y="1248728"/>
            <a:ext cx="2971800" cy="3400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3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Python + sklearn · 特征提取 · 图构建 · Jank 分类 · 对比分析 · 报告</a:t>
            </a:r>
            <a:endParaRPr/>
          </a:p>
        </p:txBody>
      </p:sp>
      <p:sp>
        <p:nvSpPr>
          <p:cNvPr id="40" name="el-1782900290748-12"/>
          <p:cNvSpPr txBox="1"/>
          <p:nvPr/>
        </p:nvSpPr>
        <p:spPr>
          <a:xfrm>
            <a:off x="307181" y="1681639"/>
            <a:ext cx="421481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15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↑</a:t>
            </a:r>
            <a:endParaRPr/>
          </a:p>
        </p:txBody>
      </p:sp>
      <p:sp>
        <p:nvSpPr>
          <p:cNvPr id="41" name="el-1782900290791-49"/>
          <p:cNvSpPr txBox="1"/>
          <p:nvPr/>
        </p:nvSpPr>
        <p:spPr>
          <a:xfrm>
            <a:off x="582216" y="2065973"/>
            <a:ext cx="69303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ctr">
              <a:lnSpc>
                <a:spcPct val="100000"/>
              </a:lnSpc>
            </a:pPr>
            <a:r>
              <a:rPr b="1" sz="840" spc="1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用户态加载层</a:t>
            </a:r>
            <a:endParaRPr/>
          </a:p>
        </p:txBody>
      </p:sp>
      <p:sp>
        <p:nvSpPr>
          <p:cNvPr id="42" name="el-1782900290793-51"/>
          <p:cNvSpPr txBox="1"/>
          <p:nvPr/>
        </p:nvSpPr>
        <p:spPr>
          <a:xfrm>
            <a:off x="1421696" y="1967389"/>
            <a:ext cx="2857411" cy="3400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3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C loader · eBPF 加载 · ringbuf 读取 · 图构建 · Hint Engine</a:t>
            </a:r>
            <a:endParaRPr/>
          </a:p>
        </p:txBody>
      </p:sp>
      <p:sp>
        <p:nvSpPr>
          <p:cNvPr id="43" name="el-1782900290749-13"/>
          <p:cNvSpPr txBox="1"/>
          <p:nvPr/>
        </p:nvSpPr>
        <p:spPr>
          <a:xfrm>
            <a:off x="307181" y="2400300"/>
            <a:ext cx="421481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15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↑</a:t>
            </a:r>
            <a:endParaRPr/>
          </a:p>
        </p:txBody>
      </p:sp>
      <p:sp>
        <p:nvSpPr>
          <p:cNvPr id="44" name="el-1782900290794-52"/>
          <p:cNvSpPr txBox="1"/>
          <p:nvPr/>
        </p:nvSpPr>
        <p:spPr>
          <a:xfrm>
            <a:off x="582216" y="2784634"/>
            <a:ext cx="5786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ctr">
              <a:lnSpc>
                <a:spcPct val="100000"/>
              </a:lnSpc>
            </a:pPr>
            <a:r>
              <a:rPr b="1" sz="840" spc="1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帧标定层</a:t>
            </a:r>
            <a:endParaRPr/>
          </a:p>
        </p:txBody>
      </p:sp>
      <p:sp>
        <p:nvSpPr>
          <p:cNvPr id="45" name="el-1782900290777-32"/>
          <p:cNvSpPr txBox="1"/>
          <p:nvPr/>
        </p:nvSpPr>
        <p:spPr>
          <a:xfrm>
            <a:off x="1307306" y="2686050"/>
            <a:ext cx="2971800" cy="3400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3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Perfetto · trace_processor_shell + SQL → 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frames.txt</a:t>
            </a:r>
            <a:endParaRPr/>
          </a:p>
        </p:txBody>
      </p:sp>
      <p:sp>
        <p:nvSpPr>
          <p:cNvPr id="46" name="el-1782900290749-14"/>
          <p:cNvSpPr txBox="1"/>
          <p:nvPr/>
        </p:nvSpPr>
        <p:spPr>
          <a:xfrm>
            <a:off x="307181" y="3118961"/>
            <a:ext cx="421481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15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↑</a:t>
            </a:r>
            <a:endParaRPr/>
          </a:p>
        </p:txBody>
      </p:sp>
      <p:sp>
        <p:nvSpPr>
          <p:cNvPr id="47" name="el-1782900290796-54"/>
          <p:cNvSpPr txBox="1"/>
          <p:nvPr/>
        </p:nvSpPr>
        <p:spPr>
          <a:xfrm>
            <a:off x="582216" y="3503295"/>
            <a:ext cx="643027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ctr">
              <a:lnSpc>
                <a:spcPct val="100000"/>
              </a:lnSpc>
            </a:pPr>
            <a:r>
              <a:rPr b="1" sz="840" spc="1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内核采集层</a:t>
            </a:r>
            <a:endParaRPr/>
          </a:p>
        </p:txBody>
      </p:sp>
      <p:sp>
        <p:nvSpPr>
          <p:cNvPr id="48" name="el-1782900290778-33"/>
          <p:cNvSpPr txBox="1"/>
          <p:nvPr/>
        </p:nvSpPr>
        <p:spPr>
          <a:xfrm>
            <a:off x="1371689" y="3404711"/>
            <a:ext cx="2907417" cy="3400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3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· kprobe + tracepoint + ringbuf → 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events.bin</a:t>
            </a:r>
            <a:endParaRPr/>
          </a:p>
        </p:txBody>
      </p:sp>
      <p:sp>
        <p:nvSpPr>
          <p:cNvPr id="49" name="el-1782900290750-15"/>
          <p:cNvSpPr txBox="1"/>
          <p:nvPr/>
        </p:nvSpPr>
        <p:spPr>
          <a:xfrm>
            <a:off x="307181" y="3837623"/>
            <a:ext cx="421481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15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↑</a:t>
            </a:r>
            <a:endParaRPr/>
          </a:p>
        </p:txBody>
      </p:sp>
      <p:sp>
        <p:nvSpPr>
          <p:cNvPr id="50" name="el-1782900290798-56"/>
          <p:cNvSpPr txBox="1"/>
          <p:nvPr/>
        </p:nvSpPr>
        <p:spPr>
          <a:xfrm>
            <a:off x="582216" y="4166235"/>
            <a:ext cx="5786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ctr">
              <a:lnSpc>
                <a:spcPct val="100000"/>
              </a:lnSpc>
            </a:pPr>
            <a:r>
              <a:rPr b="1" sz="840" spc="1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硬件层</a:t>
            </a:r>
            <a:endParaRPr/>
          </a:p>
        </p:txBody>
      </p:sp>
      <p:sp>
        <p:nvSpPr>
          <p:cNvPr id="51" name="el-1782900290800-58"/>
          <p:cNvSpPr txBox="1"/>
          <p:nvPr/>
        </p:nvSpPr>
        <p:spPr>
          <a:xfrm>
            <a:off x="1307306" y="4152662"/>
            <a:ext cx="262443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Pixel 6a · Android 14 / Magisk root / ARM64</a:t>
            </a:r>
            <a:endParaRPr/>
          </a:p>
        </p:txBody>
      </p:sp>
      <p:sp>
        <p:nvSpPr>
          <p:cNvPr id="52" name="el-1782900290739-9"/>
          <p:cNvSpPr txBox="1"/>
          <p:nvPr/>
        </p:nvSpPr>
        <p:spPr>
          <a:xfrm>
            <a:off x="4714875" y="1617345"/>
            <a:ext cx="409336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▎技术详情</a:t>
            </a:r>
            <a:endParaRPr/>
          </a:p>
        </p:txBody>
      </p:sp>
      <p:sp>
        <p:nvSpPr>
          <p:cNvPr id="53" name="el-1782900290779-34"/>
          <p:cNvSpPr txBox="1"/>
          <p:nvPr/>
        </p:nvSpPr>
        <p:spPr>
          <a:xfrm>
            <a:off x="4836319" y="1967389"/>
            <a:ext cx="80010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eBPF</a:t>
            </a:r>
            <a:endParaRPr/>
          </a:p>
        </p:txBody>
      </p:sp>
      <p:sp>
        <p:nvSpPr>
          <p:cNvPr id="54" name="el-1782900290772-29"/>
          <p:cNvSpPr txBox="1"/>
          <p:nvPr/>
        </p:nvSpPr>
        <p:spPr>
          <a:xfrm>
            <a:off x="5693569" y="1972747"/>
            <a:ext cx="310395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C 编写 BPF 程序，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clang</a:t>
            </a: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交叉编译</a:t>
            </a:r>
            <a:endParaRPr/>
          </a:p>
        </p:txBody>
      </p:sp>
      <p:sp>
        <p:nvSpPr>
          <p:cNvPr id="55" name="el-1782900290782-36"/>
          <p:cNvSpPr txBox="1"/>
          <p:nvPr/>
        </p:nvSpPr>
        <p:spPr>
          <a:xfrm>
            <a:off x="4836319" y="2281714"/>
            <a:ext cx="80010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Perfetto</a:t>
            </a:r>
            <a:endParaRPr/>
          </a:p>
        </p:txBody>
      </p:sp>
      <p:sp>
        <p:nvSpPr>
          <p:cNvPr id="56" name="el-1782900290774-30"/>
          <p:cNvSpPr txBox="1"/>
          <p:nvPr/>
        </p:nvSpPr>
        <p:spPr>
          <a:xfrm>
            <a:off x="5693569" y="2287072"/>
            <a:ext cx="310395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trace_processor_shell 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查询</a:t>
            </a:r>
            <a:endParaRPr/>
          </a:p>
        </p:txBody>
      </p:sp>
      <p:sp>
        <p:nvSpPr>
          <p:cNvPr id="57" name="el-1782900290784-38"/>
          <p:cNvSpPr txBox="1"/>
          <p:nvPr/>
        </p:nvSpPr>
        <p:spPr>
          <a:xfrm>
            <a:off x="4836319" y="2596039"/>
            <a:ext cx="621506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08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Docker + NDK r26b</a:t>
            </a:r>
            <a:endParaRPr/>
          </a:p>
        </p:txBody>
      </p:sp>
      <p:sp>
        <p:nvSpPr>
          <p:cNvPr id="58" name="el-1782900290785-40"/>
          <p:cNvSpPr txBox="1"/>
          <p:nvPr/>
        </p:nvSpPr>
        <p:spPr>
          <a:xfrm>
            <a:off x="5693569" y="2653546"/>
            <a:ext cx="310395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Ubuntu 22.04 编译环境封装</a:t>
            </a:r>
            <a:endParaRPr/>
          </a:p>
        </p:txBody>
      </p:sp>
      <p:sp>
        <p:nvSpPr>
          <p:cNvPr id="59" name="el-1782900290785-41"/>
          <p:cNvSpPr txBox="1"/>
          <p:nvPr/>
        </p:nvSpPr>
        <p:spPr>
          <a:xfrm>
            <a:off x="4836319" y="3014663"/>
            <a:ext cx="621506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08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Python + sklearn</a:t>
            </a:r>
            <a:endParaRPr/>
          </a:p>
        </p:txBody>
      </p:sp>
      <p:sp>
        <p:nvSpPr>
          <p:cNvPr id="60" name="el-1782900290776-31"/>
          <p:cNvSpPr txBox="1"/>
          <p:nvPr/>
        </p:nvSpPr>
        <p:spPr>
          <a:xfrm>
            <a:off x="5693569" y="3072170"/>
            <a:ext cx="310395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决策树分类 · </a:t>
            </a:r>
            <a:r>
              <a:rPr b="1" sz="95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LeaveOneOut</a:t>
            </a: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验证</a:t>
            </a:r>
            <a:endParaRPr/>
          </a:p>
        </p:txBody>
      </p:sp>
      <p:sp>
        <p:nvSpPr>
          <p:cNvPr id="61" name="el-1782900290787-43"/>
          <p:cNvSpPr txBox="1"/>
          <p:nvPr/>
        </p:nvSpPr>
        <p:spPr>
          <a:xfrm>
            <a:off x="4836319" y="3433286"/>
            <a:ext cx="800100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C (loader)</a:t>
            </a:r>
            <a:endParaRPr/>
          </a:p>
        </p:txBody>
      </p:sp>
      <p:sp>
        <p:nvSpPr>
          <p:cNvPr id="62" name="el-1782900290789-45"/>
          <p:cNvSpPr txBox="1"/>
          <p:nvPr/>
        </p:nvSpPr>
        <p:spPr>
          <a:xfrm>
            <a:off x="5693569" y="3442216"/>
            <a:ext cx="310395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身份解析 + 图构建 + 推断引擎</a:t>
            </a:r>
            <a:endParaRPr/>
          </a:p>
        </p:txBody>
      </p:sp>
      <p:sp>
        <p:nvSpPr>
          <p:cNvPr id="63" name="el-1782900290734-6"/>
          <p:cNvSpPr txBox="1"/>
          <p:nvPr/>
        </p:nvSpPr>
        <p:spPr>
          <a:xfrm>
            <a:off x="400050" y="4904184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64" name="el-1782900290734-7"/>
          <p:cNvSpPr txBox="1"/>
          <p:nvPr/>
        </p:nvSpPr>
        <p:spPr>
          <a:xfrm>
            <a:off x="7709267" y="4904184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0835-1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0839-3"/>
          <p:cNvCxnSpPr/>
          <p:nvPr/>
        </p:nvCxnSpPr>
        <p:spPr>
          <a:xfrm>
            <a:off x="994231" y="167878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0847-8"/>
          <p:cNvSpPr/>
          <p:nvPr/>
        </p:nvSpPr>
        <p:spPr>
          <a:xfrm>
            <a:off x="400050" y="542925"/>
            <a:ext cx="8343900" cy="2800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90852-12"/>
          <p:cNvCxnSpPr/>
          <p:nvPr/>
        </p:nvCxnSpPr>
        <p:spPr>
          <a:xfrm>
            <a:off x="414338" y="542925"/>
            <a:ext cx="914" cy="28003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90867-18"/>
          <p:cNvSpPr/>
          <p:nvPr/>
        </p:nvSpPr>
        <p:spPr>
          <a:xfrm>
            <a:off x="542925" y="592931"/>
            <a:ext cx="751523" cy="1800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82900290870-21"/>
          <p:cNvSpPr/>
          <p:nvPr/>
        </p:nvSpPr>
        <p:spPr>
          <a:xfrm>
            <a:off x="1480185" y="592931"/>
            <a:ext cx="345758" cy="1800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82900290872-24"/>
          <p:cNvSpPr/>
          <p:nvPr/>
        </p:nvSpPr>
        <p:spPr>
          <a:xfrm>
            <a:off x="2011680" y="592931"/>
            <a:ext cx="548640" cy="1800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82900290875-27"/>
          <p:cNvSpPr/>
          <p:nvPr/>
        </p:nvSpPr>
        <p:spPr>
          <a:xfrm>
            <a:off x="2746057" y="592931"/>
            <a:ext cx="548640" cy="1800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82900290877-30"/>
          <p:cNvSpPr/>
          <p:nvPr/>
        </p:nvSpPr>
        <p:spPr>
          <a:xfrm>
            <a:off x="3422481" y="592931"/>
            <a:ext cx="614005" cy="1800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90880-33"/>
          <p:cNvSpPr/>
          <p:nvPr/>
        </p:nvSpPr>
        <p:spPr>
          <a:xfrm>
            <a:off x="4164270" y="592931"/>
            <a:ext cx="345758" cy="1800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82900290848-9"/>
          <p:cNvSpPr/>
          <p:nvPr/>
        </p:nvSpPr>
        <p:spPr>
          <a:xfrm>
            <a:off x="400050" y="851535"/>
            <a:ext cx="8343900" cy="22145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DF5"/>
          </a:solidFill>
          <a:ln w="7144" algn="in">
            <a:solidFill>
              <a:srgbClr val="E8E0C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3" name="el-1782900290853-13"/>
          <p:cNvCxnSpPr/>
          <p:nvPr/>
        </p:nvCxnSpPr>
        <p:spPr>
          <a:xfrm>
            <a:off x="414338" y="851535"/>
            <a:ext cx="914" cy="221456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2900290849-10"/>
          <p:cNvSpPr/>
          <p:nvPr/>
        </p:nvSpPr>
        <p:spPr>
          <a:xfrm>
            <a:off x="400050" y="1101566"/>
            <a:ext cx="8343900" cy="18002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l-1782900290903-41"/>
          <p:cNvSpPr/>
          <p:nvPr/>
        </p:nvSpPr>
        <p:spPr>
          <a:xfrm>
            <a:off x="521494" y="1308735"/>
            <a:ext cx="186943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6" name="el-1782900290943-96"/>
          <p:cNvCxnSpPr/>
          <p:nvPr/>
        </p:nvCxnSpPr>
        <p:spPr>
          <a:xfrm>
            <a:off x="521494" y="1460897"/>
            <a:ext cx="186943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00290905-43"/>
          <p:cNvSpPr/>
          <p:nvPr/>
        </p:nvSpPr>
        <p:spPr>
          <a:xfrm>
            <a:off x="2390924" y="1308735"/>
            <a:ext cx="1557873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8" name="el-1782900290943-97"/>
          <p:cNvCxnSpPr/>
          <p:nvPr/>
        </p:nvCxnSpPr>
        <p:spPr>
          <a:xfrm>
            <a:off x="2390924" y="1460897"/>
            <a:ext cx="155787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00290906-45"/>
          <p:cNvSpPr/>
          <p:nvPr/>
        </p:nvSpPr>
        <p:spPr>
          <a:xfrm>
            <a:off x="3948797" y="1308735"/>
            <a:ext cx="280419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0" name="el-1782900290944-98"/>
          <p:cNvCxnSpPr/>
          <p:nvPr/>
        </p:nvCxnSpPr>
        <p:spPr>
          <a:xfrm>
            <a:off x="3948797" y="1460897"/>
            <a:ext cx="280419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00290908-47"/>
          <p:cNvSpPr/>
          <p:nvPr/>
        </p:nvSpPr>
        <p:spPr>
          <a:xfrm>
            <a:off x="6752987" y="1308735"/>
            <a:ext cx="1869519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2" name="el-1782900290945-99"/>
          <p:cNvCxnSpPr/>
          <p:nvPr/>
        </p:nvCxnSpPr>
        <p:spPr>
          <a:xfrm>
            <a:off x="6752987" y="1460897"/>
            <a:ext cx="186951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2900290945-100"/>
          <p:cNvCxnSpPr/>
          <p:nvPr/>
        </p:nvCxnSpPr>
        <p:spPr>
          <a:xfrm>
            <a:off x="521494" y="1616631"/>
            <a:ext cx="18694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2900290946-101"/>
          <p:cNvCxnSpPr/>
          <p:nvPr/>
        </p:nvCxnSpPr>
        <p:spPr>
          <a:xfrm>
            <a:off x="2390924" y="1616631"/>
            <a:ext cx="155787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2900290947-102"/>
          <p:cNvCxnSpPr/>
          <p:nvPr/>
        </p:nvCxnSpPr>
        <p:spPr>
          <a:xfrm>
            <a:off x="3948797" y="1616631"/>
            <a:ext cx="280419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2900290947-103"/>
          <p:cNvCxnSpPr/>
          <p:nvPr/>
        </p:nvCxnSpPr>
        <p:spPr>
          <a:xfrm>
            <a:off x="6752987" y="1616631"/>
            <a:ext cx="186951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-1782900290948-104"/>
          <p:cNvCxnSpPr/>
          <p:nvPr/>
        </p:nvCxnSpPr>
        <p:spPr>
          <a:xfrm>
            <a:off x="521494" y="1772364"/>
            <a:ext cx="18694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-1782900290914-54"/>
          <p:cNvSpPr/>
          <p:nvPr/>
        </p:nvSpPr>
        <p:spPr>
          <a:xfrm>
            <a:off x="2390924" y="1620203"/>
            <a:ext cx="1557873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8E1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9" name="el-1782900290948-105"/>
          <p:cNvCxnSpPr/>
          <p:nvPr/>
        </p:nvCxnSpPr>
        <p:spPr>
          <a:xfrm>
            <a:off x="2390924" y="1772364"/>
            <a:ext cx="155787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2900290915-56"/>
          <p:cNvSpPr/>
          <p:nvPr/>
        </p:nvSpPr>
        <p:spPr>
          <a:xfrm>
            <a:off x="3948797" y="1620203"/>
            <a:ext cx="280419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8E1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1" name="el-1782900290949-106"/>
          <p:cNvCxnSpPr/>
          <p:nvPr/>
        </p:nvCxnSpPr>
        <p:spPr>
          <a:xfrm>
            <a:off x="3948797" y="1772364"/>
            <a:ext cx="280419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00290917-58"/>
          <p:cNvSpPr/>
          <p:nvPr/>
        </p:nvSpPr>
        <p:spPr>
          <a:xfrm>
            <a:off x="6752987" y="1620203"/>
            <a:ext cx="1869519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8E1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3" name="el-1782900290950-107"/>
          <p:cNvCxnSpPr/>
          <p:nvPr/>
        </p:nvCxnSpPr>
        <p:spPr>
          <a:xfrm>
            <a:off x="6752987" y="1772364"/>
            <a:ext cx="186951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-1782900290951-108"/>
          <p:cNvCxnSpPr/>
          <p:nvPr/>
        </p:nvCxnSpPr>
        <p:spPr>
          <a:xfrm>
            <a:off x="521494" y="1928098"/>
            <a:ext cx="18694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-1782900290951-109"/>
          <p:cNvCxnSpPr/>
          <p:nvPr/>
        </p:nvCxnSpPr>
        <p:spPr>
          <a:xfrm>
            <a:off x="2390924" y="1928098"/>
            <a:ext cx="155787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-1782900290952-110"/>
          <p:cNvCxnSpPr/>
          <p:nvPr/>
        </p:nvCxnSpPr>
        <p:spPr>
          <a:xfrm>
            <a:off x="3948797" y="1928098"/>
            <a:ext cx="280419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-1782900290953-111"/>
          <p:cNvCxnSpPr/>
          <p:nvPr/>
        </p:nvCxnSpPr>
        <p:spPr>
          <a:xfrm>
            <a:off x="6752987" y="1928098"/>
            <a:ext cx="186951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-1782900290954-112"/>
          <p:cNvCxnSpPr/>
          <p:nvPr/>
        </p:nvCxnSpPr>
        <p:spPr>
          <a:xfrm>
            <a:off x="521494" y="2083832"/>
            <a:ext cx="18694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-1782900290954-113"/>
          <p:cNvCxnSpPr/>
          <p:nvPr/>
        </p:nvCxnSpPr>
        <p:spPr>
          <a:xfrm>
            <a:off x="2390924" y="2083832"/>
            <a:ext cx="155787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-1782900290955-114"/>
          <p:cNvCxnSpPr/>
          <p:nvPr/>
        </p:nvCxnSpPr>
        <p:spPr>
          <a:xfrm>
            <a:off x="3948797" y="2083832"/>
            <a:ext cx="280419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-1782900290955-115"/>
          <p:cNvCxnSpPr/>
          <p:nvPr/>
        </p:nvCxnSpPr>
        <p:spPr>
          <a:xfrm>
            <a:off x="6752987" y="2083832"/>
            <a:ext cx="186951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-1782900290956-116"/>
          <p:cNvCxnSpPr/>
          <p:nvPr/>
        </p:nvCxnSpPr>
        <p:spPr>
          <a:xfrm>
            <a:off x="521494" y="2239566"/>
            <a:ext cx="18694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-1782900290957-117"/>
          <p:cNvCxnSpPr/>
          <p:nvPr/>
        </p:nvCxnSpPr>
        <p:spPr>
          <a:xfrm>
            <a:off x="2390924" y="2239566"/>
            <a:ext cx="155787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-1782900290957-118"/>
          <p:cNvCxnSpPr/>
          <p:nvPr/>
        </p:nvCxnSpPr>
        <p:spPr>
          <a:xfrm>
            <a:off x="3948797" y="2239566"/>
            <a:ext cx="280419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-1782900290958-119"/>
          <p:cNvCxnSpPr/>
          <p:nvPr/>
        </p:nvCxnSpPr>
        <p:spPr>
          <a:xfrm>
            <a:off x="6752987" y="2239566"/>
            <a:ext cx="186951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-1782900290959-120"/>
          <p:cNvCxnSpPr/>
          <p:nvPr/>
        </p:nvCxnSpPr>
        <p:spPr>
          <a:xfrm>
            <a:off x="521494" y="2395299"/>
            <a:ext cx="18694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-1782900290959-121"/>
          <p:cNvCxnSpPr/>
          <p:nvPr/>
        </p:nvCxnSpPr>
        <p:spPr>
          <a:xfrm>
            <a:off x="2390924" y="2395299"/>
            <a:ext cx="155787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-1782900290960-122"/>
          <p:cNvCxnSpPr/>
          <p:nvPr/>
        </p:nvCxnSpPr>
        <p:spPr>
          <a:xfrm>
            <a:off x="3948797" y="2395299"/>
            <a:ext cx="280419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-1782900290961-123"/>
          <p:cNvCxnSpPr/>
          <p:nvPr/>
        </p:nvCxnSpPr>
        <p:spPr>
          <a:xfrm>
            <a:off x="6752987" y="2395299"/>
            <a:ext cx="186951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-1782900290961-124"/>
          <p:cNvCxnSpPr/>
          <p:nvPr/>
        </p:nvCxnSpPr>
        <p:spPr>
          <a:xfrm>
            <a:off x="521494" y="2551033"/>
            <a:ext cx="18694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-1782900290962-125"/>
          <p:cNvCxnSpPr/>
          <p:nvPr/>
        </p:nvCxnSpPr>
        <p:spPr>
          <a:xfrm>
            <a:off x="2390924" y="2551033"/>
            <a:ext cx="155787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-1782900290963-126"/>
          <p:cNvCxnSpPr/>
          <p:nvPr/>
        </p:nvCxnSpPr>
        <p:spPr>
          <a:xfrm>
            <a:off x="3948797" y="2551033"/>
            <a:ext cx="280419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-1782900290888-39"/>
          <p:cNvCxnSpPr/>
          <p:nvPr/>
        </p:nvCxnSpPr>
        <p:spPr>
          <a:xfrm>
            <a:off x="521494" y="2579608"/>
            <a:ext cx="8101013" cy="914"/>
          </a:xfrm>
          <a:prstGeom prst="line">
            <a:avLst/>
          </a:prstGeom>
          <a:ln w="7144" cap="flat">
            <a:solidFill>
              <a:srgbClr val="E0E0E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l-1782900290850-11"/>
          <p:cNvSpPr/>
          <p:nvPr/>
        </p:nvSpPr>
        <p:spPr>
          <a:xfrm>
            <a:off x="400050" y="2930366"/>
            <a:ext cx="8343900" cy="52292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el-1782900290931-80"/>
          <p:cNvSpPr/>
          <p:nvPr/>
        </p:nvSpPr>
        <p:spPr>
          <a:xfrm>
            <a:off x="521494" y="3123248"/>
            <a:ext cx="1319540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el-1782900290933-83"/>
          <p:cNvSpPr/>
          <p:nvPr/>
        </p:nvSpPr>
        <p:spPr>
          <a:xfrm>
            <a:off x="1976765" y="3123248"/>
            <a:ext cx="462915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el-1782900290935-86"/>
          <p:cNvSpPr/>
          <p:nvPr/>
        </p:nvSpPr>
        <p:spPr>
          <a:xfrm>
            <a:off x="2575411" y="3123248"/>
            <a:ext cx="1735485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el-1782900290937-89"/>
          <p:cNvSpPr/>
          <p:nvPr/>
        </p:nvSpPr>
        <p:spPr>
          <a:xfrm>
            <a:off x="4446627" y="3123248"/>
            <a:ext cx="525155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el-1782900290940-92"/>
          <p:cNvSpPr/>
          <p:nvPr/>
        </p:nvSpPr>
        <p:spPr>
          <a:xfrm>
            <a:off x="5107514" y="3123248"/>
            <a:ext cx="1283553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el-1782900290942-95"/>
          <p:cNvSpPr/>
          <p:nvPr/>
        </p:nvSpPr>
        <p:spPr>
          <a:xfrm>
            <a:off x="6526798" y="3123248"/>
            <a:ext cx="1132910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61" name="el-1782900290836-2"/>
          <p:cNvCxnSpPr/>
          <p:nvPr/>
        </p:nvCxnSpPr>
        <p:spPr>
          <a:xfrm>
            <a:off x="0" y="566142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el-1782900290841-4"/>
          <p:cNvSpPr txBox="1"/>
          <p:nvPr/>
        </p:nvSpPr>
        <p:spPr>
          <a:xfrm>
            <a:off x="400050" y="179308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06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63" name="el-1782900290842-5"/>
          <p:cNvSpPr txBox="1"/>
          <p:nvPr/>
        </p:nvSpPr>
        <p:spPr>
          <a:xfrm>
            <a:off x="1140678" y="159306"/>
            <a:ext cx="225510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探针 — 为什么是这 13 个？</a:t>
            </a:r>
            <a:endParaRPr/>
          </a:p>
        </p:txBody>
      </p:sp>
      <p:sp>
        <p:nvSpPr>
          <p:cNvPr id="64" name="el-1782900290866-17"/>
          <p:cNvSpPr txBox="1"/>
          <p:nvPr/>
        </p:nvSpPr>
        <p:spPr>
          <a:xfrm>
            <a:off x="614363" y="614363"/>
            <a:ext cx="73009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8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用户感知卡顿</a:t>
            </a:r>
            <a:endParaRPr/>
          </a:p>
        </p:txBody>
      </p:sp>
      <p:sp>
        <p:nvSpPr>
          <p:cNvPr id="65" name="el-1782900290868-19"/>
          <p:cNvSpPr txBox="1"/>
          <p:nvPr/>
        </p:nvSpPr>
        <p:spPr>
          <a:xfrm>
            <a:off x="1323022" y="618649"/>
            <a:ext cx="192881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66" name="el-1782900290868-20"/>
          <p:cNvSpPr txBox="1"/>
          <p:nvPr/>
        </p:nvSpPr>
        <p:spPr>
          <a:xfrm>
            <a:off x="1551622" y="614363"/>
            <a:ext cx="32432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8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帧掉</a:t>
            </a:r>
            <a:endParaRPr/>
          </a:p>
        </p:txBody>
      </p:sp>
      <p:sp>
        <p:nvSpPr>
          <p:cNvPr id="67" name="el-1782900290870-22"/>
          <p:cNvSpPr txBox="1"/>
          <p:nvPr/>
        </p:nvSpPr>
        <p:spPr>
          <a:xfrm>
            <a:off x="1854518" y="618649"/>
            <a:ext cx="192881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68" name="el-1782900290871-23"/>
          <p:cNvSpPr txBox="1"/>
          <p:nvPr/>
        </p:nvSpPr>
        <p:spPr>
          <a:xfrm>
            <a:off x="2083118" y="614363"/>
            <a:ext cx="52720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8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线程没跑</a:t>
            </a:r>
            <a:endParaRPr/>
          </a:p>
        </p:txBody>
      </p:sp>
      <p:sp>
        <p:nvSpPr>
          <p:cNvPr id="69" name="el-1782900290872-25"/>
          <p:cNvSpPr txBox="1"/>
          <p:nvPr/>
        </p:nvSpPr>
        <p:spPr>
          <a:xfrm>
            <a:off x="2588895" y="618649"/>
            <a:ext cx="192881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70" name="el-1782900290873-26"/>
          <p:cNvSpPr txBox="1"/>
          <p:nvPr/>
        </p:nvSpPr>
        <p:spPr>
          <a:xfrm>
            <a:off x="2817495" y="614363"/>
            <a:ext cx="52720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8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调度排队</a:t>
            </a:r>
            <a:endParaRPr/>
          </a:p>
        </p:txBody>
      </p:sp>
      <p:sp>
        <p:nvSpPr>
          <p:cNvPr id="71" name="el-1782900290875-28"/>
          <p:cNvSpPr txBox="1"/>
          <p:nvPr/>
        </p:nvSpPr>
        <p:spPr>
          <a:xfrm>
            <a:off x="3323273" y="618649"/>
            <a:ext cx="134928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∣</a:t>
            </a:r>
            <a:endParaRPr/>
          </a:p>
        </p:txBody>
      </p:sp>
      <p:sp>
        <p:nvSpPr>
          <p:cNvPr id="72" name="el-1782900290876-29"/>
          <p:cNvSpPr txBox="1"/>
          <p:nvPr/>
        </p:nvSpPr>
        <p:spPr>
          <a:xfrm>
            <a:off x="3493919" y="614363"/>
            <a:ext cx="59257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8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等 Binder</a:t>
            </a:r>
            <a:endParaRPr/>
          </a:p>
        </p:txBody>
      </p:sp>
      <p:sp>
        <p:nvSpPr>
          <p:cNvPr id="73" name="el-1782900290878-31"/>
          <p:cNvSpPr txBox="1"/>
          <p:nvPr/>
        </p:nvSpPr>
        <p:spPr>
          <a:xfrm>
            <a:off x="4065062" y="618649"/>
            <a:ext cx="134928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∣</a:t>
            </a:r>
            <a:endParaRPr/>
          </a:p>
        </p:txBody>
      </p:sp>
      <p:sp>
        <p:nvSpPr>
          <p:cNvPr id="74" name="el-1782900290879-32"/>
          <p:cNvSpPr txBox="1"/>
          <p:nvPr/>
        </p:nvSpPr>
        <p:spPr>
          <a:xfrm>
            <a:off x="4235708" y="614363"/>
            <a:ext cx="32432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8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等锁</a:t>
            </a:r>
            <a:endParaRPr/>
          </a:p>
        </p:txBody>
      </p:sp>
      <p:sp>
        <p:nvSpPr>
          <p:cNvPr id="75" name="el-1782900290861-15"/>
          <p:cNvSpPr txBox="1"/>
          <p:nvPr/>
        </p:nvSpPr>
        <p:spPr>
          <a:xfrm>
            <a:off x="4552891" y="607933"/>
            <a:ext cx="3921383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→ 必须同时采集 </a:t>
            </a: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sched_switch + binder + futex</a:t>
            </a: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+ cpu_frequency + thermal</a:t>
            </a:r>
            <a:endParaRPr/>
          </a:p>
        </p:txBody>
      </p:sp>
      <p:sp>
        <p:nvSpPr>
          <p:cNvPr id="76" name="el-1782900290881-34"/>
          <p:cNvSpPr txBox="1"/>
          <p:nvPr/>
        </p:nvSpPr>
        <p:spPr>
          <a:xfrm>
            <a:off x="528638" y="887254"/>
            <a:ext cx="14528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▶</a:t>
            </a:r>
            <a:endParaRPr/>
          </a:p>
        </p:txBody>
      </p:sp>
      <p:sp>
        <p:nvSpPr>
          <p:cNvPr id="77" name="el-1782900290856-14"/>
          <p:cNvSpPr txBox="1"/>
          <p:nvPr/>
        </p:nvSpPr>
        <p:spPr>
          <a:xfrm>
            <a:off x="677495" y="887254"/>
            <a:ext cx="473844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用户感知卡顿 → 线程没跑 → 三种可能：调度排队 / 等 Binder / 等锁 → 对应 6 个探针 + 环境因素</a:t>
            </a:r>
            <a:endParaRPr/>
          </a:p>
        </p:txBody>
      </p:sp>
      <p:sp>
        <p:nvSpPr>
          <p:cNvPr id="78" name="el-1782900290881-35"/>
          <p:cNvSpPr txBox="1"/>
          <p:nvPr/>
        </p:nvSpPr>
        <p:spPr>
          <a:xfrm>
            <a:off x="521494" y="1151572"/>
            <a:ext cx="81545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探针一览表</a:t>
            </a:r>
            <a:endParaRPr/>
          </a:p>
        </p:txBody>
      </p:sp>
      <p:sp>
        <p:nvSpPr>
          <p:cNvPr id="79" name="el-1782900290902-40"/>
          <p:cNvSpPr txBox="1"/>
          <p:nvPr/>
        </p:nvSpPr>
        <p:spPr>
          <a:xfrm>
            <a:off x="557213" y="1323022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探针</a:t>
            </a:r>
            <a:endParaRPr/>
          </a:p>
        </p:txBody>
      </p:sp>
      <p:sp>
        <p:nvSpPr>
          <p:cNvPr id="80" name="el-1782900290903-42"/>
          <p:cNvSpPr txBox="1"/>
          <p:nvPr/>
        </p:nvSpPr>
        <p:spPr>
          <a:xfrm>
            <a:off x="2426643" y="1323022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挂载方式</a:t>
            </a:r>
            <a:endParaRPr/>
          </a:p>
        </p:txBody>
      </p:sp>
      <p:sp>
        <p:nvSpPr>
          <p:cNvPr id="81" name="el-1782900290905-44"/>
          <p:cNvSpPr txBox="1"/>
          <p:nvPr/>
        </p:nvSpPr>
        <p:spPr>
          <a:xfrm>
            <a:off x="3984516" y="1323022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写入CSV</a:t>
            </a:r>
            <a:endParaRPr/>
          </a:p>
        </p:txBody>
      </p:sp>
      <p:sp>
        <p:nvSpPr>
          <p:cNvPr id="82" name="el-1782900290907-46"/>
          <p:cNvSpPr txBox="1"/>
          <p:nvPr/>
        </p:nvSpPr>
        <p:spPr>
          <a:xfrm>
            <a:off x="6788706" y="1323022"/>
            <a:ext cx="18766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30s数据量</a:t>
            </a:r>
            <a:endParaRPr/>
          </a:p>
        </p:txBody>
      </p:sp>
      <p:sp>
        <p:nvSpPr>
          <p:cNvPr id="83" name="el-1782900290909-48"/>
          <p:cNvSpPr txBox="1"/>
          <p:nvPr/>
        </p:nvSpPr>
        <p:spPr>
          <a:xfrm>
            <a:off x="557213" y="1478756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sched_switch/wakeup</a:t>
            </a:r>
            <a:endParaRPr/>
          </a:p>
        </p:txBody>
      </p:sp>
      <p:sp>
        <p:nvSpPr>
          <p:cNvPr id="84" name="el-1782900290909-49"/>
          <p:cNvSpPr txBox="1"/>
          <p:nvPr/>
        </p:nvSpPr>
        <p:spPr>
          <a:xfrm>
            <a:off x="2426643" y="1478756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tracepoint</a:t>
            </a:r>
            <a:endParaRPr/>
          </a:p>
        </p:txBody>
      </p:sp>
      <p:sp>
        <p:nvSpPr>
          <p:cNvPr id="85" name="el-1782900290910-50"/>
          <p:cNvSpPr txBox="1"/>
          <p:nvPr/>
        </p:nvSpPr>
        <p:spPr>
          <a:xfrm>
            <a:off x="3984516" y="1478756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sched_events.csv</a:t>
            </a:r>
            <a:endParaRPr/>
          </a:p>
        </p:txBody>
      </p:sp>
      <p:sp>
        <p:nvSpPr>
          <p:cNvPr id="86" name="el-1782900290911-51"/>
          <p:cNvSpPr txBox="1"/>
          <p:nvPr/>
        </p:nvSpPr>
        <p:spPr>
          <a:xfrm>
            <a:off x="6788706" y="1478756"/>
            <a:ext cx="18766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~200万行</a:t>
            </a:r>
            <a:endParaRPr/>
          </a:p>
        </p:txBody>
      </p:sp>
      <p:sp>
        <p:nvSpPr>
          <p:cNvPr id="87" name="el-1782900290912-52"/>
          <p:cNvSpPr txBox="1"/>
          <p:nvPr/>
        </p:nvSpPr>
        <p:spPr>
          <a:xfrm>
            <a:off x="557213" y="1634490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binder_tx/rx</a:t>
            </a:r>
            <a:endParaRPr/>
          </a:p>
        </p:txBody>
      </p:sp>
      <p:sp>
        <p:nvSpPr>
          <p:cNvPr id="88" name="el-1782900290912-53"/>
          <p:cNvSpPr txBox="1"/>
          <p:nvPr/>
        </p:nvSpPr>
        <p:spPr>
          <a:xfrm>
            <a:off x="2426643" y="1634490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kprobe ⚠️</a:t>
            </a:r>
            <a:endParaRPr/>
          </a:p>
        </p:txBody>
      </p:sp>
      <p:sp>
        <p:nvSpPr>
          <p:cNvPr id="89" name="el-1782900290914-55"/>
          <p:cNvSpPr txBox="1"/>
          <p:nvPr/>
        </p:nvSpPr>
        <p:spPr>
          <a:xfrm>
            <a:off x="3984516" y="1634490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binder_futex_events.csv</a:t>
            </a:r>
            <a:endParaRPr/>
          </a:p>
        </p:txBody>
      </p:sp>
      <p:sp>
        <p:nvSpPr>
          <p:cNvPr id="90" name="el-1782900290916-57"/>
          <p:cNvSpPr txBox="1"/>
          <p:nvPr/>
        </p:nvSpPr>
        <p:spPr>
          <a:xfrm>
            <a:off x="6788706" y="1634490"/>
            <a:ext cx="18766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~16万行</a:t>
            </a:r>
            <a:endParaRPr/>
          </a:p>
        </p:txBody>
      </p:sp>
      <p:sp>
        <p:nvSpPr>
          <p:cNvPr id="91" name="el-1782900290918-59"/>
          <p:cNvSpPr txBox="1"/>
          <p:nvPr/>
        </p:nvSpPr>
        <p:spPr>
          <a:xfrm>
            <a:off x="557213" y="1790224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futex_wait/wake</a:t>
            </a:r>
            <a:endParaRPr/>
          </a:p>
        </p:txBody>
      </p:sp>
      <p:sp>
        <p:nvSpPr>
          <p:cNvPr id="92" name="el-1782900290918-60"/>
          <p:cNvSpPr txBox="1"/>
          <p:nvPr/>
        </p:nvSpPr>
        <p:spPr>
          <a:xfrm>
            <a:off x="2426643" y="1790224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tracepoint</a:t>
            </a:r>
            <a:endParaRPr/>
          </a:p>
        </p:txBody>
      </p:sp>
      <p:sp>
        <p:nvSpPr>
          <p:cNvPr id="93" name="el-1782900290919-61"/>
          <p:cNvSpPr txBox="1"/>
          <p:nvPr/>
        </p:nvSpPr>
        <p:spPr>
          <a:xfrm>
            <a:off x="3984516" y="1790224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binder_futex_events.csv</a:t>
            </a:r>
            <a:endParaRPr/>
          </a:p>
        </p:txBody>
      </p:sp>
      <p:sp>
        <p:nvSpPr>
          <p:cNvPr id="94" name="el-1782900290919-62"/>
          <p:cNvSpPr txBox="1"/>
          <p:nvPr/>
        </p:nvSpPr>
        <p:spPr>
          <a:xfrm>
            <a:off x="6788706" y="1790224"/>
            <a:ext cx="18766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~27万行</a:t>
            </a:r>
            <a:endParaRPr/>
          </a:p>
        </p:txBody>
      </p:sp>
      <p:sp>
        <p:nvSpPr>
          <p:cNvPr id="95" name="el-1782900290920-63"/>
          <p:cNvSpPr txBox="1"/>
          <p:nvPr/>
        </p:nvSpPr>
        <p:spPr>
          <a:xfrm>
            <a:off x="557213" y="1945957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cpu_frequency</a:t>
            </a:r>
            <a:endParaRPr/>
          </a:p>
        </p:txBody>
      </p:sp>
      <p:sp>
        <p:nvSpPr>
          <p:cNvPr id="96" name="el-1782900290921-64"/>
          <p:cNvSpPr txBox="1"/>
          <p:nvPr/>
        </p:nvSpPr>
        <p:spPr>
          <a:xfrm>
            <a:off x="2426643" y="1945957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tracepoint</a:t>
            </a:r>
            <a:endParaRPr/>
          </a:p>
        </p:txBody>
      </p:sp>
      <p:sp>
        <p:nvSpPr>
          <p:cNvPr id="97" name="el-1782900290921-65"/>
          <p:cNvSpPr txBox="1"/>
          <p:nvPr/>
        </p:nvSpPr>
        <p:spPr>
          <a:xfrm>
            <a:off x="3984516" y="1945957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binder_futex_events.csv</a:t>
            </a:r>
            <a:endParaRPr/>
          </a:p>
        </p:txBody>
      </p:sp>
      <p:sp>
        <p:nvSpPr>
          <p:cNvPr id="98" name="el-1782900290922-66"/>
          <p:cNvSpPr txBox="1"/>
          <p:nvPr/>
        </p:nvSpPr>
        <p:spPr>
          <a:xfrm>
            <a:off x="6788706" y="1945957"/>
            <a:ext cx="18766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~1万行</a:t>
            </a:r>
            <a:endParaRPr/>
          </a:p>
        </p:txBody>
      </p:sp>
      <p:sp>
        <p:nvSpPr>
          <p:cNvPr id="99" name="el-1782900290923-67"/>
          <p:cNvSpPr txBox="1"/>
          <p:nvPr/>
        </p:nvSpPr>
        <p:spPr>
          <a:xfrm>
            <a:off x="557213" y="2101691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thermal_temperature</a:t>
            </a:r>
            <a:endParaRPr/>
          </a:p>
        </p:txBody>
      </p:sp>
      <p:sp>
        <p:nvSpPr>
          <p:cNvPr id="100" name="el-1782900290924-68"/>
          <p:cNvSpPr txBox="1"/>
          <p:nvPr/>
        </p:nvSpPr>
        <p:spPr>
          <a:xfrm>
            <a:off x="2426643" y="2101691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tracepoint</a:t>
            </a:r>
            <a:endParaRPr/>
          </a:p>
        </p:txBody>
      </p:sp>
      <p:sp>
        <p:nvSpPr>
          <p:cNvPr id="101" name="el-1782900290925-69"/>
          <p:cNvSpPr txBox="1"/>
          <p:nvPr/>
        </p:nvSpPr>
        <p:spPr>
          <a:xfrm>
            <a:off x="3984516" y="2101691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binder_futex_events.csv</a:t>
            </a:r>
            <a:endParaRPr/>
          </a:p>
        </p:txBody>
      </p:sp>
      <p:sp>
        <p:nvSpPr>
          <p:cNvPr id="102" name="el-1782900290925-70"/>
          <p:cNvSpPr txBox="1"/>
          <p:nvPr/>
        </p:nvSpPr>
        <p:spPr>
          <a:xfrm>
            <a:off x="6788706" y="2101691"/>
            <a:ext cx="18766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—</a:t>
            </a:r>
            <a:endParaRPr/>
          </a:p>
        </p:txBody>
      </p:sp>
      <p:sp>
        <p:nvSpPr>
          <p:cNvPr id="103" name="el-1782900290926-71"/>
          <p:cNvSpPr txBox="1"/>
          <p:nvPr/>
        </p:nvSpPr>
        <p:spPr>
          <a:xfrm>
            <a:off x="557213" y="2257425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irq/softirq</a:t>
            </a:r>
            <a:endParaRPr/>
          </a:p>
        </p:txBody>
      </p:sp>
      <p:sp>
        <p:nvSpPr>
          <p:cNvPr id="104" name="el-1782900290926-72"/>
          <p:cNvSpPr txBox="1"/>
          <p:nvPr/>
        </p:nvSpPr>
        <p:spPr>
          <a:xfrm>
            <a:off x="2426643" y="2257425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tp_btf</a:t>
            </a:r>
            <a:endParaRPr/>
          </a:p>
        </p:txBody>
      </p:sp>
      <p:sp>
        <p:nvSpPr>
          <p:cNvPr id="105" name="el-1782900290927-73"/>
          <p:cNvSpPr txBox="1"/>
          <p:nvPr/>
        </p:nvSpPr>
        <p:spPr>
          <a:xfrm>
            <a:off x="3984516" y="2257425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irq_events.csv</a:t>
            </a:r>
            <a:endParaRPr/>
          </a:p>
        </p:txBody>
      </p:sp>
      <p:sp>
        <p:nvSpPr>
          <p:cNvPr id="106" name="el-1782900290927-74"/>
          <p:cNvSpPr txBox="1"/>
          <p:nvPr/>
        </p:nvSpPr>
        <p:spPr>
          <a:xfrm>
            <a:off x="6788706" y="2257425"/>
            <a:ext cx="18766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~210万行</a:t>
            </a:r>
            <a:endParaRPr/>
          </a:p>
        </p:txBody>
      </p:sp>
      <p:sp>
        <p:nvSpPr>
          <p:cNvPr id="107" name="el-1782900290928-75"/>
          <p:cNvSpPr txBox="1"/>
          <p:nvPr/>
        </p:nvSpPr>
        <p:spPr>
          <a:xfrm>
            <a:off x="557213" y="2413159"/>
            <a:ext cx="187657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mem_reclaim</a:t>
            </a:r>
            <a:endParaRPr/>
          </a:p>
        </p:txBody>
      </p:sp>
      <p:sp>
        <p:nvSpPr>
          <p:cNvPr id="108" name="el-1782900290928-76"/>
          <p:cNvSpPr txBox="1"/>
          <p:nvPr/>
        </p:nvSpPr>
        <p:spPr>
          <a:xfrm>
            <a:off x="2426643" y="2413159"/>
            <a:ext cx="15650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tracepoint</a:t>
            </a:r>
            <a:endParaRPr/>
          </a:p>
        </p:txBody>
      </p:sp>
      <p:sp>
        <p:nvSpPr>
          <p:cNvPr id="109" name="el-1782900290929-77"/>
          <p:cNvSpPr txBox="1"/>
          <p:nvPr/>
        </p:nvSpPr>
        <p:spPr>
          <a:xfrm>
            <a:off x="3984516" y="2413159"/>
            <a:ext cx="28113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binder_futex_events.csv</a:t>
            </a:r>
            <a:endParaRPr/>
          </a:p>
        </p:txBody>
      </p:sp>
      <p:sp>
        <p:nvSpPr>
          <p:cNvPr id="110" name="el-1782900290929-78"/>
          <p:cNvSpPr txBox="1"/>
          <p:nvPr/>
        </p:nvSpPr>
        <p:spPr>
          <a:xfrm>
            <a:off x="6788706" y="2413159"/>
            <a:ext cx="1876663" cy="127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~55次</a:t>
            </a:r>
            <a:endParaRPr/>
          </a:p>
        </p:txBody>
      </p:sp>
      <p:sp>
        <p:nvSpPr>
          <p:cNvPr id="111" name="el-1782900290882-36"/>
          <p:cNvSpPr txBox="1"/>
          <p:nvPr/>
        </p:nvSpPr>
        <p:spPr>
          <a:xfrm>
            <a:off x="521494" y="2597468"/>
            <a:ext cx="8143875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所有事件统一为 10 字段 CSV 格式（ts/event/tid/prev_tid/tgid/uid/extra/ret/comm + debug_id），跨探针复用相同字段布局</a:t>
            </a:r>
            <a:endParaRPr/>
          </a:p>
        </p:txBody>
      </p:sp>
      <p:sp>
        <p:nvSpPr>
          <p:cNvPr id="112" name="el-1782900290882-37"/>
          <p:cNvSpPr txBox="1"/>
          <p:nvPr/>
        </p:nvSpPr>
        <p:spPr>
          <a:xfrm>
            <a:off x="521494" y="2746057"/>
            <a:ext cx="8143875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B00020"/>
                </a:solidFill>
                <a:latin typeface="Microsoft YaHei"/>
                <a:ea typeface="Microsoft YaHei"/>
                <a:cs typeface="Microsoft YaHei"/>
              </a:rPr>
              <a:t>⚠️ binder 用 kprobe 而非 tracepoint：Android GKI 内核未暴露 binder tracepoint</a:t>
            </a:r>
            <a:endParaRPr/>
          </a:p>
        </p:txBody>
      </p:sp>
      <p:sp>
        <p:nvSpPr>
          <p:cNvPr id="113" name="el-1782900290883-38"/>
          <p:cNvSpPr txBox="1"/>
          <p:nvPr/>
        </p:nvSpPr>
        <p:spPr>
          <a:xfrm>
            <a:off x="521494" y="2966085"/>
            <a:ext cx="81545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编译部署流程</a:t>
            </a:r>
            <a:endParaRPr/>
          </a:p>
        </p:txBody>
      </p:sp>
      <p:sp>
        <p:nvSpPr>
          <p:cNvPr id="114" name="el-1782900290930-79"/>
          <p:cNvSpPr txBox="1"/>
          <p:nvPr/>
        </p:nvSpPr>
        <p:spPr>
          <a:xfrm>
            <a:off x="578644" y="3137535"/>
            <a:ext cx="1305252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67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Docker (NDK r26b + clang)</a:t>
            </a:r>
            <a:endParaRPr/>
          </a:p>
        </p:txBody>
      </p:sp>
      <p:sp>
        <p:nvSpPr>
          <p:cNvPr id="115" name="el-1782900290932-81"/>
          <p:cNvSpPr txBox="1"/>
          <p:nvPr/>
        </p:nvSpPr>
        <p:spPr>
          <a:xfrm>
            <a:off x="1855321" y="3123248"/>
            <a:ext cx="1607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116" name="el-1782900290932-82"/>
          <p:cNvSpPr txBox="1"/>
          <p:nvPr/>
        </p:nvSpPr>
        <p:spPr>
          <a:xfrm>
            <a:off x="2033915" y="3137535"/>
            <a:ext cx="44862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67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交叉编译</a:t>
            </a:r>
            <a:endParaRPr/>
          </a:p>
        </p:txBody>
      </p:sp>
      <p:sp>
        <p:nvSpPr>
          <p:cNvPr id="117" name="el-1782900290934-84"/>
          <p:cNvSpPr txBox="1"/>
          <p:nvPr/>
        </p:nvSpPr>
        <p:spPr>
          <a:xfrm>
            <a:off x="2453968" y="3123248"/>
            <a:ext cx="1607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118" name="el-1782900290934-85"/>
          <p:cNvSpPr txBox="1"/>
          <p:nvPr/>
        </p:nvSpPr>
        <p:spPr>
          <a:xfrm>
            <a:off x="2632561" y="3137535"/>
            <a:ext cx="172119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67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tracepilot.bpf.o + tracepilot-aarch64</a:t>
            </a:r>
            <a:endParaRPr/>
          </a:p>
        </p:txBody>
      </p:sp>
      <p:sp>
        <p:nvSpPr>
          <p:cNvPr id="119" name="el-1782900290936-87"/>
          <p:cNvSpPr txBox="1"/>
          <p:nvPr/>
        </p:nvSpPr>
        <p:spPr>
          <a:xfrm>
            <a:off x="4325184" y="3123248"/>
            <a:ext cx="1607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120" name="el-1782900290936-88"/>
          <p:cNvSpPr txBox="1"/>
          <p:nvPr/>
        </p:nvSpPr>
        <p:spPr>
          <a:xfrm>
            <a:off x="4503777" y="3137535"/>
            <a:ext cx="51086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67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adb push</a:t>
            </a:r>
            <a:endParaRPr/>
          </a:p>
        </p:txBody>
      </p:sp>
      <p:sp>
        <p:nvSpPr>
          <p:cNvPr id="121" name="el-1782900290938-90"/>
          <p:cNvSpPr txBox="1"/>
          <p:nvPr/>
        </p:nvSpPr>
        <p:spPr>
          <a:xfrm>
            <a:off x="4986070" y="3123248"/>
            <a:ext cx="1607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122" name="el-1782900290938-91"/>
          <p:cNvSpPr txBox="1"/>
          <p:nvPr/>
        </p:nvSpPr>
        <p:spPr>
          <a:xfrm>
            <a:off x="5164664" y="3137535"/>
            <a:ext cx="1269266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67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Pixel 6a: bpf() 系统调用加载</a:t>
            </a:r>
            <a:endParaRPr/>
          </a:p>
        </p:txBody>
      </p:sp>
      <p:sp>
        <p:nvSpPr>
          <p:cNvPr id="123" name="el-1782900290940-93"/>
          <p:cNvSpPr txBox="1"/>
          <p:nvPr/>
        </p:nvSpPr>
        <p:spPr>
          <a:xfrm>
            <a:off x="6405354" y="3123248"/>
            <a:ext cx="1607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124" name="el-1782900290941-94"/>
          <p:cNvSpPr txBox="1"/>
          <p:nvPr/>
        </p:nvSpPr>
        <p:spPr>
          <a:xfrm>
            <a:off x="6583948" y="3137535"/>
            <a:ext cx="1118622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670" spc="1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ringbuf 输出 events.bin</a:t>
            </a:r>
            <a:endParaRPr/>
          </a:p>
        </p:txBody>
      </p:sp>
      <p:sp>
        <p:nvSpPr>
          <p:cNvPr id="125" name="el-1782900290865-16"/>
          <p:cNvSpPr txBox="1"/>
          <p:nvPr/>
        </p:nvSpPr>
        <p:spPr>
          <a:xfrm>
            <a:off x="521494" y="3287554"/>
            <a:ext cx="8147447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输出体积 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450~690 MB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· 全流程容器化封装，Ubuntu 22.04 编译环境</a:t>
            </a:r>
            <a:endParaRPr/>
          </a:p>
        </p:txBody>
      </p:sp>
      <p:sp>
        <p:nvSpPr>
          <p:cNvPr id="126" name="el-1782900290842-6"/>
          <p:cNvSpPr txBox="1"/>
          <p:nvPr/>
        </p:nvSpPr>
        <p:spPr>
          <a:xfrm>
            <a:off x="400050" y="5761434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127" name="el-1782900290843-7"/>
          <p:cNvSpPr txBox="1"/>
          <p:nvPr/>
        </p:nvSpPr>
        <p:spPr>
          <a:xfrm>
            <a:off x="7709267" y="5761434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1216-1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1220-3"/>
          <p:cNvCxnSpPr/>
          <p:nvPr/>
        </p:nvCxnSpPr>
        <p:spPr>
          <a:xfrm>
            <a:off x="994231" y="167878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1232-8"/>
          <p:cNvSpPr/>
          <p:nvPr/>
        </p:nvSpPr>
        <p:spPr>
          <a:xfrm>
            <a:off x="400050" y="1323022"/>
            <a:ext cx="1966942" cy="10715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91244-18"/>
          <p:cNvCxnSpPr/>
          <p:nvPr/>
        </p:nvCxnSpPr>
        <p:spPr>
          <a:xfrm>
            <a:off x="414338" y="1323022"/>
            <a:ext cx="914" cy="107156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91233-9"/>
          <p:cNvSpPr/>
          <p:nvPr/>
        </p:nvSpPr>
        <p:spPr>
          <a:xfrm>
            <a:off x="2467005" y="1323022"/>
            <a:ext cx="1966942" cy="10715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91245-19"/>
          <p:cNvCxnSpPr/>
          <p:nvPr/>
        </p:nvCxnSpPr>
        <p:spPr>
          <a:xfrm>
            <a:off x="2481292" y="1323022"/>
            <a:ext cx="914" cy="107156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00291234-10"/>
          <p:cNvSpPr/>
          <p:nvPr/>
        </p:nvSpPr>
        <p:spPr>
          <a:xfrm>
            <a:off x="4533959" y="1323022"/>
            <a:ext cx="1966942" cy="10715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9" name="el-1782900291246-20"/>
          <p:cNvCxnSpPr/>
          <p:nvPr/>
        </p:nvCxnSpPr>
        <p:spPr>
          <a:xfrm>
            <a:off x="4548247" y="1323022"/>
            <a:ext cx="914" cy="107156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00291236-11"/>
          <p:cNvSpPr/>
          <p:nvPr/>
        </p:nvSpPr>
        <p:spPr>
          <a:xfrm>
            <a:off x="6600914" y="1323022"/>
            <a:ext cx="2143125" cy="10715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1" name="el-1782900291247-21"/>
          <p:cNvCxnSpPr/>
          <p:nvPr/>
        </p:nvCxnSpPr>
        <p:spPr>
          <a:xfrm>
            <a:off x="6615202" y="1323022"/>
            <a:ext cx="914" cy="107156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00291237-12"/>
          <p:cNvSpPr/>
          <p:nvPr/>
        </p:nvSpPr>
        <p:spPr>
          <a:xfrm>
            <a:off x="3500438" y="2494598"/>
            <a:ext cx="2143125" cy="8943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3" name="el-1782900291248-22"/>
          <p:cNvCxnSpPr/>
          <p:nvPr/>
        </p:nvCxnSpPr>
        <p:spPr>
          <a:xfrm>
            <a:off x="3514725" y="2494598"/>
            <a:ext cx="914" cy="89439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2900291238-13"/>
          <p:cNvSpPr/>
          <p:nvPr/>
        </p:nvSpPr>
        <p:spPr>
          <a:xfrm>
            <a:off x="400050" y="3560445"/>
            <a:ext cx="1588770" cy="4029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5" name="el-1782900291249-23"/>
          <p:cNvCxnSpPr/>
          <p:nvPr/>
        </p:nvCxnSpPr>
        <p:spPr>
          <a:xfrm>
            <a:off x="414338" y="3560445"/>
            <a:ext cx="914" cy="40290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2900291239-14"/>
          <p:cNvSpPr/>
          <p:nvPr/>
        </p:nvSpPr>
        <p:spPr>
          <a:xfrm>
            <a:off x="2088832" y="3560445"/>
            <a:ext cx="1588770" cy="4029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7" name="el-1782900291250-24"/>
          <p:cNvCxnSpPr/>
          <p:nvPr/>
        </p:nvCxnSpPr>
        <p:spPr>
          <a:xfrm>
            <a:off x="2103120" y="3560445"/>
            <a:ext cx="914" cy="40290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2900291240-15"/>
          <p:cNvSpPr/>
          <p:nvPr/>
        </p:nvSpPr>
        <p:spPr>
          <a:xfrm>
            <a:off x="3777615" y="3560445"/>
            <a:ext cx="1588770" cy="4029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9" name="el-1782900291251-25"/>
          <p:cNvCxnSpPr/>
          <p:nvPr/>
        </p:nvCxnSpPr>
        <p:spPr>
          <a:xfrm>
            <a:off x="3791902" y="3560445"/>
            <a:ext cx="914" cy="40290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2900291242-16"/>
          <p:cNvSpPr/>
          <p:nvPr/>
        </p:nvSpPr>
        <p:spPr>
          <a:xfrm>
            <a:off x="5466398" y="3560445"/>
            <a:ext cx="1588770" cy="4029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1" name="el-1782900291252-26"/>
          <p:cNvCxnSpPr/>
          <p:nvPr/>
        </p:nvCxnSpPr>
        <p:spPr>
          <a:xfrm>
            <a:off x="5480685" y="3560445"/>
            <a:ext cx="914" cy="40290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2900291243-17"/>
          <p:cNvSpPr/>
          <p:nvPr/>
        </p:nvSpPr>
        <p:spPr>
          <a:xfrm>
            <a:off x="7155180" y="3560445"/>
            <a:ext cx="1588770" cy="4029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3" name="el-1782900291253-27"/>
          <p:cNvCxnSpPr/>
          <p:nvPr/>
        </p:nvCxnSpPr>
        <p:spPr>
          <a:xfrm>
            <a:off x="7169468" y="3560445"/>
            <a:ext cx="914" cy="40290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2900291217-2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2900291222-4"/>
          <p:cNvSpPr txBox="1"/>
          <p:nvPr/>
        </p:nvSpPr>
        <p:spPr>
          <a:xfrm>
            <a:off x="400050" y="179308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07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26" name="el-1782900291223-5"/>
          <p:cNvSpPr txBox="1"/>
          <p:nvPr/>
        </p:nvSpPr>
        <p:spPr>
          <a:xfrm>
            <a:off x="1140678" y="159306"/>
            <a:ext cx="12144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五大采集场景覆盖</a:t>
            </a:r>
            <a:endParaRPr/>
          </a:p>
        </p:txBody>
      </p:sp>
      <p:sp>
        <p:nvSpPr>
          <p:cNvPr id="27" name="el-1782900291261-29"/>
          <p:cNvSpPr txBox="1"/>
          <p:nvPr/>
        </p:nvSpPr>
        <p:spPr>
          <a:xfrm>
            <a:off x="528638" y="1415891"/>
            <a:ext cx="1802636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页面切换（基础版）</a:t>
            </a:r>
            <a:endParaRPr/>
          </a:p>
        </p:txBody>
      </p:sp>
      <p:sp>
        <p:nvSpPr>
          <p:cNvPr id="28" name="el-1782900291306-48"/>
          <p:cNvSpPr txBox="1"/>
          <p:nvPr/>
        </p:nvSpPr>
        <p:spPr>
          <a:xfrm>
            <a:off x="528638" y="1633061"/>
            <a:ext cx="2857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/>
          </a:p>
        </p:txBody>
      </p:sp>
      <p:sp>
        <p:nvSpPr>
          <p:cNvPr id="29" name="el-1782900291307-49"/>
          <p:cNvSpPr txBox="1"/>
          <p:nvPr/>
        </p:nvSpPr>
        <p:spPr>
          <a:xfrm>
            <a:off x="785813" y="1633061"/>
            <a:ext cx="244227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QQ</a:t>
            </a:r>
            <a:endParaRPr/>
          </a:p>
        </p:txBody>
      </p:sp>
      <p:sp>
        <p:nvSpPr>
          <p:cNvPr id="30" name="el-1782900291308-50"/>
          <p:cNvSpPr txBox="1"/>
          <p:nvPr/>
        </p:nvSpPr>
        <p:spPr>
          <a:xfrm>
            <a:off x="528638" y="1810226"/>
            <a:ext cx="4000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数据量</a:t>
            </a:r>
            <a:endParaRPr/>
          </a:p>
        </p:txBody>
      </p:sp>
      <p:sp>
        <p:nvSpPr>
          <p:cNvPr id="31" name="el-1782900291308-51"/>
          <p:cNvSpPr txBox="1"/>
          <p:nvPr/>
        </p:nvSpPr>
        <p:spPr>
          <a:xfrm>
            <a:off x="900113" y="1810226"/>
            <a:ext cx="109067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690MB events.bin</a:t>
            </a:r>
            <a:endParaRPr/>
          </a:p>
        </p:txBody>
      </p:sp>
      <p:sp>
        <p:nvSpPr>
          <p:cNvPr id="32" name="el-1782900291262-30"/>
          <p:cNvSpPr txBox="1"/>
          <p:nvPr/>
        </p:nvSpPr>
        <p:spPr>
          <a:xfrm>
            <a:off x="528638" y="2001679"/>
            <a:ext cx="178477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IRQ/softirq辅助分析</a:t>
            </a:r>
            <a:endParaRPr/>
          </a:p>
        </p:txBody>
      </p:sp>
      <p:sp>
        <p:nvSpPr>
          <p:cNvPr id="33" name="el-1782900291262-31"/>
          <p:cNvSpPr txBox="1"/>
          <p:nvPr/>
        </p:nvSpPr>
        <p:spPr>
          <a:xfrm>
            <a:off x="2595592" y="1415891"/>
            <a:ext cx="1802636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视频浏览（增强版）</a:t>
            </a:r>
            <a:endParaRPr/>
          </a:p>
        </p:txBody>
      </p:sp>
      <p:sp>
        <p:nvSpPr>
          <p:cNvPr id="34" name="el-1782900291309-52"/>
          <p:cNvSpPr txBox="1"/>
          <p:nvPr/>
        </p:nvSpPr>
        <p:spPr>
          <a:xfrm>
            <a:off x="2595592" y="1633061"/>
            <a:ext cx="2857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/>
          </a:p>
        </p:txBody>
      </p:sp>
      <p:sp>
        <p:nvSpPr>
          <p:cNvPr id="35" name="el-1782900291309-53"/>
          <p:cNvSpPr txBox="1"/>
          <p:nvPr/>
        </p:nvSpPr>
        <p:spPr>
          <a:xfrm>
            <a:off x="2852767" y="1633061"/>
            <a:ext cx="56837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微信/抖音</a:t>
            </a:r>
            <a:endParaRPr/>
          </a:p>
        </p:txBody>
      </p:sp>
      <p:sp>
        <p:nvSpPr>
          <p:cNvPr id="36" name="el-1782900291310-54"/>
          <p:cNvSpPr txBox="1"/>
          <p:nvPr/>
        </p:nvSpPr>
        <p:spPr>
          <a:xfrm>
            <a:off x="2595592" y="1810226"/>
            <a:ext cx="4000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数据量</a:t>
            </a:r>
            <a:endParaRPr/>
          </a:p>
        </p:txBody>
      </p:sp>
      <p:sp>
        <p:nvSpPr>
          <p:cNvPr id="37" name="el-1782900291310-55"/>
          <p:cNvSpPr txBox="1"/>
          <p:nvPr/>
        </p:nvSpPr>
        <p:spPr>
          <a:xfrm>
            <a:off x="2967067" y="1810226"/>
            <a:ext cx="762774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451~459MB</a:t>
            </a:r>
            <a:endParaRPr/>
          </a:p>
        </p:txBody>
      </p:sp>
      <p:sp>
        <p:nvSpPr>
          <p:cNvPr id="38" name="el-1782900291260-28"/>
          <p:cNvSpPr txBox="1"/>
          <p:nvPr/>
        </p:nvSpPr>
        <p:spPr>
          <a:xfrm>
            <a:off x="2595592" y="2001679"/>
            <a:ext cx="1731199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6"/>
              </a:lnSpc>
            </a:pP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Binder/Futex图+Jank分类+</a:t>
            </a: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Hint Engine</a:t>
            </a:r>
            <a:endParaRPr/>
          </a:p>
        </p:txBody>
      </p:sp>
      <p:sp>
        <p:nvSpPr>
          <p:cNvPr id="39" name="el-1782900291263-32"/>
          <p:cNvSpPr txBox="1"/>
          <p:nvPr/>
        </p:nvSpPr>
        <p:spPr>
          <a:xfrm>
            <a:off x="4662547" y="1415891"/>
            <a:ext cx="1802636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信息流滚动</a:t>
            </a:r>
            <a:endParaRPr/>
          </a:p>
        </p:txBody>
      </p:sp>
      <p:sp>
        <p:nvSpPr>
          <p:cNvPr id="40" name="el-1782900291310-56"/>
          <p:cNvSpPr txBox="1"/>
          <p:nvPr/>
        </p:nvSpPr>
        <p:spPr>
          <a:xfrm>
            <a:off x="4662547" y="1633061"/>
            <a:ext cx="2857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/>
          </a:p>
        </p:txBody>
      </p:sp>
      <p:sp>
        <p:nvSpPr>
          <p:cNvPr id="41" name="el-1782900291310-57"/>
          <p:cNvSpPr txBox="1"/>
          <p:nvPr/>
        </p:nvSpPr>
        <p:spPr>
          <a:xfrm>
            <a:off x="4919722" y="1633061"/>
            <a:ext cx="509707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Chrome</a:t>
            </a:r>
            <a:endParaRPr/>
          </a:p>
        </p:txBody>
      </p:sp>
      <p:sp>
        <p:nvSpPr>
          <p:cNvPr id="42" name="el-1782900291311-58"/>
          <p:cNvSpPr txBox="1"/>
          <p:nvPr/>
        </p:nvSpPr>
        <p:spPr>
          <a:xfrm>
            <a:off x="4662547" y="1810226"/>
            <a:ext cx="4000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数据量</a:t>
            </a:r>
            <a:endParaRPr/>
          </a:p>
        </p:txBody>
      </p:sp>
      <p:sp>
        <p:nvSpPr>
          <p:cNvPr id="43" name="el-1782900291311-59"/>
          <p:cNvSpPr txBox="1"/>
          <p:nvPr/>
        </p:nvSpPr>
        <p:spPr>
          <a:xfrm>
            <a:off x="5034022" y="1810226"/>
            <a:ext cx="86296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261万事件/34s</a:t>
            </a:r>
            <a:endParaRPr/>
          </a:p>
        </p:txBody>
      </p:sp>
      <p:sp>
        <p:nvSpPr>
          <p:cNvPr id="44" name="el-1782900291264-33"/>
          <p:cNvSpPr txBox="1"/>
          <p:nvPr/>
        </p:nvSpPr>
        <p:spPr>
          <a:xfrm>
            <a:off x="4662547" y="2001679"/>
            <a:ext cx="1731199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6"/>
              </a:lnSpc>
            </a:pP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秒级聚合+34线程+Step2 Binder/启发式</a:t>
            </a:r>
            <a:endParaRPr/>
          </a:p>
        </p:txBody>
      </p:sp>
      <p:sp>
        <p:nvSpPr>
          <p:cNvPr id="45" name="el-1782900291265-34"/>
          <p:cNvSpPr txBox="1"/>
          <p:nvPr/>
        </p:nvSpPr>
        <p:spPr>
          <a:xfrm>
            <a:off x="6729502" y="1415891"/>
            <a:ext cx="1978819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相机拍照</a:t>
            </a:r>
            <a:endParaRPr/>
          </a:p>
        </p:txBody>
      </p:sp>
      <p:sp>
        <p:nvSpPr>
          <p:cNvPr id="46" name="el-1782900291312-60"/>
          <p:cNvSpPr txBox="1"/>
          <p:nvPr/>
        </p:nvSpPr>
        <p:spPr>
          <a:xfrm>
            <a:off x="6729502" y="1633061"/>
            <a:ext cx="2857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/>
          </a:p>
        </p:txBody>
      </p:sp>
      <p:sp>
        <p:nvSpPr>
          <p:cNvPr id="47" name="el-1782900291312-61"/>
          <p:cNvSpPr txBox="1"/>
          <p:nvPr/>
        </p:nvSpPr>
        <p:spPr>
          <a:xfrm>
            <a:off x="6986677" y="1633061"/>
            <a:ext cx="941457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Google Camera</a:t>
            </a:r>
            <a:endParaRPr/>
          </a:p>
        </p:txBody>
      </p:sp>
      <p:sp>
        <p:nvSpPr>
          <p:cNvPr id="48" name="el-1782900291312-62"/>
          <p:cNvSpPr txBox="1"/>
          <p:nvPr/>
        </p:nvSpPr>
        <p:spPr>
          <a:xfrm>
            <a:off x="6729502" y="1810226"/>
            <a:ext cx="4000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数据量</a:t>
            </a:r>
            <a:endParaRPr/>
          </a:p>
        </p:txBody>
      </p:sp>
      <p:sp>
        <p:nvSpPr>
          <p:cNvPr id="49" name="el-1782900291313-63"/>
          <p:cNvSpPr txBox="1"/>
          <p:nvPr/>
        </p:nvSpPr>
        <p:spPr>
          <a:xfrm>
            <a:off x="7100977" y="1810226"/>
            <a:ext cx="86296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460万事件/30s</a:t>
            </a:r>
            <a:endParaRPr/>
          </a:p>
        </p:txBody>
      </p:sp>
      <p:sp>
        <p:nvSpPr>
          <p:cNvPr id="50" name="el-1782900291265-35"/>
          <p:cNvSpPr txBox="1"/>
          <p:nvPr/>
        </p:nvSpPr>
        <p:spPr>
          <a:xfrm>
            <a:off x="6729502" y="2001679"/>
            <a:ext cx="196095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13探针+内核内延迟+全自动Pipeline</a:t>
            </a:r>
            <a:endParaRPr/>
          </a:p>
        </p:txBody>
      </p:sp>
      <p:sp>
        <p:nvSpPr>
          <p:cNvPr id="51" name="el-1782900291266-36"/>
          <p:cNvSpPr txBox="1"/>
          <p:nvPr/>
        </p:nvSpPr>
        <p:spPr>
          <a:xfrm>
            <a:off x="3629025" y="2587466"/>
            <a:ext cx="1978819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 spc="11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游戏对局</a:t>
            </a:r>
            <a:endParaRPr/>
          </a:p>
        </p:txBody>
      </p:sp>
      <p:sp>
        <p:nvSpPr>
          <p:cNvPr id="52" name="el-1782900291313-64"/>
          <p:cNvSpPr txBox="1"/>
          <p:nvPr/>
        </p:nvSpPr>
        <p:spPr>
          <a:xfrm>
            <a:off x="3629025" y="2804636"/>
            <a:ext cx="2857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/>
          </a:p>
        </p:txBody>
      </p:sp>
      <p:sp>
        <p:nvSpPr>
          <p:cNvPr id="53" name="el-1782900291314-65"/>
          <p:cNvSpPr txBox="1"/>
          <p:nvPr/>
        </p:nvSpPr>
        <p:spPr>
          <a:xfrm>
            <a:off x="3886200" y="2804636"/>
            <a:ext cx="5143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王者荣耀</a:t>
            </a:r>
            <a:endParaRPr/>
          </a:p>
        </p:txBody>
      </p:sp>
      <p:sp>
        <p:nvSpPr>
          <p:cNvPr id="54" name="el-1782900291314-66"/>
          <p:cNvSpPr txBox="1"/>
          <p:nvPr/>
        </p:nvSpPr>
        <p:spPr>
          <a:xfrm>
            <a:off x="4443413" y="2804636"/>
            <a:ext cx="4000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数据量</a:t>
            </a:r>
            <a:endParaRPr/>
          </a:p>
        </p:txBody>
      </p:sp>
      <p:sp>
        <p:nvSpPr>
          <p:cNvPr id="55" name="el-1782900291315-67"/>
          <p:cNvSpPr txBox="1"/>
          <p:nvPr/>
        </p:nvSpPr>
        <p:spPr>
          <a:xfrm>
            <a:off x="4814888" y="2804636"/>
            <a:ext cx="64784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2.1GB/60s</a:t>
            </a:r>
            <a:endParaRPr/>
          </a:p>
        </p:txBody>
      </p:sp>
      <p:sp>
        <p:nvSpPr>
          <p:cNvPr id="56" name="el-1782900291267-37"/>
          <p:cNvSpPr txBox="1"/>
          <p:nvPr/>
        </p:nvSpPr>
        <p:spPr>
          <a:xfrm>
            <a:off x="3629025" y="2996089"/>
            <a:ext cx="1907381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6"/>
              </a:lnSpc>
            </a:pPr>
            <a:r>
              <a:rPr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Unity引擎+FrameTimeline+图拓扑(60K)</a:t>
            </a:r>
            <a:endParaRPr/>
          </a:p>
        </p:txBody>
      </p:sp>
      <p:sp>
        <p:nvSpPr>
          <p:cNvPr id="57" name="el-1782900291267-38"/>
          <p:cNvSpPr txBox="1"/>
          <p:nvPr/>
        </p:nvSpPr>
        <p:spPr>
          <a:xfrm>
            <a:off x="528638" y="3624739"/>
            <a:ext cx="142089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页面切换</a:t>
            </a:r>
            <a:endParaRPr/>
          </a:p>
        </p:txBody>
      </p:sp>
      <p:sp>
        <p:nvSpPr>
          <p:cNvPr id="58" name="el-1782900291268-39"/>
          <p:cNvSpPr txBox="1"/>
          <p:nvPr/>
        </p:nvSpPr>
        <p:spPr>
          <a:xfrm>
            <a:off x="528638" y="3778330"/>
            <a:ext cx="1413748" cy="120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传统UI框架（Android View）</a:t>
            </a:r>
            <a:endParaRPr/>
          </a:p>
        </p:txBody>
      </p:sp>
      <p:sp>
        <p:nvSpPr>
          <p:cNvPr id="59" name="el-1782900291268-40"/>
          <p:cNvSpPr txBox="1"/>
          <p:nvPr/>
        </p:nvSpPr>
        <p:spPr>
          <a:xfrm>
            <a:off x="2217420" y="3624739"/>
            <a:ext cx="142089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视频浏览</a:t>
            </a:r>
            <a:endParaRPr/>
          </a:p>
        </p:txBody>
      </p:sp>
      <p:sp>
        <p:nvSpPr>
          <p:cNvPr id="60" name="el-1782900291269-41"/>
          <p:cNvSpPr txBox="1"/>
          <p:nvPr/>
        </p:nvSpPr>
        <p:spPr>
          <a:xfrm>
            <a:off x="2217420" y="3778330"/>
            <a:ext cx="1413748" cy="120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解码+渲染双管线</a:t>
            </a:r>
            <a:endParaRPr/>
          </a:p>
        </p:txBody>
      </p:sp>
      <p:sp>
        <p:nvSpPr>
          <p:cNvPr id="61" name="el-1782900291269-42"/>
          <p:cNvSpPr txBox="1"/>
          <p:nvPr/>
        </p:nvSpPr>
        <p:spPr>
          <a:xfrm>
            <a:off x="3906202" y="3624739"/>
            <a:ext cx="142089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信息流滚动</a:t>
            </a:r>
            <a:endParaRPr/>
          </a:p>
        </p:txBody>
      </p:sp>
      <p:sp>
        <p:nvSpPr>
          <p:cNvPr id="62" name="el-1782900291270-43"/>
          <p:cNvSpPr txBox="1"/>
          <p:nvPr/>
        </p:nvSpPr>
        <p:spPr>
          <a:xfrm>
            <a:off x="3906202" y="3778330"/>
            <a:ext cx="1413748" cy="120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高频事件压力测试</a:t>
            </a:r>
            <a:endParaRPr/>
          </a:p>
        </p:txBody>
      </p:sp>
      <p:sp>
        <p:nvSpPr>
          <p:cNvPr id="63" name="el-1782900291270-44"/>
          <p:cNvSpPr txBox="1"/>
          <p:nvPr/>
        </p:nvSpPr>
        <p:spPr>
          <a:xfrm>
            <a:off x="5594985" y="3624739"/>
            <a:ext cx="142089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相机</a:t>
            </a:r>
            <a:endParaRPr/>
          </a:p>
        </p:txBody>
      </p:sp>
      <p:sp>
        <p:nvSpPr>
          <p:cNvPr id="64" name="el-1782900291271-45"/>
          <p:cNvSpPr txBox="1"/>
          <p:nvPr/>
        </p:nvSpPr>
        <p:spPr>
          <a:xfrm>
            <a:off x="5594985" y="3778330"/>
            <a:ext cx="1413748" cy="120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HAL层密集调用</a:t>
            </a:r>
            <a:endParaRPr/>
          </a:p>
        </p:txBody>
      </p:sp>
      <p:sp>
        <p:nvSpPr>
          <p:cNvPr id="65" name="el-1782900291272-46"/>
          <p:cNvSpPr txBox="1"/>
          <p:nvPr/>
        </p:nvSpPr>
        <p:spPr>
          <a:xfrm>
            <a:off x="7283768" y="3624739"/>
            <a:ext cx="142089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游戏</a:t>
            </a:r>
            <a:endParaRPr/>
          </a:p>
        </p:txBody>
      </p:sp>
      <p:sp>
        <p:nvSpPr>
          <p:cNvPr id="66" name="el-1782900291272-47"/>
          <p:cNvSpPr txBox="1"/>
          <p:nvPr/>
        </p:nvSpPr>
        <p:spPr>
          <a:xfrm>
            <a:off x="7283768" y="3778330"/>
            <a:ext cx="1413748" cy="120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Unity引擎，非标准线程模型</a:t>
            </a:r>
            <a:endParaRPr/>
          </a:p>
        </p:txBody>
      </p:sp>
      <p:sp>
        <p:nvSpPr>
          <p:cNvPr id="67" name="el-1782900291224-6"/>
          <p:cNvSpPr txBox="1"/>
          <p:nvPr/>
        </p:nvSpPr>
        <p:spPr>
          <a:xfrm>
            <a:off x="400050" y="4904184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68" name="el-1782900291224-7"/>
          <p:cNvSpPr txBox="1"/>
          <p:nvPr/>
        </p:nvSpPr>
        <p:spPr>
          <a:xfrm>
            <a:off x="7709267" y="4904184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1345-1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1349-3"/>
          <p:cNvCxnSpPr/>
          <p:nvPr/>
        </p:nvCxnSpPr>
        <p:spPr>
          <a:xfrm>
            <a:off x="994231" y="167878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1358-8"/>
          <p:cNvSpPr/>
          <p:nvPr/>
        </p:nvSpPr>
        <p:spPr>
          <a:xfrm>
            <a:off x="400050" y="1241941"/>
            <a:ext cx="8343900" cy="3143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1F3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91360-9"/>
          <p:cNvCxnSpPr/>
          <p:nvPr/>
        </p:nvCxnSpPr>
        <p:spPr>
          <a:xfrm>
            <a:off x="414338" y="1241941"/>
            <a:ext cx="914" cy="31432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91365-11"/>
          <p:cNvSpPr/>
          <p:nvPr/>
        </p:nvSpPr>
        <p:spPr>
          <a:xfrm>
            <a:off x="400050" y="1641991"/>
            <a:ext cx="8343900" cy="6322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l-1782900291387-22"/>
          <p:cNvSpPr/>
          <p:nvPr/>
        </p:nvSpPr>
        <p:spPr>
          <a:xfrm>
            <a:off x="535781" y="1863447"/>
            <a:ext cx="4658618" cy="196453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82900291387-22__text"/>
          <p:cNvSpPr txBox="1"/>
          <p:nvPr/>
        </p:nvSpPr>
        <p:spPr>
          <a:xfrm>
            <a:off x="535781" y="1863447"/>
            <a:ext cx="4658618" cy="19645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2D4059"/>
                </a:solidFill>
                <a:latin typeface="Consolas"/>
                <a:ea typeface="Consolas"/>
                <a:cs typeface="Consolas"/>
              </a:rPr>
              <a:t>SELECT frame_token, intended_vsync, actual_end, jank_tag FROM actual_frame_timeline_slice</a:t>
            </a:r>
            <a:endParaRPr/>
          </a:p>
        </p:txBody>
      </p:sp>
      <p:sp>
        <p:nvSpPr>
          <p:cNvPr id="9" name="el-1782900291366-12"/>
          <p:cNvSpPr/>
          <p:nvPr/>
        </p:nvSpPr>
        <p:spPr>
          <a:xfrm>
            <a:off x="400050" y="2331363"/>
            <a:ext cx="8343900" cy="435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-1782900291368-13"/>
          <p:cNvSpPr/>
          <p:nvPr/>
        </p:nvSpPr>
        <p:spPr>
          <a:xfrm>
            <a:off x="400050" y="2824282"/>
            <a:ext cx="8343900" cy="435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l-1782900291369-14"/>
          <p:cNvSpPr/>
          <p:nvPr/>
        </p:nvSpPr>
        <p:spPr>
          <a:xfrm>
            <a:off x="400050" y="3417213"/>
            <a:ext cx="2714625" cy="65579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8E8EC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2" name="el-1782900291375-17"/>
          <p:cNvCxnSpPr/>
          <p:nvPr/>
        </p:nvCxnSpPr>
        <p:spPr>
          <a:xfrm>
            <a:off x="414338" y="3417213"/>
            <a:ext cx="914" cy="655796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00291371-15"/>
          <p:cNvSpPr/>
          <p:nvPr/>
        </p:nvSpPr>
        <p:spPr>
          <a:xfrm>
            <a:off x="3214688" y="3417213"/>
            <a:ext cx="2714625" cy="65579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8E8EC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4" name="el-1782900291376-18"/>
          <p:cNvCxnSpPr/>
          <p:nvPr/>
        </p:nvCxnSpPr>
        <p:spPr>
          <a:xfrm>
            <a:off x="3228975" y="3417213"/>
            <a:ext cx="914" cy="655796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00291372-16"/>
          <p:cNvSpPr/>
          <p:nvPr/>
        </p:nvSpPr>
        <p:spPr>
          <a:xfrm>
            <a:off x="6029325" y="3417213"/>
            <a:ext cx="2714625" cy="65579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8E8EC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6" name="el-1782900291377-19"/>
          <p:cNvCxnSpPr/>
          <p:nvPr/>
        </p:nvCxnSpPr>
        <p:spPr>
          <a:xfrm>
            <a:off x="6043613" y="3417213"/>
            <a:ext cx="914" cy="655796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2900291347-2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2900291352-4"/>
          <p:cNvSpPr txBox="1"/>
          <p:nvPr/>
        </p:nvSpPr>
        <p:spPr>
          <a:xfrm>
            <a:off x="400050" y="179308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08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19" name="el-1782900291354-5"/>
          <p:cNvSpPr txBox="1"/>
          <p:nvPr/>
        </p:nvSpPr>
        <p:spPr>
          <a:xfrm>
            <a:off x="1140678" y="159306"/>
            <a:ext cx="2754541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核心对齐算法：eBPF 事件如何与帧对齐？</a:t>
            </a:r>
            <a:endParaRPr/>
          </a:p>
        </p:txBody>
      </p:sp>
      <p:sp>
        <p:nvSpPr>
          <p:cNvPr id="20" name="el-1782900291363-10"/>
          <p:cNvSpPr txBox="1"/>
          <p:nvPr/>
        </p:nvSpPr>
        <p:spPr>
          <a:xfrm>
            <a:off x="557213" y="1313378"/>
            <a:ext cx="81153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Perfetto 产生帧边界，eBPF 产生纳秒级内核事件流。两者唯一的共同点是时间戳。对齐问题是整个系统的核心。</a:t>
            </a:r>
            <a:endParaRPr/>
          </a:p>
        </p:txBody>
      </p:sp>
      <p:sp>
        <p:nvSpPr>
          <p:cNvPr id="21" name="el-1782900291383-21"/>
          <p:cNvSpPr txBox="1"/>
          <p:nvPr/>
        </p:nvSpPr>
        <p:spPr>
          <a:xfrm>
            <a:off x="535781" y="1706285"/>
            <a:ext cx="812601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Step ① Perfetto SQL 查询</a:t>
            </a:r>
            <a:endParaRPr/>
          </a:p>
        </p:txBody>
      </p:sp>
      <p:sp>
        <p:nvSpPr>
          <p:cNvPr id="22" name="el-1782900291382-20"/>
          <p:cNvSpPr txBox="1"/>
          <p:nvPr/>
        </p:nvSpPr>
        <p:spPr>
          <a:xfrm>
            <a:off x="535781" y="1863447"/>
            <a:ext cx="8072438" cy="3464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 indent="4658618">
              <a:lnSpc>
                <a:spcPts val="117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 →  frames.txt（每帧一行：帧号、预期VSYNC时间、实际显示时间、是否Jank）</a:t>
            </a:r>
            <a:endParaRPr/>
          </a:p>
        </p:txBody>
      </p:sp>
      <p:sp>
        <p:nvSpPr>
          <p:cNvPr id="23" name="el-1782900291388-23"/>
          <p:cNvSpPr txBox="1"/>
          <p:nvPr/>
        </p:nvSpPr>
        <p:spPr>
          <a:xfrm>
            <a:off x="535781" y="2395657"/>
            <a:ext cx="812601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Step ② 时间戳交集开窗</a:t>
            </a:r>
            <a:endParaRPr/>
          </a:p>
        </p:txBody>
      </p:sp>
      <p:sp>
        <p:nvSpPr>
          <p:cNvPr id="24" name="el-1782900291389-24"/>
          <p:cNvSpPr txBox="1"/>
          <p:nvPr/>
        </p:nvSpPr>
        <p:spPr>
          <a:xfrm>
            <a:off x="535781" y="2552819"/>
            <a:ext cx="81224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Perfetto帧窗口 vs eBPF事件流。每个Jank帧独立开窗，收集窗口内所有TID的调度/binder/futex事件。通过纳秒级时间戳匹配。</a:t>
            </a:r>
            <a:endParaRPr/>
          </a:p>
        </p:txBody>
      </p:sp>
      <p:sp>
        <p:nvSpPr>
          <p:cNvPr id="25" name="el-1782900291390-25"/>
          <p:cNvSpPr txBox="1"/>
          <p:nvPr/>
        </p:nvSpPr>
        <p:spPr>
          <a:xfrm>
            <a:off x="535781" y="2888575"/>
            <a:ext cx="812601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Step ③ 依赖继承</a:t>
            </a:r>
            <a:endParaRPr/>
          </a:p>
        </p:txBody>
      </p:sp>
      <p:sp>
        <p:nvSpPr>
          <p:cNvPr id="26" name="el-1782900291390-26"/>
          <p:cNvSpPr txBox="1"/>
          <p:nvPr/>
        </p:nvSpPr>
        <p:spPr>
          <a:xfrm>
            <a:off x="535781" y="3045738"/>
            <a:ext cx="81224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跨帧事件（如f0发出的Binder调用在f1才收到回复）通过"依赖继承机制"保留因果边，避免切帧时丢失上下文。</a:t>
            </a:r>
            <a:endParaRPr/>
          </a:p>
        </p:txBody>
      </p:sp>
      <p:sp>
        <p:nvSpPr>
          <p:cNvPr id="27" name="el-1782900291391-27"/>
          <p:cNvSpPr txBox="1"/>
          <p:nvPr/>
        </p:nvSpPr>
        <p:spPr>
          <a:xfrm>
            <a:off x="528638" y="3495794"/>
            <a:ext cx="25324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runnable_delay</a:t>
            </a:r>
            <a:endParaRPr/>
          </a:p>
        </p:txBody>
      </p:sp>
      <p:sp>
        <p:nvSpPr>
          <p:cNvPr id="28" name="el-1782900291392-28"/>
          <p:cNvSpPr txBox="1"/>
          <p:nvPr/>
        </p:nvSpPr>
        <p:spPr>
          <a:xfrm>
            <a:off x="528638" y="3667244"/>
            <a:ext cx="253603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∑ runnable_delay</a:t>
            </a:r>
            <a:endParaRPr/>
          </a:p>
        </p:txBody>
      </p:sp>
      <p:sp>
        <p:nvSpPr>
          <p:cNvPr id="29" name="el-1782900291392-29"/>
          <p:cNvSpPr txBox="1"/>
          <p:nvPr/>
        </p:nvSpPr>
        <p:spPr>
          <a:xfrm>
            <a:off x="528638" y="3844409"/>
            <a:ext cx="25288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该帧窗口内所有线程就绪等待时间总和</a:t>
            </a:r>
            <a:endParaRPr/>
          </a:p>
        </p:txBody>
      </p:sp>
      <p:sp>
        <p:nvSpPr>
          <p:cNvPr id="30" name="el-1782900291393-30"/>
          <p:cNvSpPr txBox="1"/>
          <p:nvPr/>
        </p:nvSpPr>
        <p:spPr>
          <a:xfrm>
            <a:off x="3343275" y="3495794"/>
            <a:ext cx="25324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Binder调用深度</a:t>
            </a:r>
            <a:endParaRPr/>
          </a:p>
        </p:txBody>
      </p:sp>
      <p:sp>
        <p:nvSpPr>
          <p:cNvPr id="31" name="el-1782900291394-31"/>
          <p:cNvSpPr txBox="1"/>
          <p:nvPr/>
        </p:nvSpPr>
        <p:spPr>
          <a:xfrm>
            <a:off x="3343275" y="3667244"/>
            <a:ext cx="253603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max binder_chain</a:t>
            </a:r>
            <a:endParaRPr/>
          </a:p>
        </p:txBody>
      </p:sp>
      <p:sp>
        <p:nvSpPr>
          <p:cNvPr id="32" name="el-1782900291394-32"/>
          <p:cNvSpPr txBox="1"/>
          <p:nvPr/>
        </p:nvSpPr>
        <p:spPr>
          <a:xfrm>
            <a:off x="3343275" y="3844409"/>
            <a:ext cx="25288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Binder调用链的最大深度</a:t>
            </a:r>
            <a:endParaRPr/>
          </a:p>
        </p:txBody>
      </p:sp>
      <p:sp>
        <p:nvSpPr>
          <p:cNvPr id="33" name="el-1782900291395-33"/>
          <p:cNvSpPr txBox="1"/>
          <p:nvPr/>
        </p:nvSpPr>
        <p:spPr>
          <a:xfrm>
            <a:off x="6157913" y="3495794"/>
            <a:ext cx="25324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Futex竞争强度</a:t>
            </a:r>
            <a:endParaRPr/>
          </a:p>
        </p:txBody>
      </p:sp>
      <p:sp>
        <p:nvSpPr>
          <p:cNvPr id="34" name="el-1782900291396-34"/>
          <p:cNvSpPr txBox="1"/>
          <p:nvPr/>
        </p:nvSpPr>
        <p:spPr>
          <a:xfrm>
            <a:off x="6157913" y="3667244"/>
            <a:ext cx="253603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# futex_wait</a:t>
            </a:r>
            <a:endParaRPr/>
          </a:p>
        </p:txBody>
      </p:sp>
      <p:sp>
        <p:nvSpPr>
          <p:cNvPr id="35" name="el-1782900291396-35"/>
          <p:cNvSpPr txBox="1"/>
          <p:nvPr/>
        </p:nvSpPr>
        <p:spPr>
          <a:xfrm>
            <a:off x="6157913" y="3844409"/>
            <a:ext cx="25288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Futex竞争次数</a:t>
            </a:r>
            <a:endParaRPr/>
          </a:p>
        </p:txBody>
      </p:sp>
      <p:sp>
        <p:nvSpPr>
          <p:cNvPr id="36" name="el-1782900291354-6"/>
          <p:cNvSpPr txBox="1"/>
          <p:nvPr/>
        </p:nvSpPr>
        <p:spPr>
          <a:xfrm>
            <a:off x="400050" y="4904184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37" name="el-1782900291355-7"/>
          <p:cNvSpPr txBox="1"/>
          <p:nvPr/>
        </p:nvSpPr>
        <p:spPr>
          <a:xfrm>
            <a:off x="7709267" y="4904184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1417-1"/>
          <p:cNvCxnSpPr/>
          <p:nvPr/>
        </p:nvCxnSpPr>
        <p:spPr>
          <a:xfrm>
            <a:off x="0" y="19216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1422-3"/>
          <p:cNvCxnSpPr/>
          <p:nvPr/>
        </p:nvCxnSpPr>
        <p:spPr>
          <a:xfrm>
            <a:off x="994231" y="8573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1431-8"/>
          <p:cNvSpPr/>
          <p:nvPr/>
        </p:nvSpPr>
        <p:spPr>
          <a:xfrm>
            <a:off x="342900" y="252889"/>
            <a:ext cx="8458200" cy="3964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91436-11"/>
          <p:cNvCxnSpPr/>
          <p:nvPr/>
        </p:nvCxnSpPr>
        <p:spPr>
          <a:xfrm>
            <a:off x="357188" y="252889"/>
            <a:ext cx="914" cy="39647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91432-9"/>
          <p:cNvSpPr/>
          <p:nvPr/>
        </p:nvSpPr>
        <p:spPr>
          <a:xfrm>
            <a:off x="342900" y="692229"/>
            <a:ext cx="8458200" cy="14528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91437-12"/>
          <p:cNvCxnSpPr/>
          <p:nvPr/>
        </p:nvCxnSpPr>
        <p:spPr>
          <a:xfrm>
            <a:off x="357188" y="692229"/>
            <a:ext cx="914" cy="14528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el-1782900291466-42"/>
          <p:cNvGraphicFramePr/>
          <p:nvPr/>
        </p:nvGraphicFramePr>
        <p:xfrm>
          <a:off x="471488" y="913686"/>
          <a:ext cx="8222456" cy="1181398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1818620"/>
                <a:gridCol w="4449306"/>
                <a:gridCol w="973604"/>
                <a:gridCol w="973782"/>
              </a:tblGrid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判定依据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图颜色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色块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 Thread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TID==target_pid 或 comm以"com."开头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紫色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RenderThread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comm含"renderthread"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蓝色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SurfaceFlinger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comm含"surfaceflinger"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红色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Binder RPC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comm含"binder"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青色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 Worker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comm含"gpu"/"gl"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绿色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KernelWorker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comm以"kworker"/"swapper"开头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灰色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el-1782900291481-62"/>
          <p:cNvSpPr/>
          <p:nvPr/>
        </p:nvSpPr>
        <p:spPr>
          <a:xfrm>
            <a:off x="7777311" y="1124873"/>
            <a:ext cx="257175" cy="100013"/>
          </a:xfrm>
          <a:prstGeom prst="roundRect">
            <a:avLst>
              <a:gd name="adj" fmla="val 19048"/>
            </a:avLst>
          </a:prstGeom>
          <a:solidFill>
            <a:srgbClr val="9B59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82900291484-63"/>
          <p:cNvSpPr/>
          <p:nvPr/>
        </p:nvSpPr>
        <p:spPr>
          <a:xfrm>
            <a:off x="7777311" y="1293197"/>
            <a:ext cx="257175" cy="100013"/>
          </a:xfrm>
          <a:prstGeom prst="roundRect">
            <a:avLst>
              <a:gd name="adj" fmla="val 19048"/>
            </a:avLst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91487-64"/>
          <p:cNvSpPr/>
          <p:nvPr/>
        </p:nvSpPr>
        <p:spPr>
          <a:xfrm>
            <a:off x="7777311" y="1461522"/>
            <a:ext cx="257175" cy="100013"/>
          </a:xfrm>
          <a:prstGeom prst="roundRect">
            <a:avLst>
              <a:gd name="adj" fmla="val 19048"/>
            </a:avLst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82900291489-65"/>
          <p:cNvSpPr/>
          <p:nvPr/>
        </p:nvSpPr>
        <p:spPr>
          <a:xfrm>
            <a:off x="7777311" y="1629847"/>
            <a:ext cx="257175" cy="100013"/>
          </a:xfrm>
          <a:prstGeom prst="roundRect">
            <a:avLst>
              <a:gd name="adj" fmla="val 19048"/>
            </a:avLst>
          </a:prstGeom>
          <a:solidFill>
            <a:srgbClr val="00BC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82900291492-66"/>
          <p:cNvSpPr/>
          <p:nvPr/>
        </p:nvSpPr>
        <p:spPr>
          <a:xfrm>
            <a:off x="7777311" y="1798171"/>
            <a:ext cx="257175" cy="100013"/>
          </a:xfrm>
          <a:prstGeom prst="roundRect">
            <a:avLst>
              <a:gd name="adj" fmla="val 19048"/>
            </a:avLst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82900291495-67"/>
          <p:cNvSpPr/>
          <p:nvPr/>
        </p:nvSpPr>
        <p:spPr>
          <a:xfrm>
            <a:off x="7777311" y="1966496"/>
            <a:ext cx="257175" cy="100013"/>
          </a:xfrm>
          <a:prstGeom prst="roundRect">
            <a:avLst>
              <a:gd name="adj" fmla="val 19048"/>
            </a:avLst>
          </a:prstGeom>
          <a:solidFill>
            <a:srgbClr val="95A5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82900291434-10"/>
          <p:cNvSpPr/>
          <p:nvPr/>
        </p:nvSpPr>
        <p:spPr>
          <a:xfrm>
            <a:off x="342900" y="2187952"/>
            <a:ext cx="8458200" cy="12644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6" name="el-1782900291438-13"/>
          <p:cNvCxnSpPr/>
          <p:nvPr/>
        </p:nvCxnSpPr>
        <p:spPr>
          <a:xfrm>
            <a:off x="357188" y="2187952"/>
            <a:ext cx="914" cy="1264444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el-1782900291475-61"/>
          <p:cNvGraphicFramePr/>
          <p:nvPr/>
        </p:nvGraphicFramePr>
        <p:xfrm>
          <a:off x="471488" y="2409408"/>
          <a:ext cx="8222456" cy="992981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2858393"/>
                <a:gridCol w="2330291"/>
                <a:gridCol w="3026628"/>
              </a:tblGrid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边类型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来源事件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构建逻辑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BINDER_CALL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binder_transaction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TX→RX（debug_id配对）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FUTEX_WAIT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futex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同uaddr的wait→wake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SCHED_DEPENDENCY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sched_wakeup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waker→wakee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DECODE_DEPENDENCY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视频帧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解码→渲染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RESOURCE_STALL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cpu_frequency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21431" rIns="57150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CPU资源不足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el-1782900291507-73"/>
          <p:cNvSpPr/>
          <p:nvPr/>
        </p:nvSpPr>
        <p:spPr>
          <a:xfrm>
            <a:off x="342900" y="3495258"/>
            <a:ext cx="2962245" cy="8929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9" name="el-1782900291509-74"/>
          <p:cNvCxnSpPr/>
          <p:nvPr/>
        </p:nvCxnSpPr>
        <p:spPr>
          <a:xfrm>
            <a:off x="357188" y="3495258"/>
            <a:ext cx="914" cy="892969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2900291527-90"/>
          <p:cNvSpPr/>
          <p:nvPr/>
        </p:nvSpPr>
        <p:spPr>
          <a:xfrm>
            <a:off x="471488" y="3702427"/>
            <a:ext cx="2726502" cy="5072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82900291532-94"/>
          <p:cNvSpPr/>
          <p:nvPr/>
        </p:nvSpPr>
        <p:spPr>
          <a:xfrm>
            <a:off x="3348008" y="3495258"/>
            <a:ext cx="1789063" cy="8929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2" name="el-1782900291534-97"/>
          <p:cNvCxnSpPr/>
          <p:nvPr/>
        </p:nvCxnSpPr>
        <p:spPr>
          <a:xfrm>
            <a:off x="3362295" y="3495258"/>
            <a:ext cx="914" cy="892969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00291533-95"/>
          <p:cNvSpPr/>
          <p:nvPr/>
        </p:nvSpPr>
        <p:spPr>
          <a:xfrm>
            <a:off x="5179933" y="3495258"/>
            <a:ext cx="1789152" cy="8929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4" name="el-1782900291534-98"/>
          <p:cNvCxnSpPr/>
          <p:nvPr/>
        </p:nvCxnSpPr>
        <p:spPr>
          <a:xfrm>
            <a:off x="5194221" y="3495258"/>
            <a:ext cx="914" cy="892969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2900291533-96"/>
          <p:cNvSpPr/>
          <p:nvPr/>
        </p:nvSpPr>
        <p:spPr>
          <a:xfrm>
            <a:off x="7011948" y="3495258"/>
            <a:ext cx="1789152" cy="8929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6" name="el-1782900291535-99"/>
          <p:cNvCxnSpPr/>
          <p:nvPr/>
        </p:nvCxnSpPr>
        <p:spPr>
          <a:xfrm>
            <a:off x="7026235" y="3495258"/>
            <a:ext cx="914" cy="892969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-1782900291522-88"/>
          <p:cNvCxnSpPr/>
          <p:nvPr/>
        </p:nvCxnSpPr>
        <p:spPr>
          <a:xfrm>
            <a:off x="357188" y="4438233"/>
            <a:ext cx="914" cy="12858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el-1782900291520-87"/>
          <p:cNvGraphicFramePr/>
          <p:nvPr/>
        </p:nvGraphicFramePr>
        <p:xfrm>
          <a:off x="342900" y="4602540"/>
          <a:ext cx="8458200" cy="505778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2023914"/>
                <a:gridCol w="2384762"/>
                <a:gridCol w="2587734"/>
                <a:gridCol w="1454646"/>
              </a:tblGrid>
              <a:tr h="214313"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不依赖对方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CriticalScore 路径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5维全局加权排名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哪个线程全局最可疑？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根因归因路径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帧内时间占比直接判定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每帧卡顿的主因是什么？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71438" tIns="21431" rIns="71438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29" name="el-1782900291419-2"/>
          <p:cNvCxnSpPr/>
          <p:nvPr/>
        </p:nvCxnSpPr>
        <p:spPr>
          <a:xfrm>
            <a:off x="0" y="5254764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2900291425-4"/>
          <p:cNvSpPr txBox="1"/>
          <p:nvPr/>
        </p:nvSpPr>
        <p:spPr>
          <a:xfrm>
            <a:off x="400050" y="20002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09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31" name="el-1782900291426-5"/>
          <p:cNvSpPr txBox="1"/>
          <p:nvPr/>
        </p:nvSpPr>
        <p:spPr>
          <a:xfrm>
            <a:off x="1140678" y="0"/>
            <a:ext cx="245405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图构建 — 从原始事件到依赖关键路径</a:t>
            </a:r>
            <a:endParaRPr/>
          </a:p>
        </p:txBody>
      </p:sp>
      <p:sp>
        <p:nvSpPr>
          <p:cNvPr id="32" name="el-1782900291502-70"/>
          <p:cNvSpPr txBox="1"/>
          <p:nvPr/>
        </p:nvSpPr>
        <p:spPr>
          <a:xfrm>
            <a:off x="471488" y="302895"/>
            <a:ext cx="82760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节点构建</a:t>
            </a:r>
            <a:endParaRPr/>
          </a:p>
        </p:txBody>
      </p:sp>
      <p:sp>
        <p:nvSpPr>
          <p:cNvPr id="33" name="el-1782900291500-68"/>
          <p:cNvSpPr txBox="1"/>
          <p:nvPr/>
        </p:nvSpPr>
        <p:spPr>
          <a:xfrm>
            <a:off x="471488" y="460058"/>
            <a:ext cx="82688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每个节点 = 一条线程（TID），属性：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id(TID)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comm(线程名)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role(12类角色)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frame_window_overlap(帧重叠度)</a:t>
            </a:r>
            <a:endParaRPr/>
          </a:p>
        </p:txBody>
      </p:sp>
      <p:sp>
        <p:nvSpPr>
          <p:cNvPr id="34" name="el-1782900291503-71"/>
          <p:cNvSpPr txBox="1"/>
          <p:nvPr/>
        </p:nvSpPr>
        <p:spPr>
          <a:xfrm>
            <a:off x="471488" y="742236"/>
            <a:ext cx="82760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角色识别</a:t>
            </a:r>
            <a:endParaRPr/>
          </a:p>
        </p:txBody>
      </p:sp>
      <p:sp>
        <p:nvSpPr>
          <p:cNvPr id="35" name="el-1782900291503-72"/>
          <p:cNvSpPr txBox="1"/>
          <p:nvPr/>
        </p:nvSpPr>
        <p:spPr>
          <a:xfrm>
            <a:off x="471488" y="2237958"/>
            <a:ext cx="82760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边构建</a:t>
            </a:r>
            <a:endParaRPr/>
          </a:p>
        </p:txBody>
      </p:sp>
      <p:sp>
        <p:nvSpPr>
          <p:cNvPr id="36" name="el-1782900291530-93"/>
          <p:cNvSpPr txBox="1"/>
          <p:nvPr/>
        </p:nvSpPr>
        <p:spPr>
          <a:xfrm>
            <a:off x="471488" y="3545264"/>
            <a:ext cx="278008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CriticalScore 核心公式</a:t>
            </a:r>
            <a:endParaRPr/>
          </a:p>
        </p:txBody>
      </p:sp>
      <p:sp>
        <p:nvSpPr>
          <p:cNvPr id="37" name="el-1782900291525-89"/>
          <p:cNvSpPr txBox="1"/>
          <p:nvPr/>
        </p:nvSpPr>
        <p:spPr>
          <a:xfrm>
            <a:off x="528638" y="3731002"/>
            <a:ext cx="2612202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0"/>
              </a:lnSpc>
            </a:pPr>
            <a:r>
              <a:rPr b="1" sz="780">
                <a:solidFill>
                  <a:srgbClr val="1A1A2E"/>
                </a:solidFill>
                <a:latin typeface="Courier New"/>
                <a:ea typeface="Courier New"/>
                <a:cs typeface="Courier New"/>
              </a:rPr>
              <a:t>Score(T) = </a:t>
            </a:r>
            <a:r>
              <a:rPr b="1" sz="780">
                <a:solidFill>
                  <a:srgbClr val="D4A017"/>
                </a:solidFill>
                <a:latin typeface="Courier New"/>
                <a:ea typeface="Courier New"/>
                <a:cs typeface="Courier New"/>
              </a:rPr>
              <a:t>α</a:t>
            </a:r>
            <a:r>
              <a:rPr b="1" sz="780">
                <a:solidFill>
                  <a:srgbClr val="1A1A2E"/>
                </a:solidFill>
                <a:latin typeface="Courier New"/>
                <a:ea typeface="Courier New"/>
                <a:cs typeface="Courier New"/>
              </a:rPr>
              <a:t>·Position + </a:t>
            </a:r>
            <a:r>
              <a:rPr b="1" sz="780">
                <a:solidFill>
                  <a:srgbClr val="D4A017"/>
                </a:solidFill>
                <a:latin typeface="Courier New"/>
                <a:ea typeface="Courier New"/>
                <a:cs typeface="Courier New"/>
              </a:rPr>
              <a:t>β</a:t>
            </a:r>
            <a:r>
              <a:rPr b="1" sz="780">
                <a:solidFill>
                  <a:srgbClr val="1A1A2E"/>
                </a:solidFill>
                <a:latin typeface="Courier New"/>
                <a:ea typeface="Courier New"/>
                <a:cs typeface="Courier New"/>
              </a:rPr>
              <a:t>·RunnableDelay(T)/TotalDelay + </a:t>
            </a:r>
            <a:r>
              <a:rPr b="1" sz="780">
                <a:solidFill>
                  <a:srgbClr val="D4A017"/>
                </a:solidFill>
                <a:latin typeface="Courier New"/>
                <a:ea typeface="Courier New"/>
                <a:cs typeface="Courier New"/>
              </a:rPr>
              <a:t>γ</a:t>
            </a:r>
            <a:r>
              <a:rPr b="1" sz="780">
                <a:solidFill>
                  <a:srgbClr val="1A1A2E"/>
                </a:solidFill>
                <a:latin typeface="Courier New"/>
                <a:ea typeface="Courier New"/>
                <a:cs typeface="Courier New"/>
              </a:rPr>
              <a:t>·ConnectionDegree(T)</a:t>
            </a:r>
            <a:endParaRPr/>
          </a:p>
        </p:txBody>
      </p:sp>
      <p:sp>
        <p:nvSpPr>
          <p:cNvPr id="38" name="el-1782900291530-91"/>
          <p:cNvSpPr txBox="1"/>
          <p:nvPr/>
        </p:nvSpPr>
        <p:spPr>
          <a:xfrm>
            <a:off x="471488" y="4223921"/>
            <a:ext cx="2769364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默认：</a:t>
            </a:r>
            <a:r>
              <a:rPr b="1" sz="6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α=0.4</a:t>
            </a:r>
            <a:r>
              <a:rPr sz="67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b="1" sz="6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β=0.4</a:t>
            </a:r>
            <a:r>
              <a:rPr sz="67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b="1" sz="67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γ=0.2</a:t>
            </a:r>
            <a:endParaRPr/>
          </a:p>
        </p:txBody>
      </p:sp>
      <p:sp>
        <p:nvSpPr>
          <p:cNvPr id="39" name="el-1782900291537-100"/>
          <p:cNvSpPr txBox="1"/>
          <p:nvPr/>
        </p:nvSpPr>
        <p:spPr>
          <a:xfrm>
            <a:off x="3448020" y="3545264"/>
            <a:ext cx="166047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位置权重</a:t>
            </a:r>
            <a:endParaRPr/>
          </a:p>
        </p:txBody>
      </p:sp>
      <p:sp>
        <p:nvSpPr>
          <p:cNvPr id="40" name="el-1782900291538-101"/>
          <p:cNvSpPr txBox="1"/>
          <p:nvPr/>
        </p:nvSpPr>
        <p:spPr>
          <a:xfrm>
            <a:off x="3448020" y="3696712"/>
            <a:ext cx="1610469" cy="2400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38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越靠近帧渲染末端（SurfaceFlinger）越关键</a:t>
            </a:r>
            <a:endParaRPr/>
          </a:p>
        </p:txBody>
      </p:sp>
      <p:sp>
        <p:nvSpPr>
          <p:cNvPr id="41" name="el-1782900291538-102"/>
          <p:cNvSpPr txBox="1"/>
          <p:nvPr/>
        </p:nvSpPr>
        <p:spPr>
          <a:xfrm>
            <a:off x="5279946" y="3545264"/>
            <a:ext cx="166056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延迟占比</a:t>
            </a:r>
            <a:endParaRPr/>
          </a:p>
        </p:txBody>
      </p:sp>
      <p:sp>
        <p:nvSpPr>
          <p:cNvPr id="42" name="el-1782900291539-103"/>
          <p:cNvSpPr txBox="1"/>
          <p:nvPr/>
        </p:nvSpPr>
        <p:spPr>
          <a:xfrm>
            <a:off x="5279946" y="3696712"/>
            <a:ext cx="165342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该线程浪费的时间占整个帧延迟的比例</a:t>
            </a:r>
            <a:endParaRPr/>
          </a:p>
        </p:txBody>
      </p:sp>
      <p:sp>
        <p:nvSpPr>
          <p:cNvPr id="43" name="el-1782900291539-104"/>
          <p:cNvSpPr txBox="1"/>
          <p:nvPr/>
        </p:nvSpPr>
        <p:spPr>
          <a:xfrm>
            <a:off x="7111960" y="3545264"/>
            <a:ext cx="166056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连接度</a:t>
            </a:r>
            <a:endParaRPr/>
          </a:p>
        </p:txBody>
      </p:sp>
      <p:sp>
        <p:nvSpPr>
          <p:cNvPr id="44" name="el-1782900291540-105"/>
          <p:cNvSpPr txBox="1"/>
          <p:nvPr/>
        </p:nvSpPr>
        <p:spPr>
          <a:xfrm>
            <a:off x="7111960" y="3696712"/>
            <a:ext cx="165342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出度+入度，影响其他线程越多越可疑</a:t>
            </a:r>
            <a:endParaRPr/>
          </a:p>
        </p:txBody>
      </p:sp>
      <p:sp>
        <p:nvSpPr>
          <p:cNvPr id="45" name="el-1782900291530-92"/>
          <p:cNvSpPr txBox="1"/>
          <p:nvPr/>
        </p:nvSpPr>
        <p:spPr>
          <a:xfrm>
            <a:off x="428625" y="4431090"/>
            <a:ext cx="158376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两条独立分析路径（架构解耦）</a:t>
            </a:r>
            <a:endParaRPr/>
          </a:p>
        </p:txBody>
      </p:sp>
      <p:sp>
        <p:nvSpPr>
          <p:cNvPr id="46" name="el-1782900291501-69"/>
          <p:cNvSpPr txBox="1"/>
          <p:nvPr/>
        </p:nvSpPr>
        <p:spPr>
          <a:xfrm>
            <a:off x="342900" y="5122605"/>
            <a:ext cx="850106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i="1" sz="67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两条路径独立计算、报告中合并呈现——如果一条路径出错，另一条仍可提供有效结论</a:t>
            </a:r>
            <a:endParaRPr/>
          </a:p>
        </p:txBody>
      </p:sp>
      <p:sp>
        <p:nvSpPr>
          <p:cNvPr id="47" name="el-1782900291427-6"/>
          <p:cNvSpPr txBox="1"/>
          <p:nvPr/>
        </p:nvSpPr>
        <p:spPr>
          <a:xfrm>
            <a:off x="400050" y="5258336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48" name="el-1782900291427-7"/>
          <p:cNvSpPr txBox="1"/>
          <p:nvPr/>
        </p:nvSpPr>
        <p:spPr>
          <a:xfrm>
            <a:off x="7709267" y="5258336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1787-1"/>
          <p:cNvCxnSpPr/>
          <p:nvPr/>
        </p:nvCxnSpPr>
        <p:spPr>
          <a:xfrm>
            <a:off x="0" y="19216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1814-49"/>
          <p:cNvCxnSpPr/>
          <p:nvPr/>
        </p:nvCxnSpPr>
        <p:spPr>
          <a:xfrm>
            <a:off x="994231" y="8573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el-1782900291807-35"/>
          <p:cNvGraphicFramePr/>
          <p:nvPr/>
        </p:nvGraphicFramePr>
        <p:xfrm>
          <a:off x="285750" y="267176"/>
          <a:ext cx="8572500" cy="1381601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1161931"/>
                <a:gridCol w="2432000"/>
                <a:gridCol w="2432000"/>
                <a:gridCol w="2539425"/>
              </a:tblGrid>
              <a:tr h="214313"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页面切换 Run 1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页面切换 Run 2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视频浏览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总帧 / Jank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2171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1575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1271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1228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2141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1524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Jank 率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72.5%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96.6%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71.2%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VD 帧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561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图规模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6968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 / </a:t>
                      </a: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5234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4799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 / </a:t>
                      </a: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3106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6622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 / </a:t>
                      </a:r>
                      <a:r>
                        <a:rPr b="1"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4992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边类型分布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BINDER=52, FUTEX=2371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BINDER=53, FUTEX=1770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BINDER=407, FUTEX=1436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调频抑制比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最高温度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31.4°C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41.5°C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52.3°C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el-1782900291811-48"/>
          <p:cNvGraphicFramePr/>
          <p:nvPr/>
        </p:nvGraphicFramePr>
        <p:xfrm>
          <a:off x="285750" y="1720215"/>
          <a:ext cx="8572500" cy="701516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1617077"/>
                <a:gridCol w="6087279"/>
                <a:gridCol w="861000"/>
              </a:tblGrid>
              <a:tr h="214313"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根因链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置信度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页面切换 Run 1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RUNNABLE_DELAY → PROTECT_UI_CHAIN → surfaceflinger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0.9999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页面切换 Run 2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RUNNABLE_DELAY → UCLAMP_MIN_TEMPORARY（降频抑制）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0.9999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视频浏览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RUNNABLE_DELAY → BOOST_THREAD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0.9999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el-1782900291828-62"/>
          <p:cNvGraphicFramePr/>
          <p:nvPr/>
        </p:nvGraphicFramePr>
        <p:xfrm>
          <a:off x="285750" y="2658904"/>
          <a:ext cx="8572500" cy="701516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3254782"/>
                <a:gridCol w="5310575"/>
              </a:tblGrid>
              <a:tr h="214313"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洞察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Run1 Jank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72.5%</a:t>
                      </a: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温控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即使无温控，调度竞争本身就是主要瓶颈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Run2 Jank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96.6%</a:t>
                      </a: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温控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温度升高降频介入，温控是雪上加霜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 Jank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71.2%</a:t>
                      </a: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温控 </a:t>
                      </a: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</a:t>
                      </a: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温控最严重但 Jank 率非最高，视频有额外延迟容忍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2900291831-64"/>
          <p:cNvSpPr/>
          <p:nvPr/>
        </p:nvSpPr>
        <p:spPr>
          <a:xfrm>
            <a:off x="1157377" y="3460432"/>
            <a:ext cx="6829157" cy="220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" name="el-1782900291832-65"/>
          <p:cNvCxnSpPr/>
          <p:nvPr/>
        </p:nvCxnSpPr>
        <p:spPr>
          <a:xfrm>
            <a:off x="1171664" y="3460432"/>
            <a:ext cx="914" cy="22038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00291789-2"/>
          <p:cNvCxnSpPr/>
          <p:nvPr/>
        </p:nvCxnSpPr>
        <p:spPr>
          <a:xfrm>
            <a:off x="0" y="3684389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00291816-50"/>
          <p:cNvSpPr txBox="1"/>
          <p:nvPr/>
        </p:nvSpPr>
        <p:spPr>
          <a:xfrm>
            <a:off x="400050" y="20002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10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11" name="el-1782900291817-51"/>
          <p:cNvSpPr txBox="1"/>
          <p:nvPr/>
        </p:nvSpPr>
        <p:spPr>
          <a:xfrm>
            <a:off x="1140678" y="0"/>
            <a:ext cx="2025432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核心分析成果 — 三次采集对照</a:t>
            </a:r>
            <a:endParaRPr/>
          </a:p>
        </p:txBody>
      </p:sp>
      <p:sp>
        <p:nvSpPr>
          <p:cNvPr id="12" name="el-1782900291830-63"/>
          <p:cNvSpPr txBox="1"/>
          <p:nvPr/>
        </p:nvSpPr>
        <p:spPr>
          <a:xfrm>
            <a:off x="300038" y="2493169"/>
            <a:ext cx="86082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 spc="28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📊 数据 → 洞察</a:t>
            </a:r>
            <a:endParaRPr/>
          </a:p>
        </p:txBody>
      </p:sp>
      <p:sp>
        <p:nvSpPr>
          <p:cNvPr id="13" name="el-1782900291833-66"/>
          <p:cNvSpPr txBox="1"/>
          <p:nvPr/>
        </p:nvSpPr>
        <p:spPr>
          <a:xfrm>
            <a:off x="1285964" y="3503295"/>
            <a:ext cx="1352490" cy="1346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3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系统处理规模（Camera为例）</a:t>
            </a:r>
            <a:endParaRPr/>
          </a:p>
        </p:txBody>
      </p:sp>
      <p:sp>
        <p:nvSpPr>
          <p:cNvPr id="14" name="el-1782900291833-67"/>
          <p:cNvSpPr txBox="1"/>
          <p:nvPr/>
        </p:nvSpPr>
        <p:spPr>
          <a:xfrm>
            <a:off x="2649170" y="3503295"/>
            <a:ext cx="5283785" cy="1346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1">
                <a:solidFill>
                  <a:srgbClr val="3A3A5A"/>
                </a:solidFill>
                <a:latin typeface="Microsoft YaHei"/>
                <a:ea typeface="Microsoft YaHei"/>
                <a:cs typeface="Microsoft YaHei"/>
              </a:rPr>
              <a:t>30 秒 Google Camera 拍照 → ~460 万行 eBPF 事件 → 631 线程评分 → 16 帧卡顿分析 → 9 章约 750 行 Markdown 报告</a:t>
            </a:r>
            <a:endParaRPr/>
          </a:p>
        </p:txBody>
      </p:sp>
      <p:sp>
        <p:nvSpPr>
          <p:cNvPr id="15" name="el-1782900291819-52"/>
          <p:cNvSpPr txBox="1"/>
          <p:nvPr/>
        </p:nvSpPr>
        <p:spPr>
          <a:xfrm>
            <a:off x="400050" y="3687961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16" name="el-1782900291819-53"/>
          <p:cNvSpPr txBox="1"/>
          <p:nvPr/>
        </p:nvSpPr>
        <p:spPr>
          <a:xfrm>
            <a:off x="7709267" y="3687961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1850-1"/>
          <p:cNvCxnSpPr/>
          <p:nvPr/>
        </p:nvCxnSpPr>
        <p:spPr>
          <a:xfrm>
            <a:off x="0" y="19216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1853-3"/>
          <p:cNvCxnSpPr/>
          <p:nvPr/>
        </p:nvCxnSpPr>
        <p:spPr>
          <a:xfrm>
            <a:off x="994231" y="8573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el-1782900291868-28"/>
          <p:cNvGraphicFramePr/>
          <p:nvPr/>
        </p:nvGraphicFramePr>
        <p:xfrm>
          <a:off x="285750" y="418624"/>
          <a:ext cx="8572500" cy="800100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3178790"/>
                <a:gridCol w="2070616"/>
                <a:gridCol w="2337524"/>
                <a:gridCol w="978426"/>
              </a:tblGrid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短窗口 (24.8s)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对局窗口 (59.2s)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倍数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负载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379.9 ms/s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670.3 ms/s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1.76x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runnable delay p95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0.304 ms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0.664 ms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2.18x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UnityGfxDeviceW p95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0.299 ms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1.584 ms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5.3x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线程迁移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258/s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339/s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D4A0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1.31x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el-1782900291872-41"/>
          <p:cNvGraphicFramePr/>
          <p:nvPr/>
        </p:nvGraphicFramePr>
        <p:xfrm>
          <a:off x="285750" y="1427321"/>
          <a:ext cx="8572500" cy="644366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1219349"/>
                <a:gridCol w="3536335"/>
                <a:gridCol w="3809673"/>
              </a:tblGrid>
              <a:tr h="214313"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页面切换 (QQ/微信)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1431" rIns="42863" bIns="21431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游戏对局 (王者荣耀)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线程模型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 Thread + RenderThread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UnityMain + UnityGfxDeviceW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主要瓶颈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Runnable Delay（就绪等待）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Runnable Delay + 高频迁移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图规模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~7000 节点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~60K 节点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el-1782900291876-44"/>
          <p:cNvSpPr/>
          <p:nvPr/>
        </p:nvSpPr>
        <p:spPr>
          <a:xfrm>
            <a:off x="285750" y="2143125"/>
            <a:ext cx="6916579" cy="220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91877-45"/>
          <p:cNvCxnSpPr/>
          <p:nvPr/>
        </p:nvCxnSpPr>
        <p:spPr>
          <a:xfrm>
            <a:off x="300038" y="2143125"/>
            <a:ext cx="914" cy="22038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2900291851-2"/>
          <p:cNvCxnSpPr/>
          <p:nvPr/>
        </p:nvCxnSpPr>
        <p:spPr>
          <a:xfrm>
            <a:off x="0" y="2409944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2900291855-4"/>
          <p:cNvSpPr txBox="1"/>
          <p:nvPr/>
        </p:nvSpPr>
        <p:spPr>
          <a:xfrm>
            <a:off x="400050" y="20002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11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14</a:t>
            </a:r>
            <a:endParaRPr/>
          </a:p>
        </p:txBody>
      </p:sp>
      <p:sp>
        <p:nvSpPr>
          <p:cNvPr id="10" name="el-1782900291857-5"/>
          <p:cNvSpPr txBox="1"/>
          <p:nvPr/>
        </p:nvSpPr>
        <p:spPr>
          <a:xfrm>
            <a:off x="1140678" y="0"/>
            <a:ext cx="231207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游戏场景 — Unity 引擎的调度特征</a:t>
            </a:r>
            <a:endParaRPr/>
          </a:p>
        </p:txBody>
      </p:sp>
      <p:sp>
        <p:nvSpPr>
          <p:cNvPr id="11" name="el-1782900291874-42"/>
          <p:cNvSpPr txBox="1"/>
          <p:nvPr/>
        </p:nvSpPr>
        <p:spPr>
          <a:xfrm>
            <a:off x="300038" y="267176"/>
            <a:ext cx="86082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 spc="28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王者荣耀对局数据对比</a:t>
            </a:r>
            <a:endParaRPr/>
          </a:p>
        </p:txBody>
      </p:sp>
      <p:sp>
        <p:nvSpPr>
          <p:cNvPr id="12" name="el-1782900291874-43"/>
          <p:cNvSpPr txBox="1"/>
          <p:nvPr/>
        </p:nvSpPr>
        <p:spPr>
          <a:xfrm>
            <a:off x="300038" y="1275874"/>
            <a:ext cx="86082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 spc="28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与页面切换的关键区别</a:t>
            </a:r>
            <a:endParaRPr/>
          </a:p>
        </p:txBody>
      </p:sp>
      <p:sp>
        <p:nvSpPr>
          <p:cNvPr id="13" name="el-1782900291878-46"/>
          <p:cNvSpPr txBox="1"/>
          <p:nvPr/>
        </p:nvSpPr>
        <p:spPr>
          <a:xfrm>
            <a:off x="414338" y="2185988"/>
            <a:ext cx="517922" cy="1346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73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核心发现：</a:t>
            </a:r>
            <a:endParaRPr/>
          </a:p>
        </p:txBody>
      </p:sp>
      <p:sp>
        <p:nvSpPr>
          <p:cNvPr id="14" name="el-1782900291878-47"/>
          <p:cNvSpPr txBox="1"/>
          <p:nvPr/>
        </p:nvSpPr>
        <p:spPr>
          <a:xfrm>
            <a:off x="928688" y="2185988"/>
            <a:ext cx="6220063" cy="1346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1">
                <a:solidFill>
                  <a:srgbClr val="3A3A5A"/>
                </a:solidFill>
                <a:latin typeface="Microsoft YaHei"/>
                <a:ea typeface="Microsoft YaHei"/>
                <a:cs typeface="Microsoft YaHei"/>
              </a:rPr>
              <a:t>游戏场景验证了 Frame-Centric 方法的通用性——即使在完全不同的 Unity 引擎线程模型下，同样的 CriticalScore 公式仍然能正确识别瓶颈线程。</a:t>
            </a:r>
            <a:endParaRPr/>
          </a:p>
        </p:txBody>
      </p:sp>
      <p:sp>
        <p:nvSpPr>
          <p:cNvPr id="15" name="el-1782900291857-6"/>
          <p:cNvSpPr txBox="1"/>
          <p:nvPr/>
        </p:nvSpPr>
        <p:spPr>
          <a:xfrm>
            <a:off x="400050" y="2413516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16" name="el-1782900291858-7"/>
          <p:cNvSpPr txBox="1"/>
          <p:nvPr/>
        </p:nvSpPr>
        <p:spPr>
          <a:xfrm>
            <a:off x="7709267" y="2413516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1889-1"/>
          <p:cNvCxnSpPr/>
          <p:nvPr/>
        </p:nvCxnSpPr>
        <p:spPr>
          <a:xfrm>
            <a:off x="0" y="19216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1892-3"/>
          <p:cNvCxnSpPr/>
          <p:nvPr/>
        </p:nvCxnSpPr>
        <p:spPr>
          <a:xfrm>
            <a:off x="994231" y="8573"/>
            <a:ext cx="914" cy="171450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el-1782900291916-35"/>
          <p:cNvGraphicFramePr/>
          <p:nvPr/>
        </p:nvGraphicFramePr>
        <p:xfrm>
          <a:off x="285750" y="418624"/>
          <a:ext cx="4214813" cy="1235869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336560"/>
                <a:gridCol w="1178094"/>
                <a:gridCol w="2693015"/>
              </a:tblGrid>
              <a:tr h="214313"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关键实现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Perfetto帧提取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frame_query.sql → 四种帧类型（SF/VD/VF/AP）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eBPF sched采集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events.bin v3格式（sched + sys + enhanced三类事件）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身份解析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identity.c：Session/ProcessInstanceId/ThreadKey + 静态血缘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Frame window delay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Phase 5b：wakeup+preempt在BPF内核内完成，事件量减半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角色识别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classify_thread()：12类角色 + 30+ Camera特有模式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Top-K输出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-G -k N 关键线程排名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Hint Engine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BOOST_THREAD / UCLAMP_MIN / PROTECT_UI_CHAIN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el-1782900291922-54"/>
          <p:cNvGraphicFramePr/>
          <p:nvPr/>
        </p:nvGraphicFramePr>
        <p:xfrm>
          <a:off x="4643438" y="418624"/>
          <a:ext cx="4214813" cy="1278731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1051917"/>
                <a:gridCol w="1893451"/>
                <a:gridCol w="1262301"/>
              </a:tblGrid>
              <a:tr h="214313"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安全机制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  <a:tc>
                  <a:txBody>
                    <a:bodyPr lIns="42863" tIns="28575" rIns="42863" bIns="28575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防止什么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  <a:lnL w="7144">
                      <a:solidFill>
                        <a:srgbClr val="3A4D63"/>
                      </a:solidFill>
                    </a:lnL>
                    <a:lnR w="7144">
                      <a:solidFill>
                        <a:srgbClr val="3A4D63"/>
                      </a:solidFill>
                    </a:lnR>
                    <a:lnT w="7144">
                      <a:solidFill>
                        <a:srgbClr val="3A4D63"/>
                      </a:solidFill>
                    </a:lnT>
                    <a:lnB w="7144">
                      <a:solidFill>
                        <a:srgbClr val="3A4D63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TTL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每个hint默认16ms（=1帧），超时自动回滚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避免hint长期生效影响后续帧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自旋保护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5ms内连续3次on CPU无sleep→撤销UCLAMP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避免提升后自旋浪费CPU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64319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线程黑名单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ts val="804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kworker/rcuop/swapper/system_server等不可干预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ts val="804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系统线程出问题会导致内核崩溃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64319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置信度阈值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ts val="804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&gt;0.7才提交执行，0.5-0.7仅记录建议，&lt;0.5不输出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低置信度不做实际干预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64319"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2D40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audit日志</a:t>
                      </a:r>
                      <a:endParaRPr/>
                    </a:p>
                  </a:txBody>
                  <a:tcPr marL="0" marR="0" marT="0" marB="0">
                    <a:solidFill>
                      <a:srgbClr val="F4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ts val="804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每条hint的TID/操作/时间戳/预期+实际持续时长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42863" tIns="14288" rIns="42863" bIns="14288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事后可审计、可回溯</a:t>
                      </a:r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el-1782900291900-8"/>
          <p:cNvSpPr/>
          <p:nvPr/>
        </p:nvSpPr>
        <p:spPr>
          <a:xfrm>
            <a:off x="285750" y="1754505"/>
            <a:ext cx="8572500" cy="657225"/>
          </a:xfrm>
          <a:prstGeom prst="roundRect">
            <a:avLst>
              <a:gd name="adj" fmla="val 8696"/>
            </a:avLst>
          </a:prstGeom>
          <a:solidFill>
            <a:srgbClr val="1A1A2E"/>
          </a:solidFill>
          <a:ln w="7144" algn="in">
            <a:solidFill>
              <a:srgbClr val="2D4059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91890-2"/>
          <p:cNvCxnSpPr/>
          <p:nvPr/>
        </p:nvCxnSpPr>
        <p:spPr>
          <a:xfrm>
            <a:off x="0" y="241530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00291894-4"/>
          <p:cNvSpPr txBox="1"/>
          <p:nvPr/>
        </p:nvSpPr>
        <p:spPr>
          <a:xfrm>
            <a:off x="400050" y="20002"/>
            <a:ext cx="50488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11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9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14</a:t>
            </a:r>
            <a:endParaRPr/>
          </a:p>
        </p:txBody>
      </p:sp>
      <p:sp>
        <p:nvSpPr>
          <p:cNvPr id="9" name="el-1782900291895-5"/>
          <p:cNvSpPr txBox="1"/>
          <p:nvPr/>
        </p:nvSpPr>
        <p:spPr>
          <a:xfrm>
            <a:off x="1140678" y="0"/>
            <a:ext cx="16176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1 — 基础能力实现</a:t>
            </a:r>
            <a:endParaRPr/>
          </a:p>
        </p:txBody>
      </p:sp>
      <p:sp>
        <p:nvSpPr>
          <p:cNvPr id="10" name="el-1782900291924-55"/>
          <p:cNvSpPr txBox="1"/>
          <p:nvPr/>
        </p:nvSpPr>
        <p:spPr>
          <a:xfrm>
            <a:off x="300038" y="267176"/>
            <a:ext cx="425053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 spc="28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已完成模块</a:t>
            </a:r>
            <a:endParaRPr/>
          </a:p>
        </p:txBody>
      </p:sp>
      <p:sp>
        <p:nvSpPr>
          <p:cNvPr id="11" name="el-1782900291924-56"/>
          <p:cNvSpPr txBox="1"/>
          <p:nvPr/>
        </p:nvSpPr>
        <p:spPr>
          <a:xfrm>
            <a:off x="4657725" y="267176"/>
            <a:ext cx="425053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 spc="28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Hint Engine 安全机制</a:t>
            </a:r>
            <a:endParaRPr/>
          </a:p>
        </p:txBody>
      </p:sp>
      <p:sp>
        <p:nvSpPr>
          <p:cNvPr id="12" name="el-1782900291904-9"/>
          <p:cNvSpPr txBox="1"/>
          <p:nvPr/>
        </p:nvSpPr>
        <p:spPr>
          <a:xfrm>
            <a:off x="392906" y="1818799"/>
            <a:ext cx="840105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Hint 生成示例</a:t>
            </a:r>
            <a:endParaRPr/>
          </a:p>
        </p:txBody>
      </p:sp>
      <p:sp>
        <p:nvSpPr>
          <p:cNvPr id="13" name="el-1782900291904-10"/>
          <p:cNvSpPr txBox="1"/>
          <p:nvPr/>
        </p:nvSpPr>
        <p:spPr>
          <a:xfrm>
            <a:off x="392906" y="1961674"/>
            <a:ext cx="8358188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05"/>
              </a:lnSpc>
            </a:pPr>
            <a:r>
              <a:rPr sz="670">
                <a:solidFill>
                  <a:srgbClr val="F0F0F0"/>
                </a:solidFill>
                <a:latin typeface="Consolas"/>
                <a:ea typeface="Consolas"/>
                <a:cs typeface="Consolas"/>
              </a:rPr>
              <a:t>帧 f32 → inference: RUNNABLE_DELAY (confidence=0.9999) → Top-1 线程: surfaceflinger (TID=686, CriticalScore=0.825) → Hint: PROTECT_UI_CHAIN → surfaceflinger（提升 UI 渲染链优先级 16ms）</a:t>
            </a:r>
            <a:endParaRPr/>
          </a:p>
        </p:txBody>
      </p:sp>
      <p:sp>
        <p:nvSpPr>
          <p:cNvPr id="14" name="el-1782900291895-6"/>
          <p:cNvSpPr txBox="1"/>
          <p:nvPr/>
        </p:nvSpPr>
        <p:spPr>
          <a:xfrm>
            <a:off x="400050" y="2418874"/>
            <a:ext cx="20404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15" name="el-1782900291896-7"/>
          <p:cNvSpPr txBox="1"/>
          <p:nvPr/>
        </p:nvSpPr>
        <p:spPr>
          <a:xfrm>
            <a:off x="7709267" y="2418874"/>
            <a:ext cx="10882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2137-1"/>
          <p:cNvCxnSpPr/>
          <p:nvPr/>
        </p:nvCxnSpPr>
        <p:spPr>
          <a:xfrm>
            <a:off x="0" y="3964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2140-3"/>
          <p:cNvCxnSpPr/>
          <p:nvPr/>
        </p:nvCxnSpPr>
        <p:spPr>
          <a:xfrm>
            <a:off x="897612" y="125016"/>
            <a:ext cx="914" cy="142875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2159-16"/>
          <p:cNvSpPr/>
          <p:nvPr/>
        </p:nvSpPr>
        <p:spPr>
          <a:xfrm>
            <a:off x="342900" y="454343"/>
            <a:ext cx="28575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l-1782900292162-18"/>
          <p:cNvSpPr/>
          <p:nvPr/>
        </p:nvSpPr>
        <p:spPr>
          <a:xfrm>
            <a:off x="342900" y="601504"/>
            <a:ext cx="4143375" cy="21731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el-1782900292183-29"/>
          <p:cNvSpPr/>
          <p:nvPr/>
        </p:nvSpPr>
        <p:spPr>
          <a:xfrm>
            <a:off x="350044" y="608648"/>
            <a:ext cx="200025" cy="2071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2F5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92205-70"/>
          <p:cNvCxnSpPr/>
          <p:nvPr/>
        </p:nvCxnSpPr>
        <p:spPr>
          <a:xfrm>
            <a:off x="350044" y="812244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00292184-31"/>
          <p:cNvSpPr/>
          <p:nvPr/>
        </p:nvSpPr>
        <p:spPr>
          <a:xfrm>
            <a:off x="550069" y="608648"/>
            <a:ext cx="1511171" cy="2071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2F5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" name="el-1782900292206-71"/>
          <p:cNvCxnSpPr/>
          <p:nvPr/>
        </p:nvCxnSpPr>
        <p:spPr>
          <a:xfrm>
            <a:off x="550069" y="812244"/>
            <a:ext cx="151117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00292186-33"/>
          <p:cNvSpPr/>
          <p:nvPr/>
        </p:nvSpPr>
        <p:spPr>
          <a:xfrm>
            <a:off x="2061240" y="608648"/>
            <a:ext cx="2417891" cy="2071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2F5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1" name="el-1782900292206-72"/>
          <p:cNvCxnSpPr/>
          <p:nvPr/>
        </p:nvCxnSpPr>
        <p:spPr>
          <a:xfrm>
            <a:off x="2061240" y="812244"/>
            <a:ext cx="241789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00292207-73"/>
          <p:cNvCxnSpPr/>
          <p:nvPr/>
        </p:nvCxnSpPr>
        <p:spPr>
          <a:xfrm>
            <a:off x="350044" y="987266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2900292207-74"/>
          <p:cNvCxnSpPr/>
          <p:nvPr/>
        </p:nvCxnSpPr>
        <p:spPr>
          <a:xfrm>
            <a:off x="550069" y="987266"/>
            <a:ext cx="151117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2900292187-36"/>
          <p:cNvCxnSpPr/>
          <p:nvPr/>
        </p:nvCxnSpPr>
        <p:spPr>
          <a:xfrm>
            <a:off x="2061240" y="987266"/>
            <a:ext cx="241789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2900292208-75"/>
          <p:cNvCxnSpPr/>
          <p:nvPr/>
        </p:nvCxnSpPr>
        <p:spPr>
          <a:xfrm>
            <a:off x="350044" y="1162288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2900292208-76"/>
          <p:cNvCxnSpPr/>
          <p:nvPr/>
        </p:nvCxnSpPr>
        <p:spPr>
          <a:xfrm>
            <a:off x="550069" y="1162288"/>
            <a:ext cx="151117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2900292188-39"/>
          <p:cNvCxnSpPr/>
          <p:nvPr/>
        </p:nvCxnSpPr>
        <p:spPr>
          <a:xfrm>
            <a:off x="2061240" y="1162288"/>
            <a:ext cx="241789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2900292209-77"/>
          <p:cNvCxnSpPr/>
          <p:nvPr/>
        </p:nvCxnSpPr>
        <p:spPr>
          <a:xfrm>
            <a:off x="350044" y="1587341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2900292211-78"/>
          <p:cNvCxnSpPr/>
          <p:nvPr/>
        </p:nvCxnSpPr>
        <p:spPr>
          <a:xfrm>
            <a:off x="550069" y="1587341"/>
            <a:ext cx="151117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00292212-79"/>
          <p:cNvCxnSpPr/>
          <p:nvPr/>
        </p:nvCxnSpPr>
        <p:spPr>
          <a:xfrm>
            <a:off x="2061240" y="1587341"/>
            <a:ext cx="241789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00292212-80"/>
          <p:cNvCxnSpPr/>
          <p:nvPr/>
        </p:nvCxnSpPr>
        <p:spPr>
          <a:xfrm>
            <a:off x="350044" y="1887379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00292213-81"/>
          <p:cNvCxnSpPr/>
          <p:nvPr/>
        </p:nvCxnSpPr>
        <p:spPr>
          <a:xfrm>
            <a:off x="550069" y="1887379"/>
            <a:ext cx="151117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2900292191-45"/>
          <p:cNvCxnSpPr/>
          <p:nvPr/>
        </p:nvCxnSpPr>
        <p:spPr>
          <a:xfrm>
            <a:off x="2061240" y="1887379"/>
            <a:ext cx="241789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2900292213-82"/>
          <p:cNvCxnSpPr/>
          <p:nvPr/>
        </p:nvCxnSpPr>
        <p:spPr>
          <a:xfrm>
            <a:off x="350044" y="2187416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2900292214-83"/>
          <p:cNvCxnSpPr/>
          <p:nvPr/>
        </p:nvCxnSpPr>
        <p:spPr>
          <a:xfrm>
            <a:off x="550069" y="2187416"/>
            <a:ext cx="151117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2900292193-48"/>
          <p:cNvCxnSpPr/>
          <p:nvPr/>
        </p:nvCxnSpPr>
        <p:spPr>
          <a:xfrm>
            <a:off x="2061240" y="2187416"/>
            <a:ext cx="241789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-1782900292215-84"/>
          <p:cNvCxnSpPr/>
          <p:nvPr/>
        </p:nvCxnSpPr>
        <p:spPr>
          <a:xfrm>
            <a:off x="350044" y="2362438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-1782900292215-85"/>
          <p:cNvCxnSpPr/>
          <p:nvPr/>
        </p:nvCxnSpPr>
        <p:spPr>
          <a:xfrm>
            <a:off x="550069" y="2362438"/>
            <a:ext cx="151117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-1782900292194-51"/>
          <p:cNvCxnSpPr/>
          <p:nvPr/>
        </p:nvCxnSpPr>
        <p:spPr>
          <a:xfrm>
            <a:off x="2061240" y="2362438"/>
            <a:ext cx="241789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2900292161-17"/>
          <p:cNvSpPr/>
          <p:nvPr/>
        </p:nvSpPr>
        <p:spPr>
          <a:xfrm>
            <a:off x="4657725" y="454343"/>
            <a:ext cx="28575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82900292163-19"/>
          <p:cNvSpPr/>
          <p:nvPr/>
        </p:nvSpPr>
        <p:spPr>
          <a:xfrm>
            <a:off x="4657725" y="601504"/>
            <a:ext cx="4143375" cy="21731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el-1782900292197-55"/>
          <p:cNvSpPr/>
          <p:nvPr/>
        </p:nvSpPr>
        <p:spPr>
          <a:xfrm>
            <a:off x="4664869" y="608648"/>
            <a:ext cx="986284" cy="2071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2F5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3" name="el-1782900292218-86"/>
          <p:cNvCxnSpPr/>
          <p:nvPr/>
        </p:nvCxnSpPr>
        <p:spPr>
          <a:xfrm>
            <a:off x="4664869" y="812244"/>
            <a:ext cx="98628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-1782900292218-87"/>
          <p:cNvCxnSpPr/>
          <p:nvPr/>
        </p:nvCxnSpPr>
        <p:spPr>
          <a:xfrm>
            <a:off x="4679156" y="608648"/>
            <a:ext cx="914" cy="207169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l-1782900292198-57"/>
          <p:cNvSpPr/>
          <p:nvPr/>
        </p:nvSpPr>
        <p:spPr>
          <a:xfrm>
            <a:off x="5651153" y="608648"/>
            <a:ext cx="1959263" cy="2071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2F5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6" name="el-1782900292219-88"/>
          <p:cNvCxnSpPr/>
          <p:nvPr/>
        </p:nvCxnSpPr>
        <p:spPr>
          <a:xfrm>
            <a:off x="5651153" y="812244"/>
            <a:ext cx="195926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-1782900292199-59"/>
          <p:cNvSpPr/>
          <p:nvPr/>
        </p:nvSpPr>
        <p:spPr>
          <a:xfrm>
            <a:off x="7610416" y="608648"/>
            <a:ext cx="1183541" cy="2071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2F5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8" name="el-1782900292219-89"/>
          <p:cNvCxnSpPr/>
          <p:nvPr/>
        </p:nvCxnSpPr>
        <p:spPr>
          <a:xfrm>
            <a:off x="7610416" y="812244"/>
            <a:ext cx="118354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-1782900292229-95"/>
          <p:cNvCxnSpPr/>
          <p:nvPr/>
        </p:nvCxnSpPr>
        <p:spPr>
          <a:xfrm>
            <a:off x="4664869" y="1112282"/>
            <a:ext cx="98628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-1782900292229-96"/>
          <p:cNvCxnSpPr/>
          <p:nvPr/>
        </p:nvCxnSpPr>
        <p:spPr>
          <a:xfrm>
            <a:off x="4679156" y="815816"/>
            <a:ext cx="914" cy="30003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-1782900292200-60"/>
          <p:cNvCxnSpPr/>
          <p:nvPr/>
        </p:nvCxnSpPr>
        <p:spPr>
          <a:xfrm>
            <a:off x="5651153" y="1112282"/>
            <a:ext cx="195926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-1782900292220-90"/>
          <p:cNvCxnSpPr/>
          <p:nvPr/>
        </p:nvCxnSpPr>
        <p:spPr>
          <a:xfrm>
            <a:off x="7610416" y="1112282"/>
            <a:ext cx="118354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-1782900292229-97"/>
          <p:cNvCxnSpPr/>
          <p:nvPr/>
        </p:nvCxnSpPr>
        <p:spPr>
          <a:xfrm>
            <a:off x="4664869" y="1412319"/>
            <a:ext cx="98628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-1782900292229-98"/>
          <p:cNvCxnSpPr/>
          <p:nvPr/>
        </p:nvCxnSpPr>
        <p:spPr>
          <a:xfrm>
            <a:off x="4679156" y="1115854"/>
            <a:ext cx="914" cy="30003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-1782900292201-62"/>
          <p:cNvCxnSpPr/>
          <p:nvPr/>
        </p:nvCxnSpPr>
        <p:spPr>
          <a:xfrm>
            <a:off x="5651153" y="1412319"/>
            <a:ext cx="195926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-1782900292220-91"/>
          <p:cNvCxnSpPr/>
          <p:nvPr/>
        </p:nvCxnSpPr>
        <p:spPr>
          <a:xfrm>
            <a:off x="7610416" y="1412319"/>
            <a:ext cx="118354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-1782900292230-99"/>
          <p:cNvCxnSpPr/>
          <p:nvPr/>
        </p:nvCxnSpPr>
        <p:spPr>
          <a:xfrm>
            <a:off x="4664869" y="1712357"/>
            <a:ext cx="98628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-1782900292230-100"/>
          <p:cNvCxnSpPr/>
          <p:nvPr/>
        </p:nvCxnSpPr>
        <p:spPr>
          <a:xfrm>
            <a:off x="4679156" y="1415891"/>
            <a:ext cx="914" cy="30003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-1782900292221-92"/>
          <p:cNvCxnSpPr/>
          <p:nvPr/>
        </p:nvCxnSpPr>
        <p:spPr>
          <a:xfrm>
            <a:off x="5651153" y="1712357"/>
            <a:ext cx="195926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-1782900292222-93"/>
          <p:cNvCxnSpPr/>
          <p:nvPr/>
        </p:nvCxnSpPr>
        <p:spPr>
          <a:xfrm>
            <a:off x="7610416" y="1712357"/>
            <a:ext cx="118354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-1782900292231-101"/>
          <p:cNvCxnSpPr/>
          <p:nvPr/>
        </p:nvCxnSpPr>
        <p:spPr>
          <a:xfrm>
            <a:off x="4664869" y="2012394"/>
            <a:ext cx="98628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-1782900292231-102"/>
          <p:cNvCxnSpPr/>
          <p:nvPr/>
        </p:nvCxnSpPr>
        <p:spPr>
          <a:xfrm>
            <a:off x="4679156" y="1715929"/>
            <a:ext cx="914" cy="300038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-1782900292203-66"/>
          <p:cNvCxnSpPr/>
          <p:nvPr/>
        </p:nvCxnSpPr>
        <p:spPr>
          <a:xfrm>
            <a:off x="5651153" y="2012394"/>
            <a:ext cx="195926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-1782900292222-94"/>
          <p:cNvCxnSpPr/>
          <p:nvPr/>
        </p:nvCxnSpPr>
        <p:spPr>
          <a:xfrm>
            <a:off x="7610416" y="2012394"/>
            <a:ext cx="118354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-1782900292232-103"/>
          <p:cNvCxnSpPr/>
          <p:nvPr/>
        </p:nvCxnSpPr>
        <p:spPr>
          <a:xfrm>
            <a:off x="4679156" y="2015966"/>
            <a:ext cx="914" cy="292894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-1782900292147-8"/>
          <p:cNvCxnSpPr/>
          <p:nvPr/>
        </p:nvCxnSpPr>
        <p:spPr>
          <a:xfrm>
            <a:off x="342900" y="2806779"/>
            <a:ext cx="84582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-1782900292149-9"/>
          <p:cNvCxnSpPr/>
          <p:nvPr/>
        </p:nvCxnSpPr>
        <p:spPr>
          <a:xfrm>
            <a:off x="1279803" y="2908935"/>
            <a:ext cx="7521297" cy="914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l-1782900292154-13"/>
          <p:cNvSpPr/>
          <p:nvPr/>
        </p:nvSpPr>
        <p:spPr>
          <a:xfrm>
            <a:off x="342900" y="3187541"/>
            <a:ext cx="8458200" cy="1620203"/>
          </a:xfrm>
          <a:prstGeom prst="roundRect">
            <a:avLst>
              <a:gd name="adj" fmla="val 2352"/>
            </a:avLst>
          </a:prstGeom>
          <a:solidFill>
            <a:srgbClr val="1A1A2E"/>
          </a:solidFill>
          <a:ln w="7144" algn="in">
            <a:solidFill>
              <a:srgbClr val="2D4059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9" name="el-1782900292138-2"/>
          <p:cNvCxnSpPr/>
          <p:nvPr/>
        </p:nvCxnSpPr>
        <p:spPr>
          <a:xfrm>
            <a:off x="0" y="4847034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l-1782900292142-4"/>
          <p:cNvSpPr txBox="1"/>
          <p:nvPr/>
        </p:nvSpPr>
        <p:spPr>
          <a:xfrm>
            <a:off x="342900" y="125016"/>
            <a:ext cx="47613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11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84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61" name="el-1782900292143-5"/>
          <p:cNvSpPr txBox="1"/>
          <p:nvPr/>
        </p:nvSpPr>
        <p:spPr>
          <a:xfrm>
            <a:off x="1029772" y="102156"/>
            <a:ext cx="16176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12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1 — 基础能力实现</a:t>
            </a:r>
            <a:endParaRPr/>
          </a:p>
        </p:txBody>
      </p:sp>
      <p:sp>
        <p:nvSpPr>
          <p:cNvPr id="62" name="el-1782900292158-14"/>
          <p:cNvSpPr txBox="1"/>
          <p:nvPr/>
        </p:nvSpPr>
        <p:spPr>
          <a:xfrm>
            <a:off x="414338" y="442913"/>
            <a:ext cx="412194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已完成模块（7 项）</a:t>
            </a:r>
            <a:endParaRPr/>
          </a:p>
        </p:txBody>
      </p:sp>
      <p:sp>
        <p:nvSpPr>
          <p:cNvPr id="63" name="el-1782900292182-28"/>
          <p:cNvSpPr txBox="1"/>
          <p:nvPr/>
        </p:nvSpPr>
        <p:spPr>
          <a:xfrm>
            <a:off x="400050" y="637223"/>
            <a:ext cx="203597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#</a:t>
            </a:r>
            <a:endParaRPr/>
          </a:p>
        </p:txBody>
      </p:sp>
      <p:sp>
        <p:nvSpPr>
          <p:cNvPr id="64" name="el-1782900292183-30"/>
          <p:cNvSpPr txBox="1"/>
          <p:nvPr/>
        </p:nvSpPr>
        <p:spPr>
          <a:xfrm>
            <a:off x="600075" y="637223"/>
            <a:ext cx="151474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功能</a:t>
            </a:r>
            <a:endParaRPr/>
          </a:p>
        </p:txBody>
      </p:sp>
      <p:sp>
        <p:nvSpPr>
          <p:cNvPr id="65" name="el-1782900292185-32"/>
          <p:cNvSpPr txBox="1"/>
          <p:nvPr/>
        </p:nvSpPr>
        <p:spPr>
          <a:xfrm>
            <a:off x="2111246" y="637223"/>
            <a:ext cx="242146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关键实现</a:t>
            </a:r>
            <a:endParaRPr/>
          </a:p>
        </p:txBody>
      </p:sp>
      <p:sp>
        <p:nvSpPr>
          <p:cNvPr id="66" name="el-1782900292186-34"/>
          <p:cNvSpPr txBox="1"/>
          <p:nvPr/>
        </p:nvSpPr>
        <p:spPr>
          <a:xfrm>
            <a:off x="400050" y="837248"/>
            <a:ext cx="200025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/>
          </a:p>
        </p:txBody>
      </p:sp>
      <p:sp>
        <p:nvSpPr>
          <p:cNvPr id="67" name="el-1782900292186-35"/>
          <p:cNvSpPr txBox="1"/>
          <p:nvPr/>
        </p:nvSpPr>
        <p:spPr>
          <a:xfrm>
            <a:off x="600075" y="837248"/>
            <a:ext cx="1511171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Perfetto帧提取</a:t>
            </a:r>
            <a:endParaRPr/>
          </a:p>
        </p:txBody>
      </p:sp>
      <p:sp>
        <p:nvSpPr>
          <p:cNvPr id="68" name="el-1782900292172-20"/>
          <p:cNvSpPr txBox="1"/>
          <p:nvPr/>
        </p:nvSpPr>
        <p:spPr>
          <a:xfrm>
            <a:off x="2111246" y="837248"/>
            <a:ext cx="2417891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frame_query.sql → 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SF/VD/VF/AP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四种帧类型</a:t>
            </a:r>
            <a:endParaRPr/>
          </a:p>
        </p:txBody>
      </p:sp>
      <p:sp>
        <p:nvSpPr>
          <p:cNvPr id="69" name="el-1782900292187-37"/>
          <p:cNvSpPr txBox="1"/>
          <p:nvPr/>
        </p:nvSpPr>
        <p:spPr>
          <a:xfrm>
            <a:off x="400050" y="1012269"/>
            <a:ext cx="200025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/>
          </a:p>
        </p:txBody>
      </p:sp>
      <p:sp>
        <p:nvSpPr>
          <p:cNvPr id="70" name="el-1782900292188-38"/>
          <p:cNvSpPr txBox="1"/>
          <p:nvPr/>
        </p:nvSpPr>
        <p:spPr>
          <a:xfrm>
            <a:off x="600075" y="1012269"/>
            <a:ext cx="1511171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sched采集</a:t>
            </a:r>
            <a:endParaRPr/>
          </a:p>
        </p:txBody>
      </p:sp>
      <p:sp>
        <p:nvSpPr>
          <p:cNvPr id="71" name="el-1782900292173-21"/>
          <p:cNvSpPr txBox="1"/>
          <p:nvPr/>
        </p:nvSpPr>
        <p:spPr>
          <a:xfrm>
            <a:off x="2111246" y="1012269"/>
            <a:ext cx="2417891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events.bin v3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格式（sched + sys + enhanced）</a:t>
            </a:r>
            <a:endParaRPr/>
          </a:p>
        </p:txBody>
      </p:sp>
      <p:sp>
        <p:nvSpPr>
          <p:cNvPr id="72" name="el-1782900292189-40"/>
          <p:cNvSpPr txBox="1"/>
          <p:nvPr/>
        </p:nvSpPr>
        <p:spPr>
          <a:xfrm>
            <a:off x="400050" y="1175861"/>
            <a:ext cx="20002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/>
          </a:p>
        </p:txBody>
      </p:sp>
      <p:sp>
        <p:nvSpPr>
          <p:cNvPr id="73" name="el-1782900292189-41"/>
          <p:cNvSpPr txBox="1"/>
          <p:nvPr/>
        </p:nvSpPr>
        <p:spPr>
          <a:xfrm>
            <a:off x="600075" y="1175861"/>
            <a:ext cx="151117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身份解析</a:t>
            </a:r>
            <a:endParaRPr/>
          </a:p>
        </p:txBody>
      </p:sp>
      <p:sp>
        <p:nvSpPr>
          <p:cNvPr id="74" name="el-1782900292190-42"/>
          <p:cNvSpPr txBox="1"/>
          <p:nvPr/>
        </p:nvSpPr>
        <p:spPr>
          <a:xfrm>
            <a:off x="2111246" y="1187291"/>
            <a:ext cx="2317879" cy="3750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identity.c：Session/ProcessInstanceId/ThreadKey + 静态血缘</a:t>
            </a:r>
            <a:endParaRPr/>
          </a:p>
        </p:txBody>
      </p:sp>
      <p:sp>
        <p:nvSpPr>
          <p:cNvPr id="75" name="el-1782900292190-43"/>
          <p:cNvSpPr txBox="1"/>
          <p:nvPr/>
        </p:nvSpPr>
        <p:spPr>
          <a:xfrm>
            <a:off x="400050" y="1600914"/>
            <a:ext cx="20002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/>
          </a:p>
        </p:txBody>
      </p:sp>
      <p:sp>
        <p:nvSpPr>
          <p:cNvPr id="76" name="el-1782900292191-44"/>
          <p:cNvSpPr txBox="1"/>
          <p:nvPr/>
        </p:nvSpPr>
        <p:spPr>
          <a:xfrm>
            <a:off x="600075" y="1600914"/>
            <a:ext cx="151117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Frame window delay</a:t>
            </a:r>
            <a:endParaRPr/>
          </a:p>
        </p:txBody>
      </p:sp>
      <p:sp>
        <p:nvSpPr>
          <p:cNvPr id="77" name="el-1782900292174-22"/>
          <p:cNvSpPr txBox="1"/>
          <p:nvPr/>
        </p:nvSpPr>
        <p:spPr>
          <a:xfrm>
            <a:off x="2111246" y="1612344"/>
            <a:ext cx="2317879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Phase 5b：wakeup+preempt在BPF内核内完成，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事件量减半</a:t>
            </a:r>
            <a:endParaRPr/>
          </a:p>
        </p:txBody>
      </p:sp>
      <p:sp>
        <p:nvSpPr>
          <p:cNvPr id="78" name="el-1782900292192-46"/>
          <p:cNvSpPr txBox="1"/>
          <p:nvPr/>
        </p:nvSpPr>
        <p:spPr>
          <a:xfrm>
            <a:off x="400050" y="1900952"/>
            <a:ext cx="20002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/>
          </a:p>
        </p:txBody>
      </p:sp>
      <p:sp>
        <p:nvSpPr>
          <p:cNvPr id="79" name="el-1782900292192-47"/>
          <p:cNvSpPr txBox="1"/>
          <p:nvPr/>
        </p:nvSpPr>
        <p:spPr>
          <a:xfrm>
            <a:off x="600075" y="1900952"/>
            <a:ext cx="151117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角色识别</a:t>
            </a:r>
            <a:endParaRPr/>
          </a:p>
        </p:txBody>
      </p:sp>
      <p:sp>
        <p:nvSpPr>
          <p:cNvPr id="80" name="el-1782900292175-23"/>
          <p:cNvSpPr txBox="1"/>
          <p:nvPr/>
        </p:nvSpPr>
        <p:spPr>
          <a:xfrm>
            <a:off x="2111246" y="1912382"/>
            <a:ext cx="2317879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classify_thread()：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12类角色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+ 30+ Camera特有模式</a:t>
            </a:r>
            <a:endParaRPr/>
          </a:p>
        </p:txBody>
      </p:sp>
      <p:sp>
        <p:nvSpPr>
          <p:cNvPr id="81" name="el-1782900292193-49"/>
          <p:cNvSpPr txBox="1"/>
          <p:nvPr/>
        </p:nvSpPr>
        <p:spPr>
          <a:xfrm>
            <a:off x="400050" y="2212419"/>
            <a:ext cx="200025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/>
          </a:p>
        </p:txBody>
      </p:sp>
      <p:sp>
        <p:nvSpPr>
          <p:cNvPr id="82" name="el-1782900292193-50"/>
          <p:cNvSpPr txBox="1"/>
          <p:nvPr/>
        </p:nvSpPr>
        <p:spPr>
          <a:xfrm>
            <a:off x="600075" y="2212419"/>
            <a:ext cx="1511171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Top-K输出</a:t>
            </a:r>
            <a:endParaRPr/>
          </a:p>
        </p:txBody>
      </p:sp>
      <p:sp>
        <p:nvSpPr>
          <p:cNvPr id="83" name="el-1782900292177-24"/>
          <p:cNvSpPr txBox="1"/>
          <p:nvPr/>
        </p:nvSpPr>
        <p:spPr>
          <a:xfrm>
            <a:off x="2111246" y="2212419"/>
            <a:ext cx="2417891" cy="125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-G -k N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关键线程排名</a:t>
            </a:r>
            <a:endParaRPr/>
          </a:p>
        </p:txBody>
      </p:sp>
      <p:sp>
        <p:nvSpPr>
          <p:cNvPr id="84" name="el-1782900292195-52"/>
          <p:cNvSpPr txBox="1"/>
          <p:nvPr/>
        </p:nvSpPr>
        <p:spPr>
          <a:xfrm>
            <a:off x="400050" y="2376011"/>
            <a:ext cx="20002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/>
          </a:p>
        </p:txBody>
      </p:sp>
      <p:sp>
        <p:nvSpPr>
          <p:cNvPr id="85" name="el-1782900292195-53"/>
          <p:cNvSpPr txBox="1"/>
          <p:nvPr/>
        </p:nvSpPr>
        <p:spPr>
          <a:xfrm>
            <a:off x="600075" y="2376011"/>
            <a:ext cx="151117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Hint Engine</a:t>
            </a:r>
            <a:endParaRPr/>
          </a:p>
        </p:txBody>
      </p:sp>
      <p:sp>
        <p:nvSpPr>
          <p:cNvPr id="86" name="el-1782900292234-104"/>
          <p:cNvSpPr txBox="1"/>
          <p:nvPr/>
        </p:nvSpPr>
        <p:spPr>
          <a:xfrm>
            <a:off x="2111246" y="2376011"/>
            <a:ext cx="1723072" cy="262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BOOST_THREAD / UCLAMP_MIN / PROTECT_UI_CHAIN</a:t>
            </a:r>
            <a:endParaRPr/>
          </a:p>
        </p:txBody>
      </p:sp>
      <p:sp>
        <p:nvSpPr>
          <p:cNvPr id="87" name="el-1782900292158-15"/>
          <p:cNvSpPr txBox="1"/>
          <p:nvPr/>
        </p:nvSpPr>
        <p:spPr>
          <a:xfrm>
            <a:off x="4729163" y="442913"/>
            <a:ext cx="412194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Hint Engine 安全机制</a:t>
            </a:r>
            <a:endParaRPr/>
          </a:p>
        </p:txBody>
      </p:sp>
      <p:sp>
        <p:nvSpPr>
          <p:cNvPr id="88" name="el-1782900292195-54"/>
          <p:cNvSpPr txBox="1"/>
          <p:nvPr/>
        </p:nvSpPr>
        <p:spPr>
          <a:xfrm>
            <a:off x="4729163" y="637223"/>
            <a:ext cx="97556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安全机制</a:t>
            </a:r>
            <a:endParaRPr/>
          </a:p>
        </p:txBody>
      </p:sp>
      <p:sp>
        <p:nvSpPr>
          <p:cNvPr id="89" name="el-1782900292197-56"/>
          <p:cNvSpPr txBox="1"/>
          <p:nvPr/>
        </p:nvSpPr>
        <p:spPr>
          <a:xfrm>
            <a:off x="5701159" y="637223"/>
            <a:ext cx="196283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/>
          </a:p>
        </p:txBody>
      </p:sp>
      <p:sp>
        <p:nvSpPr>
          <p:cNvPr id="90" name="el-1782900292198-58"/>
          <p:cNvSpPr txBox="1"/>
          <p:nvPr/>
        </p:nvSpPr>
        <p:spPr>
          <a:xfrm>
            <a:off x="7660422" y="637223"/>
            <a:ext cx="118711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防止什么</a:t>
            </a:r>
            <a:endParaRPr/>
          </a:p>
        </p:txBody>
      </p:sp>
      <p:sp>
        <p:nvSpPr>
          <p:cNvPr id="91" name="el-1782900292235-105"/>
          <p:cNvSpPr txBox="1"/>
          <p:nvPr/>
        </p:nvSpPr>
        <p:spPr>
          <a:xfrm>
            <a:off x="4729163" y="825817"/>
            <a:ext cx="23199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TTL</a:t>
            </a:r>
            <a:endParaRPr/>
          </a:p>
        </p:txBody>
      </p:sp>
      <p:sp>
        <p:nvSpPr>
          <p:cNvPr id="92" name="el-1782900292178-25"/>
          <p:cNvSpPr txBox="1"/>
          <p:nvPr/>
        </p:nvSpPr>
        <p:spPr>
          <a:xfrm>
            <a:off x="5701159" y="837248"/>
            <a:ext cx="1859250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每个hint默认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16ms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（=1帧），超时自动回滚</a:t>
            </a:r>
            <a:endParaRPr/>
          </a:p>
        </p:txBody>
      </p:sp>
      <p:sp>
        <p:nvSpPr>
          <p:cNvPr id="93" name="el-1782900292200-61"/>
          <p:cNvSpPr txBox="1"/>
          <p:nvPr/>
        </p:nvSpPr>
        <p:spPr>
          <a:xfrm>
            <a:off x="7660422" y="837248"/>
            <a:ext cx="1083528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避免hint长期生效影响后续帧</a:t>
            </a:r>
            <a:endParaRPr/>
          </a:p>
        </p:txBody>
      </p:sp>
      <p:sp>
        <p:nvSpPr>
          <p:cNvPr id="94" name="el-1782900292236-106"/>
          <p:cNvSpPr txBox="1"/>
          <p:nvPr/>
        </p:nvSpPr>
        <p:spPr>
          <a:xfrm>
            <a:off x="4729163" y="1125855"/>
            <a:ext cx="4500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自旋保护</a:t>
            </a:r>
            <a:endParaRPr/>
          </a:p>
        </p:txBody>
      </p:sp>
      <p:sp>
        <p:nvSpPr>
          <p:cNvPr id="95" name="el-1782900292179-26"/>
          <p:cNvSpPr txBox="1"/>
          <p:nvPr/>
        </p:nvSpPr>
        <p:spPr>
          <a:xfrm>
            <a:off x="5701159" y="1137285"/>
            <a:ext cx="1859250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5ms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内连续3次on CPU无sleep→撤销UCLAMP</a:t>
            </a:r>
            <a:endParaRPr/>
          </a:p>
        </p:txBody>
      </p:sp>
      <p:sp>
        <p:nvSpPr>
          <p:cNvPr id="96" name="el-1782900292201-63"/>
          <p:cNvSpPr txBox="1"/>
          <p:nvPr/>
        </p:nvSpPr>
        <p:spPr>
          <a:xfrm>
            <a:off x="7660422" y="1137285"/>
            <a:ext cx="1083528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避免提升后自旋浪费CPU</a:t>
            </a:r>
            <a:endParaRPr/>
          </a:p>
        </p:txBody>
      </p:sp>
      <p:sp>
        <p:nvSpPr>
          <p:cNvPr id="97" name="el-1782900292236-107"/>
          <p:cNvSpPr txBox="1"/>
          <p:nvPr/>
        </p:nvSpPr>
        <p:spPr>
          <a:xfrm>
            <a:off x="4729163" y="1425893"/>
            <a:ext cx="55006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线程黑名单</a:t>
            </a:r>
            <a:endParaRPr/>
          </a:p>
        </p:txBody>
      </p:sp>
      <p:sp>
        <p:nvSpPr>
          <p:cNvPr id="98" name="el-1782900292202-64"/>
          <p:cNvSpPr txBox="1"/>
          <p:nvPr/>
        </p:nvSpPr>
        <p:spPr>
          <a:xfrm>
            <a:off x="5701159" y="1437322"/>
            <a:ext cx="1859250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kworker/rcuop/swapper/system_server等不可干预</a:t>
            </a:r>
            <a:endParaRPr/>
          </a:p>
        </p:txBody>
      </p:sp>
      <p:sp>
        <p:nvSpPr>
          <p:cNvPr id="99" name="el-1782900292202-65"/>
          <p:cNvSpPr txBox="1"/>
          <p:nvPr/>
        </p:nvSpPr>
        <p:spPr>
          <a:xfrm>
            <a:off x="7660422" y="1437322"/>
            <a:ext cx="1083528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系统线程出问题会导致内核崩溃</a:t>
            </a:r>
            <a:endParaRPr/>
          </a:p>
        </p:txBody>
      </p:sp>
      <p:sp>
        <p:nvSpPr>
          <p:cNvPr id="100" name="el-1782900292237-108"/>
          <p:cNvSpPr txBox="1"/>
          <p:nvPr/>
        </p:nvSpPr>
        <p:spPr>
          <a:xfrm>
            <a:off x="4729163" y="1725930"/>
            <a:ext cx="55006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置信度阈值</a:t>
            </a:r>
            <a:endParaRPr/>
          </a:p>
        </p:txBody>
      </p:sp>
      <p:sp>
        <p:nvSpPr>
          <p:cNvPr id="101" name="el-1782900292181-27"/>
          <p:cNvSpPr txBox="1"/>
          <p:nvPr/>
        </p:nvSpPr>
        <p:spPr>
          <a:xfrm>
            <a:off x="5701159" y="1737360"/>
            <a:ext cx="1859250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&gt;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0.7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才提交执行，0.5-0.7仅记录建议，&lt;0.5不输出</a:t>
            </a:r>
            <a:endParaRPr/>
          </a:p>
        </p:txBody>
      </p:sp>
      <p:sp>
        <p:nvSpPr>
          <p:cNvPr id="102" name="el-1782900292204-67"/>
          <p:cNvSpPr txBox="1"/>
          <p:nvPr/>
        </p:nvSpPr>
        <p:spPr>
          <a:xfrm>
            <a:off x="7660422" y="1725930"/>
            <a:ext cx="118354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低置信度不做实际干预</a:t>
            </a:r>
            <a:endParaRPr/>
          </a:p>
        </p:txBody>
      </p:sp>
      <p:sp>
        <p:nvSpPr>
          <p:cNvPr id="103" name="el-1782900292237-109"/>
          <p:cNvSpPr txBox="1"/>
          <p:nvPr/>
        </p:nvSpPr>
        <p:spPr>
          <a:xfrm>
            <a:off x="4729163" y="2025968"/>
            <a:ext cx="51015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audit日志</a:t>
            </a:r>
            <a:endParaRPr/>
          </a:p>
        </p:txBody>
      </p:sp>
      <p:sp>
        <p:nvSpPr>
          <p:cNvPr id="104" name="el-1782900292204-68"/>
          <p:cNvSpPr txBox="1"/>
          <p:nvPr/>
        </p:nvSpPr>
        <p:spPr>
          <a:xfrm>
            <a:off x="5701159" y="2037398"/>
            <a:ext cx="1859250" cy="2500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5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每条hint的TID/操作/时间戳/预期+实际持续时长</a:t>
            </a:r>
            <a:endParaRPr/>
          </a:p>
        </p:txBody>
      </p:sp>
      <p:sp>
        <p:nvSpPr>
          <p:cNvPr id="105" name="el-1782900292204-69"/>
          <p:cNvSpPr txBox="1"/>
          <p:nvPr/>
        </p:nvSpPr>
        <p:spPr>
          <a:xfrm>
            <a:off x="7660422" y="2025968"/>
            <a:ext cx="118354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事后可审计、可回溯</a:t>
            </a:r>
            <a:endParaRPr/>
          </a:p>
        </p:txBody>
      </p:sp>
      <p:sp>
        <p:nvSpPr>
          <p:cNvPr id="106" name="el-1782900292150-10"/>
          <p:cNvSpPr txBox="1"/>
          <p:nvPr/>
        </p:nvSpPr>
        <p:spPr>
          <a:xfrm>
            <a:off x="342900" y="2831782"/>
            <a:ext cx="894040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⬇ Hint 生成示例</a:t>
            </a:r>
            <a:endParaRPr/>
          </a:p>
        </p:txBody>
      </p:sp>
      <p:sp>
        <p:nvSpPr>
          <p:cNvPr id="107" name="el-1782900292151-11"/>
          <p:cNvSpPr txBox="1"/>
          <p:nvPr/>
        </p:nvSpPr>
        <p:spPr>
          <a:xfrm>
            <a:off x="342900" y="3028950"/>
            <a:ext cx="850820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Hint生成示例</a:t>
            </a:r>
            <a:endParaRPr/>
          </a:p>
        </p:txBody>
      </p:sp>
      <p:sp>
        <p:nvSpPr>
          <p:cNvPr id="108" name="el-1782900292151-12"/>
          <p:cNvSpPr txBox="1"/>
          <p:nvPr/>
        </p:nvSpPr>
        <p:spPr>
          <a:xfrm>
            <a:off x="435769" y="3251835"/>
            <a:ext cx="8272463" cy="149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72"/>
              </a:lnSpc>
            </a:pPr>
            <a:r>
              <a:rPr sz="67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static void emit_hints(struct task_hints *hints, int n) { for (int i = 0; i &lt; n; i++) { struct task_hint *h = &amp;hints[i]; if (h-&gt;confidence &lt; 0.5) continue; // 低置信度不输出 if (is_blacklisted(h-&gt;tid)) continue; // 黑名单检查 if (check_spinlock(h-&gt;tid, 5000000)) continue; // 自旋保护(5ms) hint_set(h-&gt;tid, h-&gt;action, h-&gt;boost_ms); // 设置hint hint_set_ttl(h-&gt;tid, 16000000); // TTL=16ms(1帧) audit_log(h-&gt;tid, h-&gt;action, h-&gt;confidence); // 审计日志 } }</a:t>
            </a:r>
            <a:endParaRPr/>
          </a:p>
        </p:txBody>
      </p:sp>
      <p:sp>
        <p:nvSpPr>
          <p:cNvPr id="109" name="el-1782900292143-6"/>
          <p:cNvSpPr txBox="1"/>
          <p:nvPr/>
        </p:nvSpPr>
        <p:spPr>
          <a:xfrm>
            <a:off x="342900" y="4928473"/>
            <a:ext cx="190434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110" name="el-1782900292144-7"/>
          <p:cNvSpPr txBox="1"/>
          <p:nvPr/>
        </p:nvSpPr>
        <p:spPr>
          <a:xfrm>
            <a:off x="7832497" y="4928473"/>
            <a:ext cx="101861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2258-1"/>
          <p:cNvCxnSpPr/>
          <p:nvPr/>
        </p:nvCxnSpPr>
        <p:spPr>
          <a:xfrm>
            <a:off x="0" y="425053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2262-3"/>
          <p:cNvCxnSpPr/>
          <p:nvPr/>
        </p:nvCxnSpPr>
        <p:spPr>
          <a:xfrm>
            <a:off x="897612" y="132159"/>
            <a:ext cx="914" cy="157163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2270-8"/>
          <p:cNvSpPr/>
          <p:nvPr/>
        </p:nvSpPr>
        <p:spPr>
          <a:xfrm>
            <a:off x="342900" y="485775"/>
            <a:ext cx="8458200" cy="7772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92273-10"/>
          <p:cNvCxnSpPr/>
          <p:nvPr/>
        </p:nvCxnSpPr>
        <p:spPr>
          <a:xfrm>
            <a:off x="357188" y="485775"/>
            <a:ext cx="914" cy="77724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92280-14"/>
          <p:cNvSpPr/>
          <p:nvPr/>
        </p:nvSpPr>
        <p:spPr>
          <a:xfrm>
            <a:off x="342900" y="1320165"/>
            <a:ext cx="4186238" cy="10558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" name="el-1782900292284-17"/>
          <p:cNvCxnSpPr/>
          <p:nvPr/>
        </p:nvCxnSpPr>
        <p:spPr>
          <a:xfrm>
            <a:off x="357188" y="1320165"/>
            <a:ext cx="914" cy="1055846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00292317-43"/>
          <p:cNvSpPr/>
          <p:nvPr/>
        </p:nvSpPr>
        <p:spPr>
          <a:xfrm>
            <a:off x="471488" y="1547336"/>
            <a:ext cx="3950494" cy="764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82900292340-57"/>
          <p:cNvSpPr/>
          <p:nvPr/>
        </p:nvSpPr>
        <p:spPr>
          <a:xfrm>
            <a:off x="478631" y="1554480"/>
            <a:ext cx="1309628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82900292341-59"/>
          <p:cNvSpPr/>
          <p:nvPr/>
        </p:nvSpPr>
        <p:spPr>
          <a:xfrm>
            <a:off x="1795403" y="1554480"/>
            <a:ext cx="2619435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92343-61"/>
          <p:cNvSpPr/>
          <p:nvPr/>
        </p:nvSpPr>
        <p:spPr>
          <a:xfrm>
            <a:off x="478631" y="1743789"/>
            <a:ext cx="1309628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82900292359-78"/>
          <p:cNvSpPr/>
          <p:nvPr/>
        </p:nvSpPr>
        <p:spPr>
          <a:xfrm>
            <a:off x="1795403" y="1743789"/>
            <a:ext cx="2619435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82900292344-63"/>
          <p:cNvSpPr/>
          <p:nvPr/>
        </p:nvSpPr>
        <p:spPr>
          <a:xfrm>
            <a:off x="478631" y="1933099"/>
            <a:ext cx="1309628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82900292360-79"/>
          <p:cNvSpPr/>
          <p:nvPr/>
        </p:nvSpPr>
        <p:spPr>
          <a:xfrm>
            <a:off x="1795403" y="1933099"/>
            <a:ext cx="2619435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82900292345-65"/>
          <p:cNvSpPr/>
          <p:nvPr/>
        </p:nvSpPr>
        <p:spPr>
          <a:xfrm>
            <a:off x="478631" y="2122408"/>
            <a:ext cx="1309628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82900292347-67"/>
          <p:cNvSpPr/>
          <p:nvPr/>
        </p:nvSpPr>
        <p:spPr>
          <a:xfrm>
            <a:off x="1795403" y="2122408"/>
            <a:ext cx="2619435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82900292281-15"/>
          <p:cNvSpPr/>
          <p:nvPr/>
        </p:nvSpPr>
        <p:spPr>
          <a:xfrm>
            <a:off x="4614863" y="1320165"/>
            <a:ext cx="4186238" cy="10558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8" name="el-1782900292285-18"/>
          <p:cNvCxnSpPr/>
          <p:nvPr/>
        </p:nvCxnSpPr>
        <p:spPr>
          <a:xfrm>
            <a:off x="4629150" y="1320165"/>
            <a:ext cx="914" cy="1055846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00292271-9"/>
          <p:cNvSpPr/>
          <p:nvPr/>
        </p:nvSpPr>
        <p:spPr>
          <a:xfrm>
            <a:off x="342900" y="2433161"/>
            <a:ext cx="8458200" cy="140589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0" name="el-1782900292274-11"/>
          <p:cNvCxnSpPr/>
          <p:nvPr/>
        </p:nvCxnSpPr>
        <p:spPr>
          <a:xfrm>
            <a:off x="357188" y="2433161"/>
            <a:ext cx="914" cy="140589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00292282-16"/>
          <p:cNvSpPr/>
          <p:nvPr/>
        </p:nvSpPr>
        <p:spPr>
          <a:xfrm>
            <a:off x="471488" y="2646045"/>
            <a:ext cx="8222456" cy="11430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el-1782900292303-28"/>
          <p:cNvSpPr/>
          <p:nvPr/>
        </p:nvSpPr>
        <p:spPr>
          <a:xfrm>
            <a:off x="478631" y="2653189"/>
            <a:ext cx="2006590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82900292304-30"/>
          <p:cNvSpPr/>
          <p:nvPr/>
        </p:nvSpPr>
        <p:spPr>
          <a:xfrm>
            <a:off x="2492365" y="2653189"/>
            <a:ext cx="2508349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82900292305-32"/>
          <p:cNvSpPr/>
          <p:nvPr/>
        </p:nvSpPr>
        <p:spPr>
          <a:xfrm>
            <a:off x="5007858" y="2653189"/>
            <a:ext cx="3678942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82900292318-44"/>
          <p:cNvSpPr/>
          <p:nvPr/>
        </p:nvSpPr>
        <p:spPr>
          <a:xfrm>
            <a:off x="478631" y="2842498"/>
            <a:ext cx="2006590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82900292319-45"/>
          <p:cNvSpPr/>
          <p:nvPr/>
        </p:nvSpPr>
        <p:spPr>
          <a:xfrm>
            <a:off x="2492365" y="2842498"/>
            <a:ext cx="2508349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82900292307-34"/>
          <p:cNvSpPr/>
          <p:nvPr/>
        </p:nvSpPr>
        <p:spPr>
          <a:xfrm>
            <a:off x="5007858" y="2842498"/>
            <a:ext cx="3678942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82900292319-46"/>
          <p:cNvSpPr/>
          <p:nvPr/>
        </p:nvSpPr>
        <p:spPr>
          <a:xfrm>
            <a:off x="478631" y="3031807"/>
            <a:ext cx="2006590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82900292321-47"/>
          <p:cNvSpPr/>
          <p:nvPr/>
        </p:nvSpPr>
        <p:spPr>
          <a:xfrm>
            <a:off x="2492365" y="3031807"/>
            <a:ext cx="2508349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82900292308-36"/>
          <p:cNvSpPr/>
          <p:nvPr/>
        </p:nvSpPr>
        <p:spPr>
          <a:xfrm>
            <a:off x="5007858" y="3031807"/>
            <a:ext cx="3678942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82900292322-48"/>
          <p:cNvSpPr/>
          <p:nvPr/>
        </p:nvSpPr>
        <p:spPr>
          <a:xfrm>
            <a:off x="478631" y="3221117"/>
            <a:ext cx="2006590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82900292323-49"/>
          <p:cNvSpPr/>
          <p:nvPr/>
        </p:nvSpPr>
        <p:spPr>
          <a:xfrm>
            <a:off x="2492365" y="3221117"/>
            <a:ext cx="2508349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el-1782900292309-38"/>
          <p:cNvSpPr/>
          <p:nvPr/>
        </p:nvSpPr>
        <p:spPr>
          <a:xfrm>
            <a:off x="5007858" y="3221117"/>
            <a:ext cx="3678942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el-1782900292324-50"/>
          <p:cNvSpPr/>
          <p:nvPr/>
        </p:nvSpPr>
        <p:spPr>
          <a:xfrm>
            <a:off x="478631" y="3410426"/>
            <a:ext cx="2006590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82900292324-51"/>
          <p:cNvSpPr/>
          <p:nvPr/>
        </p:nvSpPr>
        <p:spPr>
          <a:xfrm>
            <a:off x="2492365" y="3410426"/>
            <a:ext cx="2508349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el-1782900292311-40"/>
          <p:cNvSpPr/>
          <p:nvPr/>
        </p:nvSpPr>
        <p:spPr>
          <a:xfrm>
            <a:off x="5007858" y="3410426"/>
            <a:ext cx="3678942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el-1782900292325-52"/>
          <p:cNvSpPr/>
          <p:nvPr/>
        </p:nvSpPr>
        <p:spPr>
          <a:xfrm>
            <a:off x="478631" y="3599736"/>
            <a:ext cx="2006590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82900292326-53"/>
          <p:cNvSpPr/>
          <p:nvPr/>
        </p:nvSpPr>
        <p:spPr>
          <a:xfrm>
            <a:off x="2492365" y="3599736"/>
            <a:ext cx="2508349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el-1782900292312-42"/>
          <p:cNvSpPr/>
          <p:nvPr/>
        </p:nvSpPr>
        <p:spPr>
          <a:xfrm>
            <a:off x="5007858" y="3599736"/>
            <a:ext cx="3678942" cy="182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40" name="el-1782900292259-2"/>
          <p:cNvCxnSpPr/>
          <p:nvPr/>
        </p:nvCxnSpPr>
        <p:spPr>
          <a:xfrm>
            <a:off x="0" y="483274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l-1782900292264-4"/>
          <p:cNvSpPr txBox="1"/>
          <p:nvPr/>
        </p:nvSpPr>
        <p:spPr>
          <a:xfrm>
            <a:off x="342900" y="139303"/>
            <a:ext cx="47613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84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42" name="el-1782900292265-5"/>
          <p:cNvSpPr txBox="1"/>
          <p:nvPr/>
        </p:nvSpPr>
        <p:spPr>
          <a:xfrm>
            <a:off x="1029772" y="125016"/>
            <a:ext cx="132730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3 — 深化与对比</a:t>
            </a:r>
            <a:endParaRPr/>
          </a:p>
        </p:txBody>
      </p:sp>
      <p:sp>
        <p:nvSpPr>
          <p:cNvPr id="43" name="el-1782900292277-12"/>
          <p:cNvSpPr txBox="1"/>
          <p:nvPr/>
        </p:nvSpPr>
        <p:spPr>
          <a:xfrm>
            <a:off x="471488" y="535781"/>
            <a:ext cx="827960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Thermal 深化</a:t>
            </a:r>
            <a:endParaRPr/>
          </a:p>
        </p:txBody>
      </p:sp>
      <p:sp>
        <p:nvSpPr>
          <p:cNvPr id="44" name="el-1782900292296-22"/>
          <p:cNvSpPr txBox="1"/>
          <p:nvPr/>
        </p:nvSpPr>
        <p:spPr>
          <a:xfrm>
            <a:off x="471488" y="705803"/>
            <a:ext cx="14528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45" name="el-1782900292292-19"/>
          <p:cNvSpPr txBox="1"/>
          <p:nvPr/>
        </p:nvSpPr>
        <p:spPr>
          <a:xfrm>
            <a:off x="598914" y="705803"/>
            <a:ext cx="471942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thermal_temperature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cpu_frequency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联动 → 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freq_throttle_ratio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（0.0=无降频，1.0=完全限频）</a:t>
            </a:r>
            <a:endParaRPr/>
          </a:p>
        </p:txBody>
      </p:sp>
      <p:sp>
        <p:nvSpPr>
          <p:cNvPr id="46" name="el-1782900292297-23"/>
          <p:cNvSpPr txBox="1"/>
          <p:nvPr/>
        </p:nvSpPr>
        <p:spPr>
          <a:xfrm>
            <a:off x="471488" y="877253"/>
            <a:ext cx="14528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47" name="el-1782900292295-20"/>
          <p:cNvSpPr txBox="1"/>
          <p:nvPr/>
        </p:nvSpPr>
        <p:spPr>
          <a:xfrm>
            <a:off x="598914" y="877253"/>
            <a:ext cx="372180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视频：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1.00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（52.3°C）| 页面Run2：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0.47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（41.5°C）| 页面Run1：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0.00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（31.4°C）</a:t>
            </a:r>
            <a:endParaRPr/>
          </a:p>
        </p:txBody>
      </p:sp>
      <p:sp>
        <p:nvSpPr>
          <p:cNvPr id="48" name="el-1782900292298-24"/>
          <p:cNvSpPr txBox="1"/>
          <p:nvPr/>
        </p:nvSpPr>
        <p:spPr>
          <a:xfrm>
            <a:off x="471488" y="1048703"/>
            <a:ext cx="14528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49" name="el-1782900292296-21"/>
          <p:cNvSpPr txBox="1"/>
          <p:nvPr/>
        </p:nvSpPr>
        <p:spPr>
          <a:xfrm>
            <a:off x="598914" y="1048703"/>
            <a:ext cx="186862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THERMAL_THROTTLE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为独立Jank类别</a:t>
            </a:r>
            <a:endParaRPr/>
          </a:p>
        </p:txBody>
      </p:sp>
      <p:sp>
        <p:nvSpPr>
          <p:cNvPr id="50" name="el-1782900292299-25"/>
          <p:cNvSpPr txBox="1"/>
          <p:nvPr/>
        </p:nvSpPr>
        <p:spPr>
          <a:xfrm>
            <a:off x="471488" y="1370171"/>
            <a:ext cx="4007644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Multi-session 对比发现</a:t>
            </a:r>
            <a:endParaRPr/>
          </a:p>
        </p:txBody>
      </p:sp>
      <p:sp>
        <p:nvSpPr>
          <p:cNvPr id="51" name="el-1782900292339-56"/>
          <p:cNvSpPr txBox="1"/>
          <p:nvPr/>
        </p:nvSpPr>
        <p:spPr>
          <a:xfrm>
            <a:off x="535781" y="1575911"/>
            <a:ext cx="129891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</a:t>
            </a:r>
            <a:endParaRPr/>
          </a:p>
        </p:txBody>
      </p:sp>
      <p:sp>
        <p:nvSpPr>
          <p:cNvPr id="52" name="el-1782900292340-58"/>
          <p:cNvSpPr txBox="1"/>
          <p:nvPr/>
        </p:nvSpPr>
        <p:spPr>
          <a:xfrm>
            <a:off x="1852553" y="1575911"/>
            <a:ext cx="260871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  <a:endParaRPr/>
          </a:p>
        </p:txBody>
      </p:sp>
      <p:sp>
        <p:nvSpPr>
          <p:cNvPr id="53" name="el-1782900292342-60"/>
          <p:cNvSpPr txBox="1"/>
          <p:nvPr/>
        </p:nvSpPr>
        <p:spPr>
          <a:xfrm>
            <a:off x="535781" y="1765221"/>
            <a:ext cx="129891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Jank率与降频正相关</a:t>
            </a:r>
            <a:endParaRPr/>
          </a:p>
        </p:txBody>
      </p:sp>
      <p:sp>
        <p:nvSpPr>
          <p:cNvPr id="54" name="el-1782900292364-84"/>
          <p:cNvSpPr txBox="1"/>
          <p:nvPr/>
        </p:nvSpPr>
        <p:spPr>
          <a:xfrm>
            <a:off x="1852553" y="1765221"/>
            <a:ext cx="3312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72.5%</a:t>
            </a:r>
            <a:endParaRPr/>
          </a:p>
        </p:txBody>
      </p:sp>
      <p:sp>
        <p:nvSpPr>
          <p:cNvPr id="55" name="el-1782900292362-80"/>
          <p:cNvSpPr txBox="1"/>
          <p:nvPr/>
        </p:nvSpPr>
        <p:spPr>
          <a:xfrm>
            <a:off x="2137410" y="1770936"/>
            <a:ext cx="38710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(0.00)→</a:t>
            </a:r>
            <a:endParaRPr/>
          </a:p>
        </p:txBody>
      </p:sp>
      <p:sp>
        <p:nvSpPr>
          <p:cNvPr id="56" name="el-1782900292365-85"/>
          <p:cNvSpPr txBox="1"/>
          <p:nvPr/>
        </p:nvSpPr>
        <p:spPr>
          <a:xfrm>
            <a:off x="2478078" y="1765221"/>
            <a:ext cx="3312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96.6%</a:t>
            </a:r>
            <a:endParaRPr/>
          </a:p>
        </p:txBody>
      </p:sp>
      <p:sp>
        <p:nvSpPr>
          <p:cNvPr id="57" name="el-1782900292362-81"/>
          <p:cNvSpPr txBox="1"/>
          <p:nvPr/>
        </p:nvSpPr>
        <p:spPr>
          <a:xfrm>
            <a:off x="2762935" y="1770936"/>
            <a:ext cx="38710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(0.47)→</a:t>
            </a:r>
            <a:endParaRPr/>
          </a:p>
        </p:txBody>
      </p:sp>
      <p:sp>
        <p:nvSpPr>
          <p:cNvPr id="58" name="el-1782900292366-86"/>
          <p:cNvSpPr txBox="1"/>
          <p:nvPr/>
        </p:nvSpPr>
        <p:spPr>
          <a:xfrm>
            <a:off x="3103602" y="1765221"/>
            <a:ext cx="3312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71.2%</a:t>
            </a:r>
            <a:endParaRPr/>
          </a:p>
        </p:txBody>
      </p:sp>
      <p:sp>
        <p:nvSpPr>
          <p:cNvPr id="59" name="el-1782900292362-82"/>
          <p:cNvSpPr txBox="1"/>
          <p:nvPr/>
        </p:nvSpPr>
        <p:spPr>
          <a:xfrm>
            <a:off x="3388459" y="1770936"/>
            <a:ext cx="29423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(1.00)</a:t>
            </a:r>
            <a:endParaRPr/>
          </a:p>
        </p:txBody>
      </p:sp>
      <p:sp>
        <p:nvSpPr>
          <p:cNvPr id="60" name="el-1782900292343-62"/>
          <p:cNvSpPr txBox="1"/>
          <p:nvPr/>
        </p:nvSpPr>
        <p:spPr>
          <a:xfrm>
            <a:off x="535781" y="1954530"/>
            <a:ext cx="129891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调度竞争本身已是瓶颈</a:t>
            </a:r>
            <a:endParaRPr/>
          </a:p>
        </p:txBody>
      </p:sp>
      <p:sp>
        <p:nvSpPr>
          <p:cNvPr id="61" name="el-1782900292363-83"/>
          <p:cNvSpPr txBox="1"/>
          <p:nvPr/>
        </p:nvSpPr>
        <p:spPr>
          <a:xfrm>
            <a:off x="1852553" y="1960245"/>
            <a:ext cx="934938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Run1无温控但Jank率</a:t>
            </a:r>
            <a:endParaRPr/>
          </a:p>
        </p:txBody>
      </p:sp>
      <p:sp>
        <p:nvSpPr>
          <p:cNvPr id="62" name="el-1782900292366-87"/>
          <p:cNvSpPr txBox="1"/>
          <p:nvPr/>
        </p:nvSpPr>
        <p:spPr>
          <a:xfrm>
            <a:off x="2741057" y="1954530"/>
            <a:ext cx="33129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72.5%</a:t>
            </a:r>
            <a:endParaRPr/>
          </a:p>
        </p:txBody>
      </p:sp>
      <p:sp>
        <p:nvSpPr>
          <p:cNvPr id="63" name="el-1782900292344-64"/>
          <p:cNvSpPr txBox="1"/>
          <p:nvPr/>
        </p:nvSpPr>
        <p:spPr>
          <a:xfrm>
            <a:off x="535781" y="2143839"/>
            <a:ext cx="129891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视频有额外延迟容忍</a:t>
            </a:r>
            <a:endParaRPr/>
          </a:p>
        </p:txBody>
      </p:sp>
      <p:sp>
        <p:nvSpPr>
          <p:cNvPr id="64" name="el-1782900292346-66"/>
          <p:cNvSpPr txBox="1"/>
          <p:nvPr/>
        </p:nvSpPr>
        <p:spPr>
          <a:xfrm>
            <a:off x="1852553" y="2143839"/>
            <a:ext cx="260871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温控1.00但Jank率≈Run1</a:t>
            </a:r>
            <a:endParaRPr/>
          </a:p>
        </p:txBody>
      </p:sp>
      <p:sp>
        <p:nvSpPr>
          <p:cNvPr id="65" name="el-1782900292299-26"/>
          <p:cNvSpPr txBox="1"/>
          <p:nvPr/>
        </p:nvSpPr>
        <p:spPr>
          <a:xfrm>
            <a:off x="4743450" y="1370171"/>
            <a:ext cx="4007644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Cross-scenario 验证</a:t>
            </a:r>
            <a:endParaRPr/>
          </a:p>
        </p:txBody>
      </p:sp>
      <p:sp>
        <p:nvSpPr>
          <p:cNvPr id="66" name="el-1782900292338-55"/>
          <p:cNvSpPr txBox="1"/>
          <p:nvPr/>
        </p:nvSpPr>
        <p:spPr>
          <a:xfrm>
            <a:off x="4743450" y="1540193"/>
            <a:ext cx="14528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67" name="el-1782900292337-54"/>
          <p:cNvSpPr txBox="1"/>
          <p:nvPr/>
        </p:nvSpPr>
        <p:spPr>
          <a:xfrm>
            <a:off x="4870877" y="1540193"/>
            <a:ext cx="386798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页面切换6维→视频需增加第7维 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decode_late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，缺少则误归因为 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RUNNABLE_DELAY</a:t>
            </a:r>
            <a:endParaRPr/>
          </a:p>
        </p:txBody>
      </p:sp>
      <p:sp>
        <p:nvSpPr>
          <p:cNvPr id="68" name="el-1782900292278-13"/>
          <p:cNvSpPr txBox="1"/>
          <p:nvPr/>
        </p:nvSpPr>
        <p:spPr>
          <a:xfrm>
            <a:off x="471488" y="2476024"/>
            <a:ext cx="827960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0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Inference Engine 证据链</a:t>
            </a:r>
            <a:endParaRPr/>
          </a:p>
        </p:txBody>
      </p:sp>
      <p:sp>
        <p:nvSpPr>
          <p:cNvPr id="69" name="el-1782900292302-27"/>
          <p:cNvSpPr txBox="1"/>
          <p:nvPr/>
        </p:nvSpPr>
        <p:spPr>
          <a:xfrm>
            <a:off x="535781" y="2674620"/>
            <a:ext cx="1995875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</a:t>
            </a:r>
            <a:endParaRPr/>
          </a:p>
        </p:txBody>
      </p:sp>
      <p:sp>
        <p:nvSpPr>
          <p:cNvPr id="70" name="el-1782900292303-29"/>
          <p:cNvSpPr txBox="1"/>
          <p:nvPr/>
        </p:nvSpPr>
        <p:spPr>
          <a:xfrm>
            <a:off x="2549515" y="2674620"/>
            <a:ext cx="2497634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  <a:endParaRPr/>
          </a:p>
        </p:txBody>
      </p:sp>
      <p:sp>
        <p:nvSpPr>
          <p:cNvPr id="71" name="el-1782900292304-31"/>
          <p:cNvSpPr txBox="1"/>
          <p:nvPr/>
        </p:nvSpPr>
        <p:spPr>
          <a:xfrm>
            <a:off x="5065008" y="2674620"/>
            <a:ext cx="366822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  <a:endParaRPr/>
          </a:p>
        </p:txBody>
      </p:sp>
      <p:sp>
        <p:nvSpPr>
          <p:cNvPr id="72" name="el-1782900292349-68"/>
          <p:cNvSpPr txBox="1"/>
          <p:nvPr/>
        </p:nvSpPr>
        <p:spPr>
          <a:xfrm>
            <a:off x="535781" y="2863929"/>
            <a:ext cx="75545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runnable_delay</a:t>
            </a:r>
            <a:endParaRPr/>
          </a:p>
        </p:txBody>
      </p:sp>
      <p:sp>
        <p:nvSpPr>
          <p:cNvPr id="73" name="el-1782900292350-69"/>
          <p:cNvSpPr txBox="1"/>
          <p:nvPr/>
        </p:nvSpPr>
        <p:spPr>
          <a:xfrm>
            <a:off x="2549515" y="2869287"/>
            <a:ext cx="608469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8B3A8B"/>
                </a:solidFill>
                <a:latin typeface="Consolas"/>
                <a:ea typeface="Consolas"/>
                <a:cs typeface="Consolas"/>
              </a:rPr>
              <a:t>sched_switch</a:t>
            </a:r>
            <a:endParaRPr/>
          </a:p>
        </p:txBody>
      </p:sp>
      <p:sp>
        <p:nvSpPr>
          <p:cNvPr id="74" name="el-1782900292306-33"/>
          <p:cNvSpPr txBox="1"/>
          <p:nvPr/>
        </p:nvSpPr>
        <p:spPr>
          <a:xfrm>
            <a:off x="5065008" y="2863929"/>
            <a:ext cx="366822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调度竞争——最强信号</a:t>
            </a:r>
            <a:endParaRPr/>
          </a:p>
        </p:txBody>
      </p:sp>
      <p:sp>
        <p:nvSpPr>
          <p:cNvPr id="75" name="el-1782900292350-70"/>
          <p:cNvSpPr txBox="1"/>
          <p:nvPr/>
        </p:nvSpPr>
        <p:spPr>
          <a:xfrm>
            <a:off x="535781" y="3053239"/>
            <a:ext cx="83314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binder_centrality</a:t>
            </a:r>
            <a:endParaRPr/>
          </a:p>
        </p:txBody>
      </p:sp>
      <p:sp>
        <p:nvSpPr>
          <p:cNvPr id="76" name="el-1782900292351-71"/>
          <p:cNvSpPr txBox="1"/>
          <p:nvPr/>
        </p:nvSpPr>
        <p:spPr>
          <a:xfrm>
            <a:off x="2549515" y="3058597"/>
            <a:ext cx="891272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8B3A8B"/>
                </a:solidFill>
                <a:latin typeface="Consolas"/>
                <a:ea typeface="Consolas"/>
                <a:cs typeface="Consolas"/>
              </a:rPr>
              <a:t>binder_transaction</a:t>
            </a:r>
            <a:endParaRPr/>
          </a:p>
        </p:txBody>
      </p:sp>
      <p:sp>
        <p:nvSpPr>
          <p:cNvPr id="77" name="el-1782900292307-35"/>
          <p:cNvSpPr txBox="1"/>
          <p:nvPr/>
        </p:nvSpPr>
        <p:spPr>
          <a:xfrm>
            <a:off x="5065008" y="3053239"/>
            <a:ext cx="366822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IPC瓶颈</a:t>
            </a:r>
            <a:endParaRPr/>
          </a:p>
        </p:txBody>
      </p:sp>
      <p:sp>
        <p:nvSpPr>
          <p:cNvPr id="78" name="el-1782900292352-72"/>
          <p:cNvSpPr txBox="1"/>
          <p:nvPr/>
        </p:nvSpPr>
        <p:spPr>
          <a:xfrm>
            <a:off x="535781" y="3242548"/>
            <a:ext cx="5309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futex_wait</a:t>
            </a:r>
            <a:endParaRPr/>
          </a:p>
        </p:txBody>
      </p:sp>
      <p:sp>
        <p:nvSpPr>
          <p:cNvPr id="79" name="el-1782900292352-73"/>
          <p:cNvSpPr txBox="1"/>
          <p:nvPr/>
        </p:nvSpPr>
        <p:spPr>
          <a:xfrm>
            <a:off x="2549515" y="3247906"/>
            <a:ext cx="27860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8B3A8B"/>
                </a:solidFill>
                <a:latin typeface="Consolas"/>
                <a:ea typeface="Consolas"/>
                <a:cs typeface="Consolas"/>
              </a:rPr>
              <a:t>futex</a:t>
            </a:r>
            <a:endParaRPr/>
          </a:p>
        </p:txBody>
      </p:sp>
      <p:sp>
        <p:nvSpPr>
          <p:cNvPr id="80" name="el-1782900292308-37"/>
          <p:cNvSpPr txBox="1"/>
          <p:nvPr/>
        </p:nvSpPr>
        <p:spPr>
          <a:xfrm>
            <a:off x="5065008" y="3242548"/>
            <a:ext cx="366822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锁竞争</a:t>
            </a:r>
            <a:endParaRPr/>
          </a:p>
        </p:txBody>
      </p:sp>
      <p:sp>
        <p:nvSpPr>
          <p:cNvPr id="81" name="el-1782900292352-74"/>
          <p:cNvSpPr txBox="1"/>
          <p:nvPr/>
        </p:nvSpPr>
        <p:spPr>
          <a:xfrm>
            <a:off x="535781" y="3431857"/>
            <a:ext cx="809208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thermal_throttle</a:t>
            </a:r>
            <a:endParaRPr/>
          </a:p>
        </p:txBody>
      </p:sp>
      <p:sp>
        <p:nvSpPr>
          <p:cNvPr id="82" name="el-1782900292353-75"/>
          <p:cNvSpPr txBox="1"/>
          <p:nvPr/>
        </p:nvSpPr>
        <p:spPr>
          <a:xfrm>
            <a:off x="2549515" y="3437215"/>
            <a:ext cx="74991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8B3A8B"/>
                </a:solidFill>
                <a:latin typeface="Consolas"/>
                <a:ea typeface="Consolas"/>
                <a:cs typeface="Consolas"/>
              </a:rPr>
              <a:t>thermal+cpufreq</a:t>
            </a:r>
            <a:endParaRPr/>
          </a:p>
        </p:txBody>
      </p:sp>
      <p:sp>
        <p:nvSpPr>
          <p:cNvPr id="83" name="el-1782900292310-39"/>
          <p:cNvSpPr txBox="1"/>
          <p:nvPr/>
        </p:nvSpPr>
        <p:spPr>
          <a:xfrm>
            <a:off x="5065008" y="3431857"/>
            <a:ext cx="366822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温控降频</a:t>
            </a:r>
            <a:endParaRPr/>
          </a:p>
        </p:txBody>
      </p:sp>
      <p:sp>
        <p:nvSpPr>
          <p:cNvPr id="84" name="el-1782900292353-76"/>
          <p:cNvSpPr txBox="1"/>
          <p:nvPr/>
        </p:nvSpPr>
        <p:spPr>
          <a:xfrm>
            <a:off x="535781" y="3621167"/>
            <a:ext cx="60186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decode_late</a:t>
            </a:r>
            <a:endParaRPr/>
          </a:p>
        </p:txBody>
      </p:sp>
      <p:sp>
        <p:nvSpPr>
          <p:cNvPr id="85" name="el-1782900292354-77"/>
          <p:cNvSpPr txBox="1"/>
          <p:nvPr/>
        </p:nvSpPr>
        <p:spPr>
          <a:xfrm>
            <a:off x="2549515" y="3626525"/>
            <a:ext cx="38576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70">
                <a:solidFill>
                  <a:srgbClr val="8B3A8B"/>
                </a:solidFill>
                <a:latin typeface="Consolas"/>
                <a:ea typeface="Consolas"/>
                <a:cs typeface="Consolas"/>
              </a:rPr>
              <a:t>视频解码</a:t>
            </a:r>
            <a:endParaRPr/>
          </a:p>
        </p:txBody>
      </p:sp>
      <p:sp>
        <p:nvSpPr>
          <p:cNvPr id="86" name="el-1782900292311-41"/>
          <p:cNvSpPr txBox="1"/>
          <p:nvPr/>
        </p:nvSpPr>
        <p:spPr>
          <a:xfrm>
            <a:off x="5065008" y="3621167"/>
            <a:ext cx="366822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解码延迟（仅视频场景）</a:t>
            </a:r>
            <a:endParaRPr/>
          </a:p>
        </p:txBody>
      </p:sp>
      <p:sp>
        <p:nvSpPr>
          <p:cNvPr id="87" name="el-1782900292265-6"/>
          <p:cNvSpPr txBox="1"/>
          <p:nvPr/>
        </p:nvSpPr>
        <p:spPr>
          <a:xfrm>
            <a:off x="342900" y="4921330"/>
            <a:ext cx="190434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88" name="el-1782900292266-7"/>
          <p:cNvSpPr txBox="1"/>
          <p:nvPr/>
        </p:nvSpPr>
        <p:spPr>
          <a:xfrm>
            <a:off x="7832497" y="4921330"/>
            <a:ext cx="101861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2900292386-1"/>
          <p:cNvCxnSpPr/>
          <p:nvPr/>
        </p:nvCxnSpPr>
        <p:spPr>
          <a:xfrm>
            <a:off x="0" y="425053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2900292390-3"/>
          <p:cNvCxnSpPr/>
          <p:nvPr/>
        </p:nvCxnSpPr>
        <p:spPr>
          <a:xfrm>
            <a:off x="897612" y="132159"/>
            <a:ext cx="914" cy="157163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00292396-8"/>
          <p:cNvSpPr/>
          <p:nvPr/>
        </p:nvSpPr>
        <p:spPr>
          <a:xfrm>
            <a:off x="342900" y="485775"/>
            <a:ext cx="8458200" cy="11101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5" name="el-1782900292399-10"/>
          <p:cNvCxnSpPr/>
          <p:nvPr/>
        </p:nvCxnSpPr>
        <p:spPr>
          <a:xfrm>
            <a:off x="357188" y="485775"/>
            <a:ext cx="914" cy="1110139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00292408-16"/>
          <p:cNvSpPr/>
          <p:nvPr/>
        </p:nvSpPr>
        <p:spPr>
          <a:xfrm>
            <a:off x="485775" y="724376"/>
            <a:ext cx="8193881" cy="8072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l-1782900292420-23"/>
          <p:cNvSpPr/>
          <p:nvPr/>
        </p:nvSpPr>
        <p:spPr>
          <a:xfrm>
            <a:off x="492919" y="731520"/>
            <a:ext cx="1775043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82900292421-25"/>
          <p:cNvSpPr/>
          <p:nvPr/>
        </p:nvSpPr>
        <p:spPr>
          <a:xfrm>
            <a:off x="2275106" y="731520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82900292422-27"/>
          <p:cNvSpPr/>
          <p:nvPr/>
        </p:nvSpPr>
        <p:spPr>
          <a:xfrm>
            <a:off x="5477381" y="731520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82900292424-29"/>
          <p:cNvSpPr/>
          <p:nvPr/>
        </p:nvSpPr>
        <p:spPr>
          <a:xfrm>
            <a:off x="492919" y="931545"/>
            <a:ext cx="1775043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92447-52"/>
          <p:cNvSpPr/>
          <p:nvPr/>
        </p:nvSpPr>
        <p:spPr>
          <a:xfrm>
            <a:off x="2275106" y="931545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82900292425-31"/>
          <p:cNvSpPr/>
          <p:nvPr/>
        </p:nvSpPr>
        <p:spPr>
          <a:xfrm>
            <a:off x="5477381" y="931545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82900292427-33"/>
          <p:cNvSpPr/>
          <p:nvPr/>
        </p:nvSpPr>
        <p:spPr>
          <a:xfrm>
            <a:off x="492919" y="1131570"/>
            <a:ext cx="1775043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82900292428-35"/>
          <p:cNvSpPr/>
          <p:nvPr/>
        </p:nvSpPr>
        <p:spPr>
          <a:xfrm>
            <a:off x="2275106" y="1131570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82900292448-53"/>
          <p:cNvSpPr/>
          <p:nvPr/>
        </p:nvSpPr>
        <p:spPr>
          <a:xfrm>
            <a:off x="5477381" y="1131570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82900292429-37"/>
          <p:cNvSpPr/>
          <p:nvPr/>
        </p:nvSpPr>
        <p:spPr>
          <a:xfrm>
            <a:off x="492919" y="1331595"/>
            <a:ext cx="1775043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82900292449-54"/>
          <p:cNvSpPr/>
          <p:nvPr/>
        </p:nvSpPr>
        <p:spPr>
          <a:xfrm>
            <a:off x="2275106" y="1331595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82900292450-55"/>
          <p:cNvSpPr/>
          <p:nvPr/>
        </p:nvSpPr>
        <p:spPr>
          <a:xfrm>
            <a:off x="5477381" y="1331595"/>
            <a:ext cx="3195132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82900292405-14"/>
          <p:cNvSpPr/>
          <p:nvPr/>
        </p:nvSpPr>
        <p:spPr>
          <a:xfrm>
            <a:off x="342900" y="1653064"/>
            <a:ext cx="4186238" cy="1400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0" name="el-1782900292410-18"/>
          <p:cNvCxnSpPr/>
          <p:nvPr/>
        </p:nvCxnSpPr>
        <p:spPr>
          <a:xfrm>
            <a:off x="357188" y="1653064"/>
            <a:ext cx="914" cy="140017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00292406-15"/>
          <p:cNvSpPr/>
          <p:nvPr/>
        </p:nvSpPr>
        <p:spPr>
          <a:xfrm>
            <a:off x="4614863" y="1653064"/>
            <a:ext cx="4186238" cy="1400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2" name="el-1782900292411-19"/>
          <p:cNvCxnSpPr/>
          <p:nvPr/>
        </p:nvCxnSpPr>
        <p:spPr>
          <a:xfrm>
            <a:off x="4629150" y="1653064"/>
            <a:ext cx="914" cy="140017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00292397-9"/>
          <p:cNvSpPr/>
          <p:nvPr/>
        </p:nvSpPr>
        <p:spPr>
          <a:xfrm>
            <a:off x="342900" y="3110389"/>
            <a:ext cx="8458200" cy="8815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4" name="el-1782900292400-11"/>
          <p:cNvCxnSpPr/>
          <p:nvPr/>
        </p:nvCxnSpPr>
        <p:spPr>
          <a:xfrm>
            <a:off x="357188" y="3110389"/>
            <a:ext cx="914" cy="881539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2900292408-17"/>
          <p:cNvSpPr/>
          <p:nvPr/>
        </p:nvSpPr>
        <p:spPr>
          <a:xfrm>
            <a:off x="485775" y="3334703"/>
            <a:ext cx="8193881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0D0D8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l-1782900292432-39"/>
          <p:cNvSpPr/>
          <p:nvPr/>
        </p:nvSpPr>
        <p:spPr>
          <a:xfrm>
            <a:off x="492919" y="3341846"/>
            <a:ext cx="2268141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82900292433-41"/>
          <p:cNvSpPr/>
          <p:nvPr/>
        </p:nvSpPr>
        <p:spPr>
          <a:xfrm>
            <a:off x="2768203" y="3341846"/>
            <a:ext cx="3175397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82900292434-43"/>
          <p:cNvSpPr/>
          <p:nvPr/>
        </p:nvSpPr>
        <p:spPr>
          <a:xfrm>
            <a:off x="5950744" y="3341846"/>
            <a:ext cx="2721769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82900292435-45"/>
          <p:cNvSpPr/>
          <p:nvPr/>
        </p:nvSpPr>
        <p:spPr>
          <a:xfrm>
            <a:off x="492919" y="3541871"/>
            <a:ext cx="2268141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82900292437-47"/>
          <p:cNvSpPr/>
          <p:nvPr/>
        </p:nvSpPr>
        <p:spPr>
          <a:xfrm>
            <a:off x="2768203" y="3541871"/>
            <a:ext cx="3175397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82900292451-56"/>
          <p:cNvSpPr/>
          <p:nvPr/>
        </p:nvSpPr>
        <p:spPr>
          <a:xfrm>
            <a:off x="5950744" y="3541871"/>
            <a:ext cx="2721769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82900292438-49"/>
          <p:cNvSpPr/>
          <p:nvPr/>
        </p:nvSpPr>
        <p:spPr>
          <a:xfrm>
            <a:off x="492919" y="3741896"/>
            <a:ext cx="2268141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el-1782900292439-51"/>
          <p:cNvSpPr/>
          <p:nvPr/>
        </p:nvSpPr>
        <p:spPr>
          <a:xfrm>
            <a:off x="2768203" y="3741896"/>
            <a:ext cx="3175397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el-1782900292451-57"/>
          <p:cNvSpPr/>
          <p:nvPr/>
        </p:nvSpPr>
        <p:spPr>
          <a:xfrm>
            <a:off x="5950744" y="3741896"/>
            <a:ext cx="2721769" cy="1928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5" name="el-1782900292387-2"/>
          <p:cNvCxnSpPr/>
          <p:nvPr/>
        </p:nvCxnSpPr>
        <p:spPr>
          <a:xfrm>
            <a:off x="0" y="483274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-1782900292391-4"/>
          <p:cNvSpPr txBox="1"/>
          <p:nvPr/>
        </p:nvSpPr>
        <p:spPr>
          <a:xfrm>
            <a:off x="342900" y="139303"/>
            <a:ext cx="47613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84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13</a:t>
            </a:r>
            <a:endParaRPr/>
          </a:p>
        </p:txBody>
      </p:sp>
      <p:sp>
        <p:nvSpPr>
          <p:cNvPr id="37" name="el-1782900292393-5"/>
          <p:cNvSpPr txBox="1"/>
          <p:nvPr/>
        </p:nvSpPr>
        <p:spPr>
          <a:xfrm>
            <a:off x="1029772" y="125016"/>
            <a:ext cx="14558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Step 2 — 增强能力实现</a:t>
            </a:r>
            <a:endParaRPr/>
          </a:p>
        </p:txBody>
      </p:sp>
      <p:sp>
        <p:nvSpPr>
          <p:cNvPr id="38" name="el-1782900292403-12"/>
          <p:cNvSpPr txBox="1"/>
          <p:nvPr/>
        </p:nvSpPr>
        <p:spPr>
          <a:xfrm>
            <a:off x="485775" y="535781"/>
            <a:ext cx="825460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三问题框架</a:t>
            </a:r>
            <a:endParaRPr/>
          </a:p>
        </p:txBody>
      </p:sp>
      <p:sp>
        <p:nvSpPr>
          <p:cNvPr id="39" name="el-1782900292419-22"/>
          <p:cNvSpPr txBox="1"/>
          <p:nvPr/>
        </p:nvSpPr>
        <p:spPr>
          <a:xfrm>
            <a:off x="564356" y="752951"/>
            <a:ext cx="1753612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问题</a:t>
            </a:r>
            <a:endParaRPr/>
          </a:p>
        </p:txBody>
      </p:sp>
      <p:sp>
        <p:nvSpPr>
          <p:cNvPr id="40" name="el-1782900292420-24"/>
          <p:cNvSpPr txBox="1"/>
          <p:nvPr/>
        </p:nvSpPr>
        <p:spPr>
          <a:xfrm>
            <a:off x="2346543" y="752951"/>
            <a:ext cx="3173700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/>
          </a:p>
        </p:txBody>
      </p:sp>
      <p:sp>
        <p:nvSpPr>
          <p:cNvPr id="41" name="el-1782900292421-26"/>
          <p:cNvSpPr txBox="1"/>
          <p:nvPr/>
        </p:nvSpPr>
        <p:spPr>
          <a:xfrm>
            <a:off x="5548818" y="752951"/>
            <a:ext cx="3173700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endParaRPr/>
          </a:p>
        </p:txBody>
      </p:sp>
      <p:sp>
        <p:nvSpPr>
          <p:cNvPr id="42" name="el-1782900292423-28"/>
          <p:cNvSpPr txBox="1"/>
          <p:nvPr/>
        </p:nvSpPr>
        <p:spPr>
          <a:xfrm>
            <a:off x="564356" y="952976"/>
            <a:ext cx="1753612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谁慢了？</a:t>
            </a:r>
            <a:endParaRPr/>
          </a:p>
        </p:txBody>
      </p:sp>
      <p:sp>
        <p:nvSpPr>
          <p:cNvPr id="43" name="el-1782900292486-83"/>
          <p:cNvSpPr txBox="1"/>
          <p:nvPr/>
        </p:nvSpPr>
        <p:spPr>
          <a:xfrm>
            <a:off x="2346543" y="952976"/>
            <a:ext cx="6774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CriticalScore</a:t>
            </a:r>
            <a:endParaRPr/>
          </a:p>
        </p:txBody>
      </p:sp>
      <p:sp>
        <p:nvSpPr>
          <p:cNvPr id="44" name="el-1782900292458-58"/>
          <p:cNvSpPr txBox="1"/>
          <p:nvPr/>
        </p:nvSpPr>
        <p:spPr>
          <a:xfrm>
            <a:off x="2973943" y="958691"/>
            <a:ext cx="6087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5维加权排名</a:t>
            </a:r>
            <a:endParaRPr/>
          </a:p>
        </p:txBody>
      </p:sp>
      <p:sp>
        <p:nvSpPr>
          <p:cNvPr id="45" name="el-1782900292424-30"/>
          <p:cNvSpPr txBox="1"/>
          <p:nvPr/>
        </p:nvSpPr>
        <p:spPr>
          <a:xfrm>
            <a:off x="5548818" y="952976"/>
            <a:ext cx="3173700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Top-K 关键线程表</a:t>
            </a:r>
            <a:endParaRPr/>
          </a:p>
        </p:txBody>
      </p:sp>
      <p:sp>
        <p:nvSpPr>
          <p:cNvPr id="46" name="el-1782900292425-32"/>
          <p:cNvSpPr txBox="1"/>
          <p:nvPr/>
        </p:nvSpPr>
        <p:spPr>
          <a:xfrm>
            <a:off x="564356" y="1153001"/>
            <a:ext cx="1753612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怎么阻塞的？</a:t>
            </a:r>
            <a:endParaRPr/>
          </a:p>
        </p:txBody>
      </p:sp>
      <p:sp>
        <p:nvSpPr>
          <p:cNvPr id="47" name="el-1782900292427-34"/>
          <p:cNvSpPr txBox="1"/>
          <p:nvPr/>
        </p:nvSpPr>
        <p:spPr>
          <a:xfrm>
            <a:off x="2346543" y="1153001"/>
            <a:ext cx="3173700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DAG 关键路径图（4种边）</a:t>
            </a:r>
            <a:endParaRPr/>
          </a:p>
        </p:txBody>
      </p:sp>
      <p:sp>
        <p:nvSpPr>
          <p:cNvPr id="48" name="el-1782900292487-84"/>
          <p:cNvSpPr txBox="1"/>
          <p:nvPr/>
        </p:nvSpPr>
        <p:spPr>
          <a:xfrm>
            <a:off x="5548818" y="1158359"/>
            <a:ext cx="142991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8B3A8B"/>
                </a:solidFill>
                <a:latin typeface="Consolas"/>
                <a:ea typeface="Consolas"/>
                <a:cs typeface="Consolas"/>
              </a:rPr>
              <a:t>Binder/Futex/关键路径 SVG 图</a:t>
            </a:r>
            <a:endParaRPr/>
          </a:p>
        </p:txBody>
      </p:sp>
      <p:sp>
        <p:nvSpPr>
          <p:cNvPr id="49" name="el-1782900292428-36"/>
          <p:cNvSpPr txBox="1"/>
          <p:nvPr/>
        </p:nvSpPr>
        <p:spPr>
          <a:xfrm>
            <a:off x="564356" y="1353026"/>
            <a:ext cx="1753612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为什么卡？</a:t>
            </a:r>
            <a:endParaRPr/>
          </a:p>
        </p:txBody>
      </p:sp>
      <p:sp>
        <p:nvSpPr>
          <p:cNvPr id="50" name="el-1782900292487-85"/>
          <p:cNvSpPr txBox="1"/>
          <p:nvPr/>
        </p:nvSpPr>
        <p:spPr>
          <a:xfrm>
            <a:off x="2346543" y="1353026"/>
            <a:ext cx="311735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6信号</a:t>
            </a:r>
            <a:endParaRPr/>
          </a:p>
        </p:txBody>
      </p:sp>
      <p:sp>
        <p:nvSpPr>
          <p:cNvPr id="51" name="el-1782900292458-59"/>
          <p:cNvSpPr txBox="1"/>
          <p:nvPr/>
        </p:nvSpPr>
        <p:spPr>
          <a:xfrm>
            <a:off x="2608273" y="1358741"/>
            <a:ext cx="4500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根因归因</a:t>
            </a:r>
            <a:endParaRPr/>
          </a:p>
        </p:txBody>
      </p:sp>
      <p:sp>
        <p:nvSpPr>
          <p:cNvPr id="52" name="el-1782900292487-86"/>
          <p:cNvSpPr txBox="1"/>
          <p:nvPr/>
        </p:nvSpPr>
        <p:spPr>
          <a:xfrm>
            <a:off x="5548818" y="1358384"/>
            <a:ext cx="1271945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8B3A8B"/>
                </a:solidFill>
                <a:latin typeface="Consolas"/>
                <a:ea typeface="Consolas"/>
                <a:cs typeface="Consolas"/>
              </a:rPr>
              <a:t>root_cause_analysis.json</a:t>
            </a:r>
            <a:endParaRPr/>
          </a:p>
        </p:txBody>
      </p:sp>
      <p:sp>
        <p:nvSpPr>
          <p:cNvPr id="53" name="el-1782900292459-60"/>
          <p:cNvSpPr txBox="1"/>
          <p:nvPr/>
        </p:nvSpPr>
        <p:spPr>
          <a:xfrm>
            <a:off x="6774329" y="1358741"/>
            <a:ext cx="65392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+ 报告第六章</a:t>
            </a:r>
            <a:endParaRPr/>
          </a:p>
        </p:txBody>
      </p:sp>
      <p:sp>
        <p:nvSpPr>
          <p:cNvPr id="54" name="el-1782900292418-20"/>
          <p:cNvSpPr txBox="1"/>
          <p:nvPr/>
        </p:nvSpPr>
        <p:spPr>
          <a:xfrm>
            <a:off x="471488" y="1703070"/>
            <a:ext cx="401121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Jank 分类器</a:t>
            </a:r>
            <a:endParaRPr/>
          </a:p>
        </p:txBody>
      </p:sp>
      <p:sp>
        <p:nvSpPr>
          <p:cNvPr id="55" name="el-1782900292477-71"/>
          <p:cNvSpPr txBox="1"/>
          <p:nvPr/>
        </p:nvSpPr>
        <p:spPr>
          <a:xfrm>
            <a:off x="471488" y="1884521"/>
            <a:ext cx="14528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56" name="el-1782900292463-65"/>
          <p:cNvSpPr txBox="1"/>
          <p:nvPr/>
        </p:nvSpPr>
        <p:spPr>
          <a:xfrm>
            <a:off x="598914" y="1884521"/>
            <a:ext cx="286696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6维特征空间 → 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决策树分类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（sklearn DecisionTreeClassifier）</a:t>
            </a:r>
            <a:endParaRPr/>
          </a:p>
        </p:txBody>
      </p:sp>
      <p:sp>
        <p:nvSpPr>
          <p:cNvPr id="57" name="el-1782900292478-72"/>
          <p:cNvSpPr txBox="1"/>
          <p:nvPr/>
        </p:nvSpPr>
        <p:spPr>
          <a:xfrm>
            <a:off x="471488" y="2055971"/>
            <a:ext cx="14528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58" name="el-1782900292478-73"/>
          <p:cNvSpPr txBox="1"/>
          <p:nvPr/>
        </p:nvSpPr>
        <p:spPr>
          <a:xfrm>
            <a:off x="598914" y="2055971"/>
            <a:ext cx="222786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自动标注 → 可疑帧筛选 → 人工复核 → 模型训练</a:t>
            </a:r>
            <a:endParaRPr/>
          </a:p>
        </p:txBody>
      </p:sp>
      <p:sp>
        <p:nvSpPr>
          <p:cNvPr id="59" name="el-1782900292479-74"/>
          <p:cNvSpPr txBox="1"/>
          <p:nvPr/>
        </p:nvSpPr>
        <p:spPr>
          <a:xfrm>
            <a:off x="471488" y="2227421"/>
            <a:ext cx="14528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60" name="el-1782900292470-66"/>
          <p:cNvSpPr txBox="1"/>
          <p:nvPr/>
        </p:nvSpPr>
        <p:spPr>
          <a:xfrm>
            <a:off x="598914" y="2227421"/>
            <a:ext cx="280695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LeaveOneOut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交叉验证 → 导出 C 头文件 </a:t>
            </a: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learned_model.h</a:t>
            </a:r>
            <a:endParaRPr/>
          </a:p>
        </p:txBody>
      </p:sp>
      <p:sp>
        <p:nvSpPr>
          <p:cNvPr id="61" name="el-1782900292418-21"/>
          <p:cNvSpPr txBox="1"/>
          <p:nvPr/>
        </p:nvSpPr>
        <p:spPr>
          <a:xfrm>
            <a:off x="4743450" y="1703070"/>
            <a:ext cx="401121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Camera 模块深度分析</a:t>
            </a:r>
            <a:endParaRPr/>
          </a:p>
        </p:txBody>
      </p:sp>
      <p:sp>
        <p:nvSpPr>
          <p:cNvPr id="62" name="el-1782900292480-75"/>
          <p:cNvSpPr txBox="1"/>
          <p:nvPr/>
        </p:nvSpPr>
        <p:spPr>
          <a:xfrm>
            <a:off x="4743450" y="1877378"/>
            <a:ext cx="141446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63" name="el-1782900292471-67"/>
          <p:cNvSpPr txBox="1"/>
          <p:nvPr/>
        </p:nvSpPr>
        <p:spPr>
          <a:xfrm>
            <a:off x="4863465" y="1877378"/>
            <a:ext cx="3706803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13探针 + 36MB buffer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：sched/binder/futex/cpu/thermal/irq/softirq/mem_reclaim</a:t>
            </a:r>
            <a:endParaRPr/>
          </a:p>
        </p:txBody>
      </p:sp>
      <p:sp>
        <p:nvSpPr>
          <p:cNvPr id="64" name="el-1782900292480-76"/>
          <p:cNvSpPr txBox="1"/>
          <p:nvPr/>
        </p:nvSpPr>
        <p:spPr>
          <a:xfrm>
            <a:off x="4743450" y="2021681"/>
            <a:ext cx="141446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65" name="el-1782900292481-77"/>
          <p:cNvSpPr txBox="1"/>
          <p:nvPr/>
        </p:nvSpPr>
        <p:spPr>
          <a:xfrm>
            <a:off x="4863465" y="2021681"/>
            <a:ext cx="267363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内核内延迟计算：wakeup+preempt在BPF内完成，事件量减半</a:t>
            </a:r>
            <a:endParaRPr/>
          </a:p>
        </p:txBody>
      </p:sp>
      <p:sp>
        <p:nvSpPr>
          <p:cNvPr id="66" name="el-1782900292481-78"/>
          <p:cNvSpPr txBox="1"/>
          <p:nvPr/>
        </p:nvSpPr>
        <p:spPr>
          <a:xfrm>
            <a:off x="4743450" y="2165985"/>
            <a:ext cx="141446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67" name="el-1782900292473-68"/>
          <p:cNvSpPr txBox="1"/>
          <p:nvPr/>
        </p:nvSpPr>
        <p:spPr>
          <a:xfrm>
            <a:off x="4863465" y="2165985"/>
            <a:ext cx="3830479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2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6信号根因归因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9维卡顿分类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（SCHED/BINDER/FUTEX/CPU/THERMAL/GPU/RENDER/IRQ/MEM）</a:t>
            </a:r>
            <a:endParaRPr/>
          </a:p>
        </p:txBody>
      </p:sp>
      <p:sp>
        <p:nvSpPr>
          <p:cNvPr id="68" name="el-1782900292481-79"/>
          <p:cNvSpPr txBox="1"/>
          <p:nvPr/>
        </p:nvSpPr>
        <p:spPr>
          <a:xfrm>
            <a:off x="4743450" y="2440305"/>
            <a:ext cx="141446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69" name="el-1782900292482-80"/>
          <p:cNvSpPr txBox="1"/>
          <p:nvPr/>
        </p:nvSpPr>
        <p:spPr>
          <a:xfrm>
            <a:off x="4863465" y="2440305"/>
            <a:ext cx="2107674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DOT图导出：全局拓扑 + 16帧子图（4种边类型）</a:t>
            </a:r>
            <a:endParaRPr/>
          </a:p>
        </p:txBody>
      </p:sp>
      <p:sp>
        <p:nvSpPr>
          <p:cNvPr id="70" name="el-1782900292482-81"/>
          <p:cNvSpPr txBox="1"/>
          <p:nvPr/>
        </p:nvSpPr>
        <p:spPr>
          <a:xfrm>
            <a:off x="4743450" y="2584609"/>
            <a:ext cx="141446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71" name="el-1782900292475-69"/>
          <p:cNvSpPr txBox="1"/>
          <p:nvPr/>
        </p:nvSpPr>
        <p:spPr>
          <a:xfrm>
            <a:off x="4863465" y="2584609"/>
            <a:ext cx="2172146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16种线程角色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：30+ Google Camera特有线程模式</a:t>
            </a:r>
            <a:endParaRPr/>
          </a:p>
        </p:txBody>
      </p:sp>
      <p:sp>
        <p:nvSpPr>
          <p:cNvPr id="72" name="el-1782900292483-82"/>
          <p:cNvSpPr txBox="1"/>
          <p:nvPr/>
        </p:nvSpPr>
        <p:spPr>
          <a:xfrm>
            <a:off x="4743450" y="2728913"/>
            <a:ext cx="141446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▸</a:t>
            </a:r>
            <a:endParaRPr/>
          </a:p>
        </p:txBody>
      </p:sp>
      <p:sp>
        <p:nvSpPr>
          <p:cNvPr id="73" name="el-1782900292477-70"/>
          <p:cNvSpPr txBox="1"/>
          <p:nvPr/>
        </p:nvSpPr>
        <p:spPr>
          <a:xfrm>
            <a:off x="4863465" y="2728913"/>
            <a:ext cx="3830479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2"/>
              </a:lnSpc>
            </a:pP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实测结果：30s ~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470万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事件，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16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 jank帧，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631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线程评分，根因</a:t>
            </a:r>
            <a:r>
              <a:rPr b="1" sz="73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100% CPU Scheduling Contention</a:t>
            </a:r>
            <a:endParaRPr/>
          </a:p>
        </p:txBody>
      </p:sp>
      <p:sp>
        <p:nvSpPr>
          <p:cNvPr id="74" name="el-1782900292403-13"/>
          <p:cNvSpPr txBox="1"/>
          <p:nvPr/>
        </p:nvSpPr>
        <p:spPr>
          <a:xfrm>
            <a:off x="485775" y="3153251"/>
            <a:ext cx="825460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两种聚合策略对比</a:t>
            </a:r>
            <a:endParaRPr/>
          </a:p>
        </p:txBody>
      </p:sp>
      <p:sp>
        <p:nvSpPr>
          <p:cNvPr id="75" name="el-1782900292431-38"/>
          <p:cNvSpPr txBox="1"/>
          <p:nvPr/>
        </p:nvSpPr>
        <p:spPr>
          <a:xfrm>
            <a:off x="564356" y="3363278"/>
            <a:ext cx="224670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策略</a:t>
            </a:r>
            <a:endParaRPr/>
          </a:p>
        </p:txBody>
      </p:sp>
      <p:sp>
        <p:nvSpPr>
          <p:cNvPr id="76" name="el-1782900292432-40"/>
          <p:cNvSpPr txBox="1"/>
          <p:nvPr/>
        </p:nvSpPr>
        <p:spPr>
          <a:xfrm>
            <a:off x="2839641" y="3363278"/>
            <a:ext cx="315396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  <a:endParaRPr/>
          </a:p>
        </p:txBody>
      </p:sp>
      <p:sp>
        <p:nvSpPr>
          <p:cNvPr id="77" name="el-1782900292433-42"/>
          <p:cNvSpPr txBox="1"/>
          <p:nvPr/>
        </p:nvSpPr>
        <p:spPr>
          <a:xfrm>
            <a:off x="6022181" y="3363278"/>
            <a:ext cx="270033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压缩效果</a:t>
            </a:r>
            <a:endParaRPr/>
          </a:p>
        </p:txBody>
      </p:sp>
      <p:sp>
        <p:nvSpPr>
          <p:cNvPr id="78" name="el-1782900292434-44"/>
          <p:cNvSpPr txBox="1"/>
          <p:nvPr/>
        </p:nvSpPr>
        <p:spPr>
          <a:xfrm>
            <a:off x="564356" y="3563303"/>
            <a:ext cx="224670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帧级窗口</a:t>
            </a:r>
            <a:endParaRPr/>
          </a:p>
        </p:txBody>
      </p:sp>
      <p:sp>
        <p:nvSpPr>
          <p:cNvPr id="79" name="el-1782900292436-46"/>
          <p:cNvSpPr txBox="1"/>
          <p:nvPr/>
        </p:nvSpPr>
        <p:spPr>
          <a:xfrm>
            <a:off x="2839641" y="3563303"/>
            <a:ext cx="315396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页面/视频（需帧精确）</a:t>
            </a:r>
            <a:endParaRPr/>
          </a:p>
        </p:txBody>
      </p:sp>
      <p:sp>
        <p:nvSpPr>
          <p:cNvPr id="80" name="el-1782900292460-61"/>
          <p:cNvSpPr txBox="1"/>
          <p:nvPr/>
        </p:nvSpPr>
        <p:spPr>
          <a:xfrm>
            <a:off x="6022181" y="3569018"/>
            <a:ext cx="12421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</a:t>
            </a:r>
            <a:endParaRPr/>
          </a:p>
        </p:txBody>
      </p:sp>
      <p:sp>
        <p:nvSpPr>
          <p:cNvPr id="81" name="el-1782900292489-87"/>
          <p:cNvSpPr txBox="1"/>
          <p:nvPr/>
        </p:nvSpPr>
        <p:spPr>
          <a:xfrm>
            <a:off x="6096387" y="3563303"/>
            <a:ext cx="29673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2000</a:t>
            </a:r>
            <a:endParaRPr/>
          </a:p>
        </p:txBody>
      </p:sp>
      <p:sp>
        <p:nvSpPr>
          <p:cNvPr id="82" name="el-1782900292460-62"/>
          <p:cNvSpPr txBox="1"/>
          <p:nvPr/>
        </p:nvSpPr>
        <p:spPr>
          <a:xfrm>
            <a:off x="6343114" y="3569018"/>
            <a:ext cx="1500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行</a:t>
            </a:r>
            <a:endParaRPr/>
          </a:p>
        </p:txBody>
      </p:sp>
      <p:sp>
        <p:nvSpPr>
          <p:cNvPr id="83" name="el-1782900292437-48"/>
          <p:cNvSpPr txBox="1"/>
          <p:nvPr/>
        </p:nvSpPr>
        <p:spPr>
          <a:xfrm>
            <a:off x="564356" y="3763327"/>
            <a:ext cx="224670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秒级窗口</a:t>
            </a:r>
            <a:endParaRPr/>
          </a:p>
        </p:txBody>
      </p:sp>
      <p:sp>
        <p:nvSpPr>
          <p:cNvPr id="84" name="el-1782900292438-50"/>
          <p:cNvSpPr txBox="1"/>
          <p:nvPr/>
        </p:nvSpPr>
        <p:spPr>
          <a:xfrm>
            <a:off x="2839641" y="3763327"/>
            <a:ext cx="315396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信息流（宏观趋势）</a:t>
            </a:r>
            <a:endParaRPr/>
          </a:p>
        </p:txBody>
      </p:sp>
      <p:sp>
        <p:nvSpPr>
          <p:cNvPr id="85" name="el-1782900292460-63"/>
          <p:cNvSpPr txBox="1"/>
          <p:nvPr/>
        </p:nvSpPr>
        <p:spPr>
          <a:xfrm>
            <a:off x="6022181" y="3769043"/>
            <a:ext cx="12421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~</a:t>
            </a:r>
            <a:endParaRPr/>
          </a:p>
        </p:txBody>
      </p:sp>
      <p:sp>
        <p:nvSpPr>
          <p:cNvPr id="86" name="el-1782900292489-88"/>
          <p:cNvSpPr txBox="1"/>
          <p:nvPr/>
        </p:nvSpPr>
        <p:spPr>
          <a:xfrm>
            <a:off x="6096387" y="3763327"/>
            <a:ext cx="173415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35</a:t>
            </a:r>
            <a:endParaRPr/>
          </a:p>
        </p:txBody>
      </p:sp>
      <p:sp>
        <p:nvSpPr>
          <p:cNvPr id="87" name="el-1782900292461-64"/>
          <p:cNvSpPr txBox="1"/>
          <p:nvPr/>
        </p:nvSpPr>
        <p:spPr>
          <a:xfrm>
            <a:off x="6219795" y="3769043"/>
            <a:ext cx="1500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行</a:t>
            </a:r>
            <a:endParaRPr/>
          </a:p>
        </p:txBody>
      </p:sp>
      <p:sp>
        <p:nvSpPr>
          <p:cNvPr id="88" name="el-1782900292393-6"/>
          <p:cNvSpPr txBox="1"/>
          <p:nvPr/>
        </p:nvSpPr>
        <p:spPr>
          <a:xfrm>
            <a:off x="342900" y="4921330"/>
            <a:ext cx="190434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89" name="el-1782900292393-7"/>
          <p:cNvSpPr txBox="1"/>
          <p:nvPr/>
        </p:nvSpPr>
        <p:spPr>
          <a:xfrm>
            <a:off x="7832497" y="4921330"/>
            <a:ext cx="101861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00292731-1"/>
          <p:cNvSpPr/>
          <p:nvPr/>
        </p:nvSpPr>
        <p:spPr>
          <a:xfrm>
            <a:off x="0" y="0"/>
            <a:ext cx="9144000" cy="428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" name="el-1782900292733-3"/>
          <p:cNvCxnSpPr/>
          <p:nvPr/>
        </p:nvCxnSpPr>
        <p:spPr>
          <a:xfrm>
            <a:off x="0" y="425053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00292736-5"/>
          <p:cNvCxnSpPr/>
          <p:nvPr/>
        </p:nvCxnSpPr>
        <p:spPr>
          <a:xfrm>
            <a:off x="897612" y="132159"/>
            <a:ext cx="914" cy="157163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00292742-10"/>
          <p:cNvSpPr/>
          <p:nvPr/>
        </p:nvSpPr>
        <p:spPr>
          <a:xfrm>
            <a:off x="342900" y="514350"/>
            <a:ext cx="8458200" cy="22324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" name="el-1782900292743-11"/>
          <p:cNvCxnSpPr/>
          <p:nvPr/>
        </p:nvCxnSpPr>
        <p:spPr>
          <a:xfrm>
            <a:off x="357188" y="514350"/>
            <a:ext cx="914" cy="2232422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00292746-13"/>
          <p:cNvSpPr/>
          <p:nvPr/>
        </p:nvSpPr>
        <p:spPr>
          <a:xfrm>
            <a:off x="457200" y="807244"/>
            <a:ext cx="8251031" cy="186094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0C0C8"/>
          </a:solidFill>
          <a:ln w="7144" algn="in">
            <a:solidFill>
              <a:srgbClr val="C0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-1782900292751-15"/>
          <p:cNvSpPr/>
          <p:nvPr/>
        </p:nvSpPr>
        <p:spPr>
          <a:xfrm>
            <a:off x="464344" y="814388"/>
            <a:ext cx="1644491" cy="275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82900292753-17"/>
          <p:cNvSpPr/>
          <p:nvPr/>
        </p:nvSpPr>
        <p:spPr>
          <a:xfrm>
            <a:off x="2115979" y="814388"/>
            <a:ext cx="3014841" cy="275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82900292755-19"/>
          <p:cNvSpPr/>
          <p:nvPr/>
        </p:nvSpPr>
        <p:spPr>
          <a:xfrm>
            <a:off x="5137964" y="814388"/>
            <a:ext cx="3563124" cy="275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92773-36"/>
          <p:cNvSpPr/>
          <p:nvPr/>
        </p:nvSpPr>
        <p:spPr>
          <a:xfrm>
            <a:off x="464344" y="1096566"/>
            <a:ext cx="1644491" cy="5357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82900292757-21"/>
          <p:cNvSpPr/>
          <p:nvPr/>
        </p:nvSpPr>
        <p:spPr>
          <a:xfrm>
            <a:off x="2115979" y="1096566"/>
            <a:ext cx="3014841" cy="5357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82900292758-23"/>
          <p:cNvSpPr/>
          <p:nvPr/>
        </p:nvSpPr>
        <p:spPr>
          <a:xfrm>
            <a:off x="5137964" y="1096566"/>
            <a:ext cx="3563124" cy="5357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82900292774-37"/>
          <p:cNvSpPr/>
          <p:nvPr/>
        </p:nvSpPr>
        <p:spPr>
          <a:xfrm>
            <a:off x="464344" y="1639491"/>
            <a:ext cx="1644491" cy="3857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82900292760-25"/>
          <p:cNvSpPr/>
          <p:nvPr/>
        </p:nvSpPr>
        <p:spPr>
          <a:xfrm>
            <a:off x="2115979" y="1639491"/>
            <a:ext cx="3014841" cy="3857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82900292761-27"/>
          <p:cNvSpPr/>
          <p:nvPr/>
        </p:nvSpPr>
        <p:spPr>
          <a:xfrm>
            <a:off x="5137964" y="1639491"/>
            <a:ext cx="3563124" cy="3857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82900292775-38"/>
          <p:cNvSpPr/>
          <p:nvPr/>
        </p:nvSpPr>
        <p:spPr>
          <a:xfrm>
            <a:off x="464344" y="2032397"/>
            <a:ext cx="1644491" cy="2357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82900292762-29"/>
          <p:cNvSpPr/>
          <p:nvPr/>
        </p:nvSpPr>
        <p:spPr>
          <a:xfrm>
            <a:off x="2115979" y="2032397"/>
            <a:ext cx="3014841" cy="2357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82900292765-31"/>
          <p:cNvSpPr/>
          <p:nvPr/>
        </p:nvSpPr>
        <p:spPr>
          <a:xfrm>
            <a:off x="5137964" y="2032397"/>
            <a:ext cx="3563124" cy="2357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82900292776-39"/>
          <p:cNvSpPr/>
          <p:nvPr/>
        </p:nvSpPr>
        <p:spPr>
          <a:xfrm>
            <a:off x="464344" y="2275284"/>
            <a:ext cx="1644491" cy="3857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82900292766-33"/>
          <p:cNvSpPr/>
          <p:nvPr/>
        </p:nvSpPr>
        <p:spPr>
          <a:xfrm>
            <a:off x="2115979" y="2275284"/>
            <a:ext cx="3014841" cy="3857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82900292767-35"/>
          <p:cNvSpPr/>
          <p:nvPr/>
        </p:nvSpPr>
        <p:spPr>
          <a:xfrm>
            <a:off x="5137964" y="2275284"/>
            <a:ext cx="3563124" cy="3857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82900292732-2"/>
          <p:cNvSpPr/>
          <p:nvPr/>
        </p:nvSpPr>
        <p:spPr>
          <a:xfrm>
            <a:off x="0" y="2746772"/>
            <a:ext cx="9144000" cy="3143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4" name="el-1782900292733-4"/>
          <p:cNvCxnSpPr/>
          <p:nvPr/>
        </p:nvCxnSpPr>
        <p:spPr>
          <a:xfrm>
            <a:off x="0" y="2750344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2900292738-6"/>
          <p:cNvSpPr txBox="1"/>
          <p:nvPr/>
        </p:nvSpPr>
        <p:spPr>
          <a:xfrm>
            <a:off x="342900" y="139303"/>
            <a:ext cx="47613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14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84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16</a:t>
            </a:r>
            <a:endParaRPr/>
          </a:p>
        </p:txBody>
      </p:sp>
      <p:sp>
        <p:nvSpPr>
          <p:cNvPr id="26" name="el-1782900292739-7"/>
          <p:cNvSpPr txBox="1"/>
          <p:nvPr/>
        </p:nvSpPr>
        <p:spPr>
          <a:xfrm>
            <a:off x="1029772" y="125016"/>
            <a:ext cx="18645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工程实践中攻克的关键技术难点</a:t>
            </a:r>
            <a:endParaRPr/>
          </a:p>
        </p:txBody>
      </p:sp>
      <p:sp>
        <p:nvSpPr>
          <p:cNvPr id="27" name="el-1782900292745-12"/>
          <p:cNvSpPr txBox="1"/>
          <p:nvPr/>
        </p:nvSpPr>
        <p:spPr>
          <a:xfrm>
            <a:off x="457200" y="578644"/>
            <a:ext cx="831532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关键技术难点与解决方案</a:t>
            </a:r>
            <a:endParaRPr/>
          </a:p>
        </p:txBody>
      </p:sp>
      <p:sp>
        <p:nvSpPr>
          <p:cNvPr id="28" name="el-1782900292750-14"/>
          <p:cNvSpPr txBox="1"/>
          <p:nvPr/>
        </p:nvSpPr>
        <p:spPr>
          <a:xfrm>
            <a:off x="550069" y="871538"/>
            <a:ext cx="1612344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难点</a:t>
            </a:r>
            <a:endParaRPr/>
          </a:p>
        </p:txBody>
      </p:sp>
      <p:sp>
        <p:nvSpPr>
          <p:cNvPr id="29" name="el-1782900292751-16"/>
          <p:cNvSpPr txBox="1"/>
          <p:nvPr/>
        </p:nvSpPr>
        <p:spPr>
          <a:xfrm>
            <a:off x="2201704" y="871538"/>
            <a:ext cx="2982694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  <a:endParaRPr/>
          </a:p>
        </p:txBody>
      </p:sp>
      <p:sp>
        <p:nvSpPr>
          <p:cNvPr id="30" name="el-1782900292754-18"/>
          <p:cNvSpPr txBox="1"/>
          <p:nvPr/>
        </p:nvSpPr>
        <p:spPr>
          <a:xfrm>
            <a:off x="5223689" y="871538"/>
            <a:ext cx="3530977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  <a:endParaRPr/>
          </a:p>
        </p:txBody>
      </p:sp>
      <p:sp>
        <p:nvSpPr>
          <p:cNvPr id="31" name="el-1782900292778-40"/>
          <p:cNvSpPr txBox="1"/>
          <p:nvPr/>
        </p:nvSpPr>
        <p:spPr>
          <a:xfrm>
            <a:off x="550069" y="1289447"/>
            <a:ext cx="5500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进程名截断</a:t>
            </a:r>
            <a:endParaRPr/>
          </a:p>
        </p:txBody>
      </p:sp>
      <p:sp>
        <p:nvSpPr>
          <p:cNvPr id="32" name="el-1782900292755-20"/>
          <p:cNvSpPr txBox="1"/>
          <p:nvPr/>
        </p:nvSpPr>
        <p:spPr>
          <a:xfrm>
            <a:off x="2201704" y="1139428"/>
            <a:ext cx="2843391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7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内核 task_struct-&gt;comm 仅15字符，com.google.android.GoogleCamera 被截断为 com.google.andr，无法匹配目标进程</a:t>
            </a:r>
            <a:endParaRPr/>
          </a:p>
        </p:txBody>
      </p:sp>
      <p:sp>
        <p:nvSpPr>
          <p:cNvPr id="33" name="el-1782900292757-22"/>
          <p:cNvSpPr txBox="1"/>
          <p:nvPr/>
        </p:nvSpPr>
        <p:spPr>
          <a:xfrm>
            <a:off x="5223689" y="1139428"/>
            <a:ext cx="3391674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7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反其道而行——在 Perfetto 中扫描 App Deadline Missed 的 UPID，反向锁定 Janky 应用</a:t>
            </a:r>
            <a:endParaRPr/>
          </a:p>
        </p:txBody>
      </p:sp>
      <p:sp>
        <p:nvSpPr>
          <p:cNvPr id="34" name="el-1782900292779-41"/>
          <p:cNvSpPr txBox="1"/>
          <p:nvPr/>
        </p:nvSpPr>
        <p:spPr>
          <a:xfrm>
            <a:off x="550069" y="1757363"/>
            <a:ext cx="42853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PID复用</a:t>
            </a:r>
            <a:endParaRPr/>
          </a:p>
        </p:txBody>
      </p:sp>
      <p:sp>
        <p:nvSpPr>
          <p:cNvPr id="35" name="el-1782900292759-24"/>
          <p:cNvSpPr txBox="1"/>
          <p:nvPr/>
        </p:nvSpPr>
        <p:spPr>
          <a:xfrm>
            <a:off x="2201704" y="1682353"/>
            <a:ext cx="2843391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7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PID 回收后分配给别的进程，仅凭 TID 匹配导致"幽灵线程"污染数据</a:t>
            </a:r>
            <a:endParaRPr/>
          </a:p>
        </p:txBody>
      </p:sp>
      <p:sp>
        <p:nvSpPr>
          <p:cNvPr id="36" name="el-1782900292760-26"/>
          <p:cNvSpPr txBox="1"/>
          <p:nvPr/>
        </p:nvSpPr>
        <p:spPr>
          <a:xfrm>
            <a:off x="5223689" y="1682353"/>
            <a:ext cx="339167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7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引入 Identity Layer：以 UID+TGID 为过滤键，用 Perfetto 静态血缘做白名单</a:t>
            </a:r>
            <a:endParaRPr/>
          </a:p>
        </p:txBody>
      </p:sp>
      <p:sp>
        <p:nvSpPr>
          <p:cNvPr id="37" name="el-1782900292779-42"/>
          <p:cNvSpPr txBox="1"/>
          <p:nvPr/>
        </p:nvSpPr>
        <p:spPr>
          <a:xfrm>
            <a:off x="550069" y="2075259"/>
            <a:ext cx="752683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Ringbuf丢数据</a:t>
            </a:r>
            <a:endParaRPr/>
          </a:p>
        </p:txBody>
      </p:sp>
      <p:sp>
        <p:nvSpPr>
          <p:cNvPr id="38" name="el-1782900292761-28"/>
          <p:cNvSpPr txBox="1"/>
          <p:nvPr/>
        </p:nvSpPr>
        <p:spPr>
          <a:xfrm>
            <a:off x="2201704" y="2075259"/>
            <a:ext cx="2979122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while(1) 轮询退出过早，底层 fflush 未完成导致 trace 截断</a:t>
            </a:r>
            <a:endParaRPr/>
          </a:p>
        </p:txBody>
      </p:sp>
      <p:sp>
        <p:nvSpPr>
          <p:cNvPr id="39" name="el-1782900292763-30"/>
          <p:cNvSpPr txBox="1"/>
          <p:nvPr/>
        </p:nvSpPr>
        <p:spPr>
          <a:xfrm>
            <a:off x="5223689" y="2075259"/>
            <a:ext cx="3527405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修正退出生命周期，实时 fflush 落盘，确保高频事件完整</a:t>
            </a:r>
            <a:endParaRPr/>
          </a:p>
        </p:txBody>
      </p:sp>
      <p:sp>
        <p:nvSpPr>
          <p:cNvPr id="40" name="el-1782900292780-43"/>
          <p:cNvSpPr txBox="1"/>
          <p:nvPr/>
        </p:nvSpPr>
        <p:spPr>
          <a:xfrm>
            <a:off x="550069" y="2393156"/>
            <a:ext cx="5500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80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时钟域对齐</a:t>
            </a:r>
            <a:endParaRPr/>
          </a:p>
        </p:txBody>
      </p:sp>
      <p:sp>
        <p:nvSpPr>
          <p:cNvPr id="41" name="el-1782900292765-32"/>
          <p:cNvSpPr txBox="1"/>
          <p:nvPr/>
        </p:nvSpPr>
        <p:spPr>
          <a:xfrm>
            <a:off x="2201704" y="2318147"/>
            <a:ext cx="2843391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7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用 bpf_ktime_get_boot_ns()，Perfetto 用 BootTime——必须一致才能对齐</a:t>
            </a:r>
            <a:endParaRPr/>
          </a:p>
        </p:txBody>
      </p:sp>
      <p:sp>
        <p:nvSpPr>
          <p:cNvPr id="42" name="el-1782900292766-34"/>
          <p:cNvSpPr txBox="1"/>
          <p:nvPr/>
        </p:nvSpPr>
        <p:spPr>
          <a:xfrm>
            <a:off x="5223689" y="2398871"/>
            <a:ext cx="352740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在 BPF 侧统一使用 bpf_ktime_get_boot_ns()，与 Perfetto 天然对齐</a:t>
            </a:r>
            <a:endParaRPr/>
          </a:p>
        </p:txBody>
      </p:sp>
      <p:sp>
        <p:nvSpPr>
          <p:cNvPr id="43" name="el-1782900292739-8"/>
          <p:cNvSpPr txBox="1"/>
          <p:nvPr/>
        </p:nvSpPr>
        <p:spPr>
          <a:xfrm>
            <a:off x="342900" y="2838926"/>
            <a:ext cx="190434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44" name="el-1782900292740-9"/>
          <p:cNvSpPr txBox="1"/>
          <p:nvPr/>
        </p:nvSpPr>
        <p:spPr>
          <a:xfrm>
            <a:off x="7832497" y="2838926"/>
            <a:ext cx="101861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00292791-1"/>
          <p:cNvSpPr/>
          <p:nvPr/>
        </p:nvSpPr>
        <p:spPr>
          <a:xfrm>
            <a:off x="0" y="0"/>
            <a:ext cx="9144000" cy="428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" name="el-1782900292793-3"/>
          <p:cNvCxnSpPr/>
          <p:nvPr/>
        </p:nvCxnSpPr>
        <p:spPr>
          <a:xfrm>
            <a:off x="0" y="425053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00292796-5"/>
          <p:cNvCxnSpPr/>
          <p:nvPr/>
        </p:nvCxnSpPr>
        <p:spPr>
          <a:xfrm>
            <a:off x="897612" y="132159"/>
            <a:ext cx="914" cy="157163"/>
          </a:xfrm>
          <a:prstGeom prst="line">
            <a:avLst/>
          </a:prstGeom>
          <a:ln w="9525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00292828-20"/>
          <p:cNvSpPr/>
          <p:nvPr/>
        </p:nvSpPr>
        <p:spPr>
          <a:xfrm>
            <a:off x="342900" y="500063"/>
            <a:ext cx="4179094" cy="1458754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" name="el-1782900292839-35"/>
          <p:cNvCxnSpPr/>
          <p:nvPr/>
        </p:nvCxnSpPr>
        <p:spPr>
          <a:xfrm>
            <a:off x="450056" y="780098"/>
            <a:ext cx="3964781" cy="914"/>
          </a:xfrm>
          <a:prstGeom prst="line">
            <a:avLst/>
          </a:prstGeom>
          <a:ln w="14288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00292830-21"/>
          <p:cNvSpPr/>
          <p:nvPr/>
        </p:nvSpPr>
        <p:spPr>
          <a:xfrm>
            <a:off x="4622006" y="500063"/>
            <a:ext cx="4179094" cy="1458754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el-1782900292840-36"/>
          <p:cNvCxnSpPr/>
          <p:nvPr/>
        </p:nvCxnSpPr>
        <p:spPr>
          <a:xfrm>
            <a:off x="4729163" y="774382"/>
            <a:ext cx="3964781" cy="914"/>
          </a:xfrm>
          <a:prstGeom prst="line">
            <a:avLst/>
          </a:prstGeom>
          <a:ln w="14288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el-1782900292837-32"/>
          <p:cNvGraphicFramePr/>
          <p:nvPr/>
        </p:nvGraphicFramePr>
        <p:xfrm>
          <a:off x="4729163" y="852964"/>
          <a:ext cx="3964781" cy="1027271"/>
        </p:xfrm>
        <a:graphic>
          <a:graphicData uri="http://schemas.openxmlformats.org/drawingml/2006/table">
            <a:tbl>
              <a:tblPr>
                <a:tableStyleId>{2D5ABB26-0587-4C30-8999-92F81FD0307C}</a:tableStyleId>
                <a:tblLayout type="fixed"/>
              </a:tblPr>
              <a:tblGrid>
                <a:gridCol w="1233101"/>
                <a:gridCol w="2724537"/>
              </a:tblGrid>
              <a:tr h="214313">
                <a:tc>
                  <a:txBody>
                    <a:bodyPr lIns="57150" tIns="42863" rIns="57150" bIns="42863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</a:tcPr>
                </a:tc>
                <a:tc>
                  <a:txBody>
                    <a:bodyPr lIns="57150" tIns="42863" rIns="57150" bIns="42863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b="1" sz="67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  <a:endParaRPr/>
                    </a:p>
                  </a:txBody>
                  <a:tcPr marL="0" marR="0" marT="0" marB="0">
                    <a:solidFill>
                      <a:srgbClr val="2D4059"/>
                    </a:solidFill>
                  </a:tcPr>
                </a:tc>
              </a:tr>
              <a:tr h="214313"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调度竞争是卡顿主因</a:t>
                      </a:r>
                      <a:endParaRPr/>
                    </a:p>
                  </a:txBody>
                  <a:tcPr marL="0" marR="0" marT="0" marB="0"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无温控Jank率72.5%，非Binder、非锁</a:t>
                      </a:r>
                      <a:endParaRPr/>
                    </a:p>
                  </a:txBody>
                  <a:tcPr marL="0" marR="0" marT="0" marB="0"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温控降频雪上加霜</a:t>
                      </a:r>
                      <a:endParaRPr/>
                    </a:p>
                  </a:txBody>
                  <a:tcPr marL="0" marR="0" marT="0" marB="0">
                    <a:solidFill>
                      <a:srgbClr val="F2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温度升高后Jank率升至96.6%</a:t>
                      </a:r>
                      <a:endParaRPr/>
                    </a:p>
                  </a:txBody>
                  <a:tcPr marL="0" marR="0" marT="0" marB="0">
                    <a:solidFill>
                      <a:srgbClr val="F2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场景差异显著</a:t>
                      </a:r>
                      <a:endParaRPr/>
                    </a:p>
                  </a:txBody>
                  <a:tcPr marL="0" marR="0" marT="0" marB="0"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视频有额外容忍度，游戏Unity线程模型完全不同</a:t>
                      </a:r>
                      <a:endParaRPr/>
                    </a:p>
                  </a:txBody>
                  <a:tcPr marL="0" marR="0" marT="0" marB="0"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  <a:tr h="214313"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Hint Engine自适应</a:t>
                      </a:r>
                      <a:endParaRPr/>
                    </a:p>
                  </a:txBody>
                  <a:tcPr marL="0" marR="0" marT="0" marB="0">
                    <a:solidFill>
                      <a:srgbClr val="F2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lIns="57150" tIns="35719" rIns="57150" bIns="35719" anchor="t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67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根据温控自动切换PROTECT→UCLAMP</a:t>
                      </a:r>
                      <a:endParaRPr/>
                    </a:p>
                  </a:txBody>
                  <a:tcPr marL="0" marR="0" marT="0" marB="0">
                    <a:solidFill>
                      <a:srgbClr val="F2F4F7"/>
                    </a:solidFill>
                    <a:lnL w="7144">
                      <a:solidFill>
                        <a:srgbClr val="D0D0D8"/>
                      </a:solidFill>
                    </a:lnL>
                    <a:lnR w="7144">
                      <a:solidFill>
                        <a:srgbClr val="D0D0D8"/>
                      </a:solidFill>
                    </a:lnR>
                    <a:lnT w="7144">
                      <a:solidFill>
                        <a:srgbClr val="D0D0D8"/>
                      </a:solidFill>
                    </a:lnT>
                    <a:lnB w="7144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el-1782900292806-10"/>
          <p:cNvSpPr/>
          <p:nvPr/>
        </p:nvSpPr>
        <p:spPr>
          <a:xfrm>
            <a:off x="342900" y="2030254"/>
            <a:ext cx="8458200" cy="4214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38" y="0"/>
                </a:moveTo>
                <a:lnTo>
                  <a:pt x="99662" y="0"/>
                </a:lnTo>
                <a:lnTo>
                  <a:pt x="99695" y="23"/>
                </a:lnTo>
                <a:lnTo>
                  <a:pt x="99729" y="136"/>
                </a:lnTo>
                <a:lnTo>
                  <a:pt x="99760" y="295"/>
                </a:lnTo>
                <a:lnTo>
                  <a:pt x="99792" y="523"/>
                </a:lnTo>
                <a:lnTo>
                  <a:pt x="99821" y="795"/>
                </a:lnTo>
                <a:lnTo>
                  <a:pt x="99850" y="1159"/>
                </a:lnTo>
                <a:lnTo>
                  <a:pt x="99876" y="1545"/>
                </a:lnTo>
                <a:lnTo>
                  <a:pt x="99901" y="2000"/>
                </a:lnTo>
                <a:lnTo>
                  <a:pt x="99923" y="2500"/>
                </a:lnTo>
                <a:lnTo>
                  <a:pt x="99943" y="3023"/>
                </a:lnTo>
                <a:lnTo>
                  <a:pt x="99961" y="3614"/>
                </a:lnTo>
                <a:lnTo>
                  <a:pt x="99974" y="4205"/>
                </a:lnTo>
                <a:lnTo>
                  <a:pt x="99985" y="4841"/>
                </a:lnTo>
                <a:lnTo>
                  <a:pt x="99993" y="5477"/>
                </a:lnTo>
                <a:lnTo>
                  <a:pt x="99999" y="6159"/>
                </a:lnTo>
                <a:lnTo>
                  <a:pt x="100000" y="6818"/>
                </a:lnTo>
                <a:lnTo>
                  <a:pt x="100000" y="93182"/>
                </a:lnTo>
                <a:lnTo>
                  <a:pt x="99999" y="93841"/>
                </a:lnTo>
                <a:lnTo>
                  <a:pt x="99993" y="94523"/>
                </a:lnTo>
                <a:lnTo>
                  <a:pt x="99985" y="95159"/>
                </a:lnTo>
                <a:lnTo>
                  <a:pt x="99974" y="95795"/>
                </a:lnTo>
                <a:lnTo>
                  <a:pt x="99961" y="96386"/>
                </a:lnTo>
                <a:lnTo>
                  <a:pt x="99943" y="96977"/>
                </a:lnTo>
                <a:lnTo>
                  <a:pt x="99923" y="97500"/>
                </a:lnTo>
                <a:lnTo>
                  <a:pt x="99901" y="98000"/>
                </a:lnTo>
                <a:lnTo>
                  <a:pt x="99876" y="98455"/>
                </a:lnTo>
                <a:lnTo>
                  <a:pt x="99850" y="98841"/>
                </a:lnTo>
                <a:lnTo>
                  <a:pt x="99821" y="99205"/>
                </a:lnTo>
                <a:lnTo>
                  <a:pt x="99792" y="99477"/>
                </a:lnTo>
                <a:lnTo>
                  <a:pt x="99760" y="99705"/>
                </a:lnTo>
                <a:lnTo>
                  <a:pt x="99729" y="99864"/>
                </a:lnTo>
                <a:lnTo>
                  <a:pt x="99695" y="99977"/>
                </a:lnTo>
                <a:lnTo>
                  <a:pt x="99662" y="100000"/>
                </a:lnTo>
                <a:lnTo>
                  <a:pt x="338" y="100000"/>
                </a:lnTo>
                <a:lnTo>
                  <a:pt x="305" y="99977"/>
                </a:lnTo>
                <a:lnTo>
                  <a:pt x="271" y="99864"/>
                </a:lnTo>
                <a:lnTo>
                  <a:pt x="240" y="99705"/>
                </a:lnTo>
                <a:lnTo>
                  <a:pt x="208" y="99477"/>
                </a:lnTo>
                <a:lnTo>
                  <a:pt x="179" y="99205"/>
                </a:lnTo>
                <a:lnTo>
                  <a:pt x="150" y="98841"/>
                </a:lnTo>
                <a:lnTo>
                  <a:pt x="124" y="98455"/>
                </a:lnTo>
                <a:lnTo>
                  <a:pt x="99" y="98000"/>
                </a:lnTo>
                <a:lnTo>
                  <a:pt x="77" y="97500"/>
                </a:lnTo>
                <a:lnTo>
                  <a:pt x="57" y="96977"/>
                </a:lnTo>
                <a:lnTo>
                  <a:pt x="39" y="96386"/>
                </a:lnTo>
                <a:lnTo>
                  <a:pt x="26" y="95795"/>
                </a:lnTo>
                <a:lnTo>
                  <a:pt x="15" y="95159"/>
                </a:lnTo>
                <a:lnTo>
                  <a:pt x="7" y="94523"/>
                </a:lnTo>
                <a:lnTo>
                  <a:pt x="1" y="93841"/>
                </a:lnTo>
                <a:lnTo>
                  <a:pt x="0" y="93182"/>
                </a:lnTo>
                <a:lnTo>
                  <a:pt x="0" y="6818"/>
                </a:lnTo>
                <a:lnTo>
                  <a:pt x="1" y="6159"/>
                </a:lnTo>
                <a:lnTo>
                  <a:pt x="7" y="5477"/>
                </a:lnTo>
                <a:lnTo>
                  <a:pt x="15" y="4841"/>
                </a:lnTo>
                <a:lnTo>
                  <a:pt x="26" y="4205"/>
                </a:lnTo>
                <a:lnTo>
                  <a:pt x="39" y="3614"/>
                </a:lnTo>
                <a:lnTo>
                  <a:pt x="57" y="3023"/>
                </a:lnTo>
                <a:lnTo>
                  <a:pt x="77" y="2500"/>
                </a:lnTo>
                <a:lnTo>
                  <a:pt x="99" y="2000"/>
                </a:lnTo>
                <a:lnTo>
                  <a:pt x="124" y="1545"/>
                </a:lnTo>
                <a:lnTo>
                  <a:pt x="150" y="1159"/>
                </a:lnTo>
                <a:lnTo>
                  <a:pt x="179" y="795"/>
                </a:lnTo>
                <a:lnTo>
                  <a:pt x="208" y="523"/>
                </a:lnTo>
                <a:lnTo>
                  <a:pt x="240" y="295"/>
                </a:lnTo>
                <a:lnTo>
                  <a:pt x="271" y="136"/>
                </a:lnTo>
                <a:lnTo>
                  <a:pt x="305" y="23"/>
                </a:lnTo>
                <a:lnTo>
                  <a:pt x="338" y="0"/>
                </a:lnTo>
                <a:close/>
              </a:path>
            </a:pathLst>
          </a:custGeom>
          <a:solidFill>
            <a:srgbClr val="FEF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82900292808-11"/>
          <p:cNvSpPr/>
          <p:nvPr/>
        </p:nvSpPr>
        <p:spPr>
          <a:xfrm>
            <a:off x="342900" y="2030254"/>
            <a:ext cx="42863" cy="4214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6667" y="0"/>
                </a:moveTo>
                <a:lnTo>
                  <a:pt x="60132" y="33"/>
                </a:lnTo>
                <a:lnTo>
                  <a:pt x="53661" y="130"/>
                </a:lnTo>
                <a:lnTo>
                  <a:pt x="47314" y="292"/>
                </a:lnTo>
                <a:lnTo>
                  <a:pt x="41154" y="516"/>
                </a:lnTo>
                <a:lnTo>
                  <a:pt x="35240" y="801"/>
                </a:lnTo>
                <a:lnTo>
                  <a:pt x="29629" y="1143"/>
                </a:lnTo>
                <a:lnTo>
                  <a:pt x="24374" y="1539"/>
                </a:lnTo>
                <a:lnTo>
                  <a:pt x="19526" y="1986"/>
                </a:lnTo>
                <a:lnTo>
                  <a:pt x="15133" y="2479"/>
                </a:lnTo>
                <a:lnTo>
                  <a:pt x="11235" y="3013"/>
                </a:lnTo>
                <a:lnTo>
                  <a:pt x="7872" y="3584"/>
                </a:lnTo>
                <a:lnTo>
                  <a:pt x="5075" y="4185"/>
                </a:lnTo>
                <a:lnTo>
                  <a:pt x="2871" y="4812"/>
                </a:lnTo>
                <a:lnTo>
                  <a:pt x="1281" y="5457"/>
                </a:lnTo>
                <a:lnTo>
                  <a:pt x="321" y="6115"/>
                </a:lnTo>
                <a:lnTo>
                  <a:pt x="0" y="6780"/>
                </a:lnTo>
                <a:lnTo>
                  <a:pt x="0" y="93220"/>
                </a:lnTo>
                <a:lnTo>
                  <a:pt x="321" y="93885"/>
                </a:lnTo>
                <a:lnTo>
                  <a:pt x="1281" y="94543"/>
                </a:lnTo>
                <a:lnTo>
                  <a:pt x="2871" y="95188"/>
                </a:lnTo>
                <a:lnTo>
                  <a:pt x="5075" y="95815"/>
                </a:lnTo>
                <a:lnTo>
                  <a:pt x="7872" y="96416"/>
                </a:lnTo>
                <a:lnTo>
                  <a:pt x="11235" y="96987"/>
                </a:lnTo>
                <a:lnTo>
                  <a:pt x="15133" y="97521"/>
                </a:lnTo>
                <a:lnTo>
                  <a:pt x="19526" y="98014"/>
                </a:lnTo>
                <a:lnTo>
                  <a:pt x="24374" y="98461"/>
                </a:lnTo>
                <a:lnTo>
                  <a:pt x="29629" y="98857"/>
                </a:lnTo>
                <a:lnTo>
                  <a:pt x="35240" y="99199"/>
                </a:lnTo>
                <a:lnTo>
                  <a:pt x="41154" y="99484"/>
                </a:lnTo>
                <a:lnTo>
                  <a:pt x="47314" y="99708"/>
                </a:lnTo>
                <a:lnTo>
                  <a:pt x="53661" y="99870"/>
                </a:lnTo>
                <a:lnTo>
                  <a:pt x="60132" y="99967"/>
                </a:lnTo>
                <a:lnTo>
                  <a:pt x="66667" y="100000"/>
                </a:lnTo>
                <a:lnTo>
                  <a:pt x="100000" y="100000"/>
                </a:lnTo>
                <a:lnTo>
                  <a:pt x="100000" y="93220"/>
                </a:lnTo>
                <a:lnTo>
                  <a:pt x="100000" y="6780"/>
                </a:lnTo>
                <a:lnTo>
                  <a:pt x="100000" y="6780"/>
                </a:lnTo>
                <a:lnTo>
                  <a:pt x="66667" y="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82900292817-14"/>
          <p:cNvSpPr/>
          <p:nvPr/>
        </p:nvSpPr>
        <p:spPr>
          <a:xfrm>
            <a:off x="342900" y="2523173"/>
            <a:ext cx="2743200" cy="234315"/>
          </a:xfrm>
          <a:prstGeom prst="roundRect">
            <a:avLst>
              <a:gd name="adj" fmla="val 32520"/>
            </a:avLst>
          </a:prstGeom>
          <a:solidFill>
            <a:srgbClr val="2D4059"/>
          </a:solidFill>
          <a:ln>
            <a:noFill/>
          </a:ln>
          <a:effectLst>
            <a:outerShdw blurRad="42863" dist="14288" dir="5400000" sx="100000" sy="100000" kx="0" ky="0" algn="ctr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el-1782900292820-16"/>
          <p:cNvSpPr/>
          <p:nvPr/>
        </p:nvSpPr>
        <p:spPr>
          <a:xfrm>
            <a:off x="3200400" y="2523173"/>
            <a:ext cx="2743200" cy="234315"/>
          </a:xfrm>
          <a:prstGeom prst="roundRect">
            <a:avLst>
              <a:gd name="adj" fmla="val 32520"/>
            </a:avLst>
          </a:prstGeom>
          <a:solidFill>
            <a:srgbClr val="2D4059"/>
          </a:solidFill>
          <a:ln>
            <a:noFill/>
          </a:ln>
          <a:effectLst>
            <a:outerShdw blurRad="42863" dist="14288" dir="5400000" sx="100000" sy="100000" kx="0" ky="0" algn="ctr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el-1782900292823-18"/>
          <p:cNvSpPr/>
          <p:nvPr/>
        </p:nvSpPr>
        <p:spPr>
          <a:xfrm>
            <a:off x="6057900" y="2523173"/>
            <a:ext cx="2743200" cy="234315"/>
          </a:xfrm>
          <a:prstGeom prst="roundRect">
            <a:avLst>
              <a:gd name="adj" fmla="val 32520"/>
            </a:avLst>
          </a:prstGeom>
          <a:solidFill>
            <a:srgbClr val="2D4059"/>
          </a:solidFill>
          <a:ln>
            <a:noFill/>
          </a:ln>
          <a:effectLst>
            <a:outerShdw blurRad="42863" dist="14288" dir="5400000" sx="100000" sy="100000" kx="0" ky="0" algn="ctr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el-1782900292792-2"/>
          <p:cNvSpPr/>
          <p:nvPr/>
        </p:nvSpPr>
        <p:spPr>
          <a:xfrm>
            <a:off x="0" y="2757488"/>
            <a:ext cx="9144000" cy="3143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6" name="el-1782900292794-4"/>
          <p:cNvCxnSpPr/>
          <p:nvPr/>
        </p:nvCxnSpPr>
        <p:spPr>
          <a:xfrm>
            <a:off x="0" y="2761059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00292798-6"/>
          <p:cNvSpPr txBox="1"/>
          <p:nvPr/>
        </p:nvSpPr>
        <p:spPr>
          <a:xfrm>
            <a:off x="342900" y="139303"/>
            <a:ext cx="47613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 spc="17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17</a:t>
            </a:r>
            <a:r>
              <a:rPr b="1" sz="60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b="1" sz="84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 / 17</a:t>
            </a:r>
            <a:endParaRPr/>
          </a:p>
        </p:txBody>
      </p:sp>
      <p:sp>
        <p:nvSpPr>
          <p:cNvPr id="18" name="el-1782900292799-7"/>
          <p:cNvSpPr txBox="1"/>
          <p:nvPr/>
        </p:nvSpPr>
        <p:spPr>
          <a:xfrm>
            <a:off x="1029772" y="125016"/>
            <a:ext cx="7072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1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/>
          </a:p>
        </p:txBody>
      </p:sp>
      <p:sp>
        <p:nvSpPr>
          <p:cNvPr id="19" name="el-1782900292838-33"/>
          <p:cNvSpPr txBox="1"/>
          <p:nvPr/>
        </p:nvSpPr>
        <p:spPr>
          <a:xfrm>
            <a:off x="450056" y="578644"/>
            <a:ext cx="4025503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✓ 我们做了什么</a:t>
            </a:r>
            <a:endParaRPr/>
          </a:p>
        </p:txBody>
      </p:sp>
      <p:sp>
        <p:nvSpPr>
          <p:cNvPr id="20" name="el-1782900292854-43"/>
          <p:cNvSpPr txBox="1"/>
          <p:nvPr/>
        </p:nvSpPr>
        <p:spPr>
          <a:xfrm>
            <a:off x="450056" y="830104"/>
            <a:ext cx="17395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2B7A2B"/>
                </a:solidFill>
                <a:latin typeface="Microsoft YaHei"/>
                <a:ea typeface="Microsoft YaHei"/>
                <a:cs typeface="Microsoft YaHei"/>
              </a:rPr>
              <a:t>✅</a:t>
            </a:r>
            <a:endParaRPr/>
          </a:p>
        </p:txBody>
      </p:sp>
      <p:sp>
        <p:nvSpPr>
          <p:cNvPr id="21" name="el-1782900292849-37"/>
          <p:cNvSpPr txBox="1"/>
          <p:nvPr/>
        </p:nvSpPr>
        <p:spPr>
          <a:xfrm>
            <a:off x="613291" y="830104"/>
            <a:ext cx="192800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eBPF + Perfetto 双通道采集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，覆盖五大场景</a:t>
            </a:r>
            <a:endParaRPr/>
          </a:p>
        </p:txBody>
      </p:sp>
      <p:sp>
        <p:nvSpPr>
          <p:cNvPr id="22" name="el-1782900292855-44"/>
          <p:cNvSpPr txBox="1"/>
          <p:nvPr/>
        </p:nvSpPr>
        <p:spPr>
          <a:xfrm>
            <a:off x="450056" y="997982"/>
            <a:ext cx="17395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2B7A2B"/>
                </a:solidFill>
                <a:latin typeface="Microsoft YaHei"/>
                <a:ea typeface="Microsoft YaHei"/>
                <a:cs typeface="Microsoft YaHei"/>
              </a:rPr>
              <a:t>✅</a:t>
            </a:r>
            <a:endParaRPr/>
          </a:p>
        </p:txBody>
      </p:sp>
      <p:sp>
        <p:nvSpPr>
          <p:cNvPr id="23" name="el-1782900292850-38"/>
          <p:cNvSpPr txBox="1"/>
          <p:nvPr/>
        </p:nvSpPr>
        <p:spPr>
          <a:xfrm>
            <a:off x="613291" y="997982"/>
            <a:ext cx="247638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帧对齐 + 依赖图构建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：最高60K节点图，两条独立验证路径</a:t>
            </a:r>
            <a:endParaRPr/>
          </a:p>
        </p:txBody>
      </p:sp>
      <p:sp>
        <p:nvSpPr>
          <p:cNvPr id="24" name="el-1782900292856-45"/>
          <p:cNvSpPr txBox="1"/>
          <p:nvPr/>
        </p:nvSpPr>
        <p:spPr>
          <a:xfrm>
            <a:off x="450056" y="1165860"/>
            <a:ext cx="17395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2B7A2B"/>
                </a:solidFill>
                <a:latin typeface="Microsoft YaHei"/>
                <a:ea typeface="Microsoft YaHei"/>
                <a:cs typeface="Microsoft YaHei"/>
              </a:rPr>
              <a:t>✅</a:t>
            </a:r>
            <a:endParaRPr/>
          </a:p>
        </p:txBody>
      </p:sp>
      <p:sp>
        <p:nvSpPr>
          <p:cNvPr id="25" name="el-1782900292851-39"/>
          <p:cNvSpPr txBox="1"/>
          <p:nvPr/>
        </p:nvSpPr>
        <p:spPr>
          <a:xfrm>
            <a:off x="613291" y="1165860"/>
            <a:ext cx="2096066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6维特征 + 决策树分类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：端到端Jank根因自动分类</a:t>
            </a:r>
            <a:endParaRPr/>
          </a:p>
        </p:txBody>
      </p:sp>
      <p:sp>
        <p:nvSpPr>
          <p:cNvPr id="26" name="el-1782900292857-46"/>
          <p:cNvSpPr txBox="1"/>
          <p:nvPr/>
        </p:nvSpPr>
        <p:spPr>
          <a:xfrm>
            <a:off x="450056" y="1333738"/>
            <a:ext cx="17395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2B7A2B"/>
                </a:solidFill>
                <a:latin typeface="Microsoft YaHei"/>
                <a:ea typeface="Microsoft YaHei"/>
                <a:cs typeface="Microsoft YaHei"/>
              </a:rPr>
              <a:t>✅</a:t>
            </a:r>
            <a:endParaRPr/>
          </a:p>
        </p:txBody>
      </p:sp>
      <p:sp>
        <p:nvSpPr>
          <p:cNvPr id="27" name="el-1782900292852-40"/>
          <p:cNvSpPr txBox="1"/>
          <p:nvPr/>
        </p:nvSpPr>
        <p:spPr>
          <a:xfrm>
            <a:off x="613291" y="1333738"/>
            <a:ext cx="2579608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Hint Engine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：五层安全防护（TTL/自旋/黑名单/阈值/审计）</a:t>
            </a:r>
            <a:endParaRPr/>
          </a:p>
        </p:txBody>
      </p:sp>
      <p:sp>
        <p:nvSpPr>
          <p:cNvPr id="28" name="el-1782900292858-47"/>
          <p:cNvSpPr txBox="1"/>
          <p:nvPr/>
        </p:nvSpPr>
        <p:spPr>
          <a:xfrm>
            <a:off x="450056" y="1501616"/>
            <a:ext cx="17395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2B7A2B"/>
                </a:solidFill>
                <a:latin typeface="Microsoft YaHei"/>
                <a:ea typeface="Microsoft YaHei"/>
                <a:cs typeface="Microsoft YaHei"/>
              </a:rPr>
              <a:t>✅</a:t>
            </a:r>
            <a:endParaRPr/>
          </a:p>
        </p:txBody>
      </p:sp>
      <p:sp>
        <p:nvSpPr>
          <p:cNvPr id="29" name="el-1782900292853-41"/>
          <p:cNvSpPr txBox="1"/>
          <p:nvPr/>
        </p:nvSpPr>
        <p:spPr>
          <a:xfrm>
            <a:off x="613291" y="1501616"/>
            <a:ext cx="2444413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Camera全自动Pipeline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：30s采集→9步分析→750行报告</a:t>
            </a:r>
            <a:endParaRPr/>
          </a:p>
        </p:txBody>
      </p:sp>
      <p:sp>
        <p:nvSpPr>
          <p:cNvPr id="30" name="el-1782900292858-48"/>
          <p:cNvSpPr txBox="1"/>
          <p:nvPr/>
        </p:nvSpPr>
        <p:spPr>
          <a:xfrm>
            <a:off x="450056" y="1669494"/>
            <a:ext cx="173950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2B7A2B"/>
                </a:solidFill>
                <a:latin typeface="Microsoft YaHei"/>
                <a:ea typeface="Microsoft YaHei"/>
                <a:cs typeface="Microsoft YaHei"/>
              </a:rPr>
              <a:t>✅</a:t>
            </a:r>
            <a:endParaRPr/>
          </a:p>
        </p:txBody>
      </p:sp>
      <p:sp>
        <p:nvSpPr>
          <p:cNvPr id="31" name="el-1782900292854-42"/>
          <p:cNvSpPr txBox="1"/>
          <p:nvPr/>
        </p:nvSpPr>
        <p:spPr>
          <a:xfrm>
            <a:off x="613291" y="1669494"/>
            <a:ext cx="214267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10个测试脚本</a:t>
            </a:r>
            <a:r>
              <a:rPr sz="73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：覆盖eBPF探针→决策树全链路校验</a:t>
            </a:r>
            <a:endParaRPr/>
          </a:p>
        </p:txBody>
      </p:sp>
      <p:sp>
        <p:nvSpPr>
          <p:cNvPr id="32" name="el-1782900292838-34"/>
          <p:cNvSpPr txBox="1"/>
          <p:nvPr/>
        </p:nvSpPr>
        <p:spPr>
          <a:xfrm>
            <a:off x="4729163" y="578644"/>
            <a:ext cx="402550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950" spc="11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我们发现了什么</a:t>
            </a:r>
            <a:endParaRPr/>
          </a:p>
        </p:txBody>
      </p:sp>
      <p:sp>
        <p:nvSpPr>
          <p:cNvPr id="33" name="el-1782900292823-19"/>
          <p:cNvSpPr txBox="1"/>
          <p:nvPr/>
        </p:nvSpPr>
        <p:spPr>
          <a:xfrm>
            <a:off x="500063" y="2087404"/>
            <a:ext cx="824031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840" spc="17">
                <a:solidFill>
                  <a:srgbClr val="2D4059"/>
                </a:solidFill>
                <a:latin typeface="Microsoft YaHei"/>
                <a:ea typeface="Microsoft YaHei"/>
                <a:cs typeface="Microsoft YaHei"/>
              </a:rPr>
              <a:t>核心贡献</a:t>
            </a:r>
            <a:endParaRPr/>
          </a:p>
        </p:txBody>
      </p:sp>
      <p:sp>
        <p:nvSpPr>
          <p:cNvPr id="34" name="el-1782900292811-12"/>
          <p:cNvSpPr txBox="1"/>
          <p:nvPr/>
        </p:nvSpPr>
        <p:spPr>
          <a:xfrm>
            <a:off x="500063" y="2244566"/>
            <a:ext cx="82367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证明了 </a:t>
            </a:r>
            <a:r>
              <a:rPr b="1"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Frame-Centric</a:t>
            </a:r>
            <a:r>
              <a:rPr sz="780">
                <a:solidFill>
                  <a:srgbClr val="1A1A2E"/>
                </a:solidFill>
                <a:latin typeface="Microsoft YaHei"/>
                <a:ea typeface="Microsoft YaHei"/>
                <a:cs typeface="Microsoft YaHei"/>
              </a:rPr>
              <a:t>（帧对齐+依赖感知）比传统PID-Centric更有效地定位Android交互卡顿根因</a:t>
            </a:r>
            <a:endParaRPr/>
          </a:p>
        </p:txBody>
      </p:sp>
      <p:sp>
        <p:nvSpPr>
          <p:cNvPr id="35" name="el-1782900292812-13"/>
          <p:cNvSpPr txBox="1"/>
          <p:nvPr/>
        </p:nvSpPr>
        <p:spPr>
          <a:xfrm>
            <a:off x="285750" y="2566035"/>
            <a:ext cx="2857500" cy="14859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sx="100000" sy="100000" kx="0" ky="0" algn="ctr">
              <a:srgbClr val="000000">
                <a:alpha val="6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900" spc="28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sched_ext</a:t>
            </a:r>
            <a:endParaRPr/>
          </a:p>
        </p:txBody>
      </p:sp>
      <p:sp>
        <p:nvSpPr>
          <p:cNvPr id="36" name="el-1782900292817-15"/>
          <p:cNvSpPr txBox="1"/>
          <p:nvPr/>
        </p:nvSpPr>
        <p:spPr>
          <a:xfrm>
            <a:off x="3143250" y="2566035"/>
            <a:ext cx="2857500" cy="14859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sx="100000" sy="100000" kx="0" ky="0" algn="ctr">
              <a:srgbClr val="000000">
                <a:alpha val="6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900" spc="28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Learned Policy</a:t>
            </a:r>
            <a:endParaRPr/>
          </a:p>
        </p:txBody>
      </p:sp>
      <p:sp>
        <p:nvSpPr>
          <p:cNvPr id="37" name="el-1782900292820-17"/>
          <p:cNvSpPr txBox="1"/>
          <p:nvPr/>
        </p:nvSpPr>
        <p:spPr>
          <a:xfrm>
            <a:off x="6000750" y="2566035"/>
            <a:ext cx="2857500" cy="148590"/>
          </a:xfrm>
          <a:prstGeom prst="rect">
            <a:avLst/>
          </a:prstGeom>
          <a:noFill/>
          <a:ln>
            <a:noFill/>
          </a:ln>
          <a:effectLst>
            <a:outerShdw blurRad="42863" dist="14288" dir="5400000" sx="100000" sy="100000" kx="0" ky="0" algn="ctr">
              <a:srgbClr val="000000">
                <a:alpha val="6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b="1" sz="900" spc="28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场景扩展</a:t>
            </a:r>
            <a:endParaRPr/>
          </a:p>
        </p:txBody>
      </p:sp>
      <p:sp>
        <p:nvSpPr>
          <p:cNvPr id="38" name="el-1782900292799-8"/>
          <p:cNvSpPr txBox="1"/>
          <p:nvPr/>
        </p:nvSpPr>
        <p:spPr>
          <a:xfrm>
            <a:off x="342900" y="2849642"/>
            <a:ext cx="190434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· Frame-Centric 调度辅助系统</a:t>
            </a:r>
            <a:endParaRPr/>
          </a:p>
        </p:txBody>
      </p:sp>
      <p:sp>
        <p:nvSpPr>
          <p:cNvPr id="39" name="el-1782900292800-9"/>
          <p:cNvSpPr txBox="1"/>
          <p:nvPr/>
        </p:nvSpPr>
        <p:spPr>
          <a:xfrm>
            <a:off x="7832497" y="2849642"/>
            <a:ext cx="101861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5A7A"/>
                </a:solidFill>
                <a:latin typeface="Microsoft YaHei"/>
                <a:ea typeface="Microsoft YaHei"/>
                <a:cs typeface="Microsoft YaHei"/>
              </a:rPr>
              <a:t>TracePilot | 2026.06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html-to-pptx-demo</Application>
  <Slides>17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1" baseType="lpstr">
      <vt:lpstr>默认</vt:lpstr>
    </vt:vector>
  </TitlesOfParts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html-to-pptx-demo</cp:lastModifiedBy>
  <dcterms:created xsi:type="dcterms:W3CDTF">2026-07-01T10:04:53.801Z</dcterms:created>
  <dcterms:modified xsi:type="dcterms:W3CDTF">2026-07-01T10:04:53.801Z</dcterms:modified>
</cp:coreProperties>
</file>