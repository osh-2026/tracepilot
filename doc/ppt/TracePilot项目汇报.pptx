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
  <Relationship Id="rId18" Type="http://schemas.openxmlformats.org/officeDocument/2006/relationships/presProps" Target="presProps.xml"/>
  <Relationship Id="rId19" Type="http://schemas.openxmlformats.org/officeDocument/2006/relationships/viewProps" Target="viewProps.xml"/>
  <Relationship Id="rId20" Type="http://schemas.openxmlformats.org/officeDocument/2006/relationships/tableStyles" Target="tableStyles.xml"/>
  <Relationship Id="rId21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l-1782652371688-16"/>
          <p:cNvPicPr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3" name="el-1782652368254-3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gradFill rotWithShape="1">
            <a:gsLst>
              <a:gs pos="0">
                <a:srgbClr val="0B0D1A">
                  <a:alpha val="92000"/>
                </a:srgbClr>
              </a:gs>
              <a:gs pos="50000">
                <a:srgbClr val="0B0D1A">
                  <a:alpha val="60000"/>
                </a:srgbClr>
              </a:gs>
              <a:gs pos="100000">
                <a:srgbClr val="0B0D1A">
                  <a:alpha val="88000"/>
                </a:srgbClr>
              </a:gs>
            </a:gsLst>
            <a:lin ang="33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el-1782652368258-4"/>
          <p:cNvSpPr/>
          <p:nvPr/>
        </p:nvSpPr>
        <p:spPr>
          <a:xfrm>
            <a:off x="6429375" y="0"/>
            <a:ext cx="2714625" cy="2857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90800"/>
                </a:moveTo>
                <a:lnTo>
                  <a:pt x="96804" y="92620"/>
                </a:lnTo>
                <a:lnTo>
                  <a:pt x="90965" y="95243"/>
                </a:lnTo>
                <a:lnTo>
                  <a:pt x="84888" y="97310"/>
                </a:lnTo>
                <a:lnTo>
                  <a:pt x="78625" y="98800"/>
                </a:lnTo>
                <a:lnTo>
                  <a:pt x="72239" y="99700"/>
                </a:lnTo>
                <a:lnTo>
                  <a:pt x="65789" y="100000"/>
                </a:lnTo>
                <a:lnTo>
                  <a:pt x="59340" y="99700"/>
                </a:lnTo>
                <a:lnTo>
                  <a:pt x="52954" y="98800"/>
                </a:lnTo>
                <a:lnTo>
                  <a:pt x="46691" y="97310"/>
                </a:lnTo>
                <a:lnTo>
                  <a:pt x="40614" y="95243"/>
                </a:lnTo>
                <a:lnTo>
                  <a:pt x="34775" y="92620"/>
                </a:lnTo>
                <a:lnTo>
                  <a:pt x="29239" y="89467"/>
                </a:lnTo>
                <a:lnTo>
                  <a:pt x="24053" y="85813"/>
                </a:lnTo>
                <a:lnTo>
                  <a:pt x="19270" y="81693"/>
                </a:lnTo>
                <a:lnTo>
                  <a:pt x="14933" y="77150"/>
                </a:lnTo>
                <a:lnTo>
                  <a:pt x="11088" y="72223"/>
                </a:lnTo>
                <a:lnTo>
                  <a:pt x="7768" y="66963"/>
                </a:lnTo>
                <a:lnTo>
                  <a:pt x="5007" y="61417"/>
                </a:lnTo>
                <a:lnTo>
                  <a:pt x="2832" y="55643"/>
                </a:lnTo>
                <a:lnTo>
                  <a:pt x="1263" y="49693"/>
                </a:lnTo>
                <a:lnTo>
                  <a:pt x="316" y="43627"/>
                </a:lnTo>
                <a:lnTo>
                  <a:pt x="0" y="37500"/>
                </a:lnTo>
                <a:lnTo>
                  <a:pt x="316" y="31373"/>
                </a:lnTo>
                <a:lnTo>
                  <a:pt x="1263" y="25307"/>
                </a:lnTo>
                <a:lnTo>
                  <a:pt x="2832" y="19357"/>
                </a:lnTo>
                <a:lnTo>
                  <a:pt x="5007" y="13583"/>
                </a:lnTo>
                <a:lnTo>
                  <a:pt x="7768" y="8037"/>
                </a:lnTo>
                <a:lnTo>
                  <a:pt x="11088" y="2777"/>
                </a:lnTo>
                <a:lnTo>
                  <a:pt x="13256" y="0"/>
                </a:lnTo>
                <a:lnTo>
                  <a:pt x="100000" y="0"/>
                </a:lnTo>
                <a:close/>
              </a:path>
            </a:pathLst>
          </a:custGeom>
          <a:gradFill rotWithShape="1">
            <a:gsLst>
              <a:gs pos="0">
                <a:srgbClr val="D4A017">
                  <a:alpha val="8000"/>
                </a:srgbClr>
              </a:gs>
              <a:gs pos="70000">
                <a:srgbClr val="D4A017">
                  <a:alpha val="0"/>
                </a:srgbClr>
              </a:gs>
            </a:gsLst>
            <a:path path="circle">
              <a:fillToRect l="30000" t="40000" r="70000" b="6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l-1782652368261-5"/>
          <p:cNvSpPr/>
          <p:nvPr/>
        </p:nvSpPr>
        <p:spPr>
          <a:xfrm>
            <a:off x="0" y="28575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62500"/>
                </a:moveTo>
                <a:lnTo>
                  <a:pt x="99700" y="68625"/>
                </a:lnTo>
                <a:lnTo>
                  <a:pt x="98800" y="74692"/>
                </a:lnTo>
                <a:lnTo>
                  <a:pt x="97308" y="80642"/>
                </a:lnTo>
                <a:lnTo>
                  <a:pt x="95242" y="86417"/>
                </a:lnTo>
                <a:lnTo>
                  <a:pt x="92621" y="91963"/>
                </a:lnTo>
                <a:lnTo>
                  <a:pt x="89467" y="97225"/>
                </a:lnTo>
                <a:lnTo>
                  <a:pt x="87408" y="100000"/>
                </a:lnTo>
                <a:lnTo>
                  <a:pt x="0" y="100000"/>
                </a:lnTo>
                <a:lnTo>
                  <a:pt x="0" y="12592"/>
                </a:lnTo>
                <a:lnTo>
                  <a:pt x="2775" y="10533"/>
                </a:lnTo>
                <a:lnTo>
                  <a:pt x="8038" y="7379"/>
                </a:lnTo>
                <a:lnTo>
                  <a:pt x="13583" y="4758"/>
                </a:lnTo>
                <a:lnTo>
                  <a:pt x="19358" y="2692"/>
                </a:lnTo>
                <a:lnTo>
                  <a:pt x="25308" y="1200"/>
                </a:lnTo>
                <a:lnTo>
                  <a:pt x="31375" y="300"/>
                </a:lnTo>
                <a:lnTo>
                  <a:pt x="37500" y="0"/>
                </a:lnTo>
                <a:lnTo>
                  <a:pt x="43625" y="300"/>
                </a:lnTo>
                <a:lnTo>
                  <a:pt x="49692" y="1200"/>
                </a:lnTo>
                <a:lnTo>
                  <a:pt x="55642" y="2692"/>
                </a:lnTo>
                <a:lnTo>
                  <a:pt x="61417" y="4758"/>
                </a:lnTo>
                <a:lnTo>
                  <a:pt x="66963" y="7379"/>
                </a:lnTo>
                <a:lnTo>
                  <a:pt x="72225" y="10533"/>
                </a:lnTo>
                <a:lnTo>
                  <a:pt x="77150" y="14188"/>
                </a:lnTo>
                <a:lnTo>
                  <a:pt x="81696" y="18304"/>
                </a:lnTo>
                <a:lnTo>
                  <a:pt x="85813" y="22850"/>
                </a:lnTo>
                <a:lnTo>
                  <a:pt x="89467" y="27775"/>
                </a:lnTo>
                <a:lnTo>
                  <a:pt x="92621" y="33038"/>
                </a:lnTo>
                <a:lnTo>
                  <a:pt x="95242" y="38583"/>
                </a:lnTo>
                <a:lnTo>
                  <a:pt x="97308" y="44358"/>
                </a:lnTo>
                <a:lnTo>
                  <a:pt x="98800" y="50308"/>
                </a:lnTo>
                <a:lnTo>
                  <a:pt x="99700" y="56375"/>
                </a:lnTo>
                <a:close/>
              </a:path>
            </a:pathLst>
          </a:custGeom>
          <a:gradFill rotWithShape="1">
            <a:gsLst>
              <a:gs pos="0">
                <a:srgbClr val="D4A017">
                  <a:alpha val="5000"/>
                </a:srgbClr>
              </a:gs>
              <a:gs pos="70000">
                <a:srgbClr val="D4A017">
                  <a:alpha val="0"/>
                </a:srgbClr>
              </a:gs>
            </a:gsLst>
            <a:path path="circle">
              <a:fillToRect l="70000" t="60000" r="30000" b="4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el-1782652369542-15"/>
          <p:cNvSpPr/>
          <p:nvPr/>
        </p:nvSpPr>
        <p:spPr>
          <a:xfrm>
            <a:off x="4286250" y="3003947"/>
            <a:ext cx="571500" cy="21431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82652369535-10"/>
          <p:cNvSpPr/>
          <p:nvPr/>
        </p:nvSpPr>
        <p:spPr>
          <a:xfrm>
            <a:off x="2290465" y="3225403"/>
            <a:ext cx="4562981" cy="5543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8" name="el-1782652369538-13"/>
          <p:cNvCxnSpPr/>
          <p:nvPr/>
        </p:nvCxnSpPr>
        <p:spPr>
          <a:xfrm>
            <a:off x="6842730" y="3225403"/>
            <a:ext cx="914" cy="554355"/>
          </a:xfrm>
          <a:prstGeom prst="line">
            <a:avLst/>
          </a:prstGeom>
          <a:ln w="21431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el-1782652369538-14"/>
          <p:cNvCxnSpPr/>
          <p:nvPr/>
        </p:nvCxnSpPr>
        <p:spPr>
          <a:xfrm>
            <a:off x="2301180" y="3225403"/>
            <a:ext cx="914" cy="554355"/>
          </a:xfrm>
          <a:prstGeom prst="line">
            <a:avLst/>
          </a:prstGeom>
          <a:ln w="21431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-1782652369530-6"/>
          <p:cNvSpPr txBox="1"/>
          <p:nvPr/>
        </p:nvSpPr>
        <p:spPr>
          <a:xfrm>
            <a:off x="2994392" y="1363742"/>
            <a:ext cx="3155127" cy="502920"/>
          </a:xfrm>
          <a:prstGeom prst="rect">
            <a:avLst/>
          </a:prstGeom>
          <a:noFill/>
          <a:ln>
            <a:noFill/>
          </a:ln>
          <a:effectLst>
            <a:outerShdw blurRad="142875" dist="14288" dir="5400000" sx="100000" sy="100000" kx="0" ky="0" algn="ctr">
              <a:srgbClr val="D4A017">
                <a:alpha val="25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3600" spc="338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Trace</a:t>
            </a:r>
            <a:r>
              <a:rPr b="1" sz="3600" spc="338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Pilot</a:t>
            </a:r>
            <a:endParaRPr/>
          </a:p>
        </p:txBody>
      </p:sp>
      <p:sp>
        <p:nvSpPr>
          <p:cNvPr id="11" name="el-1782652369532-7"/>
          <p:cNvSpPr txBox="1"/>
          <p:nvPr/>
        </p:nvSpPr>
        <p:spPr>
          <a:xfrm>
            <a:off x="2346186" y="2009537"/>
            <a:ext cx="4451539" cy="2800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570" spc="113">
                <a:solidFill>
                  <a:srgbClr val="EDEDF0"/>
                </a:solidFill>
                <a:latin typeface="Microsoft YaHei"/>
                <a:ea typeface="Microsoft YaHei"/>
                <a:cs typeface="Microsoft YaHei"/>
              </a:rPr>
              <a:t>Frame-Centric 的 Android 调度辅助系统</a:t>
            </a:r>
            <a:endParaRPr/>
          </a:p>
        </p:txBody>
      </p:sp>
      <p:sp>
        <p:nvSpPr>
          <p:cNvPr id="12" name="el-1782652369533-8"/>
          <p:cNvSpPr txBox="1"/>
          <p:nvPr/>
        </p:nvSpPr>
        <p:spPr>
          <a:xfrm>
            <a:off x="1785938" y="2389584"/>
            <a:ext cx="5572125" cy="4286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ts val="1680"/>
              </a:lnSpc>
            </a:pPr>
            <a:r>
              <a:rPr sz="1120" spc="56">
                <a:solidFill>
                  <a:srgbClr val="FFFFFF">
                    <a:alpha val="65000"/>
                  </a:srgbClr>
                </a:solidFill>
                <a:latin typeface="Microsoft YaHei"/>
                <a:ea typeface="Microsoft YaHei"/>
                <a:cs typeface="Microsoft YaHei"/>
              </a:rPr>
              <a:t>Frame-aligned, dependency-aware scheduling assistant for Android interaction workloads</a:t>
            </a:r>
            <a:endParaRPr/>
          </a:p>
        </p:txBody>
      </p:sp>
      <p:sp>
        <p:nvSpPr>
          <p:cNvPr id="13" name="el-1782652369533-9"/>
          <p:cNvSpPr txBox="1"/>
          <p:nvPr/>
        </p:nvSpPr>
        <p:spPr>
          <a:xfrm>
            <a:off x="2499062" y="3296841"/>
            <a:ext cx="4145786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ts val="1616"/>
              </a:lnSpc>
            </a:pPr>
            <a:r>
              <a:rPr sz="1010" spc="17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  <a:cs typeface="Microsoft YaHei"/>
              </a:rPr>
              <a:t>在 Pixel 6a 上，通过 eBPF 采集内核调度事件，Perfetto 标定帧边界，</a:t>
            </a:r>
            <a:endParaRPr/>
          </a:p>
          <a:p>
            <a:pPr algn="ctr">
              <a:lnSpc>
                <a:spcPts val="1616"/>
              </a:lnSpc>
            </a:pPr>
            <a:r>
              <a:rPr sz="1010" spc="17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  <a:cs typeface="Microsoft YaHei"/>
              </a:rPr>
              <a:t>构建帧级依赖路径图，识别卡顿根因并输出调度建议</a:t>
            </a:r>
            <a:endParaRPr/>
          </a:p>
        </p:txBody>
      </p:sp>
      <p:cxnSp>
        <p:nvCxnSpPr>
          <p:cNvPr id="14" name="el-1782652368167-1"/>
          <p:cNvCxnSpPr/>
          <p:nvPr/>
        </p:nvCxnSpPr>
        <p:spPr>
          <a:xfrm>
            <a:off x="0" y="5139928"/>
            <a:ext cx="9144000" cy="914"/>
          </a:xfrm>
          <a:prstGeom prst="line">
            <a:avLst/>
          </a:prstGeom>
          <a:ln w="9525" cap="flat">
            <a:solidFill>
              <a:srgbClr val="D4A017">
                <a:alpha val="15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l-1782652369535-11"/>
          <p:cNvSpPr txBox="1"/>
          <p:nvPr/>
        </p:nvSpPr>
        <p:spPr>
          <a:xfrm>
            <a:off x="5824567" y="4583430"/>
            <a:ext cx="2919383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sz="900" spc="28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  <a:cs typeface="Microsoft YaHei"/>
              </a:rPr>
              <a:t>TracePilot 团队 · 潘智勇 李松茂 邵晨轩 贺小轩 杨子皓</a:t>
            </a:r>
            <a:endParaRPr/>
          </a:p>
        </p:txBody>
      </p:sp>
      <p:sp>
        <p:nvSpPr>
          <p:cNvPr id="16" name="el-1782652369536-12"/>
          <p:cNvSpPr txBox="1"/>
          <p:nvPr/>
        </p:nvSpPr>
        <p:spPr>
          <a:xfrm>
            <a:off x="7950101" y="4772025"/>
            <a:ext cx="793849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sz="900" spc="56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2026 年 6 月</a:t>
            </a:r>
            <a:endParaRPr/>
          </a:p>
        </p:txBody>
      </p:sp>
      <p:sp>
        <p:nvSpPr>
          <p:cNvPr id="17" name="el-1782652368169-2"/>
          <p:cNvSpPr txBox="1"/>
          <p:nvPr/>
        </p:nvSpPr>
        <p:spPr>
          <a:xfrm>
            <a:off x="400050" y="4806315"/>
            <a:ext cx="1578501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 spc="225">
                <a:solidFill>
                  <a:srgbClr val="D4A017">
                    <a:alpha val="25000"/>
                  </a:srgbClr>
                </a:solidFill>
                <a:latin typeface="Microsoft YaHei"/>
                <a:ea typeface="Microsoft YaHei"/>
                <a:cs typeface="Microsoft YaHei"/>
              </a:rPr>
              <a:t>TRACEPILOT · 帧级调度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67114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67118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67130-8"/>
          <p:cNvSpPr/>
          <p:nvPr/>
        </p:nvSpPr>
        <p:spPr>
          <a:xfrm>
            <a:off x="400050" y="891183"/>
            <a:ext cx="4029075" cy="9286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67139-13"/>
          <p:cNvCxnSpPr/>
          <p:nvPr/>
        </p:nvCxnSpPr>
        <p:spPr>
          <a:xfrm>
            <a:off x="414338" y="891183"/>
            <a:ext cx="914" cy="928688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67131-9"/>
          <p:cNvSpPr/>
          <p:nvPr/>
        </p:nvSpPr>
        <p:spPr>
          <a:xfrm>
            <a:off x="400050" y="1962745"/>
            <a:ext cx="4029075" cy="122515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el-1782652367173-25"/>
          <p:cNvSpPr/>
          <p:nvPr/>
        </p:nvSpPr>
        <p:spPr>
          <a:xfrm>
            <a:off x="550069" y="2312789"/>
            <a:ext cx="740539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82652367176-28"/>
          <p:cNvSpPr/>
          <p:nvPr/>
        </p:nvSpPr>
        <p:spPr>
          <a:xfrm>
            <a:off x="1504920" y="2312789"/>
            <a:ext cx="976461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82652367178-31"/>
          <p:cNvSpPr/>
          <p:nvPr/>
        </p:nvSpPr>
        <p:spPr>
          <a:xfrm>
            <a:off x="2695694" y="2312789"/>
            <a:ext cx="562035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82652367181-34"/>
          <p:cNvSpPr/>
          <p:nvPr/>
        </p:nvSpPr>
        <p:spPr>
          <a:xfrm>
            <a:off x="550069" y="2569964"/>
            <a:ext cx="979230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82652367183-37"/>
          <p:cNvSpPr/>
          <p:nvPr/>
        </p:nvSpPr>
        <p:spPr>
          <a:xfrm>
            <a:off x="1743611" y="2569964"/>
            <a:ext cx="996910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82652367132-10"/>
          <p:cNvSpPr/>
          <p:nvPr/>
        </p:nvSpPr>
        <p:spPr>
          <a:xfrm>
            <a:off x="400050" y="3330773"/>
            <a:ext cx="4029075" cy="109299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el-1782652367184-39"/>
          <p:cNvSpPr/>
          <p:nvPr/>
        </p:nvSpPr>
        <p:spPr>
          <a:xfrm>
            <a:off x="550069" y="3652242"/>
            <a:ext cx="695176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82652367186-42"/>
          <p:cNvSpPr/>
          <p:nvPr/>
        </p:nvSpPr>
        <p:spPr>
          <a:xfrm>
            <a:off x="550069" y="3887986"/>
            <a:ext cx="571500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82652367188-44"/>
          <p:cNvSpPr/>
          <p:nvPr/>
        </p:nvSpPr>
        <p:spPr>
          <a:xfrm>
            <a:off x="550069" y="4123730"/>
            <a:ext cx="660529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82652367134-11"/>
          <p:cNvSpPr/>
          <p:nvPr/>
        </p:nvSpPr>
        <p:spPr>
          <a:xfrm>
            <a:off x="4714875" y="1409105"/>
            <a:ext cx="4029075" cy="1371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7" name="el-1782652367141-14"/>
          <p:cNvCxnSpPr/>
          <p:nvPr/>
        </p:nvCxnSpPr>
        <p:spPr>
          <a:xfrm>
            <a:off x="4729163" y="1409105"/>
            <a:ext cx="914" cy="1371600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el-1782652367135-12"/>
          <p:cNvSpPr/>
          <p:nvPr/>
        </p:nvSpPr>
        <p:spPr>
          <a:xfrm>
            <a:off x="4714875" y="2923580"/>
            <a:ext cx="4029075" cy="98226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el-1782652367190-47"/>
          <p:cNvSpPr/>
          <p:nvPr/>
        </p:nvSpPr>
        <p:spPr>
          <a:xfrm>
            <a:off x="4864894" y="3287911"/>
            <a:ext cx="1014859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82652367192-50"/>
          <p:cNvSpPr/>
          <p:nvPr/>
        </p:nvSpPr>
        <p:spPr>
          <a:xfrm>
            <a:off x="6108353" y="3287911"/>
            <a:ext cx="471666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82652367195-53"/>
          <p:cNvSpPr/>
          <p:nvPr/>
        </p:nvSpPr>
        <p:spPr>
          <a:xfrm>
            <a:off x="6808619" y="3287911"/>
            <a:ext cx="537031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82652367197-56"/>
          <p:cNvSpPr/>
          <p:nvPr/>
        </p:nvSpPr>
        <p:spPr>
          <a:xfrm>
            <a:off x="7574251" y="3287911"/>
            <a:ext cx="846624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3" name="el-1782652367116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-1782652367121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02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25" name="el-1782652367122-5"/>
          <p:cNvSpPr txBox="1"/>
          <p:nvPr/>
        </p:nvSpPr>
        <p:spPr>
          <a:xfrm>
            <a:off x="1140678" y="159306"/>
            <a:ext cx="255737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Android 卡顿：从何而来，如何定位？</a:t>
            </a:r>
            <a:endParaRPr/>
          </a:p>
        </p:txBody>
      </p:sp>
      <p:sp>
        <p:nvSpPr>
          <p:cNvPr id="26" name="el-1782652367152-18"/>
          <p:cNvSpPr txBox="1"/>
          <p:nvPr/>
        </p:nvSpPr>
        <p:spPr>
          <a:xfrm>
            <a:off x="571500" y="1026914"/>
            <a:ext cx="377190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28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核心问题</a:t>
            </a:r>
            <a:endParaRPr/>
          </a:p>
        </p:txBody>
      </p:sp>
      <p:sp>
        <p:nvSpPr>
          <p:cNvPr id="27" name="el-1782652367146-15"/>
          <p:cNvSpPr txBox="1"/>
          <p:nvPr/>
        </p:nvSpPr>
        <p:spPr>
          <a:xfrm>
            <a:off x="571500" y="1255514"/>
            <a:ext cx="3707606" cy="4286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68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Android 交互卡顿（Jank）严重影响用户体验，根因往往是</a:t>
            </a: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跨进程等待链</a:t>
            </a: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/>
          </a:p>
        </p:txBody>
      </p:sp>
      <p:sp>
        <p:nvSpPr>
          <p:cNvPr id="28" name="el-1782652367153-19"/>
          <p:cNvSpPr txBox="1"/>
          <p:nvPr/>
        </p:nvSpPr>
        <p:spPr>
          <a:xfrm>
            <a:off x="550069" y="2084189"/>
            <a:ext cx="379333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跨进程等待链</a:t>
            </a:r>
            <a:endParaRPr/>
          </a:p>
        </p:txBody>
      </p:sp>
      <p:sp>
        <p:nvSpPr>
          <p:cNvPr id="29" name="el-1782652367171-24"/>
          <p:cNvSpPr txBox="1"/>
          <p:nvPr/>
        </p:nvSpPr>
        <p:spPr>
          <a:xfrm>
            <a:off x="650081" y="2355652"/>
            <a:ext cx="694105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UI Thread</a:t>
            </a:r>
            <a:endParaRPr/>
          </a:p>
        </p:txBody>
      </p:sp>
      <p:sp>
        <p:nvSpPr>
          <p:cNvPr id="30" name="el-1782652367173-26"/>
          <p:cNvSpPr txBox="1"/>
          <p:nvPr/>
        </p:nvSpPr>
        <p:spPr>
          <a:xfrm>
            <a:off x="1319183" y="2348508"/>
            <a:ext cx="235744" cy="1571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31" name="el-1782652367173-27"/>
          <p:cNvSpPr txBox="1"/>
          <p:nvPr/>
        </p:nvSpPr>
        <p:spPr>
          <a:xfrm>
            <a:off x="1604933" y="2355652"/>
            <a:ext cx="930027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RenderThread</a:t>
            </a:r>
            <a:endParaRPr/>
          </a:p>
        </p:txBody>
      </p:sp>
      <p:sp>
        <p:nvSpPr>
          <p:cNvPr id="32" name="el-1782652367176-29"/>
          <p:cNvSpPr txBox="1"/>
          <p:nvPr/>
        </p:nvSpPr>
        <p:spPr>
          <a:xfrm>
            <a:off x="2509957" y="2348508"/>
            <a:ext cx="235744" cy="1571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33" name="el-1782652367176-30"/>
          <p:cNvSpPr txBox="1"/>
          <p:nvPr/>
        </p:nvSpPr>
        <p:spPr>
          <a:xfrm>
            <a:off x="2795707" y="2355652"/>
            <a:ext cx="515600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Binder</a:t>
            </a:r>
            <a:endParaRPr/>
          </a:p>
        </p:txBody>
      </p:sp>
      <p:sp>
        <p:nvSpPr>
          <p:cNvPr id="34" name="el-1782652367178-32"/>
          <p:cNvSpPr txBox="1"/>
          <p:nvPr/>
        </p:nvSpPr>
        <p:spPr>
          <a:xfrm>
            <a:off x="3286304" y="2348508"/>
            <a:ext cx="235744" cy="1571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35" name="el-1782652367180-33"/>
          <p:cNvSpPr txBox="1"/>
          <p:nvPr/>
        </p:nvSpPr>
        <p:spPr>
          <a:xfrm>
            <a:off x="650081" y="2612827"/>
            <a:ext cx="932795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system_server</a:t>
            </a:r>
            <a:endParaRPr/>
          </a:p>
        </p:txBody>
      </p:sp>
      <p:sp>
        <p:nvSpPr>
          <p:cNvPr id="36" name="el-1782652367181-35"/>
          <p:cNvSpPr txBox="1"/>
          <p:nvPr/>
        </p:nvSpPr>
        <p:spPr>
          <a:xfrm>
            <a:off x="1557873" y="2605683"/>
            <a:ext cx="235744" cy="1571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37" name="el-1782652367181-36"/>
          <p:cNvSpPr txBox="1"/>
          <p:nvPr/>
        </p:nvSpPr>
        <p:spPr>
          <a:xfrm>
            <a:off x="1843623" y="2612827"/>
            <a:ext cx="95047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SurfaceFlinger</a:t>
            </a:r>
            <a:endParaRPr/>
          </a:p>
        </p:txBody>
      </p:sp>
      <p:sp>
        <p:nvSpPr>
          <p:cNvPr id="38" name="el-1782652367147-16"/>
          <p:cNvSpPr txBox="1"/>
          <p:nvPr/>
        </p:nvSpPr>
        <p:spPr>
          <a:xfrm>
            <a:off x="550069" y="2884289"/>
            <a:ext cx="37897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⛓️ 卡顿根源在此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— 传统单进程分析方法无法有效定位跨进程依赖</a:t>
            </a:r>
            <a:endParaRPr/>
          </a:p>
        </p:txBody>
      </p:sp>
      <p:sp>
        <p:nvSpPr>
          <p:cNvPr id="39" name="el-1782652367155-20"/>
          <p:cNvSpPr txBox="1"/>
          <p:nvPr/>
        </p:nvSpPr>
        <p:spPr>
          <a:xfrm>
            <a:off x="550069" y="3437930"/>
            <a:ext cx="379333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❌ 为什么 PID-Centric 不可行</a:t>
            </a:r>
            <a:endParaRPr/>
          </a:p>
        </p:txBody>
      </p:sp>
      <p:sp>
        <p:nvSpPr>
          <p:cNvPr id="40" name="el-1782652367183-38"/>
          <p:cNvSpPr txBox="1"/>
          <p:nvPr/>
        </p:nvSpPr>
        <p:spPr>
          <a:xfrm>
            <a:off x="607219" y="3652242"/>
            <a:ext cx="69517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PID 不稳定</a:t>
            </a:r>
            <a:endParaRPr/>
          </a:p>
        </p:txBody>
      </p:sp>
      <p:sp>
        <p:nvSpPr>
          <p:cNvPr id="41" name="el-1782652367185-40"/>
          <p:cNvSpPr txBox="1"/>
          <p:nvPr/>
        </p:nvSpPr>
        <p:spPr>
          <a:xfrm>
            <a:off x="1316682" y="3652242"/>
            <a:ext cx="2743111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同一 App 每次启动 PID 不同，还会被系统复用</a:t>
            </a:r>
            <a:endParaRPr/>
          </a:p>
        </p:txBody>
      </p:sp>
      <p:sp>
        <p:nvSpPr>
          <p:cNvPr id="42" name="el-1782652367185-41"/>
          <p:cNvSpPr txBox="1"/>
          <p:nvPr/>
        </p:nvSpPr>
        <p:spPr>
          <a:xfrm>
            <a:off x="607219" y="3887986"/>
            <a:ext cx="57150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全局缺失</a:t>
            </a:r>
            <a:endParaRPr/>
          </a:p>
        </p:txBody>
      </p:sp>
      <p:sp>
        <p:nvSpPr>
          <p:cNvPr id="43" name="el-1782652367170-23"/>
          <p:cNvSpPr txBox="1"/>
          <p:nvPr/>
        </p:nvSpPr>
        <p:spPr>
          <a:xfrm>
            <a:off x="1193006" y="3887986"/>
            <a:ext cx="3105477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卡顿不是单个 PID 的问题：Jank 根因是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跨进程等待链</a:t>
            </a:r>
            <a:endParaRPr/>
          </a:p>
        </p:txBody>
      </p:sp>
      <p:sp>
        <p:nvSpPr>
          <p:cNvPr id="44" name="el-1782652367187-43"/>
          <p:cNvSpPr txBox="1"/>
          <p:nvPr/>
        </p:nvSpPr>
        <p:spPr>
          <a:xfrm>
            <a:off x="607219" y="4123730"/>
            <a:ext cx="66052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eBPF 局限</a:t>
            </a:r>
            <a:endParaRPr/>
          </a:p>
        </p:txBody>
      </p:sp>
      <p:sp>
        <p:nvSpPr>
          <p:cNvPr id="45" name="el-1782652367188-45"/>
          <p:cNvSpPr txBox="1"/>
          <p:nvPr/>
        </p:nvSpPr>
        <p:spPr>
          <a:xfrm>
            <a:off x="1282035" y="4123730"/>
            <a:ext cx="2893219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只能观测内核事件，无法回答“用户在经历什么”</a:t>
            </a:r>
            <a:endParaRPr/>
          </a:p>
        </p:txBody>
      </p:sp>
      <p:sp>
        <p:nvSpPr>
          <p:cNvPr id="46" name="el-1782652367155-21"/>
          <p:cNvSpPr txBox="1"/>
          <p:nvPr/>
        </p:nvSpPr>
        <p:spPr>
          <a:xfrm>
            <a:off x="4886325" y="1544836"/>
            <a:ext cx="377190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对比结论 · PID vs Frame</a:t>
            </a:r>
            <a:endParaRPr/>
          </a:p>
        </p:txBody>
      </p:sp>
      <p:sp>
        <p:nvSpPr>
          <p:cNvPr id="47" name="el-1782652367216-59"/>
          <p:cNvSpPr txBox="1"/>
          <p:nvPr/>
        </p:nvSpPr>
        <p:spPr>
          <a:xfrm>
            <a:off x="4886325" y="1787723"/>
            <a:ext cx="188238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B00020"/>
                </a:solidFill>
                <a:latin typeface="Microsoft YaHei"/>
                <a:ea typeface="Microsoft YaHei"/>
                <a:cs typeface="Microsoft YaHei"/>
              </a:rPr>
              <a:t>✕</a:t>
            </a:r>
            <a:endParaRPr/>
          </a:p>
        </p:txBody>
      </p:sp>
      <p:sp>
        <p:nvSpPr>
          <p:cNvPr id="48" name="el-1782652367213-57"/>
          <p:cNvSpPr txBox="1"/>
          <p:nvPr/>
        </p:nvSpPr>
        <p:spPr>
          <a:xfrm>
            <a:off x="5074563" y="1787723"/>
            <a:ext cx="3519368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b="1"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PID 视角：</a:t>
            </a: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看到 pid=1234 进程 CPU 占用高 → </a:t>
            </a:r>
            <a:r>
              <a:rPr sz="106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无法定位根因</a:t>
            </a:r>
            <a:endParaRPr/>
          </a:p>
        </p:txBody>
      </p:sp>
      <p:sp>
        <p:nvSpPr>
          <p:cNvPr id="49" name="el-1782652367217-60"/>
          <p:cNvSpPr txBox="1"/>
          <p:nvPr/>
        </p:nvSpPr>
        <p:spPr>
          <a:xfrm>
            <a:off x="4886325" y="2237780"/>
            <a:ext cx="178504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✓</a:t>
            </a:r>
            <a:endParaRPr/>
          </a:p>
        </p:txBody>
      </p:sp>
      <p:sp>
        <p:nvSpPr>
          <p:cNvPr id="50" name="el-1782652367216-58"/>
          <p:cNvSpPr txBox="1"/>
          <p:nvPr/>
        </p:nvSpPr>
        <p:spPr>
          <a:xfrm>
            <a:off x="5064829" y="2237780"/>
            <a:ext cx="3529102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b="1"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Frame 视角：</a:t>
            </a: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看到 </a:t>
            </a:r>
            <a:r>
              <a:rPr b="1" sz="106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f32 帧</a:t>
            </a: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内 SurfaceFlinger 被 Binder 调用阻塞 </a:t>
            </a:r>
            <a:r>
              <a:rPr b="1" sz="106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12ms</a:t>
            </a: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b="1"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精准定位</a:t>
            </a:r>
            <a:endParaRPr/>
          </a:p>
        </p:txBody>
      </p:sp>
      <p:sp>
        <p:nvSpPr>
          <p:cNvPr id="51" name="el-1782652367156-22"/>
          <p:cNvSpPr txBox="1"/>
          <p:nvPr/>
        </p:nvSpPr>
        <p:spPr>
          <a:xfrm>
            <a:off x="4864894" y="3045023"/>
            <a:ext cx="379333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正确路径 · 四步闭环</a:t>
            </a:r>
            <a:endParaRPr/>
          </a:p>
        </p:txBody>
      </p:sp>
      <p:sp>
        <p:nvSpPr>
          <p:cNvPr id="52" name="el-1782652367189-46"/>
          <p:cNvSpPr txBox="1"/>
          <p:nvPr/>
        </p:nvSpPr>
        <p:spPr>
          <a:xfrm>
            <a:off x="4964906" y="3330773"/>
            <a:ext cx="968425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FrameTimeline</a:t>
            </a:r>
            <a:endParaRPr/>
          </a:p>
        </p:txBody>
      </p:sp>
      <p:sp>
        <p:nvSpPr>
          <p:cNvPr id="53" name="el-1782652367190-48"/>
          <p:cNvSpPr txBox="1"/>
          <p:nvPr/>
        </p:nvSpPr>
        <p:spPr>
          <a:xfrm>
            <a:off x="5922615" y="3307914"/>
            <a:ext cx="2143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54" name="el-1782652367191-49"/>
          <p:cNvSpPr txBox="1"/>
          <p:nvPr/>
        </p:nvSpPr>
        <p:spPr>
          <a:xfrm>
            <a:off x="6208365" y="3330773"/>
            <a:ext cx="425232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eBPF</a:t>
            </a:r>
            <a:endParaRPr/>
          </a:p>
        </p:txBody>
      </p:sp>
      <p:sp>
        <p:nvSpPr>
          <p:cNvPr id="55" name="el-1782652367193-51"/>
          <p:cNvSpPr txBox="1"/>
          <p:nvPr/>
        </p:nvSpPr>
        <p:spPr>
          <a:xfrm>
            <a:off x="6622882" y="3307914"/>
            <a:ext cx="2143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56" name="el-1782652367194-52"/>
          <p:cNvSpPr txBox="1"/>
          <p:nvPr/>
        </p:nvSpPr>
        <p:spPr>
          <a:xfrm>
            <a:off x="6908632" y="3330773"/>
            <a:ext cx="490597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Graph</a:t>
            </a:r>
            <a:endParaRPr/>
          </a:p>
        </p:txBody>
      </p:sp>
      <p:sp>
        <p:nvSpPr>
          <p:cNvPr id="57" name="el-1782652367195-54"/>
          <p:cNvSpPr txBox="1"/>
          <p:nvPr/>
        </p:nvSpPr>
        <p:spPr>
          <a:xfrm>
            <a:off x="7388513" y="3307914"/>
            <a:ext cx="2143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58" name="el-1782652367196-55"/>
          <p:cNvSpPr txBox="1"/>
          <p:nvPr/>
        </p:nvSpPr>
        <p:spPr>
          <a:xfrm>
            <a:off x="7674263" y="3330773"/>
            <a:ext cx="800189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Hint Engine</a:t>
            </a:r>
            <a:endParaRPr/>
          </a:p>
        </p:txBody>
      </p:sp>
      <p:sp>
        <p:nvSpPr>
          <p:cNvPr id="59" name="el-1782652367151-17"/>
          <p:cNvSpPr txBox="1"/>
          <p:nvPr/>
        </p:nvSpPr>
        <p:spPr>
          <a:xfrm>
            <a:off x="4864894" y="3602236"/>
            <a:ext cx="37897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定义问题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提供原因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找关键路径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受控干预</a:t>
            </a:r>
            <a:endParaRPr/>
          </a:p>
        </p:txBody>
      </p:sp>
      <p:sp>
        <p:nvSpPr>
          <p:cNvPr id="60" name="el-1782652367122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61" name="el-1782652367123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67341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67343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67356-11"/>
          <p:cNvSpPr/>
          <p:nvPr/>
        </p:nvSpPr>
        <p:spPr>
          <a:xfrm>
            <a:off x="400050" y="1268016"/>
            <a:ext cx="28575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l-1782652367360-13"/>
          <p:cNvSpPr/>
          <p:nvPr/>
        </p:nvSpPr>
        <p:spPr>
          <a:xfrm>
            <a:off x="400050" y="1553766"/>
            <a:ext cx="8343900" cy="126444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el-1782652367350-8"/>
          <p:cNvSpPr/>
          <p:nvPr/>
        </p:nvSpPr>
        <p:spPr>
          <a:xfrm>
            <a:off x="400050" y="3018234"/>
            <a:ext cx="8343900" cy="10429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7" name="el-1782652367351-9"/>
          <p:cNvCxnSpPr/>
          <p:nvPr/>
        </p:nvCxnSpPr>
        <p:spPr>
          <a:xfrm>
            <a:off x="414338" y="3018234"/>
            <a:ext cx="914" cy="1042988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82652367372-18"/>
          <p:cNvSpPr txBox="1"/>
          <p:nvPr/>
        </p:nvSpPr>
        <p:spPr>
          <a:xfrm>
            <a:off x="585788" y="3368278"/>
            <a:ext cx="213062" cy="235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9" name="el-1782652367374-19"/>
          <p:cNvSpPr txBox="1"/>
          <p:nvPr/>
        </p:nvSpPr>
        <p:spPr>
          <a:xfrm>
            <a:off x="3292019" y="3368278"/>
            <a:ext cx="213062" cy="235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10" name="el-1782652367376-20"/>
          <p:cNvSpPr txBox="1"/>
          <p:nvPr/>
        </p:nvSpPr>
        <p:spPr>
          <a:xfrm>
            <a:off x="5051524" y="3368278"/>
            <a:ext cx="213062" cy="235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11" name="el-1782652367378-21"/>
          <p:cNvSpPr txBox="1"/>
          <p:nvPr/>
        </p:nvSpPr>
        <p:spPr>
          <a:xfrm>
            <a:off x="6700480" y="3368278"/>
            <a:ext cx="213062" cy="235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12" name="el-1782652367382-22"/>
          <p:cNvSpPr txBox="1"/>
          <p:nvPr/>
        </p:nvSpPr>
        <p:spPr>
          <a:xfrm>
            <a:off x="585788" y="3704034"/>
            <a:ext cx="213062" cy="235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cxnSp>
        <p:nvCxnSpPr>
          <p:cNvPr id="13" name="el-1782652367342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-1782652367345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03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15" name="el-1782652367346-5"/>
          <p:cNvSpPr txBox="1"/>
          <p:nvPr/>
        </p:nvSpPr>
        <p:spPr>
          <a:xfrm>
            <a:off x="1140678" y="159306"/>
            <a:ext cx="107156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项目开发路线图</a:t>
            </a:r>
            <a:endParaRPr/>
          </a:p>
        </p:txBody>
      </p:sp>
      <p:sp>
        <p:nvSpPr>
          <p:cNvPr id="16" name="el-1782652367353-10"/>
          <p:cNvSpPr txBox="1"/>
          <p:nvPr/>
        </p:nvSpPr>
        <p:spPr>
          <a:xfrm>
            <a:off x="500063" y="1253728"/>
            <a:ext cx="830818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23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分阶段实施</a:t>
            </a:r>
            <a:endParaRPr/>
          </a:p>
        </p:txBody>
      </p:sp>
      <p:sp>
        <p:nvSpPr>
          <p:cNvPr id="17" name="el-1782652367357-12"/>
          <p:cNvSpPr txBox="1"/>
          <p:nvPr/>
        </p:nvSpPr>
        <p:spPr>
          <a:xfrm>
            <a:off x="585788" y="3139678"/>
            <a:ext cx="80581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✦ 老师指导与迭代</a:t>
            </a:r>
            <a:endParaRPr/>
          </a:p>
        </p:txBody>
      </p:sp>
      <p:sp>
        <p:nvSpPr>
          <p:cNvPr id="18" name="el-1782652367385-23"/>
          <p:cNvSpPr txBox="1"/>
          <p:nvPr/>
        </p:nvSpPr>
        <p:spPr>
          <a:xfrm>
            <a:off x="777419" y="3390424"/>
            <a:ext cx="214312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从</a:t>
            </a:r>
            <a:endParaRPr/>
          </a:p>
        </p:txBody>
      </p:sp>
      <p:sp>
        <p:nvSpPr>
          <p:cNvPr id="19" name="el-1782652367408-52"/>
          <p:cNvSpPr txBox="1"/>
          <p:nvPr/>
        </p:nvSpPr>
        <p:spPr>
          <a:xfrm>
            <a:off x="977444" y="3378994"/>
            <a:ext cx="928688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“全量采集”</a:t>
            </a:r>
            <a:endParaRPr/>
          </a:p>
        </p:txBody>
      </p:sp>
      <p:sp>
        <p:nvSpPr>
          <p:cNvPr id="20" name="el-1782652367385-24"/>
          <p:cNvSpPr txBox="1"/>
          <p:nvPr/>
        </p:nvSpPr>
        <p:spPr>
          <a:xfrm>
            <a:off x="1891844" y="3390424"/>
            <a:ext cx="35718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转向</a:t>
            </a:r>
            <a:endParaRPr/>
          </a:p>
        </p:txBody>
      </p:sp>
      <p:sp>
        <p:nvSpPr>
          <p:cNvPr id="21" name="el-1782652367409-53"/>
          <p:cNvSpPr txBox="1"/>
          <p:nvPr/>
        </p:nvSpPr>
        <p:spPr>
          <a:xfrm>
            <a:off x="2234744" y="3378994"/>
            <a:ext cx="928688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“场景驱动”</a:t>
            </a:r>
            <a:endParaRPr/>
          </a:p>
        </p:txBody>
      </p:sp>
      <p:sp>
        <p:nvSpPr>
          <p:cNvPr id="22" name="el-1782652367385-25"/>
          <p:cNvSpPr txBox="1"/>
          <p:nvPr/>
        </p:nvSpPr>
        <p:spPr>
          <a:xfrm>
            <a:off x="3483650" y="3390424"/>
            <a:ext cx="35718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聚焦</a:t>
            </a:r>
            <a:endParaRPr/>
          </a:p>
        </p:txBody>
      </p:sp>
      <p:sp>
        <p:nvSpPr>
          <p:cNvPr id="23" name="el-1782652367410-54"/>
          <p:cNvSpPr txBox="1"/>
          <p:nvPr/>
        </p:nvSpPr>
        <p:spPr>
          <a:xfrm>
            <a:off x="3826550" y="3378994"/>
            <a:ext cx="324862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1–2</a:t>
            </a:r>
            <a:endParaRPr/>
          </a:p>
        </p:txBody>
      </p:sp>
      <p:sp>
        <p:nvSpPr>
          <p:cNvPr id="24" name="el-1782652367386-26"/>
          <p:cNvSpPr txBox="1"/>
          <p:nvPr/>
        </p:nvSpPr>
        <p:spPr>
          <a:xfrm>
            <a:off x="4137124" y="3390424"/>
            <a:ext cx="7858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个核心场景</a:t>
            </a:r>
            <a:endParaRPr/>
          </a:p>
        </p:txBody>
      </p:sp>
      <p:sp>
        <p:nvSpPr>
          <p:cNvPr id="25" name="el-1782652367386-27"/>
          <p:cNvSpPr txBox="1"/>
          <p:nvPr/>
        </p:nvSpPr>
        <p:spPr>
          <a:xfrm>
            <a:off x="5243155" y="3390424"/>
            <a:ext cx="35718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建立</a:t>
            </a:r>
            <a:endParaRPr/>
          </a:p>
        </p:txBody>
      </p:sp>
      <p:sp>
        <p:nvSpPr>
          <p:cNvPr id="26" name="el-1782652367411-55"/>
          <p:cNvSpPr txBox="1"/>
          <p:nvPr/>
        </p:nvSpPr>
        <p:spPr>
          <a:xfrm>
            <a:off x="5586055" y="3378994"/>
            <a:ext cx="642938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数据质检</a:t>
            </a:r>
            <a:endParaRPr/>
          </a:p>
        </p:txBody>
      </p:sp>
      <p:sp>
        <p:nvSpPr>
          <p:cNvPr id="27" name="el-1782652367387-28"/>
          <p:cNvSpPr txBox="1"/>
          <p:nvPr/>
        </p:nvSpPr>
        <p:spPr>
          <a:xfrm>
            <a:off x="6214705" y="3390424"/>
            <a:ext cx="35718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流程</a:t>
            </a:r>
            <a:endParaRPr/>
          </a:p>
        </p:txBody>
      </p:sp>
      <p:sp>
        <p:nvSpPr>
          <p:cNvPr id="28" name="el-1782652367387-29"/>
          <p:cNvSpPr txBox="1"/>
          <p:nvPr/>
        </p:nvSpPr>
        <p:spPr>
          <a:xfrm>
            <a:off x="6892112" y="3390424"/>
            <a:ext cx="35718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做好</a:t>
            </a:r>
            <a:endParaRPr/>
          </a:p>
        </p:txBody>
      </p:sp>
      <p:sp>
        <p:nvSpPr>
          <p:cNvPr id="29" name="el-1782652367411-56"/>
          <p:cNvSpPr txBox="1"/>
          <p:nvPr/>
        </p:nvSpPr>
        <p:spPr>
          <a:xfrm>
            <a:off x="7235012" y="3378994"/>
            <a:ext cx="928688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特征语义映射</a:t>
            </a:r>
            <a:endParaRPr/>
          </a:p>
        </p:txBody>
      </p:sp>
      <p:sp>
        <p:nvSpPr>
          <p:cNvPr id="30" name="el-1782652367387-30"/>
          <p:cNvSpPr txBox="1"/>
          <p:nvPr/>
        </p:nvSpPr>
        <p:spPr>
          <a:xfrm>
            <a:off x="777419" y="3726180"/>
            <a:ext cx="1971139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→ 项目据此调整方向：收敛到</a:t>
            </a:r>
            <a:endParaRPr/>
          </a:p>
        </p:txBody>
      </p:sp>
      <p:sp>
        <p:nvSpPr>
          <p:cNvPr id="31" name="el-1782652367411-57"/>
          <p:cNvSpPr txBox="1"/>
          <p:nvPr/>
        </p:nvSpPr>
        <p:spPr>
          <a:xfrm>
            <a:off x="2734270" y="3714750"/>
            <a:ext cx="1408390" cy="214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页面切换 + 视频浏览</a:t>
            </a:r>
            <a:endParaRPr/>
          </a:p>
        </p:txBody>
      </p:sp>
      <p:sp>
        <p:nvSpPr>
          <p:cNvPr id="32" name="el-1782652367387-31"/>
          <p:cNvSpPr txBox="1"/>
          <p:nvPr/>
        </p:nvSpPr>
        <p:spPr>
          <a:xfrm>
            <a:off x="4128373" y="3726180"/>
            <a:ext cx="64293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两大场景</a:t>
            </a:r>
            <a:endParaRPr/>
          </a:p>
        </p:txBody>
      </p:sp>
      <p:sp>
        <p:nvSpPr>
          <p:cNvPr id="33" name="el-1782652367346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34" name="el-1782652367347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  <p:sp>
        <p:nvSpPr>
          <p:cNvPr id="35" name="el-1782652367366-14"/>
          <p:cNvSpPr/>
          <p:nvPr/>
        </p:nvSpPr>
        <p:spPr>
          <a:xfrm>
            <a:off x="2158841" y="1879521"/>
            <a:ext cx="7144" cy="61293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el-1782652367394-35"/>
          <p:cNvSpPr/>
          <p:nvPr/>
        </p:nvSpPr>
        <p:spPr>
          <a:xfrm>
            <a:off x="1051828" y="2389584"/>
            <a:ext cx="60516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7" name="el-1782652367367-15"/>
          <p:cNvSpPr/>
          <p:nvPr/>
        </p:nvSpPr>
        <p:spPr>
          <a:xfrm>
            <a:off x="3767614" y="1879521"/>
            <a:ext cx="7144" cy="61293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el-1782652367398-39"/>
          <p:cNvSpPr/>
          <p:nvPr/>
        </p:nvSpPr>
        <p:spPr>
          <a:xfrm>
            <a:off x="2660600" y="2389584"/>
            <a:ext cx="60516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" name="el-1782652367368-16"/>
          <p:cNvSpPr/>
          <p:nvPr/>
        </p:nvSpPr>
        <p:spPr>
          <a:xfrm>
            <a:off x="5376386" y="1879521"/>
            <a:ext cx="7144" cy="61293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el-1782652367402-43"/>
          <p:cNvSpPr/>
          <p:nvPr/>
        </p:nvSpPr>
        <p:spPr>
          <a:xfrm>
            <a:off x="4269373" y="2389584"/>
            <a:ext cx="60516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-1782652367369-17"/>
          <p:cNvSpPr/>
          <p:nvPr/>
        </p:nvSpPr>
        <p:spPr>
          <a:xfrm>
            <a:off x="6985159" y="1879521"/>
            <a:ext cx="7144" cy="61293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el-1782652367405-47"/>
          <p:cNvSpPr/>
          <p:nvPr/>
        </p:nvSpPr>
        <p:spPr>
          <a:xfrm>
            <a:off x="5878146" y="2525316"/>
            <a:ext cx="60516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el-1782652367408-51"/>
          <p:cNvSpPr/>
          <p:nvPr/>
        </p:nvSpPr>
        <p:spPr>
          <a:xfrm>
            <a:off x="7499956" y="2389584"/>
            <a:ext cx="579180" cy="1857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7144" algn="in">
            <a:solidFill>
              <a:srgbClr val="5A5A7A"/>
            </a:solidFill>
            <a:prstDash val="sysDash"/>
          </a:ln>
        </p:spPr>
        <p:txBody>
          <a:bodyPr/>
          <a:lstStyle/>
          <a:p>
            <a:endParaRPr/>
          </a:p>
        </p:txBody>
      </p:sp>
      <p:sp>
        <p:nvSpPr>
          <p:cNvPr id="44" name="el-1782652367392-32"/>
          <p:cNvSpPr txBox="1"/>
          <p:nvPr/>
        </p:nvSpPr>
        <p:spPr>
          <a:xfrm>
            <a:off x="1114425" y="1675209"/>
            <a:ext cx="480060" cy="3000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前期调研</a:t>
            </a:r>
            <a:endParaRPr/>
          </a:p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第1个月</a:t>
            </a:r>
            <a:endParaRPr/>
          </a:p>
        </p:txBody>
      </p:sp>
      <p:sp>
        <p:nvSpPr>
          <p:cNvPr id="45" name="el-1782652367392-33"/>
          <p:cNvSpPr txBox="1"/>
          <p:nvPr/>
        </p:nvSpPr>
        <p:spPr>
          <a:xfrm>
            <a:off x="1044416" y="2018109"/>
            <a:ext cx="620078" cy="3143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4份调研报告</a:t>
            </a:r>
            <a:endParaRPr/>
          </a:p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可行性分析</a:t>
            </a:r>
            <a:endParaRPr/>
          </a:p>
        </p:txBody>
      </p:sp>
      <p:sp>
        <p:nvSpPr>
          <p:cNvPr id="46" name="el-1782652367393-34"/>
          <p:cNvSpPr txBox="1"/>
          <p:nvPr/>
        </p:nvSpPr>
        <p:spPr>
          <a:xfrm>
            <a:off x="1083975" y="2403872"/>
            <a:ext cx="54087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84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 已完成</a:t>
            </a:r>
            <a:endParaRPr/>
          </a:p>
        </p:txBody>
      </p:sp>
      <p:sp>
        <p:nvSpPr>
          <p:cNvPr id="47" name="el-1782652367395-36"/>
          <p:cNvSpPr txBox="1"/>
          <p:nvPr/>
        </p:nvSpPr>
        <p:spPr>
          <a:xfrm>
            <a:off x="2723198" y="1675209"/>
            <a:ext cx="480060" cy="3000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1</a:t>
            </a:r>
            <a:endParaRPr/>
          </a:p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基础能力</a:t>
            </a:r>
            <a:endParaRPr/>
          </a:p>
        </p:txBody>
      </p:sp>
      <p:sp>
        <p:nvSpPr>
          <p:cNvPr id="48" name="el-1782652367396-37"/>
          <p:cNvSpPr txBox="1"/>
          <p:nvPr/>
        </p:nvSpPr>
        <p:spPr>
          <a:xfrm>
            <a:off x="2355027" y="2018109"/>
            <a:ext cx="1216313" cy="3143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FrameTimeline + sched</a:t>
            </a:r>
            <a:endParaRPr/>
          </a:p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身份层 + delay + Hint</a:t>
            </a:r>
            <a:endParaRPr/>
          </a:p>
        </p:txBody>
      </p:sp>
      <p:sp>
        <p:nvSpPr>
          <p:cNvPr id="49" name="el-1782652367396-38"/>
          <p:cNvSpPr txBox="1"/>
          <p:nvPr/>
        </p:nvSpPr>
        <p:spPr>
          <a:xfrm>
            <a:off x="2692747" y="2403872"/>
            <a:ext cx="54087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84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 已完成</a:t>
            </a:r>
            <a:endParaRPr/>
          </a:p>
        </p:txBody>
      </p:sp>
      <p:sp>
        <p:nvSpPr>
          <p:cNvPr id="50" name="el-1782652367399-40"/>
          <p:cNvSpPr txBox="1"/>
          <p:nvPr/>
        </p:nvSpPr>
        <p:spPr>
          <a:xfrm>
            <a:off x="4331970" y="1675209"/>
            <a:ext cx="480060" cy="3000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2</a:t>
            </a:r>
            <a:endParaRPr/>
          </a:p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增强能力</a:t>
            </a:r>
            <a:endParaRPr/>
          </a:p>
        </p:txBody>
      </p:sp>
      <p:sp>
        <p:nvSpPr>
          <p:cNvPr id="51" name="el-1782652367399-41"/>
          <p:cNvSpPr txBox="1"/>
          <p:nvPr/>
        </p:nvSpPr>
        <p:spPr>
          <a:xfrm>
            <a:off x="4040237" y="2018109"/>
            <a:ext cx="1063526" cy="3143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Binder/Futex 图</a:t>
            </a:r>
            <a:endParaRPr/>
          </a:p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Jank 分类 + 视频扩展</a:t>
            </a:r>
            <a:endParaRPr/>
          </a:p>
        </p:txBody>
      </p:sp>
      <p:sp>
        <p:nvSpPr>
          <p:cNvPr id="52" name="el-1782652367400-42"/>
          <p:cNvSpPr txBox="1"/>
          <p:nvPr/>
        </p:nvSpPr>
        <p:spPr>
          <a:xfrm>
            <a:off x="4301520" y="2403872"/>
            <a:ext cx="54087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84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 已完成</a:t>
            </a:r>
            <a:endParaRPr/>
          </a:p>
        </p:txBody>
      </p:sp>
      <p:sp>
        <p:nvSpPr>
          <p:cNvPr id="53" name="el-1782652367403-44"/>
          <p:cNvSpPr txBox="1"/>
          <p:nvPr/>
        </p:nvSpPr>
        <p:spPr>
          <a:xfrm>
            <a:off x="5989499" y="1675209"/>
            <a:ext cx="382459" cy="3000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3</a:t>
            </a:r>
            <a:endParaRPr/>
          </a:p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深化</a:t>
            </a:r>
            <a:endParaRPr/>
          </a:p>
        </p:txBody>
      </p:sp>
      <p:sp>
        <p:nvSpPr>
          <p:cNvPr id="54" name="el-1782652367404-45"/>
          <p:cNvSpPr txBox="1"/>
          <p:nvPr/>
        </p:nvSpPr>
        <p:spPr>
          <a:xfrm>
            <a:off x="5419249" y="2018109"/>
            <a:ext cx="1523047" cy="4500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Thermal 深化</a:t>
            </a:r>
            <a:endParaRPr/>
          </a:p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Inference-aware + Multi-session</a:t>
            </a:r>
            <a:endParaRPr/>
          </a:p>
        </p:txBody>
      </p:sp>
      <p:sp>
        <p:nvSpPr>
          <p:cNvPr id="55" name="el-1782652367404-46"/>
          <p:cNvSpPr txBox="1"/>
          <p:nvPr/>
        </p:nvSpPr>
        <p:spPr>
          <a:xfrm>
            <a:off x="5910292" y="2539603"/>
            <a:ext cx="54087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84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 已完成</a:t>
            </a:r>
            <a:endParaRPr/>
          </a:p>
        </p:txBody>
      </p:sp>
      <p:sp>
        <p:nvSpPr>
          <p:cNvPr id="56" name="el-1782652367406-48"/>
          <p:cNvSpPr txBox="1"/>
          <p:nvPr/>
        </p:nvSpPr>
        <p:spPr>
          <a:xfrm>
            <a:off x="7554784" y="1675209"/>
            <a:ext cx="469523" cy="3000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3+</a:t>
            </a:r>
            <a:endParaRPr/>
          </a:p>
          <a:p>
            <a:pPr algn="ctr">
              <a:lnSpc>
                <a:spcPts val="117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展望</a:t>
            </a:r>
            <a:endParaRPr/>
          </a:p>
        </p:txBody>
      </p:sp>
      <p:sp>
        <p:nvSpPr>
          <p:cNvPr id="57" name="el-1782652367406-49"/>
          <p:cNvSpPr txBox="1"/>
          <p:nvPr/>
        </p:nvSpPr>
        <p:spPr>
          <a:xfrm>
            <a:off x="7239298" y="2018109"/>
            <a:ext cx="1100495" cy="3143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Learned policy</a:t>
            </a:r>
            <a:endParaRPr/>
          </a:p>
          <a:p>
            <a:pPr algn="ctr">
              <a:lnSpc>
                <a:spcPts val="1176"/>
              </a:lnSpc>
            </a:pPr>
            <a:r>
              <a:rPr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Cuttlefish · sched_ext</a:t>
            </a:r>
            <a:endParaRPr/>
          </a:p>
        </p:txBody>
      </p:sp>
      <p:sp>
        <p:nvSpPr>
          <p:cNvPr id="58" name="el-1782652367407-50"/>
          <p:cNvSpPr txBox="1"/>
          <p:nvPr/>
        </p:nvSpPr>
        <p:spPr>
          <a:xfrm>
            <a:off x="7539246" y="2411016"/>
            <a:ext cx="500598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⏸ 未做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67778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67781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67792-8"/>
          <p:cNvSpPr/>
          <p:nvPr/>
        </p:nvSpPr>
        <p:spPr>
          <a:xfrm>
            <a:off x="400050" y="1161931"/>
            <a:ext cx="4114800" cy="86582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67799-15"/>
          <p:cNvCxnSpPr/>
          <p:nvPr/>
        </p:nvCxnSpPr>
        <p:spPr>
          <a:xfrm>
            <a:off x="414338" y="1161931"/>
            <a:ext cx="914" cy="86582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67792-9"/>
          <p:cNvSpPr/>
          <p:nvPr/>
        </p:nvSpPr>
        <p:spPr>
          <a:xfrm>
            <a:off x="4629150" y="1161931"/>
            <a:ext cx="4114800" cy="86582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7" name="el-1782652367800-16"/>
          <p:cNvCxnSpPr/>
          <p:nvPr/>
        </p:nvCxnSpPr>
        <p:spPr>
          <a:xfrm>
            <a:off x="4643438" y="1161931"/>
            <a:ext cx="914" cy="86582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82652367794-10"/>
          <p:cNvSpPr/>
          <p:nvPr/>
        </p:nvSpPr>
        <p:spPr>
          <a:xfrm>
            <a:off x="400050" y="2142053"/>
            <a:ext cx="4114800" cy="86582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9" name="el-1782652367801-17"/>
          <p:cNvCxnSpPr/>
          <p:nvPr/>
        </p:nvCxnSpPr>
        <p:spPr>
          <a:xfrm>
            <a:off x="414338" y="2142053"/>
            <a:ext cx="914" cy="86582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-1782652367794-11"/>
          <p:cNvSpPr/>
          <p:nvPr/>
        </p:nvSpPr>
        <p:spPr>
          <a:xfrm>
            <a:off x="4629150" y="2142053"/>
            <a:ext cx="4114800" cy="86582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1" name="el-1782652367802-18"/>
          <p:cNvCxnSpPr/>
          <p:nvPr/>
        </p:nvCxnSpPr>
        <p:spPr>
          <a:xfrm>
            <a:off x="4643438" y="2142053"/>
            <a:ext cx="914" cy="86582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l-1782652367796-12"/>
          <p:cNvSpPr/>
          <p:nvPr/>
        </p:nvSpPr>
        <p:spPr>
          <a:xfrm>
            <a:off x="400050" y="3150751"/>
            <a:ext cx="2705070" cy="100226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3" name="el-1782652367803-19"/>
          <p:cNvCxnSpPr/>
          <p:nvPr/>
        </p:nvCxnSpPr>
        <p:spPr>
          <a:xfrm>
            <a:off x="414338" y="3150751"/>
            <a:ext cx="914" cy="1002268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-1782652367797-13"/>
          <p:cNvSpPr/>
          <p:nvPr/>
        </p:nvSpPr>
        <p:spPr>
          <a:xfrm>
            <a:off x="3219420" y="3150751"/>
            <a:ext cx="2705070" cy="100226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5" name="el-1782652367803-20"/>
          <p:cNvCxnSpPr/>
          <p:nvPr/>
        </p:nvCxnSpPr>
        <p:spPr>
          <a:xfrm>
            <a:off x="3233708" y="3150751"/>
            <a:ext cx="914" cy="1002268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-1782652367798-14"/>
          <p:cNvSpPr/>
          <p:nvPr/>
        </p:nvSpPr>
        <p:spPr>
          <a:xfrm>
            <a:off x="6038791" y="3150751"/>
            <a:ext cx="2705160" cy="100226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7" name="el-1782652367804-21"/>
          <p:cNvCxnSpPr/>
          <p:nvPr/>
        </p:nvCxnSpPr>
        <p:spPr>
          <a:xfrm>
            <a:off x="6053078" y="3150751"/>
            <a:ext cx="914" cy="1002268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-1782652367779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l-1782652367782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04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20" name="el-1782652367785-5"/>
          <p:cNvSpPr txBox="1"/>
          <p:nvPr/>
        </p:nvSpPr>
        <p:spPr>
          <a:xfrm>
            <a:off x="1140678" y="159306"/>
            <a:ext cx="262729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前期调研 — 技术路线确立（第 1 个月）</a:t>
            </a:r>
            <a:endParaRPr/>
          </a:p>
        </p:txBody>
      </p:sp>
      <p:sp>
        <p:nvSpPr>
          <p:cNvPr id="21" name="el-1782652367819-29"/>
          <p:cNvSpPr txBox="1"/>
          <p:nvPr/>
        </p:nvSpPr>
        <p:spPr>
          <a:xfrm>
            <a:off x="557213" y="1283375"/>
            <a:ext cx="3893344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📄 调研报告</a:t>
            </a:r>
            <a:endParaRPr/>
          </a:p>
        </p:txBody>
      </p:sp>
      <p:sp>
        <p:nvSpPr>
          <p:cNvPr id="22" name="el-1782652367808-22"/>
          <p:cNvSpPr txBox="1"/>
          <p:nvPr/>
        </p:nvSpPr>
        <p:spPr>
          <a:xfrm>
            <a:off x="557213" y="1520547"/>
            <a:ext cx="3821906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Android 16 eBPF 预测调度方案，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LLM/自研时序模型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+ 调频指令注入内核</a:t>
            </a:r>
            <a:endParaRPr/>
          </a:p>
        </p:txBody>
      </p:sp>
      <p:sp>
        <p:nvSpPr>
          <p:cNvPr id="23" name="el-1782652367820-30"/>
          <p:cNvSpPr txBox="1"/>
          <p:nvPr/>
        </p:nvSpPr>
        <p:spPr>
          <a:xfrm>
            <a:off x="4786313" y="1283375"/>
            <a:ext cx="3893344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📄 可行性报告</a:t>
            </a:r>
            <a:endParaRPr/>
          </a:p>
        </p:txBody>
      </p:sp>
      <p:sp>
        <p:nvSpPr>
          <p:cNvPr id="24" name="el-1782652367810-23"/>
          <p:cNvSpPr txBox="1"/>
          <p:nvPr/>
        </p:nvSpPr>
        <p:spPr>
          <a:xfrm>
            <a:off x="4786313" y="1520547"/>
            <a:ext cx="388620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eBPF 数据采集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7 层模型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设计：统一上下文层 → 可扩展观测层</a:t>
            </a:r>
            <a:endParaRPr/>
          </a:p>
        </p:txBody>
      </p:sp>
      <p:sp>
        <p:nvSpPr>
          <p:cNvPr id="25" name="el-1782652367821-31"/>
          <p:cNvSpPr txBox="1"/>
          <p:nvPr/>
        </p:nvSpPr>
        <p:spPr>
          <a:xfrm>
            <a:off x="557213" y="2263497"/>
            <a:ext cx="3893344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📄 补充调研</a:t>
            </a:r>
            <a:endParaRPr/>
          </a:p>
        </p:txBody>
      </p:sp>
      <p:sp>
        <p:nvSpPr>
          <p:cNvPr id="26" name="el-1782652367811-24"/>
          <p:cNvSpPr txBox="1"/>
          <p:nvPr/>
        </p:nvSpPr>
        <p:spPr>
          <a:xfrm>
            <a:off x="557213" y="2500670"/>
            <a:ext cx="3821906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系统行为观测扩展（网络/传感器）、高频场景扩展、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关键线程识别方法论</a:t>
            </a:r>
            <a:endParaRPr/>
          </a:p>
        </p:txBody>
      </p:sp>
      <p:sp>
        <p:nvSpPr>
          <p:cNvPr id="27" name="el-1782652367822-32"/>
          <p:cNvSpPr txBox="1"/>
          <p:nvPr/>
        </p:nvSpPr>
        <p:spPr>
          <a:xfrm>
            <a:off x="4786313" y="2263497"/>
            <a:ext cx="3893344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📄 TracePilot 调研扩展</a:t>
            </a:r>
            <a:endParaRPr/>
          </a:p>
        </p:txBody>
      </p:sp>
      <p:sp>
        <p:nvSpPr>
          <p:cNvPr id="28" name="el-1782652367814-25"/>
          <p:cNvSpPr txBox="1"/>
          <p:nvPr/>
        </p:nvSpPr>
        <p:spPr>
          <a:xfrm>
            <a:off x="4786313" y="2500670"/>
            <a:ext cx="388620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Page Turning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Feed Scroll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场景的行为特征分析</a:t>
            </a:r>
            <a:endParaRPr/>
          </a:p>
        </p:txBody>
      </p:sp>
      <p:sp>
        <p:nvSpPr>
          <p:cNvPr id="29" name="el-1782652367824-33"/>
          <p:cNvSpPr txBox="1"/>
          <p:nvPr/>
        </p:nvSpPr>
        <p:spPr>
          <a:xfrm>
            <a:off x="557213" y="3257907"/>
            <a:ext cx="2469327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结论 1</a:t>
            </a:r>
            <a:endParaRPr/>
          </a:p>
        </p:txBody>
      </p:sp>
      <p:sp>
        <p:nvSpPr>
          <p:cNvPr id="30" name="el-1782652367816-26"/>
          <p:cNvSpPr txBox="1"/>
          <p:nvPr/>
        </p:nvSpPr>
        <p:spPr>
          <a:xfrm>
            <a:off x="557213" y="3435072"/>
            <a:ext cx="2412177" cy="61079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eBPF 适合承担内核态行为观测，最关键是</a:t>
            </a:r>
            <a:r>
              <a:rPr b="1" sz="106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调度事件 + Binder + Futex + CPU 频率</a:t>
            </a:r>
            <a:endParaRPr/>
          </a:p>
        </p:txBody>
      </p:sp>
      <p:sp>
        <p:nvSpPr>
          <p:cNvPr id="31" name="el-1782652367824-34"/>
          <p:cNvSpPr txBox="1"/>
          <p:nvPr/>
        </p:nvSpPr>
        <p:spPr>
          <a:xfrm>
            <a:off x="3376583" y="3257907"/>
            <a:ext cx="2469327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结论 2</a:t>
            </a:r>
            <a:endParaRPr/>
          </a:p>
        </p:txBody>
      </p:sp>
      <p:sp>
        <p:nvSpPr>
          <p:cNvPr id="32" name="el-1782652367817-27"/>
          <p:cNvSpPr txBox="1"/>
          <p:nvPr/>
        </p:nvSpPr>
        <p:spPr>
          <a:xfrm>
            <a:off x="3376583" y="3435072"/>
            <a:ext cx="2412177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一期聚焦</a:t>
            </a:r>
            <a:r>
              <a:rPr b="1" sz="106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页面切换</a:t>
            </a: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，不承诺网络栈/文件系统/IRQ 等扩展观测</a:t>
            </a:r>
            <a:endParaRPr/>
          </a:p>
        </p:txBody>
      </p:sp>
      <p:sp>
        <p:nvSpPr>
          <p:cNvPr id="33" name="el-1782652367825-35"/>
          <p:cNvSpPr txBox="1"/>
          <p:nvPr/>
        </p:nvSpPr>
        <p:spPr>
          <a:xfrm>
            <a:off x="6195953" y="3257907"/>
            <a:ext cx="2469416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结论 3</a:t>
            </a:r>
            <a:endParaRPr/>
          </a:p>
        </p:txBody>
      </p:sp>
      <p:sp>
        <p:nvSpPr>
          <p:cNvPr id="34" name="el-1782652367819-28"/>
          <p:cNvSpPr txBox="1"/>
          <p:nvPr/>
        </p:nvSpPr>
        <p:spPr>
          <a:xfrm>
            <a:off x="6195953" y="3435072"/>
            <a:ext cx="2412266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采用 </a:t>
            </a:r>
            <a:r>
              <a:rPr b="1" sz="106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Frame-Centric</a:t>
            </a:r>
            <a:r>
              <a:rPr sz="106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而非 PID-Centric 的观测视角</a:t>
            </a:r>
            <a:endParaRPr/>
          </a:p>
        </p:txBody>
      </p:sp>
      <p:sp>
        <p:nvSpPr>
          <p:cNvPr id="35" name="el-1782652367785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36" name="el-1782652367786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67944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67948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67958-10"/>
          <p:cNvSpPr/>
          <p:nvPr/>
        </p:nvSpPr>
        <p:spPr>
          <a:xfrm>
            <a:off x="400050" y="1170146"/>
            <a:ext cx="4029075" cy="326040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el-1782652367971-16"/>
          <p:cNvSpPr/>
          <p:nvPr/>
        </p:nvSpPr>
        <p:spPr>
          <a:xfrm>
            <a:off x="407194" y="1177290"/>
            <a:ext cx="4014788" cy="49006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CDD3DE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6" name="el-1782652367978-25"/>
          <p:cNvCxnSpPr/>
          <p:nvPr/>
        </p:nvCxnSpPr>
        <p:spPr>
          <a:xfrm>
            <a:off x="407194" y="1663779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el-1782652368003-47"/>
          <p:cNvSpPr/>
          <p:nvPr/>
        </p:nvSpPr>
        <p:spPr>
          <a:xfrm>
            <a:off x="550069" y="1333024"/>
            <a:ext cx="642938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82652367972-17"/>
          <p:cNvSpPr/>
          <p:nvPr/>
        </p:nvSpPr>
        <p:spPr>
          <a:xfrm>
            <a:off x="407194" y="1895951"/>
            <a:ext cx="4014788" cy="49006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6DBE4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" name="el-1782652367979-26"/>
          <p:cNvCxnSpPr/>
          <p:nvPr/>
        </p:nvCxnSpPr>
        <p:spPr>
          <a:xfrm>
            <a:off x="407194" y="2382441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-1782652368005-50"/>
          <p:cNvSpPr/>
          <p:nvPr/>
        </p:nvSpPr>
        <p:spPr>
          <a:xfrm>
            <a:off x="550069" y="2051685"/>
            <a:ext cx="757327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82652367973-18"/>
          <p:cNvSpPr/>
          <p:nvPr/>
        </p:nvSpPr>
        <p:spPr>
          <a:xfrm>
            <a:off x="407194" y="2614613"/>
            <a:ext cx="4014788" cy="49006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FE3E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2" name="el-1782652367979-27"/>
          <p:cNvCxnSpPr/>
          <p:nvPr/>
        </p:nvCxnSpPr>
        <p:spPr>
          <a:xfrm>
            <a:off x="407194" y="3101102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-1782652368007-53"/>
          <p:cNvSpPr/>
          <p:nvPr/>
        </p:nvSpPr>
        <p:spPr>
          <a:xfrm>
            <a:off x="550069" y="2770346"/>
            <a:ext cx="642938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3A5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82652367974-19"/>
          <p:cNvSpPr/>
          <p:nvPr/>
        </p:nvSpPr>
        <p:spPr>
          <a:xfrm>
            <a:off x="407194" y="3333274"/>
            <a:ext cx="4014788" cy="49006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EB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5" name="el-1782652367980-28"/>
          <p:cNvCxnSpPr/>
          <p:nvPr/>
        </p:nvCxnSpPr>
        <p:spPr>
          <a:xfrm>
            <a:off x="407194" y="3819763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-1782652368009-55"/>
          <p:cNvSpPr/>
          <p:nvPr/>
        </p:nvSpPr>
        <p:spPr>
          <a:xfrm>
            <a:off x="550069" y="3489007"/>
            <a:ext cx="707321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4A6A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82652367975-20"/>
          <p:cNvSpPr/>
          <p:nvPr/>
        </p:nvSpPr>
        <p:spPr>
          <a:xfrm>
            <a:off x="407194" y="4051935"/>
            <a:ext cx="4014788" cy="3714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0F2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el-1782652368011-57"/>
          <p:cNvSpPr/>
          <p:nvPr/>
        </p:nvSpPr>
        <p:spPr>
          <a:xfrm>
            <a:off x="550069" y="4151948"/>
            <a:ext cx="642938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5A7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82652367959-11"/>
          <p:cNvSpPr/>
          <p:nvPr/>
        </p:nvSpPr>
        <p:spPr>
          <a:xfrm>
            <a:off x="4714875" y="1903095"/>
            <a:ext cx="4029075" cy="17945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0" name="el-1782652367975-21"/>
          <p:cNvCxnSpPr/>
          <p:nvPr/>
        </p:nvCxnSpPr>
        <p:spPr>
          <a:xfrm>
            <a:off x="4722019" y="2220992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l-1782652367993-35"/>
          <p:cNvSpPr/>
          <p:nvPr/>
        </p:nvSpPr>
        <p:spPr>
          <a:xfrm>
            <a:off x="4722019" y="1910239"/>
            <a:ext cx="857250" cy="30718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2" name="el-1782652368012-59"/>
          <p:cNvCxnSpPr/>
          <p:nvPr/>
        </p:nvCxnSpPr>
        <p:spPr>
          <a:xfrm>
            <a:off x="5575697" y="1910239"/>
            <a:ext cx="914" cy="307181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-1782652367976-22"/>
          <p:cNvCxnSpPr/>
          <p:nvPr/>
        </p:nvCxnSpPr>
        <p:spPr>
          <a:xfrm>
            <a:off x="4722019" y="2535317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-1782652367995-37"/>
          <p:cNvSpPr/>
          <p:nvPr/>
        </p:nvSpPr>
        <p:spPr>
          <a:xfrm>
            <a:off x="4722019" y="2224564"/>
            <a:ext cx="857250" cy="30718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5" name="el-1782652368013-60"/>
          <p:cNvCxnSpPr/>
          <p:nvPr/>
        </p:nvCxnSpPr>
        <p:spPr>
          <a:xfrm>
            <a:off x="5575697" y="2224564"/>
            <a:ext cx="914" cy="307181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-1782652367977-23"/>
          <p:cNvCxnSpPr/>
          <p:nvPr/>
        </p:nvCxnSpPr>
        <p:spPr>
          <a:xfrm>
            <a:off x="4722019" y="2953941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l-1782652367997-39"/>
          <p:cNvSpPr/>
          <p:nvPr/>
        </p:nvSpPr>
        <p:spPr>
          <a:xfrm>
            <a:off x="4722019" y="2538889"/>
            <a:ext cx="857250" cy="41148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8" name="el-1782652368013-61"/>
          <p:cNvCxnSpPr/>
          <p:nvPr/>
        </p:nvCxnSpPr>
        <p:spPr>
          <a:xfrm>
            <a:off x="5575697" y="2538889"/>
            <a:ext cx="914" cy="411480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-1782652367977-24"/>
          <p:cNvCxnSpPr/>
          <p:nvPr/>
        </p:nvCxnSpPr>
        <p:spPr>
          <a:xfrm>
            <a:off x="4722019" y="3372564"/>
            <a:ext cx="40147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-1782652367999-42"/>
          <p:cNvSpPr/>
          <p:nvPr/>
        </p:nvSpPr>
        <p:spPr>
          <a:xfrm>
            <a:off x="4722019" y="2957513"/>
            <a:ext cx="857250" cy="41148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1" name="el-1782652368015-62"/>
          <p:cNvCxnSpPr/>
          <p:nvPr/>
        </p:nvCxnSpPr>
        <p:spPr>
          <a:xfrm>
            <a:off x="5575697" y="2957513"/>
            <a:ext cx="914" cy="411480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-1782652368001-44"/>
          <p:cNvSpPr/>
          <p:nvPr/>
        </p:nvSpPr>
        <p:spPr>
          <a:xfrm>
            <a:off x="4722019" y="3376136"/>
            <a:ext cx="857250" cy="3143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3" name="el-1782652368016-63"/>
          <p:cNvCxnSpPr/>
          <p:nvPr/>
        </p:nvCxnSpPr>
        <p:spPr>
          <a:xfrm>
            <a:off x="5575697" y="3376136"/>
            <a:ext cx="914" cy="314325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-1782652367945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l-1782652367949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05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36" name="el-1782652367950-5"/>
          <p:cNvSpPr txBox="1"/>
          <p:nvPr/>
        </p:nvSpPr>
        <p:spPr>
          <a:xfrm>
            <a:off x="1140678" y="159306"/>
            <a:ext cx="121443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技术栈与系统架构</a:t>
            </a:r>
            <a:endParaRPr/>
          </a:p>
        </p:txBody>
      </p:sp>
      <p:sp>
        <p:nvSpPr>
          <p:cNvPr id="37" name="el-1782652367955-8"/>
          <p:cNvSpPr txBox="1"/>
          <p:nvPr/>
        </p:nvSpPr>
        <p:spPr>
          <a:xfrm>
            <a:off x="400050" y="884396"/>
            <a:ext cx="40933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▎分层架构（自底向上）</a:t>
            </a:r>
            <a:endParaRPr/>
          </a:p>
        </p:txBody>
      </p:sp>
      <p:sp>
        <p:nvSpPr>
          <p:cNvPr id="38" name="el-1782652368002-46"/>
          <p:cNvSpPr txBox="1"/>
          <p:nvPr/>
        </p:nvSpPr>
        <p:spPr>
          <a:xfrm>
            <a:off x="582216" y="1347311"/>
            <a:ext cx="57864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ctr">
              <a:lnSpc>
                <a:spcPct val="100000"/>
              </a:lnSpc>
            </a:pPr>
            <a:r>
              <a:rPr b="1" sz="840" spc="17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分析层</a:t>
            </a:r>
            <a:endParaRPr/>
          </a:p>
        </p:txBody>
      </p:sp>
      <p:sp>
        <p:nvSpPr>
          <p:cNvPr id="39" name="el-1782652368003-48"/>
          <p:cNvSpPr txBox="1"/>
          <p:nvPr/>
        </p:nvSpPr>
        <p:spPr>
          <a:xfrm>
            <a:off x="1307306" y="1248728"/>
            <a:ext cx="2971800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Python + sklearn · 特征提取 · 图构建 · Jank 分类 · 对比分析 · 报告</a:t>
            </a:r>
            <a:endParaRPr/>
          </a:p>
        </p:txBody>
      </p:sp>
      <p:sp>
        <p:nvSpPr>
          <p:cNvPr id="40" name="el-1782652367965-12"/>
          <p:cNvSpPr txBox="1"/>
          <p:nvPr/>
        </p:nvSpPr>
        <p:spPr>
          <a:xfrm>
            <a:off x="307181" y="1681639"/>
            <a:ext cx="4214813" cy="2000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57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↑</a:t>
            </a:r>
            <a:endParaRPr/>
          </a:p>
        </p:txBody>
      </p:sp>
      <p:sp>
        <p:nvSpPr>
          <p:cNvPr id="41" name="el-1782652368004-49"/>
          <p:cNvSpPr txBox="1"/>
          <p:nvPr/>
        </p:nvSpPr>
        <p:spPr>
          <a:xfrm>
            <a:off x="582216" y="2065973"/>
            <a:ext cx="69303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ctr">
              <a:lnSpc>
                <a:spcPct val="100000"/>
              </a:lnSpc>
            </a:pPr>
            <a:r>
              <a:rPr b="1" sz="840" spc="17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用户态加载层</a:t>
            </a:r>
            <a:endParaRPr/>
          </a:p>
        </p:txBody>
      </p:sp>
      <p:sp>
        <p:nvSpPr>
          <p:cNvPr id="42" name="el-1782652368005-51"/>
          <p:cNvSpPr txBox="1"/>
          <p:nvPr/>
        </p:nvSpPr>
        <p:spPr>
          <a:xfrm>
            <a:off x="1421696" y="1967389"/>
            <a:ext cx="2857411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 loader · eBPF 加载 · ringbuf 读取 · 图构建 · Hint Engine</a:t>
            </a:r>
            <a:endParaRPr/>
          </a:p>
        </p:txBody>
      </p:sp>
      <p:sp>
        <p:nvSpPr>
          <p:cNvPr id="43" name="el-1782652367966-13"/>
          <p:cNvSpPr txBox="1"/>
          <p:nvPr/>
        </p:nvSpPr>
        <p:spPr>
          <a:xfrm>
            <a:off x="307181" y="2400300"/>
            <a:ext cx="4214813" cy="2000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57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↑</a:t>
            </a:r>
            <a:endParaRPr/>
          </a:p>
        </p:txBody>
      </p:sp>
      <p:sp>
        <p:nvSpPr>
          <p:cNvPr id="44" name="el-1782652368006-52"/>
          <p:cNvSpPr txBox="1"/>
          <p:nvPr/>
        </p:nvSpPr>
        <p:spPr>
          <a:xfrm>
            <a:off x="582216" y="2784634"/>
            <a:ext cx="57864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ctr">
              <a:lnSpc>
                <a:spcPct val="100000"/>
              </a:lnSpc>
            </a:pPr>
            <a:r>
              <a:rPr b="1" sz="840" spc="17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帧标定层</a:t>
            </a:r>
            <a:endParaRPr/>
          </a:p>
        </p:txBody>
      </p:sp>
      <p:sp>
        <p:nvSpPr>
          <p:cNvPr id="45" name="el-1782652367989-32"/>
          <p:cNvSpPr txBox="1"/>
          <p:nvPr/>
        </p:nvSpPr>
        <p:spPr>
          <a:xfrm>
            <a:off x="1307306" y="2686050"/>
            <a:ext cx="2971800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Perfetto · trace_processor_shell + SQL →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frames.txt</a:t>
            </a:r>
            <a:endParaRPr/>
          </a:p>
        </p:txBody>
      </p:sp>
      <p:sp>
        <p:nvSpPr>
          <p:cNvPr id="46" name="el-1782652367967-14"/>
          <p:cNvSpPr txBox="1"/>
          <p:nvPr/>
        </p:nvSpPr>
        <p:spPr>
          <a:xfrm>
            <a:off x="307181" y="3118961"/>
            <a:ext cx="4214813" cy="2000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57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↑</a:t>
            </a:r>
            <a:endParaRPr/>
          </a:p>
        </p:txBody>
      </p:sp>
      <p:sp>
        <p:nvSpPr>
          <p:cNvPr id="47" name="el-1782652368008-54"/>
          <p:cNvSpPr txBox="1"/>
          <p:nvPr/>
        </p:nvSpPr>
        <p:spPr>
          <a:xfrm>
            <a:off x="582216" y="3503295"/>
            <a:ext cx="643027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ctr">
              <a:lnSpc>
                <a:spcPct val="100000"/>
              </a:lnSpc>
            </a:pPr>
            <a:r>
              <a:rPr b="1" sz="840" spc="17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内核采集层</a:t>
            </a:r>
            <a:endParaRPr/>
          </a:p>
        </p:txBody>
      </p:sp>
      <p:sp>
        <p:nvSpPr>
          <p:cNvPr id="48" name="el-1782652367991-33"/>
          <p:cNvSpPr txBox="1"/>
          <p:nvPr/>
        </p:nvSpPr>
        <p:spPr>
          <a:xfrm>
            <a:off x="1371689" y="3404711"/>
            <a:ext cx="2907417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eBPF · kprobe + tracepoint + ringbuf →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events.bin</a:t>
            </a:r>
            <a:endParaRPr/>
          </a:p>
        </p:txBody>
      </p:sp>
      <p:sp>
        <p:nvSpPr>
          <p:cNvPr id="49" name="el-1782652367967-15"/>
          <p:cNvSpPr txBox="1"/>
          <p:nvPr/>
        </p:nvSpPr>
        <p:spPr>
          <a:xfrm>
            <a:off x="307181" y="3837623"/>
            <a:ext cx="4214813" cy="2000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57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↑</a:t>
            </a:r>
            <a:endParaRPr/>
          </a:p>
        </p:txBody>
      </p:sp>
      <p:sp>
        <p:nvSpPr>
          <p:cNvPr id="50" name="el-1782652368010-56"/>
          <p:cNvSpPr txBox="1"/>
          <p:nvPr/>
        </p:nvSpPr>
        <p:spPr>
          <a:xfrm>
            <a:off x="582216" y="4166235"/>
            <a:ext cx="57864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ctr">
              <a:lnSpc>
                <a:spcPct val="100000"/>
              </a:lnSpc>
            </a:pPr>
            <a:r>
              <a:rPr b="1" sz="840" spc="17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硬件层</a:t>
            </a:r>
            <a:endParaRPr/>
          </a:p>
        </p:txBody>
      </p:sp>
      <p:sp>
        <p:nvSpPr>
          <p:cNvPr id="51" name="el-1782652368011-58"/>
          <p:cNvSpPr txBox="1"/>
          <p:nvPr/>
        </p:nvSpPr>
        <p:spPr>
          <a:xfrm>
            <a:off x="1307306" y="4152662"/>
            <a:ext cx="2624435" cy="17002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Pixel 6a · Android 14 / Magisk root / ARM64</a:t>
            </a:r>
            <a:endParaRPr/>
          </a:p>
        </p:txBody>
      </p:sp>
      <p:sp>
        <p:nvSpPr>
          <p:cNvPr id="52" name="el-1782652367956-9"/>
          <p:cNvSpPr txBox="1"/>
          <p:nvPr/>
        </p:nvSpPr>
        <p:spPr>
          <a:xfrm>
            <a:off x="4714875" y="1617345"/>
            <a:ext cx="40933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▎技术详情</a:t>
            </a:r>
            <a:endParaRPr/>
          </a:p>
        </p:txBody>
      </p:sp>
      <p:sp>
        <p:nvSpPr>
          <p:cNvPr id="53" name="el-1782652367991-34"/>
          <p:cNvSpPr txBox="1"/>
          <p:nvPr/>
        </p:nvSpPr>
        <p:spPr>
          <a:xfrm>
            <a:off x="4836319" y="1967389"/>
            <a:ext cx="80010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eBPF</a:t>
            </a:r>
            <a:endParaRPr/>
          </a:p>
        </p:txBody>
      </p:sp>
      <p:sp>
        <p:nvSpPr>
          <p:cNvPr id="54" name="el-1782652367985-29"/>
          <p:cNvSpPr txBox="1"/>
          <p:nvPr/>
        </p:nvSpPr>
        <p:spPr>
          <a:xfrm>
            <a:off x="5693569" y="1972747"/>
            <a:ext cx="31039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 编写 BPF 程序，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clang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交叉编译</a:t>
            </a:r>
            <a:endParaRPr/>
          </a:p>
        </p:txBody>
      </p:sp>
      <p:sp>
        <p:nvSpPr>
          <p:cNvPr id="55" name="el-1782652367993-36"/>
          <p:cNvSpPr txBox="1"/>
          <p:nvPr/>
        </p:nvSpPr>
        <p:spPr>
          <a:xfrm>
            <a:off x="4836319" y="2281714"/>
            <a:ext cx="80010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Perfetto</a:t>
            </a:r>
            <a:endParaRPr/>
          </a:p>
        </p:txBody>
      </p:sp>
      <p:sp>
        <p:nvSpPr>
          <p:cNvPr id="56" name="el-1782652367987-30"/>
          <p:cNvSpPr txBox="1"/>
          <p:nvPr/>
        </p:nvSpPr>
        <p:spPr>
          <a:xfrm>
            <a:off x="5693569" y="2287072"/>
            <a:ext cx="31039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trace_processor_shell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SQL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查询</a:t>
            </a:r>
            <a:endParaRPr/>
          </a:p>
        </p:txBody>
      </p:sp>
      <p:sp>
        <p:nvSpPr>
          <p:cNvPr id="57" name="el-1782652367995-38"/>
          <p:cNvSpPr txBox="1"/>
          <p:nvPr/>
        </p:nvSpPr>
        <p:spPr>
          <a:xfrm>
            <a:off x="4836319" y="2596039"/>
            <a:ext cx="621506" cy="2971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ts val="108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Docker + NDK r26b</a:t>
            </a:r>
            <a:endParaRPr/>
          </a:p>
        </p:txBody>
      </p:sp>
      <p:sp>
        <p:nvSpPr>
          <p:cNvPr id="58" name="el-1782652367997-40"/>
          <p:cNvSpPr txBox="1"/>
          <p:nvPr/>
        </p:nvSpPr>
        <p:spPr>
          <a:xfrm>
            <a:off x="5693569" y="2653546"/>
            <a:ext cx="31039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Ubuntu 22.04 编译环境封装</a:t>
            </a:r>
            <a:endParaRPr/>
          </a:p>
        </p:txBody>
      </p:sp>
      <p:sp>
        <p:nvSpPr>
          <p:cNvPr id="59" name="el-1782652367998-41"/>
          <p:cNvSpPr txBox="1"/>
          <p:nvPr/>
        </p:nvSpPr>
        <p:spPr>
          <a:xfrm>
            <a:off x="4836319" y="3014663"/>
            <a:ext cx="621506" cy="2971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ts val="108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Python + sklearn</a:t>
            </a:r>
            <a:endParaRPr/>
          </a:p>
        </p:txBody>
      </p:sp>
      <p:sp>
        <p:nvSpPr>
          <p:cNvPr id="60" name="el-1782652367988-31"/>
          <p:cNvSpPr txBox="1"/>
          <p:nvPr/>
        </p:nvSpPr>
        <p:spPr>
          <a:xfrm>
            <a:off x="5693569" y="3072170"/>
            <a:ext cx="31039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决策树分类 ·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LeaveOneOut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验证</a:t>
            </a:r>
            <a:endParaRPr/>
          </a:p>
        </p:txBody>
      </p:sp>
      <p:sp>
        <p:nvSpPr>
          <p:cNvPr id="61" name="el-1782652368000-43"/>
          <p:cNvSpPr txBox="1"/>
          <p:nvPr/>
        </p:nvSpPr>
        <p:spPr>
          <a:xfrm>
            <a:off x="4836319" y="3433286"/>
            <a:ext cx="800100" cy="2000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 (loader)</a:t>
            </a:r>
            <a:endParaRPr/>
          </a:p>
        </p:txBody>
      </p:sp>
      <p:sp>
        <p:nvSpPr>
          <p:cNvPr id="62" name="el-1782652368001-45"/>
          <p:cNvSpPr txBox="1"/>
          <p:nvPr/>
        </p:nvSpPr>
        <p:spPr>
          <a:xfrm>
            <a:off x="5693569" y="3442216"/>
            <a:ext cx="3103959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身份解析 + 图构建 + 推断引擎</a:t>
            </a:r>
            <a:endParaRPr/>
          </a:p>
        </p:txBody>
      </p:sp>
      <p:sp>
        <p:nvSpPr>
          <p:cNvPr id="63" name="el-1782652367951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64" name="el-1782652367951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1817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1820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1827-8"/>
          <p:cNvSpPr/>
          <p:nvPr/>
        </p:nvSpPr>
        <p:spPr>
          <a:xfrm>
            <a:off x="400050" y="571500"/>
            <a:ext cx="8343900" cy="5572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71833-12"/>
          <p:cNvCxnSpPr/>
          <p:nvPr/>
        </p:nvCxnSpPr>
        <p:spPr>
          <a:xfrm>
            <a:off x="414338" y="571500"/>
            <a:ext cx="914" cy="55721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71845-18"/>
          <p:cNvSpPr/>
          <p:nvPr/>
        </p:nvSpPr>
        <p:spPr>
          <a:xfrm>
            <a:off x="557213" y="650081"/>
            <a:ext cx="822960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82652371847-21"/>
          <p:cNvSpPr/>
          <p:nvPr/>
        </p:nvSpPr>
        <p:spPr>
          <a:xfrm>
            <a:off x="1580197" y="650081"/>
            <a:ext cx="388620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82652371849-24"/>
          <p:cNvSpPr/>
          <p:nvPr/>
        </p:nvSpPr>
        <p:spPr>
          <a:xfrm>
            <a:off x="2168843" y="650081"/>
            <a:ext cx="605790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82652371852-27"/>
          <p:cNvSpPr/>
          <p:nvPr/>
        </p:nvSpPr>
        <p:spPr>
          <a:xfrm>
            <a:off x="2974657" y="650081"/>
            <a:ext cx="605790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82652371854-30"/>
          <p:cNvSpPr/>
          <p:nvPr/>
        </p:nvSpPr>
        <p:spPr>
          <a:xfrm>
            <a:off x="3716089" y="650081"/>
            <a:ext cx="675352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82652371856-33"/>
          <p:cNvSpPr/>
          <p:nvPr/>
        </p:nvSpPr>
        <p:spPr>
          <a:xfrm>
            <a:off x="4527084" y="650081"/>
            <a:ext cx="388620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82652371828-9"/>
          <p:cNvSpPr/>
          <p:nvPr/>
        </p:nvSpPr>
        <p:spPr>
          <a:xfrm>
            <a:off x="400050" y="1185863"/>
            <a:ext cx="8343900" cy="2714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DF5"/>
          </a:solidFill>
          <a:ln w="7144" algn="in">
            <a:solidFill>
              <a:srgbClr val="E8E0C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3" name="el-1782652371833-13"/>
          <p:cNvCxnSpPr/>
          <p:nvPr/>
        </p:nvCxnSpPr>
        <p:spPr>
          <a:xfrm>
            <a:off x="414338" y="1185863"/>
            <a:ext cx="914" cy="27146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-1782652371829-10"/>
          <p:cNvSpPr/>
          <p:nvPr/>
        </p:nvSpPr>
        <p:spPr>
          <a:xfrm>
            <a:off x="400050" y="1514475"/>
            <a:ext cx="8343900" cy="215669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el-1782652371877-39"/>
          <p:cNvSpPr/>
          <p:nvPr/>
        </p:nvSpPr>
        <p:spPr>
          <a:xfrm>
            <a:off x="535781" y="1795939"/>
            <a:ext cx="1614488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6" name="el-1782652371910-81"/>
          <p:cNvCxnSpPr/>
          <p:nvPr/>
        </p:nvCxnSpPr>
        <p:spPr>
          <a:xfrm>
            <a:off x="535781" y="2017395"/>
            <a:ext cx="1614488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-1782652371880-41"/>
          <p:cNvSpPr/>
          <p:nvPr/>
        </p:nvSpPr>
        <p:spPr>
          <a:xfrm>
            <a:off x="2150269" y="1795939"/>
            <a:ext cx="2583180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8" name="el-1782652371910-82"/>
          <p:cNvCxnSpPr/>
          <p:nvPr/>
        </p:nvCxnSpPr>
        <p:spPr>
          <a:xfrm>
            <a:off x="2150269" y="2017395"/>
            <a:ext cx="258318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l-1782652371883-43"/>
          <p:cNvSpPr/>
          <p:nvPr/>
        </p:nvSpPr>
        <p:spPr>
          <a:xfrm>
            <a:off x="4733449" y="1795939"/>
            <a:ext cx="3874770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0" name="el-1782652371911-83"/>
          <p:cNvCxnSpPr/>
          <p:nvPr/>
        </p:nvCxnSpPr>
        <p:spPr>
          <a:xfrm>
            <a:off x="4733449" y="2017395"/>
            <a:ext cx="387477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-1782652371911-84"/>
          <p:cNvCxnSpPr/>
          <p:nvPr/>
        </p:nvCxnSpPr>
        <p:spPr>
          <a:xfrm>
            <a:off x="535781" y="2242423"/>
            <a:ext cx="1614488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-1782652371912-85"/>
          <p:cNvCxnSpPr/>
          <p:nvPr/>
        </p:nvCxnSpPr>
        <p:spPr>
          <a:xfrm>
            <a:off x="2150269" y="2242423"/>
            <a:ext cx="258318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-1782652371912-86"/>
          <p:cNvCxnSpPr/>
          <p:nvPr/>
        </p:nvCxnSpPr>
        <p:spPr>
          <a:xfrm>
            <a:off x="4733449" y="2242423"/>
            <a:ext cx="387477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-1782652371913-87"/>
          <p:cNvCxnSpPr/>
          <p:nvPr/>
        </p:nvCxnSpPr>
        <p:spPr>
          <a:xfrm>
            <a:off x="535781" y="2467451"/>
            <a:ext cx="1614488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l-1782652371914-88"/>
          <p:cNvCxnSpPr/>
          <p:nvPr/>
        </p:nvCxnSpPr>
        <p:spPr>
          <a:xfrm>
            <a:off x="2150269" y="2467451"/>
            <a:ext cx="258318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-1782652371915-89"/>
          <p:cNvCxnSpPr/>
          <p:nvPr/>
        </p:nvCxnSpPr>
        <p:spPr>
          <a:xfrm>
            <a:off x="4733449" y="2467451"/>
            <a:ext cx="387477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-1782652371917-90"/>
          <p:cNvCxnSpPr/>
          <p:nvPr/>
        </p:nvCxnSpPr>
        <p:spPr>
          <a:xfrm>
            <a:off x="535781" y="2692479"/>
            <a:ext cx="1614488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-1782652371889-52"/>
          <p:cNvSpPr/>
          <p:nvPr/>
        </p:nvSpPr>
        <p:spPr>
          <a:xfrm>
            <a:off x="2150269" y="2471023"/>
            <a:ext cx="2583180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8E1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9" name="el-1782652371918-91"/>
          <p:cNvCxnSpPr/>
          <p:nvPr/>
        </p:nvCxnSpPr>
        <p:spPr>
          <a:xfrm>
            <a:off x="2150269" y="2692479"/>
            <a:ext cx="258318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-1782652371891-54"/>
          <p:cNvSpPr/>
          <p:nvPr/>
        </p:nvSpPr>
        <p:spPr>
          <a:xfrm>
            <a:off x="4733449" y="2471023"/>
            <a:ext cx="3874770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8E1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1" name="el-1782652371919-92"/>
          <p:cNvCxnSpPr/>
          <p:nvPr/>
        </p:nvCxnSpPr>
        <p:spPr>
          <a:xfrm>
            <a:off x="4733449" y="2692479"/>
            <a:ext cx="387477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l-1782652371919-93"/>
          <p:cNvCxnSpPr/>
          <p:nvPr/>
        </p:nvCxnSpPr>
        <p:spPr>
          <a:xfrm>
            <a:off x="535781" y="2917507"/>
            <a:ext cx="1614488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el-1782652371921-94"/>
          <p:cNvCxnSpPr/>
          <p:nvPr/>
        </p:nvCxnSpPr>
        <p:spPr>
          <a:xfrm>
            <a:off x="2150269" y="2917507"/>
            <a:ext cx="258318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-1782652371921-95"/>
          <p:cNvCxnSpPr/>
          <p:nvPr/>
        </p:nvCxnSpPr>
        <p:spPr>
          <a:xfrm>
            <a:off x="4733449" y="2917507"/>
            <a:ext cx="387477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-1782652371922-96"/>
          <p:cNvCxnSpPr/>
          <p:nvPr/>
        </p:nvCxnSpPr>
        <p:spPr>
          <a:xfrm>
            <a:off x="535781" y="3142536"/>
            <a:ext cx="1614488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-1782652371923-97"/>
          <p:cNvCxnSpPr/>
          <p:nvPr/>
        </p:nvCxnSpPr>
        <p:spPr>
          <a:xfrm>
            <a:off x="2150269" y="3142536"/>
            <a:ext cx="258318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l-1782652371923-98"/>
          <p:cNvCxnSpPr/>
          <p:nvPr/>
        </p:nvCxnSpPr>
        <p:spPr>
          <a:xfrm>
            <a:off x="4733449" y="3142536"/>
            <a:ext cx="387477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el-1782652371925-99"/>
          <p:cNvCxnSpPr/>
          <p:nvPr/>
        </p:nvCxnSpPr>
        <p:spPr>
          <a:xfrm>
            <a:off x="535781" y="3367564"/>
            <a:ext cx="1614488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-1782652371925-100"/>
          <p:cNvCxnSpPr/>
          <p:nvPr/>
        </p:nvCxnSpPr>
        <p:spPr>
          <a:xfrm>
            <a:off x="2150269" y="3367564"/>
            <a:ext cx="2583180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-1782652371831-11"/>
          <p:cNvSpPr/>
          <p:nvPr/>
        </p:nvSpPr>
        <p:spPr>
          <a:xfrm>
            <a:off x="400050" y="3728323"/>
            <a:ext cx="8343900" cy="93797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el-1782652371898-65"/>
          <p:cNvSpPr/>
          <p:nvPr/>
        </p:nvSpPr>
        <p:spPr>
          <a:xfrm>
            <a:off x="535781" y="3981212"/>
            <a:ext cx="1571625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el-1782652371899-68"/>
          <p:cNvSpPr/>
          <p:nvPr/>
        </p:nvSpPr>
        <p:spPr>
          <a:xfrm>
            <a:off x="2293144" y="3981212"/>
            <a:ext cx="577215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el-1782652371903-71"/>
          <p:cNvSpPr/>
          <p:nvPr/>
        </p:nvSpPr>
        <p:spPr>
          <a:xfrm>
            <a:off x="3056096" y="3981212"/>
            <a:ext cx="2054007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el-1782652371905-74"/>
          <p:cNvSpPr/>
          <p:nvPr/>
        </p:nvSpPr>
        <p:spPr>
          <a:xfrm>
            <a:off x="5295841" y="3981212"/>
            <a:ext cx="648920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el-1782652371907-77"/>
          <p:cNvSpPr/>
          <p:nvPr/>
        </p:nvSpPr>
        <p:spPr>
          <a:xfrm>
            <a:off x="6130499" y="3981212"/>
            <a:ext cx="1530281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6" name="el-1782652371909-80"/>
          <p:cNvSpPr/>
          <p:nvPr/>
        </p:nvSpPr>
        <p:spPr>
          <a:xfrm>
            <a:off x="535781" y="4204097"/>
            <a:ext cx="1354902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7" name="el-1782652371818-2"/>
          <p:cNvCxnSpPr/>
          <p:nvPr/>
        </p:nvCxnSpPr>
        <p:spPr>
          <a:xfrm>
            <a:off x="0" y="566142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-1782652371822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06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49" name="el-1782652371823-5"/>
          <p:cNvSpPr txBox="1"/>
          <p:nvPr/>
        </p:nvSpPr>
        <p:spPr>
          <a:xfrm>
            <a:off x="1140678" y="159306"/>
            <a:ext cx="1850946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eBPF 探针 — 内核事件采集</a:t>
            </a:r>
            <a:endParaRPr/>
          </a:p>
        </p:txBody>
      </p:sp>
      <p:sp>
        <p:nvSpPr>
          <p:cNvPr id="50" name="el-1782652371844-17"/>
          <p:cNvSpPr txBox="1"/>
          <p:nvPr/>
        </p:nvSpPr>
        <p:spPr>
          <a:xfrm>
            <a:off x="642938" y="678656"/>
            <a:ext cx="79081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用户感知卡顿</a:t>
            </a:r>
            <a:endParaRPr/>
          </a:p>
        </p:txBody>
      </p:sp>
      <p:sp>
        <p:nvSpPr>
          <p:cNvPr id="51" name="el-1782652371846-19"/>
          <p:cNvSpPr txBox="1"/>
          <p:nvPr/>
        </p:nvSpPr>
        <p:spPr>
          <a:xfrm>
            <a:off x="1408747" y="678656"/>
            <a:ext cx="21431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52" name="el-1782652371846-20"/>
          <p:cNvSpPr txBox="1"/>
          <p:nvPr/>
        </p:nvSpPr>
        <p:spPr>
          <a:xfrm>
            <a:off x="1665922" y="678656"/>
            <a:ext cx="35647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帧掉</a:t>
            </a:r>
            <a:endParaRPr/>
          </a:p>
        </p:txBody>
      </p:sp>
      <p:sp>
        <p:nvSpPr>
          <p:cNvPr id="53" name="el-1782652371848-22"/>
          <p:cNvSpPr txBox="1"/>
          <p:nvPr/>
        </p:nvSpPr>
        <p:spPr>
          <a:xfrm>
            <a:off x="1997393" y="678656"/>
            <a:ext cx="21431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54" name="el-1782652371848-23"/>
          <p:cNvSpPr txBox="1"/>
          <p:nvPr/>
        </p:nvSpPr>
        <p:spPr>
          <a:xfrm>
            <a:off x="2254568" y="678656"/>
            <a:ext cx="57364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线程没跑</a:t>
            </a:r>
            <a:endParaRPr/>
          </a:p>
        </p:txBody>
      </p:sp>
      <p:sp>
        <p:nvSpPr>
          <p:cNvPr id="55" name="el-1782652371849-25"/>
          <p:cNvSpPr txBox="1"/>
          <p:nvPr/>
        </p:nvSpPr>
        <p:spPr>
          <a:xfrm>
            <a:off x="2803207" y="678656"/>
            <a:ext cx="21431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56" name="el-1782652371851-26"/>
          <p:cNvSpPr txBox="1"/>
          <p:nvPr/>
        </p:nvSpPr>
        <p:spPr>
          <a:xfrm>
            <a:off x="3060382" y="678656"/>
            <a:ext cx="57364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调度排队</a:t>
            </a:r>
            <a:endParaRPr/>
          </a:p>
        </p:txBody>
      </p:sp>
      <p:sp>
        <p:nvSpPr>
          <p:cNvPr id="57" name="el-1782652371852-28"/>
          <p:cNvSpPr txBox="1"/>
          <p:nvPr/>
        </p:nvSpPr>
        <p:spPr>
          <a:xfrm>
            <a:off x="3609023" y="678656"/>
            <a:ext cx="149929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∣</a:t>
            </a:r>
            <a:endParaRPr/>
          </a:p>
        </p:txBody>
      </p:sp>
      <p:sp>
        <p:nvSpPr>
          <p:cNvPr id="58" name="el-1782652371852-29"/>
          <p:cNvSpPr txBox="1"/>
          <p:nvPr/>
        </p:nvSpPr>
        <p:spPr>
          <a:xfrm>
            <a:off x="3801814" y="678656"/>
            <a:ext cx="643205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等 Binder</a:t>
            </a:r>
            <a:endParaRPr/>
          </a:p>
        </p:txBody>
      </p:sp>
      <p:sp>
        <p:nvSpPr>
          <p:cNvPr id="59" name="el-1782652371854-31"/>
          <p:cNvSpPr txBox="1"/>
          <p:nvPr/>
        </p:nvSpPr>
        <p:spPr>
          <a:xfrm>
            <a:off x="4420017" y="678656"/>
            <a:ext cx="149929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∣</a:t>
            </a:r>
            <a:endParaRPr/>
          </a:p>
        </p:txBody>
      </p:sp>
      <p:sp>
        <p:nvSpPr>
          <p:cNvPr id="60" name="el-1782652371854-32"/>
          <p:cNvSpPr txBox="1"/>
          <p:nvPr/>
        </p:nvSpPr>
        <p:spPr>
          <a:xfrm>
            <a:off x="4612809" y="678656"/>
            <a:ext cx="35647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等锁</a:t>
            </a:r>
            <a:endParaRPr/>
          </a:p>
        </p:txBody>
      </p:sp>
      <p:sp>
        <p:nvSpPr>
          <p:cNvPr id="61" name="el-1782652371841-15"/>
          <p:cNvSpPr txBox="1"/>
          <p:nvPr/>
        </p:nvSpPr>
        <p:spPr>
          <a:xfrm>
            <a:off x="585788" y="878681"/>
            <a:ext cx="418284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→ 必须同时采集 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sched_switch + binder + futex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+ cpu_frequency + thermal</a:t>
            </a:r>
            <a:endParaRPr/>
          </a:p>
        </p:txBody>
      </p:sp>
      <p:sp>
        <p:nvSpPr>
          <p:cNvPr id="62" name="el-1782652371857-34"/>
          <p:cNvSpPr txBox="1"/>
          <p:nvPr/>
        </p:nvSpPr>
        <p:spPr>
          <a:xfrm>
            <a:off x="542925" y="1235869"/>
            <a:ext cx="15493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▶</a:t>
            </a:r>
            <a:endParaRPr/>
          </a:p>
        </p:txBody>
      </p:sp>
      <p:sp>
        <p:nvSpPr>
          <p:cNvPr id="63" name="el-1782652371836-14"/>
          <p:cNvSpPr txBox="1"/>
          <p:nvPr/>
        </p:nvSpPr>
        <p:spPr>
          <a:xfrm>
            <a:off x="712143" y="1247299"/>
            <a:ext cx="5054382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用户感知卡顿 → 线程没跑 → 三种可能：调度排队 / 等 Binder / 等锁 → 对应 6 个探针 + 环境因素</a:t>
            </a:r>
            <a:endParaRPr/>
          </a:p>
        </p:txBody>
      </p:sp>
      <p:sp>
        <p:nvSpPr>
          <p:cNvPr id="64" name="el-1782652371858-35"/>
          <p:cNvSpPr txBox="1"/>
          <p:nvPr/>
        </p:nvSpPr>
        <p:spPr>
          <a:xfrm>
            <a:off x="535781" y="1593056"/>
            <a:ext cx="8133159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探针一览表</a:t>
            </a:r>
            <a:endParaRPr/>
          </a:p>
        </p:txBody>
      </p:sp>
      <p:sp>
        <p:nvSpPr>
          <p:cNvPr id="65" name="el-1782652371876-38"/>
          <p:cNvSpPr txBox="1"/>
          <p:nvPr/>
        </p:nvSpPr>
        <p:spPr>
          <a:xfrm>
            <a:off x="592931" y="1824514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探针</a:t>
            </a:r>
            <a:endParaRPr/>
          </a:p>
        </p:txBody>
      </p:sp>
      <p:sp>
        <p:nvSpPr>
          <p:cNvPr id="66" name="el-1782652371877-40"/>
          <p:cNvSpPr txBox="1"/>
          <p:nvPr/>
        </p:nvSpPr>
        <p:spPr>
          <a:xfrm>
            <a:off x="2207419" y="1824514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类型</a:t>
            </a:r>
            <a:endParaRPr/>
          </a:p>
        </p:txBody>
      </p:sp>
      <p:sp>
        <p:nvSpPr>
          <p:cNvPr id="67" name="el-1782652371880-42"/>
          <p:cNvSpPr txBox="1"/>
          <p:nvPr/>
        </p:nvSpPr>
        <p:spPr>
          <a:xfrm>
            <a:off x="4790599" y="1824514"/>
            <a:ext cx="387119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用途 / 说明</a:t>
            </a:r>
            <a:endParaRPr/>
          </a:p>
        </p:txBody>
      </p:sp>
      <p:sp>
        <p:nvSpPr>
          <p:cNvPr id="68" name="el-1782652371883-44"/>
          <p:cNvSpPr txBox="1"/>
          <p:nvPr/>
        </p:nvSpPr>
        <p:spPr>
          <a:xfrm>
            <a:off x="592931" y="2049542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sched_switch</a:t>
            </a:r>
            <a:endParaRPr/>
          </a:p>
        </p:txBody>
      </p:sp>
      <p:sp>
        <p:nvSpPr>
          <p:cNvPr id="69" name="el-1782652371884-45"/>
          <p:cNvSpPr txBox="1"/>
          <p:nvPr/>
        </p:nvSpPr>
        <p:spPr>
          <a:xfrm>
            <a:off x="2207419" y="2049542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tracepoint</a:t>
            </a:r>
            <a:endParaRPr/>
          </a:p>
        </p:txBody>
      </p:sp>
      <p:sp>
        <p:nvSpPr>
          <p:cNvPr id="70" name="el-1782652371884-46"/>
          <p:cNvSpPr txBox="1"/>
          <p:nvPr/>
        </p:nvSpPr>
        <p:spPr>
          <a:xfrm>
            <a:off x="4790599" y="2049542"/>
            <a:ext cx="387119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线程切换 prev/next TID、运行时长、runnable delay → 计算就绪等待延迟</a:t>
            </a:r>
            <a:endParaRPr/>
          </a:p>
        </p:txBody>
      </p:sp>
      <p:sp>
        <p:nvSpPr>
          <p:cNvPr id="71" name="el-1782652371885-47"/>
          <p:cNvSpPr txBox="1"/>
          <p:nvPr/>
        </p:nvSpPr>
        <p:spPr>
          <a:xfrm>
            <a:off x="592931" y="2274570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sched_wakeup</a:t>
            </a:r>
            <a:endParaRPr/>
          </a:p>
        </p:txBody>
      </p:sp>
      <p:sp>
        <p:nvSpPr>
          <p:cNvPr id="72" name="el-1782652371885-48"/>
          <p:cNvSpPr txBox="1"/>
          <p:nvPr/>
        </p:nvSpPr>
        <p:spPr>
          <a:xfrm>
            <a:off x="2207419" y="2274570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tracepoint</a:t>
            </a:r>
            <a:endParaRPr/>
          </a:p>
        </p:txBody>
      </p:sp>
      <p:sp>
        <p:nvSpPr>
          <p:cNvPr id="73" name="el-1782652371886-49"/>
          <p:cNvSpPr txBox="1"/>
          <p:nvPr/>
        </p:nvSpPr>
        <p:spPr>
          <a:xfrm>
            <a:off x="4790599" y="2274570"/>
            <a:ext cx="387119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唤醒延迟 → wakeup-to-run latency</a:t>
            </a:r>
            <a:endParaRPr/>
          </a:p>
        </p:txBody>
      </p:sp>
      <p:sp>
        <p:nvSpPr>
          <p:cNvPr id="74" name="el-1782652371887-50"/>
          <p:cNvSpPr txBox="1"/>
          <p:nvPr/>
        </p:nvSpPr>
        <p:spPr>
          <a:xfrm>
            <a:off x="592931" y="2499598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binder_transaction</a:t>
            </a:r>
            <a:endParaRPr/>
          </a:p>
        </p:txBody>
      </p:sp>
      <p:sp>
        <p:nvSpPr>
          <p:cNvPr id="75" name="el-1782652371887-51"/>
          <p:cNvSpPr txBox="1"/>
          <p:nvPr/>
        </p:nvSpPr>
        <p:spPr>
          <a:xfrm>
            <a:off x="2207419" y="2499598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kprobe ⚠️</a:t>
            </a:r>
            <a:endParaRPr/>
          </a:p>
        </p:txBody>
      </p:sp>
      <p:sp>
        <p:nvSpPr>
          <p:cNvPr id="76" name="el-1782652371889-53"/>
          <p:cNvSpPr txBox="1"/>
          <p:nvPr/>
        </p:nvSpPr>
        <p:spPr>
          <a:xfrm>
            <a:off x="4790599" y="2499598"/>
            <a:ext cx="386762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Binder IPC 调用发起/接收 → 跨进程依赖分析</a:t>
            </a:r>
            <a:endParaRPr/>
          </a:p>
        </p:txBody>
      </p:sp>
      <p:sp>
        <p:nvSpPr>
          <p:cNvPr id="77" name="el-1782652371892-55"/>
          <p:cNvSpPr txBox="1"/>
          <p:nvPr/>
        </p:nvSpPr>
        <p:spPr>
          <a:xfrm>
            <a:off x="592931" y="2724626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futex wait/wake</a:t>
            </a:r>
            <a:endParaRPr/>
          </a:p>
        </p:txBody>
      </p:sp>
      <p:sp>
        <p:nvSpPr>
          <p:cNvPr id="78" name="el-1782652371892-56"/>
          <p:cNvSpPr txBox="1"/>
          <p:nvPr/>
        </p:nvSpPr>
        <p:spPr>
          <a:xfrm>
            <a:off x="2207419" y="2724626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tracepoint</a:t>
            </a:r>
            <a:endParaRPr/>
          </a:p>
        </p:txBody>
      </p:sp>
      <p:sp>
        <p:nvSpPr>
          <p:cNvPr id="79" name="el-1782652371893-57"/>
          <p:cNvSpPr txBox="1"/>
          <p:nvPr/>
        </p:nvSpPr>
        <p:spPr>
          <a:xfrm>
            <a:off x="4790599" y="2724626"/>
            <a:ext cx="387119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锁等待 → 同步阻塞识别</a:t>
            </a:r>
            <a:endParaRPr/>
          </a:p>
        </p:txBody>
      </p:sp>
      <p:sp>
        <p:nvSpPr>
          <p:cNvPr id="80" name="el-1782652371893-58"/>
          <p:cNvSpPr txBox="1"/>
          <p:nvPr/>
        </p:nvSpPr>
        <p:spPr>
          <a:xfrm>
            <a:off x="592931" y="2949654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cpu_frequency</a:t>
            </a:r>
            <a:endParaRPr/>
          </a:p>
        </p:txBody>
      </p:sp>
      <p:sp>
        <p:nvSpPr>
          <p:cNvPr id="81" name="el-1782652371894-59"/>
          <p:cNvSpPr txBox="1"/>
          <p:nvPr/>
        </p:nvSpPr>
        <p:spPr>
          <a:xfrm>
            <a:off x="2207419" y="2949654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tracepoint</a:t>
            </a:r>
            <a:endParaRPr/>
          </a:p>
        </p:txBody>
      </p:sp>
      <p:sp>
        <p:nvSpPr>
          <p:cNvPr id="82" name="el-1782652371894-60"/>
          <p:cNvSpPr txBox="1"/>
          <p:nvPr/>
        </p:nvSpPr>
        <p:spPr>
          <a:xfrm>
            <a:off x="4790599" y="2949654"/>
            <a:ext cx="387119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CPU 频率变化 → 大小核调频分析</a:t>
            </a:r>
            <a:endParaRPr/>
          </a:p>
        </p:txBody>
      </p:sp>
      <p:sp>
        <p:nvSpPr>
          <p:cNvPr id="83" name="el-1782652371895-61"/>
          <p:cNvSpPr txBox="1"/>
          <p:nvPr/>
        </p:nvSpPr>
        <p:spPr>
          <a:xfrm>
            <a:off x="592931" y="3174682"/>
            <a:ext cx="16109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thermal_temperature</a:t>
            </a:r>
            <a:endParaRPr/>
          </a:p>
        </p:txBody>
      </p:sp>
      <p:sp>
        <p:nvSpPr>
          <p:cNvPr id="84" name="el-1782652371895-62"/>
          <p:cNvSpPr txBox="1"/>
          <p:nvPr/>
        </p:nvSpPr>
        <p:spPr>
          <a:xfrm>
            <a:off x="2207419" y="3174682"/>
            <a:ext cx="257960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tracepoint</a:t>
            </a:r>
            <a:endParaRPr/>
          </a:p>
        </p:txBody>
      </p:sp>
      <p:sp>
        <p:nvSpPr>
          <p:cNvPr id="85" name="el-1782652371896-63"/>
          <p:cNvSpPr txBox="1"/>
          <p:nvPr/>
        </p:nvSpPr>
        <p:spPr>
          <a:xfrm>
            <a:off x="4790599" y="3174682"/>
            <a:ext cx="3871198" cy="16787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温控温度 → 降频归因</a:t>
            </a:r>
            <a:endParaRPr/>
          </a:p>
        </p:txBody>
      </p:sp>
      <p:sp>
        <p:nvSpPr>
          <p:cNvPr id="86" name="el-1782652371859-36"/>
          <p:cNvSpPr txBox="1"/>
          <p:nvPr/>
        </p:nvSpPr>
        <p:spPr>
          <a:xfrm>
            <a:off x="535781" y="3442573"/>
            <a:ext cx="8122444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B00020"/>
                </a:solidFill>
                <a:latin typeface="Microsoft YaHei"/>
                <a:ea typeface="Microsoft YaHei"/>
                <a:cs typeface="Microsoft YaHei"/>
              </a:rPr>
              <a:t>⚠️ binder 用 kprobe 而非 tracepoint：Android GKI 内核未暴露 binder tracepoint</a:t>
            </a:r>
            <a:endParaRPr/>
          </a:p>
        </p:txBody>
      </p:sp>
      <p:sp>
        <p:nvSpPr>
          <p:cNvPr id="87" name="el-1782652371859-37"/>
          <p:cNvSpPr txBox="1"/>
          <p:nvPr/>
        </p:nvSpPr>
        <p:spPr>
          <a:xfrm>
            <a:off x="535781" y="3792617"/>
            <a:ext cx="8133159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编译部署流程</a:t>
            </a:r>
            <a:endParaRPr/>
          </a:p>
        </p:txBody>
      </p:sp>
      <p:sp>
        <p:nvSpPr>
          <p:cNvPr id="88" name="el-1782652371896-64"/>
          <p:cNvSpPr txBox="1"/>
          <p:nvPr/>
        </p:nvSpPr>
        <p:spPr>
          <a:xfrm>
            <a:off x="621506" y="4009787"/>
            <a:ext cx="1535906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Docker (NDK r26b + clang)</a:t>
            </a:r>
            <a:endParaRPr/>
          </a:p>
        </p:txBody>
      </p:sp>
      <p:sp>
        <p:nvSpPr>
          <p:cNvPr id="89" name="el-1782652371898-66"/>
          <p:cNvSpPr txBox="1"/>
          <p:nvPr/>
        </p:nvSpPr>
        <p:spPr>
          <a:xfrm>
            <a:off x="2135981" y="3992642"/>
            <a:ext cx="19288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90" name="el-1782652371898-67"/>
          <p:cNvSpPr txBox="1"/>
          <p:nvPr/>
        </p:nvSpPr>
        <p:spPr>
          <a:xfrm>
            <a:off x="2378869" y="4009787"/>
            <a:ext cx="541496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交叉编译</a:t>
            </a:r>
            <a:endParaRPr/>
          </a:p>
        </p:txBody>
      </p:sp>
      <p:sp>
        <p:nvSpPr>
          <p:cNvPr id="91" name="el-1782652371901-69"/>
          <p:cNvSpPr txBox="1"/>
          <p:nvPr/>
        </p:nvSpPr>
        <p:spPr>
          <a:xfrm>
            <a:off x="2898934" y="3992642"/>
            <a:ext cx="19288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92" name="el-1782652371901-70"/>
          <p:cNvSpPr txBox="1"/>
          <p:nvPr/>
        </p:nvSpPr>
        <p:spPr>
          <a:xfrm>
            <a:off x="3141821" y="4009787"/>
            <a:ext cx="201828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tracepilot.bpf.o + tracepilot-aarch64</a:t>
            </a:r>
            <a:endParaRPr/>
          </a:p>
        </p:txBody>
      </p:sp>
      <p:sp>
        <p:nvSpPr>
          <p:cNvPr id="93" name="el-1782652371903-72"/>
          <p:cNvSpPr txBox="1"/>
          <p:nvPr/>
        </p:nvSpPr>
        <p:spPr>
          <a:xfrm>
            <a:off x="5138678" y="3992642"/>
            <a:ext cx="19288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94" name="el-1782652371904-73"/>
          <p:cNvSpPr txBox="1"/>
          <p:nvPr/>
        </p:nvSpPr>
        <p:spPr>
          <a:xfrm>
            <a:off x="5381566" y="4009787"/>
            <a:ext cx="613202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adb push</a:t>
            </a:r>
            <a:endParaRPr/>
          </a:p>
        </p:txBody>
      </p:sp>
      <p:sp>
        <p:nvSpPr>
          <p:cNvPr id="95" name="el-1782652371905-75"/>
          <p:cNvSpPr txBox="1"/>
          <p:nvPr/>
        </p:nvSpPr>
        <p:spPr>
          <a:xfrm>
            <a:off x="5973336" y="3992642"/>
            <a:ext cx="19288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96" name="el-1782652371906-76"/>
          <p:cNvSpPr txBox="1"/>
          <p:nvPr/>
        </p:nvSpPr>
        <p:spPr>
          <a:xfrm>
            <a:off x="6216224" y="4009787"/>
            <a:ext cx="1494562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Pixel 6a: bpf() 系统调用加载</a:t>
            </a:r>
            <a:endParaRPr/>
          </a:p>
        </p:txBody>
      </p:sp>
      <p:sp>
        <p:nvSpPr>
          <p:cNvPr id="97" name="el-1782652371907-78"/>
          <p:cNvSpPr txBox="1"/>
          <p:nvPr/>
        </p:nvSpPr>
        <p:spPr>
          <a:xfrm>
            <a:off x="7689354" y="3992642"/>
            <a:ext cx="19288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98" name="el-1782652371908-79"/>
          <p:cNvSpPr txBox="1"/>
          <p:nvPr/>
        </p:nvSpPr>
        <p:spPr>
          <a:xfrm>
            <a:off x="621506" y="4232672"/>
            <a:ext cx="1319183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ringbuf 输出 events.bin</a:t>
            </a:r>
            <a:endParaRPr/>
          </a:p>
        </p:txBody>
      </p:sp>
      <p:sp>
        <p:nvSpPr>
          <p:cNvPr id="99" name="el-1782652371843-16"/>
          <p:cNvSpPr txBox="1"/>
          <p:nvPr/>
        </p:nvSpPr>
        <p:spPr>
          <a:xfrm>
            <a:off x="535781" y="4441269"/>
            <a:ext cx="81260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输出体积 </a:t>
            </a: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450~690 MB</a:t>
            </a: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· 全流程容器化封装，Ubuntu 22.04 编译环境</a:t>
            </a:r>
            <a:endParaRPr/>
          </a:p>
        </p:txBody>
      </p:sp>
      <p:sp>
        <p:nvSpPr>
          <p:cNvPr id="100" name="el-1782652371823-6"/>
          <p:cNvSpPr txBox="1"/>
          <p:nvPr/>
        </p:nvSpPr>
        <p:spPr>
          <a:xfrm>
            <a:off x="400050" y="576143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101" name="el-1782652371824-7"/>
          <p:cNvSpPr txBox="1"/>
          <p:nvPr/>
        </p:nvSpPr>
        <p:spPr>
          <a:xfrm>
            <a:off x="7709267" y="576143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2020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2024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2036-11"/>
          <p:cNvSpPr/>
          <p:nvPr/>
        </p:nvSpPr>
        <p:spPr>
          <a:xfrm>
            <a:off x="400050" y="1035844"/>
            <a:ext cx="4100513" cy="97012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72039-15"/>
          <p:cNvCxnSpPr/>
          <p:nvPr/>
        </p:nvCxnSpPr>
        <p:spPr>
          <a:xfrm>
            <a:off x="414338" y="1035844"/>
            <a:ext cx="914" cy="970121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72037-12"/>
          <p:cNvSpPr/>
          <p:nvPr/>
        </p:nvSpPr>
        <p:spPr>
          <a:xfrm>
            <a:off x="4643438" y="1035844"/>
            <a:ext cx="4100513" cy="97012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7" name="el-1782652372040-16"/>
          <p:cNvCxnSpPr/>
          <p:nvPr/>
        </p:nvCxnSpPr>
        <p:spPr>
          <a:xfrm>
            <a:off x="4657725" y="1035844"/>
            <a:ext cx="914" cy="970121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82652372038-13"/>
          <p:cNvSpPr/>
          <p:nvPr/>
        </p:nvSpPr>
        <p:spPr>
          <a:xfrm>
            <a:off x="400050" y="2148840"/>
            <a:ext cx="4100513" cy="97012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9" name="el-1782652372041-17"/>
          <p:cNvCxnSpPr/>
          <p:nvPr/>
        </p:nvCxnSpPr>
        <p:spPr>
          <a:xfrm>
            <a:off x="414338" y="2148840"/>
            <a:ext cx="914" cy="970121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-1782652372038-14"/>
          <p:cNvSpPr/>
          <p:nvPr/>
        </p:nvSpPr>
        <p:spPr>
          <a:xfrm>
            <a:off x="4643438" y="2148840"/>
            <a:ext cx="4100513" cy="97012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1" name="el-1782652372042-18"/>
          <p:cNvCxnSpPr/>
          <p:nvPr/>
        </p:nvCxnSpPr>
        <p:spPr>
          <a:xfrm>
            <a:off x="4657725" y="2148840"/>
            <a:ext cx="914" cy="970121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l-1782652372031-8"/>
          <p:cNvSpPr/>
          <p:nvPr/>
        </p:nvSpPr>
        <p:spPr>
          <a:xfrm>
            <a:off x="400050" y="3290411"/>
            <a:ext cx="8343900" cy="98869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3" name="el-1782652372032-9"/>
          <p:cNvCxnSpPr/>
          <p:nvPr/>
        </p:nvCxnSpPr>
        <p:spPr>
          <a:xfrm>
            <a:off x="414338" y="3290411"/>
            <a:ext cx="914" cy="98869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-1782652372063-28"/>
          <p:cNvSpPr/>
          <p:nvPr/>
        </p:nvSpPr>
        <p:spPr>
          <a:xfrm>
            <a:off x="571500" y="3668316"/>
            <a:ext cx="1385173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82652372065-31"/>
          <p:cNvSpPr/>
          <p:nvPr/>
        </p:nvSpPr>
        <p:spPr>
          <a:xfrm>
            <a:off x="4021217" y="3668316"/>
            <a:ext cx="37147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82652372067-34"/>
          <p:cNvSpPr/>
          <p:nvPr/>
        </p:nvSpPr>
        <p:spPr>
          <a:xfrm>
            <a:off x="6927741" y="3668316"/>
            <a:ext cx="62168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82652372068-37"/>
          <p:cNvSpPr/>
          <p:nvPr/>
        </p:nvSpPr>
        <p:spPr>
          <a:xfrm>
            <a:off x="571500" y="3975497"/>
            <a:ext cx="714375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8" name="el-1782652372021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l-1782652372025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07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20" name="el-1782652372026-5"/>
          <p:cNvSpPr txBox="1"/>
          <p:nvPr/>
        </p:nvSpPr>
        <p:spPr>
          <a:xfrm>
            <a:off x="1140678" y="159306"/>
            <a:ext cx="1214438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四大采集场景覆盖</a:t>
            </a:r>
            <a:endParaRPr/>
          </a:p>
        </p:txBody>
      </p:sp>
      <p:sp>
        <p:nvSpPr>
          <p:cNvPr id="21" name="el-1782652372047-20"/>
          <p:cNvSpPr txBox="1"/>
          <p:nvPr/>
        </p:nvSpPr>
        <p:spPr>
          <a:xfrm>
            <a:off x="571500" y="1171575"/>
            <a:ext cx="3857625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页面切换（基础版）</a:t>
            </a:r>
            <a:endParaRPr/>
          </a:p>
        </p:txBody>
      </p:sp>
      <p:sp>
        <p:nvSpPr>
          <p:cNvPr id="22" name="el-1782652372082-39"/>
          <p:cNvSpPr txBox="1"/>
          <p:nvPr/>
        </p:nvSpPr>
        <p:spPr>
          <a:xfrm>
            <a:off x="571500" y="1434465"/>
            <a:ext cx="3214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endParaRPr/>
          </a:p>
        </p:txBody>
      </p:sp>
      <p:sp>
        <p:nvSpPr>
          <p:cNvPr id="23" name="el-1782652372083-40"/>
          <p:cNvSpPr txBox="1"/>
          <p:nvPr/>
        </p:nvSpPr>
        <p:spPr>
          <a:xfrm>
            <a:off x="871538" y="1434465"/>
            <a:ext cx="27476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QQ</a:t>
            </a:r>
            <a:endParaRPr/>
          </a:p>
        </p:txBody>
      </p:sp>
      <p:sp>
        <p:nvSpPr>
          <p:cNvPr id="24" name="el-1782652372083-41"/>
          <p:cNvSpPr txBox="1"/>
          <p:nvPr/>
        </p:nvSpPr>
        <p:spPr>
          <a:xfrm>
            <a:off x="1253460" y="1434465"/>
            <a:ext cx="45005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数据量</a:t>
            </a:r>
            <a:endParaRPr/>
          </a:p>
        </p:txBody>
      </p:sp>
      <p:sp>
        <p:nvSpPr>
          <p:cNvPr id="25" name="el-1782652372084-42"/>
          <p:cNvSpPr txBox="1"/>
          <p:nvPr/>
        </p:nvSpPr>
        <p:spPr>
          <a:xfrm>
            <a:off x="1682085" y="1434465"/>
            <a:ext cx="56069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690 MB</a:t>
            </a:r>
            <a:endParaRPr/>
          </a:p>
        </p:txBody>
      </p:sp>
      <p:sp>
        <p:nvSpPr>
          <p:cNvPr id="26" name="el-1782652372047-21"/>
          <p:cNvSpPr txBox="1"/>
          <p:nvPr/>
        </p:nvSpPr>
        <p:spPr>
          <a:xfrm>
            <a:off x="571500" y="1677353"/>
            <a:ext cx="3843338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基础 eBPF + Perfetto 帧分析，IRQ/softirq 辅助</a:t>
            </a:r>
            <a:endParaRPr/>
          </a:p>
        </p:txBody>
      </p:sp>
      <p:sp>
        <p:nvSpPr>
          <p:cNvPr id="27" name="el-1782652372048-22"/>
          <p:cNvSpPr txBox="1"/>
          <p:nvPr/>
        </p:nvSpPr>
        <p:spPr>
          <a:xfrm>
            <a:off x="4814888" y="1171575"/>
            <a:ext cx="3857625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视频浏览（增强版）</a:t>
            </a:r>
            <a:endParaRPr/>
          </a:p>
        </p:txBody>
      </p:sp>
      <p:sp>
        <p:nvSpPr>
          <p:cNvPr id="28" name="el-1782652372084-43"/>
          <p:cNvSpPr txBox="1"/>
          <p:nvPr/>
        </p:nvSpPr>
        <p:spPr>
          <a:xfrm>
            <a:off x="4814888" y="1434465"/>
            <a:ext cx="3214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endParaRPr/>
          </a:p>
        </p:txBody>
      </p:sp>
      <p:sp>
        <p:nvSpPr>
          <p:cNvPr id="29" name="el-1782652372084-44"/>
          <p:cNvSpPr txBox="1"/>
          <p:nvPr/>
        </p:nvSpPr>
        <p:spPr>
          <a:xfrm>
            <a:off x="5114925" y="1434465"/>
            <a:ext cx="716072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微信 / 抖音</a:t>
            </a:r>
            <a:endParaRPr/>
          </a:p>
        </p:txBody>
      </p:sp>
      <p:sp>
        <p:nvSpPr>
          <p:cNvPr id="30" name="el-1782652372085-45"/>
          <p:cNvSpPr txBox="1"/>
          <p:nvPr/>
        </p:nvSpPr>
        <p:spPr>
          <a:xfrm>
            <a:off x="5938153" y="1434465"/>
            <a:ext cx="45005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数据量</a:t>
            </a:r>
            <a:endParaRPr/>
          </a:p>
        </p:txBody>
      </p:sp>
      <p:sp>
        <p:nvSpPr>
          <p:cNvPr id="31" name="el-1782652372085-46"/>
          <p:cNvSpPr txBox="1"/>
          <p:nvPr/>
        </p:nvSpPr>
        <p:spPr>
          <a:xfrm>
            <a:off x="6366778" y="1434465"/>
            <a:ext cx="56069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451 MB</a:t>
            </a:r>
            <a:endParaRPr/>
          </a:p>
        </p:txBody>
      </p:sp>
      <p:sp>
        <p:nvSpPr>
          <p:cNvPr id="32" name="el-1782652372046-19"/>
          <p:cNvSpPr txBox="1"/>
          <p:nvPr/>
        </p:nvSpPr>
        <p:spPr>
          <a:xfrm>
            <a:off x="4814888" y="1677353"/>
            <a:ext cx="3843338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双场景对照，Binder/Futex 图，Jank 分类，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Hint Engine</a:t>
            </a:r>
            <a:endParaRPr/>
          </a:p>
        </p:txBody>
      </p:sp>
      <p:sp>
        <p:nvSpPr>
          <p:cNvPr id="33" name="el-1782652372048-23"/>
          <p:cNvSpPr txBox="1"/>
          <p:nvPr/>
        </p:nvSpPr>
        <p:spPr>
          <a:xfrm>
            <a:off x="571500" y="2284571"/>
            <a:ext cx="3857625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信息流滚动</a:t>
            </a:r>
            <a:endParaRPr/>
          </a:p>
        </p:txBody>
      </p:sp>
      <p:sp>
        <p:nvSpPr>
          <p:cNvPr id="34" name="el-1782652372086-47"/>
          <p:cNvSpPr txBox="1"/>
          <p:nvPr/>
        </p:nvSpPr>
        <p:spPr>
          <a:xfrm>
            <a:off x="571500" y="2547461"/>
            <a:ext cx="3214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endParaRPr/>
          </a:p>
        </p:txBody>
      </p:sp>
      <p:sp>
        <p:nvSpPr>
          <p:cNvPr id="35" name="el-1782652372086-48"/>
          <p:cNvSpPr txBox="1"/>
          <p:nvPr/>
        </p:nvSpPr>
        <p:spPr>
          <a:xfrm>
            <a:off x="871538" y="2547461"/>
            <a:ext cx="57337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Chrome</a:t>
            </a:r>
            <a:endParaRPr/>
          </a:p>
        </p:txBody>
      </p:sp>
      <p:sp>
        <p:nvSpPr>
          <p:cNvPr id="36" name="el-1782652372087-49"/>
          <p:cNvSpPr txBox="1"/>
          <p:nvPr/>
        </p:nvSpPr>
        <p:spPr>
          <a:xfrm>
            <a:off x="1552069" y="2547461"/>
            <a:ext cx="45005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事件量</a:t>
            </a:r>
            <a:endParaRPr/>
          </a:p>
        </p:txBody>
      </p:sp>
      <p:sp>
        <p:nvSpPr>
          <p:cNvPr id="37" name="el-1782652372087-50"/>
          <p:cNvSpPr txBox="1"/>
          <p:nvPr/>
        </p:nvSpPr>
        <p:spPr>
          <a:xfrm>
            <a:off x="1980694" y="2547461"/>
            <a:ext cx="82858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261 万 / 34s</a:t>
            </a:r>
            <a:endParaRPr/>
          </a:p>
        </p:txBody>
      </p:sp>
      <p:sp>
        <p:nvSpPr>
          <p:cNvPr id="38" name="el-1782652372049-24"/>
          <p:cNvSpPr txBox="1"/>
          <p:nvPr/>
        </p:nvSpPr>
        <p:spPr>
          <a:xfrm>
            <a:off x="571500" y="2790349"/>
            <a:ext cx="3843338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秒级聚合 + 34 线程级汇总 + 补充 ftrace 分析</a:t>
            </a:r>
            <a:endParaRPr/>
          </a:p>
        </p:txBody>
      </p:sp>
      <p:sp>
        <p:nvSpPr>
          <p:cNvPr id="39" name="el-1782652372049-25"/>
          <p:cNvSpPr txBox="1"/>
          <p:nvPr/>
        </p:nvSpPr>
        <p:spPr>
          <a:xfrm>
            <a:off x="4814888" y="2284571"/>
            <a:ext cx="3857625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相机场景</a:t>
            </a:r>
            <a:endParaRPr/>
          </a:p>
        </p:txBody>
      </p:sp>
      <p:sp>
        <p:nvSpPr>
          <p:cNvPr id="40" name="el-1782652372087-51"/>
          <p:cNvSpPr txBox="1"/>
          <p:nvPr/>
        </p:nvSpPr>
        <p:spPr>
          <a:xfrm>
            <a:off x="4814888" y="2547461"/>
            <a:ext cx="3214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endParaRPr/>
          </a:p>
        </p:txBody>
      </p:sp>
      <p:sp>
        <p:nvSpPr>
          <p:cNvPr id="41" name="el-1782652372088-52"/>
          <p:cNvSpPr txBox="1"/>
          <p:nvPr/>
        </p:nvSpPr>
        <p:spPr>
          <a:xfrm>
            <a:off x="5114925" y="2547461"/>
            <a:ext cx="10591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Google Camera</a:t>
            </a:r>
            <a:endParaRPr/>
          </a:p>
        </p:txBody>
      </p:sp>
      <p:sp>
        <p:nvSpPr>
          <p:cNvPr id="42" name="el-1782652372088-53"/>
          <p:cNvSpPr txBox="1"/>
          <p:nvPr/>
        </p:nvSpPr>
        <p:spPr>
          <a:xfrm>
            <a:off x="6281232" y="2547461"/>
            <a:ext cx="3214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模式</a:t>
            </a:r>
            <a:endParaRPr/>
          </a:p>
        </p:txBody>
      </p:sp>
      <p:sp>
        <p:nvSpPr>
          <p:cNvPr id="43" name="el-1782652372089-54"/>
          <p:cNvSpPr txBox="1"/>
          <p:nvPr/>
        </p:nvSpPr>
        <p:spPr>
          <a:xfrm>
            <a:off x="6581269" y="2547461"/>
            <a:ext cx="100566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全自动 Pipeline</a:t>
            </a:r>
            <a:endParaRPr/>
          </a:p>
        </p:txBody>
      </p:sp>
      <p:sp>
        <p:nvSpPr>
          <p:cNvPr id="44" name="el-1782652372050-26"/>
          <p:cNvSpPr txBox="1"/>
          <p:nvPr/>
        </p:nvSpPr>
        <p:spPr>
          <a:xfrm>
            <a:off x="4814888" y="2790349"/>
            <a:ext cx="3843338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编译 → 部署 → 采集 → 分析 → 报告，一键完成</a:t>
            </a:r>
            <a:endParaRPr/>
          </a:p>
        </p:txBody>
      </p:sp>
      <p:sp>
        <p:nvSpPr>
          <p:cNvPr id="45" name="el-1782652372034-10"/>
          <p:cNvSpPr txBox="1"/>
          <p:nvPr/>
        </p:nvSpPr>
        <p:spPr>
          <a:xfrm>
            <a:off x="571500" y="3411855"/>
            <a:ext cx="8093869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QQ 行为特征分析</a:t>
            </a:r>
            <a:endParaRPr/>
          </a:p>
        </p:txBody>
      </p:sp>
      <p:sp>
        <p:nvSpPr>
          <p:cNvPr id="46" name="el-1782652372061-27"/>
          <p:cNvSpPr txBox="1"/>
          <p:nvPr/>
        </p:nvSpPr>
        <p:spPr>
          <a:xfrm>
            <a:off x="642938" y="3668316"/>
            <a:ext cx="137088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behavior_features.csv</a:t>
            </a:r>
            <a:endParaRPr/>
          </a:p>
        </p:txBody>
      </p:sp>
      <p:sp>
        <p:nvSpPr>
          <p:cNvPr id="47" name="el-1782652372063-29"/>
          <p:cNvSpPr txBox="1"/>
          <p:nvPr/>
        </p:nvSpPr>
        <p:spPr>
          <a:xfrm>
            <a:off x="2013823" y="3657600"/>
            <a:ext cx="1785938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578 行，秒级窗口 + 包名聚合</a:t>
            </a:r>
            <a:endParaRPr/>
          </a:p>
        </p:txBody>
      </p:sp>
      <p:sp>
        <p:nvSpPr>
          <p:cNvPr id="48" name="el-1782652372063-30"/>
          <p:cNvSpPr txBox="1"/>
          <p:nvPr/>
        </p:nvSpPr>
        <p:spPr>
          <a:xfrm>
            <a:off x="4092655" y="3668316"/>
            <a:ext cx="35718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主包</a:t>
            </a:r>
            <a:endParaRPr/>
          </a:p>
        </p:txBody>
      </p:sp>
      <p:sp>
        <p:nvSpPr>
          <p:cNvPr id="49" name="el-1782652372065-32"/>
          <p:cNvSpPr txBox="1"/>
          <p:nvPr/>
        </p:nvSpPr>
        <p:spPr>
          <a:xfrm>
            <a:off x="4449842" y="3657600"/>
            <a:ext cx="2256443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com.tencent.mobileqq 突发行为模式</a:t>
            </a:r>
            <a:endParaRPr/>
          </a:p>
        </p:txBody>
      </p:sp>
      <p:sp>
        <p:nvSpPr>
          <p:cNvPr id="50" name="el-1782652372065-33"/>
          <p:cNvSpPr txBox="1"/>
          <p:nvPr/>
        </p:nvSpPr>
        <p:spPr>
          <a:xfrm>
            <a:off x="6999178" y="3668316"/>
            <a:ext cx="607397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P90 阈值</a:t>
            </a:r>
            <a:endParaRPr/>
          </a:p>
        </p:txBody>
      </p:sp>
      <p:sp>
        <p:nvSpPr>
          <p:cNvPr id="51" name="el-1782652372067-35"/>
          <p:cNvSpPr txBox="1"/>
          <p:nvPr/>
        </p:nvSpPr>
        <p:spPr>
          <a:xfrm>
            <a:off x="7606576" y="3657600"/>
            <a:ext cx="707767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36 事件/秒</a:t>
            </a:r>
            <a:endParaRPr/>
          </a:p>
        </p:txBody>
      </p:sp>
      <p:sp>
        <p:nvSpPr>
          <p:cNvPr id="52" name="el-1782652372067-36"/>
          <p:cNvSpPr txBox="1"/>
          <p:nvPr/>
        </p:nvSpPr>
        <p:spPr>
          <a:xfrm>
            <a:off x="642938" y="3975497"/>
            <a:ext cx="70008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系统侧干扰</a:t>
            </a:r>
            <a:endParaRPr/>
          </a:p>
        </p:txBody>
      </p:sp>
      <p:sp>
        <p:nvSpPr>
          <p:cNvPr id="53" name="el-1782652372069-38"/>
          <p:cNvSpPr txBox="1"/>
          <p:nvPr/>
        </p:nvSpPr>
        <p:spPr>
          <a:xfrm>
            <a:off x="1343025" y="3964781"/>
            <a:ext cx="2121694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系统服务、后台应用对主场景的影响</a:t>
            </a:r>
            <a:endParaRPr/>
          </a:p>
        </p:txBody>
      </p:sp>
      <p:sp>
        <p:nvSpPr>
          <p:cNvPr id="54" name="el-1782652372027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55" name="el-1782652372028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2396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2399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2405-8"/>
          <p:cNvSpPr/>
          <p:nvPr/>
        </p:nvSpPr>
        <p:spPr>
          <a:xfrm>
            <a:off x="400050" y="1193006"/>
            <a:ext cx="8343900" cy="177450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el-1782652372414-11"/>
          <p:cNvSpPr/>
          <p:nvPr/>
        </p:nvSpPr>
        <p:spPr>
          <a:xfrm>
            <a:off x="400050" y="3110389"/>
            <a:ext cx="2705070" cy="10115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6" name="el-1782652372417-14"/>
          <p:cNvCxnSpPr/>
          <p:nvPr/>
        </p:nvCxnSpPr>
        <p:spPr>
          <a:xfrm>
            <a:off x="414338" y="3110389"/>
            <a:ext cx="914" cy="10115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el-1782652372415-12"/>
          <p:cNvSpPr/>
          <p:nvPr/>
        </p:nvSpPr>
        <p:spPr>
          <a:xfrm>
            <a:off x="3219420" y="3110389"/>
            <a:ext cx="2705070" cy="10115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8" name="el-1782652372418-15"/>
          <p:cNvCxnSpPr/>
          <p:nvPr/>
        </p:nvCxnSpPr>
        <p:spPr>
          <a:xfrm>
            <a:off x="3233708" y="3110389"/>
            <a:ext cx="914" cy="10115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-1782652372416-13"/>
          <p:cNvSpPr/>
          <p:nvPr/>
        </p:nvSpPr>
        <p:spPr>
          <a:xfrm>
            <a:off x="6038791" y="3110389"/>
            <a:ext cx="2705160" cy="10115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0" name="el-1782652372419-16"/>
          <p:cNvCxnSpPr/>
          <p:nvPr/>
        </p:nvCxnSpPr>
        <p:spPr>
          <a:xfrm>
            <a:off x="6053078" y="3110389"/>
            <a:ext cx="914" cy="10115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-1782652372397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l-1782652372401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08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13" name="el-1782652372402-5"/>
          <p:cNvSpPr txBox="1"/>
          <p:nvPr/>
        </p:nvSpPr>
        <p:spPr>
          <a:xfrm>
            <a:off x="1140678" y="159306"/>
            <a:ext cx="2754541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核心对齐算法：eBPF 事件如何与帧对齐？</a:t>
            </a:r>
            <a:endParaRPr/>
          </a:p>
        </p:txBody>
      </p:sp>
      <p:sp>
        <p:nvSpPr>
          <p:cNvPr id="14" name="el-1782652372409-9"/>
          <p:cNvSpPr txBox="1"/>
          <p:nvPr/>
        </p:nvSpPr>
        <p:spPr>
          <a:xfrm>
            <a:off x="578644" y="1328738"/>
            <a:ext cx="805100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⏱ 时间戳交集 · </a:t>
            </a:r>
            <a:r>
              <a:rPr b="1" sz="101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帧窗口聚合</a:t>
            </a:r>
            <a:endParaRPr/>
          </a:p>
        </p:txBody>
      </p:sp>
      <p:sp>
        <p:nvSpPr>
          <p:cNvPr id="15" name="el-1782652372412-10"/>
          <p:cNvSpPr txBox="1"/>
          <p:nvPr/>
        </p:nvSpPr>
        <p:spPr>
          <a:xfrm>
            <a:off x="578644" y="2214563"/>
            <a:ext cx="7986713" cy="6172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616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对齐方法：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Perfetto frames.txt 提供帧时间窗口，eBPF events.bin 是独立事件流。 通过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时间戳交集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，每个帧窗口内聚合 sched/binder/futex/cpufreq 事件。 每个 Jank 帧独立开窗，收集该窗口内所有 TID 的调度事件； </a:t>
            </a:r>
            <a:r>
              <a:rPr sz="101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超出窗口的事件（如前一帧残留的 binder 调用）通过依赖继承机制保留。</a:t>
            </a:r>
            <a:endParaRPr/>
          </a:p>
        </p:txBody>
      </p:sp>
      <p:sp>
        <p:nvSpPr>
          <p:cNvPr id="16" name="el-1782652372421-17"/>
          <p:cNvSpPr txBox="1"/>
          <p:nvPr/>
        </p:nvSpPr>
        <p:spPr>
          <a:xfrm>
            <a:off x="557213" y="3217545"/>
            <a:ext cx="247647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帧内 Runnable Delay</a:t>
            </a:r>
            <a:endParaRPr/>
          </a:p>
        </p:txBody>
      </p:sp>
      <p:sp>
        <p:nvSpPr>
          <p:cNvPr id="17" name="el-1782652372421-18"/>
          <p:cNvSpPr txBox="1"/>
          <p:nvPr/>
        </p:nvSpPr>
        <p:spPr>
          <a:xfrm>
            <a:off x="557213" y="3417570"/>
            <a:ext cx="2490758" cy="20431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∑ runnable_delay</a:t>
            </a:r>
            <a:endParaRPr/>
          </a:p>
        </p:txBody>
      </p:sp>
      <p:sp>
        <p:nvSpPr>
          <p:cNvPr id="18" name="el-1782652372422-19"/>
          <p:cNvSpPr txBox="1"/>
          <p:nvPr/>
        </p:nvSpPr>
        <p:spPr>
          <a:xfrm>
            <a:off x="557213" y="3650456"/>
            <a:ext cx="2412177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该帧窗口内所有线程就绪等待延迟的总和，衡量调度竞争强度</a:t>
            </a:r>
            <a:endParaRPr/>
          </a:p>
        </p:txBody>
      </p:sp>
      <p:sp>
        <p:nvSpPr>
          <p:cNvPr id="19" name="el-1782652372422-20"/>
          <p:cNvSpPr txBox="1"/>
          <p:nvPr/>
        </p:nvSpPr>
        <p:spPr>
          <a:xfrm>
            <a:off x="3376583" y="3217545"/>
            <a:ext cx="247647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Binder 调用深度</a:t>
            </a:r>
            <a:endParaRPr/>
          </a:p>
        </p:txBody>
      </p:sp>
      <p:sp>
        <p:nvSpPr>
          <p:cNvPr id="20" name="el-1782652372423-21"/>
          <p:cNvSpPr txBox="1"/>
          <p:nvPr/>
        </p:nvSpPr>
        <p:spPr>
          <a:xfrm>
            <a:off x="3376583" y="3417570"/>
            <a:ext cx="2490758" cy="20431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max binder_chain</a:t>
            </a:r>
            <a:endParaRPr/>
          </a:p>
        </p:txBody>
      </p:sp>
      <p:sp>
        <p:nvSpPr>
          <p:cNvPr id="21" name="el-1782652372423-22"/>
          <p:cNvSpPr txBox="1"/>
          <p:nvPr/>
        </p:nvSpPr>
        <p:spPr>
          <a:xfrm>
            <a:off x="3376583" y="3650456"/>
            <a:ext cx="2412177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帧内跨进程 IPC 调用链最大深度，反映 Binder 瓶颈严重程度</a:t>
            </a:r>
            <a:endParaRPr/>
          </a:p>
        </p:txBody>
      </p:sp>
      <p:sp>
        <p:nvSpPr>
          <p:cNvPr id="22" name="el-1782652372424-23"/>
          <p:cNvSpPr txBox="1"/>
          <p:nvPr/>
        </p:nvSpPr>
        <p:spPr>
          <a:xfrm>
            <a:off x="6195953" y="3217545"/>
            <a:ext cx="247656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Futex 竞争强度</a:t>
            </a:r>
            <a:endParaRPr/>
          </a:p>
        </p:txBody>
      </p:sp>
      <p:sp>
        <p:nvSpPr>
          <p:cNvPr id="23" name="el-1782652372424-24"/>
          <p:cNvSpPr txBox="1"/>
          <p:nvPr/>
        </p:nvSpPr>
        <p:spPr>
          <a:xfrm>
            <a:off x="6195953" y="3417570"/>
            <a:ext cx="2490847" cy="20431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# futex_wait</a:t>
            </a:r>
            <a:endParaRPr/>
          </a:p>
        </p:txBody>
      </p:sp>
      <p:sp>
        <p:nvSpPr>
          <p:cNvPr id="24" name="el-1782652372424-25"/>
          <p:cNvSpPr txBox="1"/>
          <p:nvPr/>
        </p:nvSpPr>
        <p:spPr>
          <a:xfrm>
            <a:off x="6195953" y="3650456"/>
            <a:ext cx="2412266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帧内锁等待事件总数，衡量线程同步阻塞的激烈程度</a:t>
            </a:r>
            <a:endParaRPr/>
          </a:p>
        </p:txBody>
      </p:sp>
      <p:sp>
        <p:nvSpPr>
          <p:cNvPr id="25" name="el-1782652372402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26" name="el-1782652372403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  <p:sp>
        <p:nvSpPr>
          <p:cNvPr id="27" name="el-1782652372441-30"/>
          <p:cNvSpPr/>
          <p:nvPr/>
        </p:nvSpPr>
        <p:spPr>
          <a:xfrm>
            <a:off x="1293019" y="1600200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8" name="el-1782652372447-39"/>
          <p:cNvCxnSpPr/>
          <p:nvPr/>
        </p:nvCxnSpPr>
        <p:spPr>
          <a:xfrm>
            <a:off x="2743914" y="1600200"/>
            <a:ext cx="914" cy="228600"/>
          </a:xfrm>
          <a:prstGeom prst="line">
            <a:avLst/>
          </a:prstGeom>
          <a:ln w="7144" cap="flat">
            <a:solidFill>
              <a:srgbClr val="FFFFFF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-1782652372442-32"/>
          <p:cNvSpPr/>
          <p:nvPr/>
        </p:nvSpPr>
        <p:spPr>
          <a:xfrm>
            <a:off x="2747486" y="1600200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0" name="el-1782652372448-40"/>
          <p:cNvCxnSpPr/>
          <p:nvPr/>
        </p:nvCxnSpPr>
        <p:spPr>
          <a:xfrm>
            <a:off x="4198382" y="1600200"/>
            <a:ext cx="914" cy="228600"/>
          </a:xfrm>
          <a:prstGeom prst="line">
            <a:avLst/>
          </a:prstGeom>
          <a:ln w="7144" cap="flat">
            <a:solidFill>
              <a:srgbClr val="FFFFFF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l-1782652372444-34"/>
          <p:cNvSpPr/>
          <p:nvPr/>
        </p:nvSpPr>
        <p:spPr>
          <a:xfrm>
            <a:off x="4201954" y="1600200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2" name="el-1782652372448-41"/>
          <p:cNvCxnSpPr/>
          <p:nvPr/>
        </p:nvCxnSpPr>
        <p:spPr>
          <a:xfrm>
            <a:off x="5652850" y="1600200"/>
            <a:ext cx="914" cy="228600"/>
          </a:xfrm>
          <a:prstGeom prst="line">
            <a:avLst/>
          </a:prstGeom>
          <a:ln w="7144" cap="flat">
            <a:solidFill>
              <a:srgbClr val="FFFFFF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l-1782652372445-36"/>
          <p:cNvSpPr/>
          <p:nvPr/>
        </p:nvSpPr>
        <p:spPr>
          <a:xfrm>
            <a:off x="5656421" y="1600200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4" name="el-1782652372449-42"/>
          <p:cNvCxnSpPr/>
          <p:nvPr/>
        </p:nvCxnSpPr>
        <p:spPr>
          <a:xfrm>
            <a:off x="7107317" y="1600200"/>
            <a:ext cx="914" cy="228600"/>
          </a:xfrm>
          <a:prstGeom prst="line">
            <a:avLst/>
          </a:prstGeom>
          <a:ln w="7144" cap="flat">
            <a:solidFill>
              <a:srgbClr val="FFFFFF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l-1782652372446-38"/>
          <p:cNvSpPr/>
          <p:nvPr/>
        </p:nvSpPr>
        <p:spPr>
          <a:xfrm>
            <a:off x="7110889" y="1600200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6" name="el-1782652372449-43"/>
          <p:cNvCxnSpPr/>
          <p:nvPr/>
        </p:nvCxnSpPr>
        <p:spPr>
          <a:xfrm>
            <a:off x="8561785" y="1600200"/>
            <a:ext cx="914" cy="228600"/>
          </a:xfrm>
          <a:prstGeom prst="line">
            <a:avLst/>
          </a:prstGeom>
          <a:ln w="7144" cap="flat">
            <a:solidFill>
              <a:srgbClr val="FFFFFF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l-1782652372435-28"/>
          <p:cNvSpPr/>
          <p:nvPr/>
        </p:nvSpPr>
        <p:spPr>
          <a:xfrm>
            <a:off x="1293019" y="1871663"/>
            <a:ext cx="727233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el-1782652372452-45"/>
          <p:cNvSpPr/>
          <p:nvPr/>
        </p:nvSpPr>
        <p:spPr>
          <a:xfrm>
            <a:off x="1293019" y="1871663"/>
            <a:ext cx="727233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5A7A9A">
              <a:alpha val="2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" name="el-1782652372433-26"/>
          <p:cNvSpPr txBox="1"/>
          <p:nvPr/>
        </p:nvSpPr>
        <p:spPr>
          <a:xfrm>
            <a:off x="578644" y="1640205"/>
            <a:ext cx="77152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Perfetto 帧</a:t>
            </a:r>
            <a:endParaRPr/>
          </a:p>
        </p:txBody>
      </p:sp>
      <p:sp>
        <p:nvSpPr>
          <p:cNvPr id="40" name="el-1782652372440-29"/>
          <p:cNvSpPr txBox="1"/>
          <p:nvPr/>
        </p:nvSpPr>
        <p:spPr>
          <a:xfrm>
            <a:off x="1246584" y="1654493"/>
            <a:ext cx="1540193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73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f0 [0–16ms]</a:t>
            </a:r>
            <a:endParaRPr/>
          </a:p>
        </p:txBody>
      </p:sp>
      <p:sp>
        <p:nvSpPr>
          <p:cNvPr id="41" name="el-1782652372441-31"/>
          <p:cNvSpPr txBox="1"/>
          <p:nvPr/>
        </p:nvSpPr>
        <p:spPr>
          <a:xfrm>
            <a:off x="2701052" y="1654493"/>
            <a:ext cx="1540193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73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f1 [16–32ms]</a:t>
            </a:r>
            <a:endParaRPr/>
          </a:p>
        </p:txBody>
      </p:sp>
      <p:sp>
        <p:nvSpPr>
          <p:cNvPr id="42" name="el-1782652372443-33"/>
          <p:cNvSpPr txBox="1"/>
          <p:nvPr/>
        </p:nvSpPr>
        <p:spPr>
          <a:xfrm>
            <a:off x="4155519" y="1654493"/>
            <a:ext cx="1540193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73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f2 [32–48ms]</a:t>
            </a:r>
            <a:endParaRPr/>
          </a:p>
        </p:txBody>
      </p:sp>
      <p:sp>
        <p:nvSpPr>
          <p:cNvPr id="43" name="el-1782652372444-35"/>
          <p:cNvSpPr txBox="1"/>
          <p:nvPr/>
        </p:nvSpPr>
        <p:spPr>
          <a:xfrm>
            <a:off x="5609987" y="1654493"/>
            <a:ext cx="1540193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73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f3 [48–64ms]</a:t>
            </a:r>
            <a:endParaRPr/>
          </a:p>
        </p:txBody>
      </p:sp>
      <p:sp>
        <p:nvSpPr>
          <p:cNvPr id="44" name="el-1782652372445-37"/>
          <p:cNvSpPr txBox="1"/>
          <p:nvPr/>
        </p:nvSpPr>
        <p:spPr>
          <a:xfrm>
            <a:off x="7064455" y="1654493"/>
            <a:ext cx="1540193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73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f4 [64–80ms]</a:t>
            </a:r>
            <a:endParaRPr/>
          </a:p>
        </p:txBody>
      </p:sp>
      <p:sp>
        <p:nvSpPr>
          <p:cNvPr id="45" name="el-1782652372433-27"/>
          <p:cNvSpPr txBox="1"/>
          <p:nvPr/>
        </p:nvSpPr>
        <p:spPr>
          <a:xfrm>
            <a:off x="578644" y="1911668"/>
            <a:ext cx="77152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eBPF 事件</a:t>
            </a:r>
            <a:endParaRPr/>
          </a:p>
        </p:txBody>
      </p:sp>
      <p:sp>
        <p:nvSpPr>
          <p:cNvPr id="46" name="el-1782652372451-44"/>
          <p:cNvSpPr/>
          <p:nvPr/>
        </p:nvSpPr>
        <p:spPr>
          <a:xfrm>
            <a:off x="4201954" y="1600200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7" name="el-1782652372454-47"/>
          <p:cNvCxnSpPr/>
          <p:nvPr/>
        </p:nvCxnSpPr>
        <p:spPr>
          <a:xfrm>
            <a:off x="5649278" y="1600200"/>
            <a:ext cx="914" cy="228600"/>
          </a:xfrm>
          <a:prstGeom prst="line">
            <a:avLst/>
          </a:prstGeom>
          <a:ln w="14288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el-1782652372454-48"/>
          <p:cNvCxnSpPr/>
          <p:nvPr/>
        </p:nvCxnSpPr>
        <p:spPr>
          <a:xfrm>
            <a:off x="4209098" y="1600200"/>
            <a:ext cx="914" cy="228600"/>
          </a:xfrm>
          <a:prstGeom prst="line">
            <a:avLst/>
          </a:prstGeom>
          <a:ln w="14288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el-1782652372453-46"/>
          <p:cNvSpPr/>
          <p:nvPr/>
        </p:nvSpPr>
        <p:spPr>
          <a:xfrm>
            <a:off x="4201954" y="1871663"/>
            <a:ext cx="145446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>
              <a:alpha val="2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el-1782652372455-49"/>
          <p:cNvSpPr/>
          <p:nvPr/>
        </p:nvSpPr>
        <p:spPr>
          <a:xfrm>
            <a:off x="5642134" y="1871663"/>
            <a:ext cx="1428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el-1782652372455-50"/>
          <p:cNvSpPr/>
          <p:nvPr/>
        </p:nvSpPr>
        <p:spPr>
          <a:xfrm>
            <a:off x="4201954" y="1871663"/>
            <a:ext cx="14288" cy="228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el-1782652372460-52"/>
          <p:cNvSpPr/>
          <p:nvPr/>
        </p:nvSpPr>
        <p:spPr>
          <a:xfrm>
            <a:off x="4631382" y="1471613"/>
            <a:ext cx="595610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el-1782652372458-51"/>
          <p:cNvSpPr txBox="1"/>
          <p:nvPr/>
        </p:nvSpPr>
        <p:spPr>
          <a:xfrm>
            <a:off x="4674245" y="1471613"/>
            <a:ext cx="60275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⨯ 交集窗口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2585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2588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2597-8"/>
          <p:cNvSpPr/>
          <p:nvPr/>
        </p:nvSpPr>
        <p:spPr>
          <a:xfrm>
            <a:off x="400050" y="1157288"/>
            <a:ext cx="4057650" cy="15430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72600-11"/>
          <p:cNvCxnSpPr/>
          <p:nvPr/>
        </p:nvCxnSpPr>
        <p:spPr>
          <a:xfrm>
            <a:off x="414338" y="1157288"/>
            <a:ext cx="914" cy="1543050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72644-41"/>
          <p:cNvSpPr/>
          <p:nvPr/>
        </p:nvSpPr>
        <p:spPr>
          <a:xfrm>
            <a:off x="557213" y="1864519"/>
            <a:ext cx="2658189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82652372645-43"/>
          <p:cNvSpPr/>
          <p:nvPr/>
        </p:nvSpPr>
        <p:spPr>
          <a:xfrm>
            <a:off x="557213" y="2057400"/>
            <a:ext cx="2015520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82652372647-45"/>
          <p:cNvSpPr/>
          <p:nvPr/>
        </p:nvSpPr>
        <p:spPr>
          <a:xfrm>
            <a:off x="557213" y="2250281"/>
            <a:ext cx="2056596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82652372648-47"/>
          <p:cNvSpPr/>
          <p:nvPr/>
        </p:nvSpPr>
        <p:spPr>
          <a:xfrm>
            <a:off x="2685246" y="2250281"/>
            <a:ext cx="1559391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82652372649-49"/>
          <p:cNvSpPr/>
          <p:nvPr/>
        </p:nvSpPr>
        <p:spPr>
          <a:xfrm>
            <a:off x="557213" y="2443163"/>
            <a:ext cx="2631132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82652372598-9"/>
          <p:cNvSpPr/>
          <p:nvPr/>
        </p:nvSpPr>
        <p:spPr>
          <a:xfrm>
            <a:off x="400050" y="2800350"/>
            <a:ext cx="4057650" cy="13573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2" name="el-1782652372601-12"/>
          <p:cNvCxnSpPr/>
          <p:nvPr/>
        </p:nvCxnSpPr>
        <p:spPr>
          <a:xfrm>
            <a:off x="414338" y="2800350"/>
            <a:ext cx="914" cy="135731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-1782652372628-28"/>
          <p:cNvSpPr/>
          <p:nvPr/>
        </p:nvSpPr>
        <p:spPr>
          <a:xfrm>
            <a:off x="557213" y="3121819"/>
            <a:ext cx="804029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82652372630-30"/>
          <p:cNvSpPr/>
          <p:nvPr/>
        </p:nvSpPr>
        <p:spPr>
          <a:xfrm>
            <a:off x="1446967" y="3121819"/>
            <a:ext cx="759470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82652372631-32"/>
          <p:cNvSpPr/>
          <p:nvPr/>
        </p:nvSpPr>
        <p:spPr>
          <a:xfrm>
            <a:off x="2292162" y="3121819"/>
            <a:ext cx="1202650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82652372633-34"/>
          <p:cNvSpPr/>
          <p:nvPr/>
        </p:nvSpPr>
        <p:spPr>
          <a:xfrm>
            <a:off x="557213" y="3314700"/>
            <a:ext cx="1277213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82652372635-36"/>
          <p:cNvSpPr/>
          <p:nvPr/>
        </p:nvSpPr>
        <p:spPr>
          <a:xfrm>
            <a:off x="1920151" y="3314700"/>
            <a:ext cx="998786" cy="16430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el-1782652372599-10"/>
          <p:cNvSpPr/>
          <p:nvPr/>
        </p:nvSpPr>
        <p:spPr>
          <a:xfrm>
            <a:off x="4686300" y="1157288"/>
            <a:ext cx="4057650" cy="1314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9" name="el-1782652372602-13"/>
          <p:cNvCxnSpPr/>
          <p:nvPr/>
        </p:nvCxnSpPr>
        <p:spPr>
          <a:xfrm>
            <a:off x="4700588" y="1157288"/>
            <a:ext cx="914" cy="1314450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l-1782652372612-17"/>
          <p:cNvSpPr/>
          <p:nvPr/>
        </p:nvSpPr>
        <p:spPr>
          <a:xfrm>
            <a:off x="4843463" y="1464469"/>
            <a:ext cx="3764756" cy="9144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82652372618-21"/>
          <p:cNvSpPr/>
          <p:nvPr/>
        </p:nvSpPr>
        <p:spPr>
          <a:xfrm>
            <a:off x="4686300" y="2571750"/>
            <a:ext cx="1240423" cy="74723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2" name="el-1782652372621-24"/>
          <p:cNvCxnSpPr/>
          <p:nvPr/>
        </p:nvCxnSpPr>
        <p:spPr>
          <a:xfrm>
            <a:off x="4700588" y="2571750"/>
            <a:ext cx="914" cy="747236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-1782652372619-22"/>
          <p:cNvSpPr/>
          <p:nvPr/>
        </p:nvSpPr>
        <p:spPr>
          <a:xfrm>
            <a:off x="5998160" y="2571750"/>
            <a:ext cx="1397139" cy="74723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4" name="el-1782652372622-25"/>
          <p:cNvCxnSpPr/>
          <p:nvPr/>
        </p:nvCxnSpPr>
        <p:spPr>
          <a:xfrm>
            <a:off x="6012448" y="2571750"/>
            <a:ext cx="914" cy="747236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l-1782652372620-23"/>
          <p:cNvSpPr/>
          <p:nvPr/>
        </p:nvSpPr>
        <p:spPr>
          <a:xfrm>
            <a:off x="7466737" y="2571750"/>
            <a:ext cx="1277213" cy="74723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6" name="el-1782652372623-26"/>
          <p:cNvCxnSpPr/>
          <p:nvPr/>
        </p:nvCxnSpPr>
        <p:spPr>
          <a:xfrm>
            <a:off x="7481024" y="2571750"/>
            <a:ext cx="914" cy="747236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-1782652372586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-1782652372590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09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29" name="el-1782652372591-5"/>
          <p:cNvSpPr txBox="1"/>
          <p:nvPr/>
        </p:nvSpPr>
        <p:spPr>
          <a:xfrm>
            <a:off x="1140678" y="159306"/>
            <a:ext cx="2454057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图构建 — 从原始事件到依赖关键路径</a:t>
            </a:r>
            <a:endParaRPr/>
          </a:p>
        </p:txBody>
      </p:sp>
      <p:sp>
        <p:nvSpPr>
          <p:cNvPr id="30" name="el-1782652372613-18"/>
          <p:cNvSpPr txBox="1"/>
          <p:nvPr/>
        </p:nvSpPr>
        <p:spPr>
          <a:xfrm>
            <a:off x="557213" y="1250156"/>
            <a:ext cx="38290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节点构建</a:t>
            </a:r>
            <a:endParaRPr/>
          </a:p>
        </p:txBody>
      </p:sp>
      <p:sp>
        <p:nvSpPr>
          <p:cNvPr id="31" name="el-1782652372607-14"/>
          <p:cNvSpPr txBox="1"/>
          <p:nvPr/>
        </p:nvSpPr>
        <p:spPr>
          <a:xfrm>
            <a:off x="557213" y="1464469"/>
            <a:ext cx="3764756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5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图中每个节点 = 一条线程（TID），字段包括 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id(TID)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comm(线程名)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role(角色分类)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frame_window_overlap(帧重叠度)</a:t>
            </a:r>
            <a:endParaRPr/>
          </a:p>
        </p:txBody>
      </p:sp>
      <p:sp>
        <p:nvSpPr>
          <p:cNvPr id="32" name="el-1782652372643-40"/>
          <p:cNvSpPr txBox="1"/>
          <p:nvPr/>
        </p:nvSpPr>
        <p:spPr>
          <a:xfrm>
            <a:off x="614363" y="1871663"/>
            <a:ext cx="2651046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UI Thread: TID == target_pid 或 comm 以 "com." 开头</a:t>
            </a:r>
            <a:endParaRPr/>
          </a:p>
        </p:txBody>
      </p:sp>
      <p:sp>
        <p:nvSpPr>
          <p:cNvPr id="33" name="el-1782652372645-42"/>
          <p:cNvSpPr txBox="1"/>
          <p:nvPr/>
        </p:nvSpPr>
        <p:spPr>
          <a:xfrm>
            <a:off x="614363" y="2064544"/>
            <a:ext cx="2008376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RenderThread: comm 含 "renderthread"</a:t>
            </a:r>
            <a:endParaRPr/>
          </a:p>
        </p:txBody>
      </p:sp>
      <p:sp>
        <p:nvSpPr>
          <p:cNvPr id="34" name="el-1782652372646-44"/>
          <p:cNvSpPr txBox="1"/>
          <p:nvPr/>
        </p:nvSpPr>
        <p:spPr>
          <a:xfrm>
            <a:off x="614363" y="2257425"/>
            <a:ext cx="2049453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SurfaceFlinger: comm 含 "surfaceflinger"</a:t>
            </a:r>
            <a:endParaRPr/>
          </a:p>
        </p:txBody>
      </p:sp>
      <p:sp>
        <p:nvSpPr>
          <p:cNvPr id="35" name="el-1782652372647-46"/>
          <p:cNvSpPr txBox="1"/>
          <p:nvPr/>
        </p:nvSpPr>
        <p:spPr>
          <a:xfrm>
            <a:off x="2742396" y="2257425"/>
            <a:ext cx="1552248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Binder RPC: comm 含 "binder"</a:t>
            </a:r>
            <a:endParaRPr/>
          </a:p>
        </p:txBody>
      </p:sp>
      <p:sp>
        <p:nvSpPr>
          <p:cNvPr id="36" name="el-1782652372648-48"/>
          <p:cNvSpPr txBox="1"/>
          <p:nvPr/>
        </p:nvSpPr>
        <p:spPr>
          <a:xfrm>
            <a:off x="614363" y="2450306"/>
            <a:ext cx="2623989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KernelWorker: comm 以 "kworker" 或 "swapper" 开头</a:t>
            </a:r>
            <a:endParaRPr/>
          </a:p>
        </p:txBody>
      </p:sp>
      <p:sp>
        <p:nvSpPr>
          <p:cNvPr id="37" name="el-1782652372613-19"/>
          <p:cNvSpPr txBox="1"/>
          <p:nvPr/>
        </p:nvSpPr>
        <p:spPr>
          <a:xfrm>
            <a:off x="557213" y="2893219"/>
            <a:ext cx="38290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边构建（五种依赖类型）</a:t>
            </a:r>
            <a:endParaRPr/>
          </a:p>
        </p:txBody>
      </p:sp>
      <p:sp>
        <p:nvSpPr>
          <p:cNvPr id="38" name="el-1782652372627-27"/>
          <p:cNvSpPr txBox="1"/>
          <p:nvPr/>
        </p:nvSpPr>
        <p:spPr>
          <a:xfrm>
            <a:off x="614363" y="3128963"/>
            <a:ext cx="796885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BINDER_CALL</a:t>
            </a:r>
            <a:endParaRPr/>
          </a:p>
        </p:txBody>
      </p:sp>
      <p:sp>
        <p:nvSpPr>
          <p:cNvPr id="39" name="el-1782652372629-29"/>
          <p:cNvSpPr txBox="1"/>
          <p:nvPr/>
        </p:nvSpPr>
        <p:spPr>
          <a:xfrm>
            <a:off x="1504117" y="3128963"/>
            <a:ext cx="752326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FUTEX_WAIT</a:t>
            </a:r>
            <a:endParaRPr/>
          </a:p>
        </p:txBody>
      </p:sp>
      <p:sp>
        <p:nvSpPr>
          <p:cNvPr id="40" name="el-1782652372631-31"/>
          <p:cNvSpPr txBox="1"/>
          <p:nvPr/>
        </p:nvSpPr>
        <p:spPr>
          <a:xfrm>
            <a:off x="2349312" y="3128963"/>
            <a:ext cx="1195507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SCHED_DEPENDENCY</a:t>
            </a:r>
            <a:endParaRPr/>
          </a:p>
        </p:txBody>
      </p:sp>
      <p:sp>
        <p:nvSpPr>
          <p:cNvPr id="41" name="el-1782652372632-33"/>
          <p:cNvSpPr txBox="1"/>
          <p:nvPr/>
        </p:nvSpPr>
        <p:spPr>
          <a:xfrm>
            <a:off x="614363" y="3321844"/>
            <a:ext cx="1270069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DECODE_DEPENDENCY</a:t>
            </a:r>
            <a:endParaRPr/>
          </a:p>
        </p:txBody>
      </p:sp>
      <p:sp>
        <p:nvSpPr>
          <p:cNvPr id="42" name="el-1782652372634-35"/>
          <p:cNvSpPr txBox="1"/>
          <p:nvPr/>
        </p:nvSpPr>
        <p:spPr>
          <a:xfrm>
            <a:off x="1977301" y="3321844"/>
            <a:ext cx="991642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RESOURCE_STALL</a:t>
            </a:r>
            <a:endParaRPr/>
          </a:p>
        </p:txBody>
      </p:sp>
      <p:sp>
        <p:nvSpPr>
          <p:cNvPr id="43" name="el-1782652372609-15"/>
          <p:cNvSpPr txBox="1"/>
          <p:nvPr/>
        </p:nvSpPr>
        <p:spPr>
          <a:xfrm>
            <a:off x="557213" y="3550444"/>
            <a:ext cx="3764756" cy="514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5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可视化：BFS 分层布局，同层按 CriticalScore 降序；三层子图：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graph_binder.svg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graph_futex.svg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graph_critical.svg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；颜色编码区分角色</a:t>
            </a:r>
            <a:endParaRPr/>
          </a:p>
        </p:txBody>
      </p:sp>
      <p:sp>
        <p:nvSpPr>
          <p:cNvPr id="44" name="el-1782652372614-20"/>
          <p:cNvSpPr txBox="1"/>
          <p:nvPr/>
        </p:nvSpPr>
        <p:spPr>
          <a:xfrm>
            <a:off x="4843463" y="1250156"/>
            <a:ext cx="38290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CriticalScore 核心公式</a:t>
            </a:r>
            <a:endParaRPr/>
          </a:p>
        </p:txBody>
      </p:sp>
      <p:sp>
        <p:nvSpPr>
          <p:cNvPr id="45" name="el-1782652372611-16"/>
          <p:cNvSpPr txBox="1"/>
          <p:nvPr/>
        </p:nvSpPr>
        <p:spPr>
          <a:xfrm>
            <a:off x="4929188" y="1521619"/>
            <a:ext cx="3593306" cy="800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68"/>
              </a:lnSpc>
            </a:pPr>
            <a:r>
              <a:rPr b="1" sz="1120" spc="17">
                <a:solidFill>
                  <a:srgbClr val="1A1A2E"/>
                </a:solidFill>
                <a:latin typeface="Courier New"/>
                <a:ea typeface="Courier New"/>
                <a:cs typeface="Courier New"/>
              </a:rPr>
              <a:t>CriticalScore(T) = </a:t>
            </a:r>
            <a:r>
              <a:rPr b="1" sz="1120" spc="17">
                <a:solidFill>
                  <a:srgbClr val="D4A017"/>
                </a:solidFill>
                <a:latin typeface="Courier New"/>
                <a:ea typeface="Courier New"/>
                <a:cs typeface="Courier New"/>
              </a:rPr>
              <a:t>α</a:t>
            </a:r>
            <a:r>
              <a:rPr b="1" sz="1120" spc="17">
                <a:solidFill>
                  <a:srgbClr val="1A1A2E"/>
                </a:solidFill>
                <a:latin typeface="Courier New"/>
                <a:ea typeface="Courier New"/>
                <a:cs typeface="Courier New"/>
              </a:rPr>
              <a:t> × CriticalPosition(T) + </a:t>
            </a:r>
            <a:r>
              <a:rPr b="1" sz="1120" spc="17">
                <a:solidFill>
                  <a:srgbClr val="D4A017"/>
                </a:solidFill>
                <a:latin typeface="Courier New"/>
                <a:ea typeface="Courier New"/>
                <a:cs typeface="Courier New"/>
              </a:rPr>
              <a:t>β</a:t>
            </a:r>
            <a:r>
              <a:rPr b="1" sz="1120" spc="17">
                <a:solidFill>
                  <a:srgbClr val="1A1A2E"/>
                </a:solidFill>
                <a:latin typeface="Courier New"/>
                <a:ea typeface="Courier New"/>
                <a:cs typeface="Courier New"/>
              </a:rPr>
              <a:t> × RunnableDelayShare(T) + </a:t>
            </a:r>
            <a:r>
              <a:rPr b="1" sz="1120" spc="17">
                <a:solidFill>
                  <a:srgbClr val="D4A017"/>
                </a:solidFill>
                <a:latin typeface="Courier New"/>
                <a:ea typeface="Courier New"/>
                <a:cs typeface="Courier New"/>
              </a:rPr>
              <a:t>γ</a:t>
            </a:r>
            <a:r>
              <a:rPr b="1" sz="1120" spc="17">
                <a:solidFill>
                  <a:srgbClr val="1A1A2E"/>
                </a:solidFill>
                <a:latin typeface="Courier New"/>
                <a:ea typeface="Courier New"/>
                <a:cs typeface="Courier New"/>
              </a:rPr>
              <a:t> × ConnectionDegree(T)</a:t>
            </a:r>
            <a:endParaRPr/>
          </a:p>
        </p:txBody>
      </p:sp>
      <p:sp>
        <p:nvSpPr>
          <p:cNvPr id="46" name="el-1782652372651-50"/>
          <p:cNvSpPr txBox="1"/>
          <p:nvPr/>
        </p:nvSpPr>
        <p:spPr>
          <a:xfrm>
            <a:off x="4800600" y="2650331"/>
            <a:ext cx="1090404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CriticalPosition</a:t>
            </a:r>
            <a:endParaRPr/>
          </a:p>
        </p:txBody>
      </p:sp>
      <p:sp>
        <p:nvSpPr>
          <p:cNvPr id="47" name="el-1782652372636-37"/>
          <p:cNvSpPr txBox="1"/>
          <p:nvPr/>
        </p:nvSpPr>
        <p:spPr>
          <a:xfrm>
            <a:off x="4800600" y="2820353"/>
            <a:ext cx="1033254" cy="4200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092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线程在关键路径上的</a:t>
            </a: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深度</a:t>
            </a: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，越靠近帧渲染末端越关键</a:t>
            </a:r>
            <a:endParaRPr/>
          </a:p>
        </p:txBody>
      </p:sp>
      <p:sp>
        <p:nvSpPr>
          <p:cNvPr id="48" name="el-1782652372652-51"/>
          <p:cNvSpPr txBox="1"/>
          <p:nvPr/>
        </p:nvSpPr>
        <p:spPr>
          <a:xfrm>
            <a:off x="6112460" y="2650331"/>
            <a:ext cx="124712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RunnableDelayShare</a:t>
            </a:r>
            <a:endParaRPr/>
          </a:p>
        </p:txBody>
      </p:sp>
      <p:sp>
        <p:nvSpPr>
          <p:cNvPr id="49" name="el-1782652372637-38"/>
          <p:cNvSpPr txBox="1"/>
          <p:nvPr/>
        </p:nvSpPr>
        <p:spPr>
          <a:xfrm>
            <a:off x="6112460" y="2820353"/>
            <a:ext cx="1189970" cy="4200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092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该线程 runnable delay / 总 delay，</a:t>
            </a: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占帧内浪费时间</a:t>
            </a: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比例越大越关键</a:t>
            </a:r>
            <a:endParaRPr/>
          </a:p>
        </p:txBody>
      </p:sp>
      <p:sp>
        <p:nvSpPr>
          <p:cNvPr id="50" name="el-1782652372653-52"/>
          <p:cNvSpPr txBox="1"/>
          <p:nvPr/>
        </p:nvSpPr>
        <p:spPr>
          <a:xfrm>
            <a:off x="7581037" y="2650331"/>
            <a:ext cx="1127194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ConnectionDegree</a:t>
            </a:r>
            <a:endParaRPr/>
          </a:p>
        </p:txBody>
      </p:sp>
      <p:sp>
        <p:nvSpPr>
          <p:cNvPr id="51" name="el-1782652372638-39"/>
          <p:cNvSpPr txBox="1"/>
          <p:nvPr/>
        </p:nvSpPr>
        <p:spPr>
          <a:xfrm>
            <a:off x="7581037" y="2820353"/>
            <a:ext cx="1070044" cy="4200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092"/>
              </a:lnSpc>
            </a:pP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Binder/Futex 连接数（出度+入度），</a:t>
            </a:r>
            <a:r>
              <a:rPr b="1" sz="78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影响其他线程</a:t>
            </a:r>
            <a:r>
              <a:rPr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越多越关键</a:t>
            </a:r>
            <a:endParaRPr/>
          </a:p>
        </p:txBody>
      </p:sp>
      <p:sp>
        <p:nvSpPr>
          <p:cNvPr id="52" name="el-1782652372592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53" name="el-1782652372592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2781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2809-49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el-1782652372802-35"/>
          <p:cNvGraphicFramePr/>
          <p:nvPr/>
        </p:nvGraphicFramePr>
        <p:xfrm>
          <a:off x="400050" y="407908"/>
          <a:ext cx="8343900" cy="2067401"/>
        </p:xfrm>
        <a:graphic>
          <a:graphicData uri="http://schemas.openxmlformats.org/drawingml/2006/table">
            <a:tbl>
              <a:tblPr>
                <a:tableStyleId>{2D5ABB26-0587-4C30-8999-92F81FD0307C}</a:tableStyleId>
                <a:tblLayout type="fixed"/>
              </a:tblPr>
              <a:tblGrid>
                <a:gridCol w="1155769"/>
                <a:gridCol w="2359670"/>
                <a:gridCol w="2359670"/>
                <a:gridCol w="2461647"/>
              </a:tblGrid>
              <a:tr h="270034">
                <a:tc>
                  <a:txBody>
                    <a:bodyPr lIns="71438" tIns="57150" rIns="71438" bIns="57150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71438" tIns="57150" rIns="71438" bIns="57150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页面切换 Run 1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71438" tIns="57150" rIns="71438" bIns="57150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页面切换 Run 2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71438" tIns="57150" rIns="71438" bIns="57150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视频浏览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总帧 / Jank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2171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1575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1271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1228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2141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1524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Jank 率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72.5%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96.6%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71.2%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VD 帧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561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图规模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6968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 / </a:t>
                      </a: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5234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4799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 / </a:t>
                      </a: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3106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6622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 / </a:t>
                      </a: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4992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边类型分布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BINDER=52, FUTEX=2371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BINDER=53, FUTEX=1770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BINDER=407, FUTEX=1436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调频抑制比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最高温度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31.4°C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41.5°C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50006" rIns="71438" bIns="50006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52.3°C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el-1782652372807-48"/>
          <p:cNvGraphicFramePr/>
          <p:nvPr/>
        </p:nvGraphicFramePr>
        <p:xfrm>
          <a:off x="400050" y="2575322"/>
          <a:ext cx="8343900" cy="972979"/>
        </p:xfrm>
        <a:graphic>
          <a:graphicData uri="http://schemas.openxmlformats.org/drawingml/2006/table">
            <a:tbl>
              <a:tblPr>
                <a:tableStyleId>{2D5ABB26-0587-4C30-8999-92F81FD0307C}</a:tableStyleId>
                <a:tblLayout type="fixed"/>
              </a:tblPr>
              <a:tblGrid>
                <a:gridCol w="1599396"/>
                <a:gridCol w="5858321"/>
                <a:gridCol w="879038"/>
              </a:tblGrid>
              <a:tr h="241459"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根因链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</a:tr>
              <a:tr h="241459"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页面切换 Run 1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RUNNABLE_DELAY → PROTECT_UI_CHAIN → surfaceflinger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0.9999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41459"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页面切换 Run 2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RUNNABLE_DELAY → UCLAMP_MIN_TEMPORARY（降频抑制）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0.9999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41459"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视频浏览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RUNNABLE_DELAY → BOOST_THREAD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71438" tIns="42863" rIns="71438" bIns="42863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0.9999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el-1782652372822-62"/>
          <p:cNvGraphicFramePr/>
          <p:nvPr/>
        </p:nvGraphicFramePr>
        <p:xfrm>
          <a:off x="400050" y="3862626"/>
          <a:ext cx="8343900" cy="1044416"/>
        </p:xfrm>
        <a:graphic>
          <a:graphicData uri="http://schemas.openxmlformats.org/drawingml/2006/table">
            <a:tbl>
              <a:tblPr>
                <a:tableStyleId>{2D5ABB26-0587-4C30-8999-92F81FD0307C}</a:tableStyleId>
                <a:tblLayout type="fixed"/>
              </a:tblPr>
              <a:tblGrid>
                <a:gridCol w="3167896"/>
                <a:gridCol w="5168860"/>
              </a:tblGrid>
              <a:tr h="270034">
                <a:tc>
                  <a:txBody>
                    <a:bodyPr lIns="85725" tIns="57150" rIns="85725" bIns="57150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85725" tIns="57150" rIns="85725" bIns="57150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洞察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</a:tr>
              <a:tr h="255746">
                <a:tc>
                  <a:txBody>
                    <a:bodyPr lIns="85725" tIns="50006" rIns="85725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Run1 Jank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72.5%</a:t>
                      </a: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温控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50006" rIns="85725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→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即使无温控，调度竞争本身就是主要瓶颈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85725" tIns="50006" rIns="85725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Run2 Jank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96.6%</a:t>
                      </a: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温控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50006" rIns="85725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→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温度升高降频介入，温控是雪上加霜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55746">
                <a:tc>
                  <a:txBody>
                    <a:bodyPr lIns="85725" tIns="50006" rIns="85725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视频 Jank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71.2%</a:t>
                      </a: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温控 </a:t>
                      </a: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50006" rIns="85725" bIns="50006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→</a:t>
                      </a:r>
                      <a:r>
                        <a:rPr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温控最严重但 Jank 率非最高，视频有额外延迟容忍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7" name="el-1782652372782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82652372811-50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10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9" name="el-1782652372812-51"/>
          <p:cNvSpPr txBox="1"/>
          <p:nvPr/>
        </p:nvSpPr>
        <p:spPr>
          <a:xfrm>
            <a:off x="1140678" y="159306"/>
            <a:ext cx="2025432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核心分析成果 — 三次采集对照</a:t>
            </a:r>
            <a:endParaRPr/>
          </a:p>
        </p:txBody>
      </p:sp>
      <p:sp>
        <p:nvSpPr>
          <p:cNvPr id="10" name="el-1782652372823-63"/>
          <p:cNvSpPr txBox="1"/>
          <p:nvPr/>
        </p:nvSpPr>
        <p:spPr>
          <a:xfrm>
            <a:off x="414338" y="3648313"/>
            <a:ext cx="839390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28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📊 数据 → 洞察</a:t>
            </a:r>
            <a:endParaRPr/>
          </a:p>
        </p:txBody>
      </p:sp>
      <p:sp>
        <p:nvSpPr>
          <p:cNvPr id="11" name="el-1782652372813-52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12" name="el-1782652372813-53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3113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3115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3125-10"/>
          <p:cNvSpPr/>
          <p:nvPr/>
        </p:nvSpPr>
        <p:spPr>
          <a:xfrm>
            <a:off x="400050" y="1017270"/>
            <a:ext cx="28575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l-1782652373130-12"/>
          <p:cNvSpPr/>
          <p:nvPr/>
        </p:nvSpPr>
        <p:spPr>
          <a:xfrm>
            <a:off x="400050" y="1274445"/>
            <a:ext cx="4029075" cy="4714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el-1782652373131-13"/>
          <p:cNvSpPr/>
          <p:nvPr/>
        </p:nvSpPr>
        <p:spPr>
          <a:xfrm>
            <a:off x="400050" y="1788795"/>
            <a:ext cx="4029075" cy="3000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el-1782652373132-14"/>
          <p:cNvSpPr/>
          <p:nvPr/>
        </p:nvSpPr>
        <p:spPr>
          <a:xfrm>
            <a:off x="400050" y="2131695"/>
            <a:ext cx="4029075" cy="46863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el-1782652373132-15"/>
          <p:cNvSpPr/>
          <p:nvPr/>
        </p:nvSpPr>
        <p:spPr>
          <a:xfrm>
            <a:off x="400050" y="2643188"/>
            <a:ext cx="4029075" cy="4714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82652373133-16"/>
          <p:cNvSpPr/>
          <p:nvPr/>
        </p:nvSpPr>
        <p:spPr>
          <a:xfrm>
            <a:off x="400050" y="3157538"/>
            <a:ext cx="4029075" cy="3000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el-1782652373134-17"/>
          <p:cNvSpPr/>
          <p:nvPr/>
        </p:nvSpPr>
        <p:spPr>
          <a:xfrm>
            <a:off x="400050" y="3500438"/>
            <a:ext cx="4029075" cy="3000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el-1782652373135-18"/>
          <p:cNvSpPr/>
          <p:nvPr/>
        </p:nvSpPr>
        <p:spPr>
          <a:xfrm>
            <a:off x="400050" y="3843338"/>
            <a:ext cx="4029075" cy="46863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el-1782652373125-11"/>
          <p:cNvSpPr/>
          <p:nvPr/>
        </p:nvSpPr>
        <p:spPr>
          <a:xfrm>
            <a:off x="4714875" y="1218009"/>
            <a:ext cx="28575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82652373136-19"/>
          <p:cNvSpPr/>
          <p:nvPr/>
        </p:nvSpPr>
        <p:spPr>
          <a:xfrm>
            <a:off x="4714875" y="1475184"/>
            <a:ext cx="4029075" cy="4929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4" name="el-1782652373144-24"/>
          <p:cNvCxnSpPr/>
          <p:nvPr/>
        </p:nvCxnSpPr>
        <p:spPr>
          <a:xfrm>
            <a:off x="4729163" y="1475184"/>
            <a:ext cx="914" cy="492919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l-1782652373137-20"/>
          <p:cNvSpPr/>
          <p:nvPr/>
        </p:nvSpPr>
        <p:spPr>
          <a:xfrm>
            <a:off x="4714875" y="2010966"/>
            <a:ext cx="4029075" cy="4929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6" name="el-1782652373144-25"/>
          <p:cNvCxnSpPr/>
          <p:nvPr/>
        </p:nvCxnSpPr>
        <p:spPr>
          <a:xfrm>
            <a:off x="4729163" y="2010966"/>
            <a:ext cx="914" cy="492919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-1782652373138-21"/>
          <p:cNvSpPr/>
          <p:nvPr/>
        </p:nvSpPr>
        <p:spPr>
          <a:xfrm>
            <a:off x="4714875" y="2546747"/>
            <a:ext cx="4029075" cy="4929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8" name="el-1782652373145-26"/>
          <p:cNvCxnSpPr/>
          <p:nvPr/>
        </p:nvCxnSpPr>
        <p:spPr>
          <a:xfrm>
            <a:off x="4729163" y="2546747"/>
            <a:ext cx="914" cy="492919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l-1782652373139-22"/>
          <p:cNvSpPr/>
          <p:nvPr/>
        </p:nvSpPr>
        <p:spPr>
          <a:xfrm>
            <a:off x="4714875" y="3082528"/>
            <a:ext cx="4029075" cy="4929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0" name="el-1782652373146-27"/>
          <p:cNvCxnSpPr/>
          <p:nvPr/>
        </p:nvCxnSpPr>
        <p:spPr>
          <a:xfrm>
            <a:off x="4729163" y="3082528"/>
            <a:ext cx="914" cy="492919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l-1782652373139-23"/>
          <p:cNvSpPr/>
          <p:nvPr/>
        </p:nvSpPr>
        <p:spPr>
          <a:xfrm>
            <a:off x="4714875" y="3618309"/>
            <a:ext cx="4029075" cy="4929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2" name="el-1782652373147-28"/>
          <p:cNvCxnSpPr/>
          <p:nvPr/>
        </p:nvCxnSpPr>
        <p:spPr>
          <a:xfrm>
            <a:off x="4729163" y="3618309"/>
            <a:ext cx="914" cy="492919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-1782652373114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-1782652373117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11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25" name="el-1782652373118-5"/>
          <p:cNvSpPr txBox="1"/>
          <p:nvPr/>
        </p:nvSpPr>
        <p:spPr>
          <a:xfrm>
            <a:off x="1140678" y="159306"/>
            <a:ext cx="16176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1 — 基础能力实现</a:t>
            </a:r>
            <a:endParaRPr/>
          </a:p>
        </p:txBody>
      </p:sp>
      <p:sp>
        <p:nvSpPr>
          <p:cNvPr id="26" name="el-1782652373123-8"/>
          <p:cNvSpPr txBox="1"/>
          <p:nvPr/>
        </p:nvSpPr>
        <p:spPr>
          <a:xfrm>
            <a:off x="485775" y="1002983"/>
            <a:ext cx="400764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已完成模块（7 项）</a:t>
            </a:r>
            <a:endParaRPr/>
          </a:p>
        </p:txBody>
      </p:sp>
      <p:sp>
        <p:nvSpPr>
          <p:cNvPr id="27" name="el-1782652373163-37"/>
          <p:cNvSpPr txBox="1"/>
          <p:nvPr/>
        </p:nvSpPr>
        <p:spPr>
          <a:xfrm>
            <a:off x="464344" y="1435894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/>
          </a:p>
        </p:txBody>
      </p:sp>
      <p:sp>
        <p:nvSpPr>
          <p:cNvPr id="28" name="el-1782652373163-38"/>
          <p:cNvSpPr txBox="1"/>
          <p:nvPr/>
        </p:nvSpPr>
        <p:spPr>
          <a:xfrm>
            <a:off x="807244" y="1338739"/>
            <a:ext cx="1460540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212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Perfetto FrameTimeline</a:t>
            </a:r>
            <a:endParaRPr/>
          </a:p>
        </p:txBody>
      </p:sp>
      <p:sp>
        <p:nvSpPr>
          <p:cNvPr id="29" name="el-1782652373164-39"/>
          <p:cNvSpPr txBox="1"/>
          <p:nvPr/>
        </p:nvSpPr>
        <p:spPr>
          <a:xfrm>
            <a:off x="2353509" y="1340168"/>
            <a:ext cx="1954173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frame_query.sql → SF/VD/VF/AP 帧</a:t>
            </a:r>
            <a:endParaRPr/>
          </a:p>
        </p:txBody>
      </p:sp>
      <p:sp>
        <p:nvSpPr>
          <p:cNvPr id="30" name="el-1782652373164-40"/>
          <p:cNvSpPr txBox="1"/>
          <p:nvPr/>
        </p:nvSpPr>
        <p:spPr>
          <a:xfrm>
            <a:off x="464344" y="1864519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/>
          </a:p>
        </p:txBody>
      </p:sp>
      <p:sp>
        <p:nvSpPr>
          <p:cNvPr id="31" name="el-1782652373164-41"/>
          <p:cNvSpPr txBox="1"/>
          <p:nvPr/>
        </p:nvSpPr>
        <p:spPr>
          <a:xfrm>
            <a:off x="807244" y="1853089"/>
            <a:ext cx="1547872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sched_switch / wakeup</a:t>
            </a:r>
            <a:endParaRPr/>
          </a:p>
        </p:txBody>
      </p:sp>
      <p:sp>
        <p:nvSpPr>
          <p:cNvPr id="32" name="el-1782652373153-29"/>
          <p:cNvSpPr txBox="1"/>
          <p:nvPr/>
        </p:nvSpPr>
        <p:spPr>
          <a:xfrm>
            <a:off x="2376547" y="1853803"/>
            <a:ext cx="1248192" cy="17002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BPF +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events.bin v3</a:t>
            </a:r>
            <a:endParaRPr/>
          </a:p>
        </p:txBody>
      </p:sp>
      <p:sp>
        <p:nvSpPr>
          <p:cNvPr id="33" name="el-1782652373165-42"/>
          <p:cNvSpPr txBox="1"/>
          <p:nvPr/>
        </p:nvSpPr>
        <p:spPr>
          <a:xfrm>
            <a:off x="464344" y="2291715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/>
          </a:p>
        </p:txBody>
      </p:sp>
      <p:sp>
        <p:nvSpPr>
          <p:cNvPr id="34" name="el-1782652373166-43"/>
          <p:cNvSpPr txBox="1"/>
          <p:nvPr/>
        </p:nvSpPr>
        <p:spPr>
          <a:xfrm>
            <a:off x="807244" y="2280285"/>
            <a:ext cx="120729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身份解析</a:t>
            </a:r>
            <a:endParaRPr/>
          </a:p>
        </p:txBody>
      </p:sp>
      <p:sp>
        <p:nvSpPr>
          <p:cNvPr id="35" name="el-1782652373167-44"/>
          <p:cNvSpPr txBox="1"/>
          <p:nvPr/>
        </p:nvSpPr>
        <p:spPr>
          <a:xfrm>
            <a:off x="2035969" y="2195989"/>
            <a:ext cx="2271713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identity.c：Session / ProcessInstanceId / ThreadKey / sidecar JSON</a:t>
            </a:r>
            <a:endParaRPr/>
          </a:p>
        </p:txBody>
      </p:sp>
      <p:sp>
        <p:nvSpPr>
          <p:cNvPr id="36" name="el-1782652373167-45"/>
          <p:cNvSpPr txBox="1"/>
          <p:nvPr/>
        </p:nvSpPr>
        <p:spPr>
          <a:xfrm>
            <a:off x="464344" y="2804636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/>
          </a:p>
        </p:txBody>
      </p:sp>
      <p:sp>
        <p:nvSpPr>
          <p:cNvPr id="37" name="el-1782652373168-46"/>
          <p:cNvSpPr txBox="1"/>
          <p:nvPr/>
        </p:nvSpPr>
        <p:spPr>
          <a:xfrm>
            <a:off x="807244" y="2707481"/>
            <a:ext cx="1270159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212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Frame window delay 聚合</a:t>
            </a:r>
            <a:endParaRPr/>
          </a:p>
        </p:txBody>
      </p:sp>
      <p:sp>
        <p:nvSpPr>
          <p:cNvPr id="38" name="el-1782652373155-30"/>
          <p:cNvSpPr txBox="1"/>
          <p:nvPr/>
        </p:nvSpPr>
        <p:spPr>
          <a:xfrm>
            <a:off x="2163128" y="2708910"/>
            <a:ext cx="2144554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Phase 5b 用户态重算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runnable delay + wakeup</a:t>
            </a:r>
            <a:endParaRPr/>
          </a:p>
        </p:txBody>
      </p:sp>
      <p:sp>
        <p:nvSpPr>
          <p:cNvPr id="39" name="el-1782652373168-47"/>
          <p:cNvSpPr txBox="1"/>
          <p:nvPr/>
        </p:nvSpPr>
        <p:spPr>
          <a:xfrm>
            <a:off x="464344" y="3233261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/>
          </a:p>
        </p:txBody>
      </p:sp>
      <p:sp>
        <p:nvSpPr>
          <p:cNvPr id="40" name="el-1782652373169-48"/>
          <p:cNvSpPr txBox="1"/>
          <p:nvPr/>
        </p:nvSpPr>
        <p:spPr>
          <a:xfrm>
            <a:off x="807244" y="3221831"/>
            <a:ext cx="173182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UI/RenderThread 角色识别</a:t>
            </a:r>
            <a:endParaRPr/>
          </a:p>
        </p:txBody>
      </p:sp>
      <p:sp>
        <p:nvSpPr>
          <p:cNvPr id="41" name="el-1782652373169-49"/>
          <p:cNvSpPr txBox="1"/>
          <p:nvPr/>
        </p:nvSpPr>
        <p:spPr>
          <a:xfrm>
            <a:off x="2560499" y="3222546"/>
            <a:ext cx="1324094" cy="17002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classify_thread() 12 类</a:t>
            </a:r>
            <a:endParaRPr/>
          </a:p>
        </p:txBody>
      </p:sp>
      <p:sp>
        <p:nvSpPr>
          <p:cNvPr id="42" name="el-1782652373170-50"/>
          <p:cNvSpPr txBox="1"/>
          <p:nvPr/>
        </p:nvSpPr>
        <p:spPr>
          <a:xfrm>
            <a:off x="464344" y="3576161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6</a:t>
            </a:r>
            <a:endParaRPr/>
          </a:p>
        </p:txBody>
      </p:sp>
      <p:sp>
        <p:nvSpPr>
          <p:cNvPr id="43" name="el-1782652373170-51"/>
          <p:cNvSpPr txBox="1"/>
          <p:nvPr/>
        </p:nvSpPr>
        <p:spPr>
          <a:xfrm>
            <a:off x="807244" y="3564731"/>
            <a:ext cx="125730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Top-K 关键线程输出</a:t>
            </a:r>
            <a:endParaRPr/>
          </a:p>
        </p:txBody>
      </p:sp>
      <p:sp>
        <p:nvSpPr>
          <p:cNvPr id="44" name="el-1782652373156-31"/>
          <p:cNvSpPr txBox="1"/>
          <p:nvPr/>
        </p:nvSpPr>
        <p:spPr>
          <a:xfrm>
            <a:off x="2085975" y="3565446"/>
            <a:ext cx="1322397" cy="17002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-G -k N → 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result.json</a:t>
            </a:r>
            <a:endParaRPr/>
          </a:p>
        </p:txBody>
      </p:sp>
      <p:sp>
        <p:nvSpPr>
          <p:cNvPr id="45" name="el-1782652373171-52"/>
          <p:cNvSpPr txBox="1"/>
          <p:nvPr/>
        </p:nvSpPr>
        <p:spPr>
          <a:xfrm>
            <a:off x="464344" y="4003358"/>
            <a:ext cx="25717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7</a:t>
            </a:r>
            <a:endParaRPr/>
          </a:p>
        </p:txBody>
      </p:sp>
      <p:sp>
        <p:nvSpPr>
          <p:cNvPr id="46" name="el-1782652373172-53"/>
          <p:cNvSpPr txBox="1"/>
          <p:nvPr/>
        </p:nvSpPr>
        <p:spPr>
          <a:xfrm>
            <a:off x="807244" y="3991927"/>
            <a:ext cx="120729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Hint Engine</a:t>
            </a:r>
            <a:endParaRPr/>
          </a:p>
        </p:txBody>
      </p:sp>
      <p:sp>
        <p:nvSpPr>
          <p:cNvPr id="47" name="el-1782652373172-54"/>
          <p:cNvSpPr txBox="1"/>
          <p:nvPr/>
        </p:nvSpPr>
        <p:spPr>
          <a:xfrm>
            <a:off x="2035969" y="3907631"/>
            <a:ext cx="2271713" cy="3400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30"/>
              </a:lnSpc>
            </a:pPr>
            <a:r>
              <a:rPr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hint_engine.c：BOOST / UCLAMP / PROTECT + TTL + audit</a:t>
            </a:r>
            <a:endParaRPr/>
          </a:p>
        </p:txBody>
      </p:sp>
      <p:sp>
        <p:nvSpPr>
          <p:cNvPr id="48" name="el-1782652373124-9"/>
          <p:cNvSpPr txBox="1"/>
          <p:nvPr/>
        </p:nvSpPr>
        <p:spPr>
          <a:xfrm>
            <a:off x="4800600" y="1203722"/>
            <a:ext cx="400764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Hint Engine 安全机制</a:t>
            </a:r>
            <a:endParaRPr/>
          </a:p>
        </p:txBody>
      </p:sp>
      <p:sp>
        <p:nvSpPr>
          <p:cNvPr id="49" name="el-1782652373172-55"/>
          <p:cNvSpPr txBox="1"/>
          <p:nvPr/>
        </p:nvSpPr>
        <p:spPr>
          <a:xfrm>
            <a:off x="4793456" y="1546622"/>
            <a:ext cx="30289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⏱</a:t>
            </a:r>
            <a:endParaRPr/>
          </a:p>
        </p:txBody>
      </p:sp>
      <p:sp>
        <p:nvSpPr>
          <p:cNvPr id="50" name="el-1782652373157-32"/>
          <p:cNvSpPr txBox="1"/>
          <p:nvPr/>
        </p:nvSpPr>
        <p:spPr>
          <a:xfrm>
            <a:off x="5103495" y="1539478"/>
            <a:ext cx="3519011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TTL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：每个 hint 默认过期时间（如 16ms = 1 帧），超时自动回滚</a:t>
            </a:r>
            <a:endParaRPr/>
          </a:p>
        </p:txBody>
      </p:sp>
      <p:sp>
        <p:nvSpPr>
          <p:cNvPr id="51" name="el-1782652373173-56"/>
          <p:cNvSpPr txBox="1"/>
          <p:nvPr/>
        </p:nvSpPr>
        <p:spPr>
          <a:xfrm>
            <a:off x="4793456" y="2082403"/>
            <a:ext cx="28851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🔄</a:t>
            </a:r>
            <a:endParaRPr/>
          </a:p>
        </p:txBody>
      </p:sp>
      <p:sp>
        <p:nvSpPr>
          <p:cNvPr id="52" name="el-1782652373159-33"/>
          <p:cNvSpPr txBox="1"/>
          <p:nvPr/>
        </p:nvSpPr>
        <p:spPr>
          <a:xfrm>
            <a:off x="5089118" y="2075259"/>
            <a:ext cx="3533388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自旋保护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：5ms 内连续 3 次 on CPU 无 sleep，自动撤销 UCLAMP hint</a:t>
            </a:r>
            <a:endParaRPr/>
          </a:p>
        </p:txBody>
      </p:sp>
      <p:sp>
        <p:nvSpPr>
          <p:cNvPr id="53" name="el-1782652373174-57"/>
          <p:cNvSpPr txBox="1"/>
          <p:nvPr/>
        </p:nvSpPr>
        <p:spPr>
          <a:xfrm>
            <a:off x="4793456" y="2618184"/>
            <a:ext cx="29226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⛔</a:t>
            </a:r>
            <a:endParaRPr/>
          </a:p>
        </p:txBody>
      </p:sp>
      <p:sp>
        <p:nvSpPr>
          <p:cNvPr id="54" name="el-1782652373160-34"/>
          <p:cNvSpPr txBox="1"/>
          <p:nvPr/>
        </p:nvSpPr>
        <p:spPr>
          <a:xfrm>
            <a:off x="5092869" y="2611041"/>
            <a:ext cx="3529638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线程黑名单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：kworker、rcuop、swapper 等内核线程不可被 hint 干预</a:t>
            </a:r>
            <a:endParaRPr/>
          </a:p>
        </p:txBody>
      </p:sp>
      <p:sp>
        <p:nvSpPr>
          <p:cNvPr id="55" name="el-1782652373175-58"/>
          <p:cNvSpPr txBox="1"/>
          <p:nvPr/>
        </p:nvSpPr>
        <p:spPr>
          <a:xfrm>
            <a:off x="4793456" y="3153966"/>
            <a:ext cx="271463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📊</a:t>
            </a:r>
            <a:endParaRPr/>
          </a:p>
        </p:txBody>
      </p:sp>
      <p:sp>
        <p:nvSpPr>
          <p:cNvPr id="56" name="el-1782652373161-35"/>
          <p:cNvSpPr txBox="1"/>
          <p:nvPr/>
        </p:nvSpPr>
        <p:spPr>
          <a:xfrm>
            <a:off x="5072063" y="3146822"/>
            <a:ext cx="3550444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置信度阈值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：inference confidence &gt; 0.7 才提交 hint；建议（&lt; 0.5）只记录不执行</a:t>
            </a:r>
            <a:endParaRPr/>
          </a:p>
        </p:txBody>
      </p:sp>
      <p:sp>
        <p:nvSpPr>
          <p:cNvPr id="57" name="el-1782652373176-59"/>
          <p:cNvSpPr txBox="1"/>
          <p:nvPr/>
        </p:nvSpPr>
        <p:spPr>
          <a:xfrm>
            <a:off x="4793456" y="3689747"/>
            <a:ext cx="271463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📋</a:t>
            </a:r>
            <a:endParaRPr/>
          </a:p>
        </p:txBody>
      </p:sp>
      <p:sp>
        <p:nvSpPr>
          <p:cNvPr id="58" name="el-1782652373162-36"/>
          <p:cNvSpPr txBox="1"/>
          <p:nvPr/>
        </p:nvSpPr>
        <p:spPr>
          <a:xfrm>
            <a:off x="5072063" y="3682603"/>
            <a:ext cx="3550444" cy="3643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audit 日志</a:t>
            </a: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：每条 hint 的“目标 TID、操作类型、时间戳、预期/实际持续时长”全部记录在 result.json</a:t>
            </a:r>
            <a:endParaRPr/>
          </a:p>
        </p:txBody>
      </p:sp>
      <p:sp>
        <p:nvSpPr>
          <p:cNvPr id="59" name="el-1782652373118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60" name="el-1782652373119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3298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3300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3309-8"/>
          <p:cNvSpPr/>
          <p:nvPr/>
        </p:nvSpPr>
        <p:spPr>
          <a:xfrm>
            <a:off x="400050" y="1062276"/>
            <a:ext cx="4071938" cy="140589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73313-12"/>
          <p:cNvCxnSpPr/>
          <p:nvPr/>
        </p:nvCxnSpPr>
        <p:spPr>
          <a:xfrm>
            <a:off x="414338" y="1062276"/>
            <a:ext cx="914" cy="1405890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73310-9"/>
          <p:cNvSpPr/>
          <p:nvPr/>
        </p:nvSpPr>
        <p:spPr>
          <a:xfrm>
            <a:off x="400050" y="2611041"/>
            <a:ext cx="4071938" cy="164163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7" name="el-1782652373313-13"/>
          <p:cNvCxnSpPr/>
          <p:nvPr/>
        </p:nvCxnSpPr>
        <p:spPr>
          <a:xfrm>
            <a:off x="414338" y="2611041"/>
            <a:ext cx="914" cy="1641634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82652373311-10"/>
          <p:cNvSpPr/>
          <p:nvPr/>
        </p:nvSpPr>
        <p:spPr>
          <a:xfrm>
            <a:off x="4672013" y="1062276"/>
            <a:ext cx="4071938" cy="125658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9" name="el-1782652373314-14"/>
          <p:cNvCxnSpPr/>
          <p:nvPr/>
        </p:nvCxnSpPr>
        <p:spPr>
          <a:xfrm>
            <a:off x="4686300" y="1062276"/>
            <a:ext cx="914" cy="1256586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-1782652373312-11"/>
          <p:cNvSpPr/>
          <p:nvPr/>
        </p:nvSpPr>
        <p:spPr>
          <a:xfrm>
            <a:off x="4672013" y="2461736"/>
            <a:ext cx="4071938" cy="17909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1" name="el-1782652373315-15"/>
          <p:cNvCxnSpPr/>
          <p:nvPr/>
        </p:nvCxnSpPr>
        <p:spPr>
          <a:xfrm>
            <a:off x="4686300" y="2461736"/>
            <a:ext cx="914" cy="1790938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l-1782652373326-20"/>
          <p:cNvSpPr/>
          <p:nvPr/>
        </p:nvSpPr>
        <p:spPr>
          <a:xfrm>
            <a:off x="4843463" y="2874645"/>
            <a:ext cx="1803797" cy="124229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82652373327-21"/>
          <p:cNvSpPr/>
          <p:nvPr/>
        </p:nvSpPr>
        <p:spPr>
          <a:xfrm>
            <a:off x="6790134" y="2874645"/>
            <a:ext cx="1803797" cy="124229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4" name="el-1782652373299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l-1782652373302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12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16" name="el-1782652373303-5"/>
          <p:cNvSpPr txBox="1"/>
          <p:nvPr/>
        </p:nvSpPr>
        <p:spPr>
          <a:xfrm>
            <a:off x="1140678" y="159306"/>
            <a:ext cx="16176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2 — 增强能力实现</a:t>
            </a:r>
            <a:endParaRPr/>
          </a:p>
        </p:txBody>
      </p:sp>
      <p:sp>
        <p:nvSpPr>
          <p:cNvPr id="17" name="el-1782652373317-16"/>
          <p:cNvSpPr txBox="1"/>
          <p:nvPr/>
        </p:nvSpPr>
        <p:spPr>
          <a:xfrm>
            <a:off x="571500" y="1198007"/>
            <a:ext cx="3829050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Binder / Futex 图分析</a:t>
            </a:r>
            <a:endParaRPr/>
          </a:p>
        </p:txBody>
      </p:sp>
      <p:sp>
        <p:nvSpPr>
          <p:cNvPr id="18" name="el-1782652373345-29"/>
          <p:cNvSpPr txBox="1"/>
          <p:nvPr/>
        </p:nvSpPr>
        <p:spPr>
          <a:xfrm>
            <a:off x="571500" y="1475184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19" name="el-1782652373336-22"/>
          <p:cNvSpPr txBox="1"/>
          <p:nvPr/>
        </p:nvSpPr>
        <p:spPr>
          <a:xfrm>
            <a:off x="750897" y="1475184"/>
            <a:ext cx="3337203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Binder 图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：展示跨进程 IPC 依赖关系，识别 Binder 瓶颈</a:t>
            </a:r>
            <a:endParaRPr/>
          </a:p>
        </p:txBody>
      </p:sp>
      <p:sp>
        <p:nvSpPr>
          <p:cNvPr id="20" name="el-1782652373346-30"/>
          <p:cNvSpPr txBox="1"/>
          <p:nvPr/>
        </p:nvSpPr>
        <p:spPr>
          <a:xfrm>
            <a:off x="571500" y="1710928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21" name="el-1782652373337-23"/>
          <p:cNvSpPr txBox="1"/>
          <p:nvPr/>
        </p:nvSpPr>
        <p:spPr>
          <a:xfrm>
            <a:off x="750897" y="1710928"/>
            <a:ext cx="2669352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Futex 图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：展示锁竞争关系，识别 Futex 阻塞</a:t>
            </a:r>
            <a:endParaRPr/>
          </a:p>
        </p:txBody>
      </p:sp>
      <p:sp>
        <p:nvSpPr>
          <p:cNvPr id="22" name="el-1782652373347-31"/>
          <p:cNvSpPr txBox="1"/>
          <p:nvPr/>
        </p:nvSpPr>
        <p:spPr>
          <a:xfrm>
            <a:off x="571500" y="1946672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23" name="el-1782652373339-24"/>
          <p:cNvSpPr txBox="1"/>
          <p:nvPr/>
        </p:nvSpPr>
        <p:spPr>
          <a:xfrm>
            <a:off x="750897" y="1946672"/>
            <a:ext cx="3571071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自动生成 SVG 图：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graph_binder.svg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graph_futex.svg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graph_critical.svg</a:t>
            </a:r>
            <a:endParaRPr/>
          </a:p>
        </p:txBody>
      </p:sp>
      <p:sp>
        <p:nvSpPr>
          <p:cNvPr id="24" name="el-1782652373317-17"/>
          <p:cNvSpPr txBox="1"/>
          <p:nvPr/>
        </p:nvSpPr>
        <p:spPr>
          <a:xfrm>
            <a:off x="571500" y="2746772"/>
            <a:ext cx="3829050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Jank 分类器（决策树）</a:t>
            </a:r>
            <a:endParaRPr/>
          </a:p>
        </p:txBody>
      </p:sp>
      <p:sp>
        <p:nvSpPr>
          <p:cNvPr id="25" name="el-1782652373348-32"/>
          <p:cNvSpPr txBox="1"/>
          <p:nvPr/>
        </p:nvSpPr>
        <p:spPr>
          <a:xfrm>
            <a:off x="571500" y="3023950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26" name="el-1782652373340-25"/>
          <p:cNvSpPr txBox="1"/>
          <p:nvPr/>
        </p:nvSpPr>
        <p:spPr>
          <a:xfrm>
            <a:off x="750897" y="3023950"/>
            <a:ext cx="2936439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6 维特征空间 →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sklearn DecisionTreeClassifier</a:t>
            </a:r>
            <a:endParaRPr/>
          </a:p>
        </p:txBody>
      </p:sp>
      <p:sp>
        <p:nvSpPr>
          <p:cNvPr id="27" name="el-1782652373349-33"/>
          <p:cNvSpPr txBox="1"/>
          <p:nvPr/>
        </p:nvSpPr>
        <p:spPr>
          <a:xfrm>
            <a:off x="571500" y="3259693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28" name="el-1782652373349-34"/>
          <p:cNvSpPr txBox="1"/>
          <p:nvPr/>
        </p:nvSpPr>
        <p:spPr>
          <a:xfrm>
            <a:off x="750897" y="3259693"/>
            <a:ext cx="2864376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自动标注 → 可疑帧筛选 → 人工复核 → 模型训练</a:t>
            </a:r>
            <a:endParaRPr/>
          </a:p>
        </p:txBody>
      </p:sp>
      <p:sp>
        <p:nvSpPr>
          <p:cNvPr id="29" name="el-1782652373350-35"/>
          <p:cNvSpPr txBox="1"/>
          <p:nvPr/>
        </p:nvSpPr>
        <p:spPr>
          <a:xfrm>
            <a:off x="571500" y="3495437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30" name="el-1782652373341-26"/>
          <p:cNvSpPr txBox="1"/>
          <p:nvPr/>
        </p:nvSpPr>
        <p:spPr>
          <a:xfrm>
            <a:off x="750897" y="3495437"/>
            <a:ext cx="3571071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分类结果嵌入 C 头文件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learned_model.h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，loader 内直接运行</a:t>
            </a:r>
            <a:endParaRPr/>
          </a:p>
        </p:txBody>
      </p:sp>
      <p:sp>
        <p:nvSpPr>
          <p:cNvPr id="31" name="el-1782652373350-36"/>
          <p:cNvSpPr txBox="1"/>
          <p:nvPr/>
        </p:nvSpPr>
        <p:spPr>
          <a:xfrm>
            <a:off x="571500" y="3924062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32" name="el-1782652373343-27"/>
          <p:cNvSpPr txBox="1"/>
          <p:nvPr/>
        </p:nvSpPr>
        <p:spPr>
          <a:xfrm>
            <a:off x="750897" y="3924062"/>
            <a:ext cx="3076367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评估：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LeaveOneOut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交叉验证 + confusion matrix</a:t>
            </a:r>
            <a:endParaRPr/>
          </a:p>
        </p:txBody>
      </p:sp>
      <p:sp>
        <p:nvSpPr>
          <p:cNvPr id="33" name="el-1782652373318-18"/>
          <p:cNvSpPr txBox="1"/>
          <p:nvPr/>
        </p:nvSpPr>
        <p:spPr>
          <a:xfrm>
            <a:off x="4843463" y="1241227"/>
            <a:ext cx="3829050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Camera 场景延迟分解方法</a:t>
            </a:r>
            <a:endParaRPr/>
          </a:p>
        </p:txBody>
      </p:sp>
      <p:sp>
        <p:nvSpPr>
          <p:cNvPr id="34" name="el-1782652373350-37"/>
          <p:cNvSpPr txBox="1"/>
          <p:nvPr/>
        </p:nvSpPr>
        <p:spPr>
          <a:xfrm>
            <a:off x="4843463" y="1518404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35" name="el-1782652373345-28"/>
          <p:cNvSpPr txBox="1"/>
          <p:nvPr/>
        </p:nvSpPr>
        <p:spPr>
          <a:xfrm>
            <a:off x="5022860" y="1518404"/>
            <a:ext cx="3571071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总阻塞时间 =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调度竞争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（Runnable Delay） +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Binder IPC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等待 +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Futex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锁等待</a:t>
            </a:r>
            <a:endParaRPr/>
          </a:p>
        </p:txBody>
      </p:sp>
      <p:sp>
        <p:nvSpPr>
          <p:cNvPr id="36" name="el-1782652373351-38"/>
          <p:cNvSpPr txBox="1"/>
          <p:nvPr/>
        </p:nvSpPr>
        <p:spPr>
          <a:xfrm>
            <a:off x="4843463" y="1947029"/>
            <a:ext cx="19368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▸</a:t>
            </a:r>
            <a:endParaRPr/>
          </a:p>
        </p:txBody>
      </p:sp>
      <p:sp>
        <p:nvSpPr>
          <p:cNvPr id="37" name="el-1782652373352-39"/>
          <p:cNvSpPr txBox="1"/>
          <p:nvPr/>
        </p:nvSpPr>
        <p:spPr>
          <a:xfrm>
            <a:off x="5022860" y="1947029"/>
            <a:ext cx="331095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角色识别 → DAG 关键路径构建 → 根因归因 → 安全调优</a:t>
            </a:r>
            <a:endParaRPr/>
          </a:p>
        </p:txBody>
      </p:sp>
      <p:sp>
        <p:nvSpPr>
          <p:cNvPr id="38" name="el-1782652373318-19"/>
          <p:cNvSpPr txBox="1"/>
          <p:nvPr/>
        </p:nvSpPr>
        <p:spPr>
          <a:xfrm>
            <a:off x="4843463" y="2597468"/>
            <a:ext cx="3829050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23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两种聚合策略对比</a:t>
            </a:r>
            <a:endParaRPr/>
          </a:p>
        </p:txBody>
      </p:sp>
      <p:sp>
        <p:nvSpPr>
          <p:cNvPr id="39" name="el-1782652373360-42"/>
          <p:cNvSpPr txBox="1"/>
          <p:nvPr/>
        </p:nvSpPr>
        <p:spPr>
          <a:xfrm>
            <a:off x="4943475" y="2946082"/>
            <a:ext cx="1664494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帧级窗口</a:t>
            </a:r>
            <a:endParaRPr/>
          </a:p>
        </p:txBody>
      </p:sp>
      <p:sp>
        <p:nvSpPr>
          <p:cNvPr id="40" name="el-1782652373354-40"/>
          <p:cNvSpPr txBox="1"/>
          <p:nvPr/>
        </p:nvSpPr>
        <p:spPr>
          <a:xfrm>
            <a:off x="4943475" y="3134678"/>
            <a:ext cx="1603772" cy="9108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页面 / 视频场景</a:t>
            </a:r>
            <a:endParaRPr/>
          </a:p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帧精确对齐，压缩至 ~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2000 行</a:t>
            </a:r>
            <a:endParaRPr/>
          </a:p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字段：runnable_delay、边分布</a:t>
            </a:r>
            <a:endParaRPr/>
          </a:p>
        </p:txBody>
      </p:sp>
      <p:sp>
        <p:nvSpPr>
          <p:cNvPr id="41" name="el-1782652373361-43"/>
          <p:cNvSpPr txBox="1"/>
          <p:nvPr/>
        </p:nvSpPr>
        <p:spPr>
          <a:xfrm>
            <a:off x="6890147" y="2946082"/>
            <a:ext cx="1664494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秒级窗口</a:t>
            </a:r>
            <a:endParaRPr/>
          </a:p>
        </p:txBody>
      </p:sp>
      <p:sp>
        <p:nvSpPr>
          <p:cNvPr id="42" name="el-1782652373356-41"/>
          <p:cNvSpPr txBox="1"/>
          <p:nvPr/>
        </p:nvSpPr>
        <p:spPr>
          <a:xfrm>
            <a:off x="6890147" y="3134678"/>
            <a:ext cx="1603772" cy="9108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信息流场景</a:t>
            </a:r>
            <a:endParaRPr/>
          </a:p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快速宏观趋势，压缩至 ~</a:t>
            </a: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35 行</a:t>
            </a:r>
            <a:endParaRPr/>
          </a:p>
          <a:p>
            <a:pPr algn="l">
              <a:lnSpc>
                <a:spcPts val="1425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字段：total_events、sched_switch 频次</a:t>
            </a:r>
            <a:endParaRPr/>
          </a:p>
        </p:txBody>
      </p:sp>
      <p:sp>
        <p:nvSpPr>
          <p:cNvPr id="43" name="el-1782652373303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44" name="el-1782652373304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3473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3476-3"/>
          <p:cNvCxnSpPr/>
          <p:nvPr/>
        </p:nvCxnSpPr>
        <p:spPr>
          <a:xfrm>
            <a:off x="943689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3489-11"/>
          <p:cNvSpPr/>
          <p:nvPr/>
        </p:nvSpPr>
        <p:spPr>
          <a:xfrm>
            <a:off x="400050" y="980480"/>
            <a:ext cx="4100513" cy="11144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5" name="el-1782652373491-13"/>
          <p:cNvCxnSpPr/>
          <p:nvPr/>
        </p:nvCxnSpPr>
        <p:spPr>
          <a:xfrm>
            <a:off x="414338" y="980480"/>
            <a:ext cx="914" cy="111442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82652373550-63"/>
          <p:cNvSpPr/>
          <p:nvPr/>
        </p:nvSpPr>
        <p:spPr>
          <a:xfrm>
            <a:off x="542925" y="1304806"/>
            <a:ext cx="285750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82652373552-65"/>
          <p:cNvSpPr/>
          <p:nvPr/>
        </p:nvSpPr>
        <p:spPr>
          <a:xfrm>
            <a:off x="542925" y="1504831"/>
            <a:ext cx="485775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82652373554-67"/>
          <p:cNvSpPr/>
          <p:nvPr/>
        </p:nvSpPr>
        <p:spPr>
          <a:xfrm>
            <a:off x="542925" y="1704856"/>
            <a:ext cx="806529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82652373490-12"/>
          <p:cNvSpPr/>
          <p:nvPr/>
        </p:nvSpPr>
        <p:spPr>
          <a:xfrm>
            <a:off x="4643438" y="980480"/>
            <a:ext cx="4100513" cy="11144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0" name="el-1782652373492-14"/>
          <p:cNvCxnSpPr/>
          <p:nvPr/>
        </p:nvCxnSpPr>
        <p:spPr>
          <a:xfrm>
            <a:off x="4657725" y="980480"/>
            <a:ext cx="914" cy="111442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-1782652373556-69"/>
          <p:cNvSpPr/>
          <p:nvPr/>
        </p:nvSpPr>
        <p:spPr>
          <a:xfrm>
            <a:off x="4786313" y="1304806"/>
            <a:ext cx="485775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82652373558-72"/>
          <p:cNvSpPr/>
          <p:nvPr/>
        </p:nvSpPr>
        <p:spPr>
          <a:xfrm>
            <a:off x="4786313" y="1676281"/>
            <a:ext cx="485775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82652373482-8"/>
          <p:cNvSpPr/>
          <p:nvPr/>
        </p:nvSpPr>
        <p:spPr>
          <a:xfrm>
            <a:off x="400050" y="2180630"/>
            <a:ext cx="8343900" cy="215384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el-1782652373499-18"/>
          <p:cNvSpPr/>
          <p:nvPr/>
        </p:nvSpPr>
        <p:spPr>
          <a:xfrm>
            <a:off x="521494" y="2490668"/>
            <a:ext cx="823049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82652373501-21"/>
          <p:cNvSpPr/>
          <p:nvPr/>
        </p:nvSpPr>
        <p:spPr>
          <a:xfrm>
            <a:off x="521494" y="2687836"/>
            <a:ext cx="2209294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6" name="el-1782652373514-36"/>
          <p:cNvCxnSpPr/>
          <p:nvPr/>
        </p:nvCxnSpPr>
        <p:spPr>
          <a:xfrm>
            <a:off x="521494" y="2909292"/>
            <a:ext cx="2209294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-1782652373502-23"/>
          <p:cNvSpPr/>
          <p:nvPr/>
        </p:nvSpPr>
        <p:spPr>
          <a:xfrm>
            <a:off x="2730788" y="2687836"/>
            <a:ext cx="3314075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8" name="el-1782652373514-37"/>
          <p:cNvCxnSpPr/>
          <p:nvPr/>
        </p:nvCxnSpPr>
        <p:spPr>
          <a:xfrm>
            <a:off x="2730788" y="2909292"/>
            <a:ext cx="3314075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l-1782652373503-25"/>
          <p:cNvSpPr/>
          <p:nvPr/>
        </p:nvSpPr>
        <p:spPr>
          <a:xfrm>
            <a:off x="6044863" y="2687836"/>
            <a:ext cx="2577644" cy="2250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0" name="el-1782652373515-38"/>
          <p:cNvCxnSpPr/>
          <p:nvPr/>
        </p:nvCxnSpPr>
        <p:spPr>
          <a:xfrm>
            <a:off x="6044863" y="2909292"/>
            <a:ext cx="2577644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-1782652373524-48"/>
          <p:cNvCxnSpPr/>
          <p:nvPr/>
        </p:nvCxnSpPr>
        <p:spPr>
          <a:xfrm>
            <a:off x="521494" y="3134320"/>
            <a:ext cx="220929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-1782652373515-39"/>
          <p:cNvCxnSpPr/>
          <p:nvPr/>
        </p:nvCxnSpPr>
        <p:spPr>
          <a:xfrm>
            <a:off x="2730788" y="3134320"/>
            <a:ext cx="3314075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-1782652373516-40"/>
          <p:cNvCxnSpPr/>
          <p:nvPr/>
        </p:nvCxnSpPr>
        <p:spPr>
          <a:xfrm>
            <a:off x="6044863" y="3134320"/>
            <a:ext cx="257764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-1782652373525-49"/>
          <p:cNvCxnSpPr/>
          <p:nvPr/>
        </p:nvCxnSpPr>
        <p:spPr>
          <a:xfrm>
            <a:off x="521494" y="3359348"/>
            <a:ext cx="220929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l-1782652373517-41"/>
          <p:cNvCxnSpPr/>
          <p:nvPr/>
        </p:nvCxnSpPr>
        <p:spPr>
          <a:xfrm>
            <a:off x="2730788" y="3359348"/>
            <a:ext cx="3314075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-1782652373517-42"/>
          <p:cNvCxnSpPr/>
          <p:nvPr/>
        </p:nvCxnSpPr>
        <p:spPr>
          <a:xfrm>
            <a:off x="6044863" y="3359348"/>
            <a:ext cx="257764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-1782652373526-50"/>
          <p:cNvCxnSpPr/>
          <p:nvPr/>
        </p:nvCxnSpPr>
        <p:spPr>
          <a:xfrm>
            <a:off x="521494" y="3584377"/>
            <a:ext cx="220929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-1782652373518-43"/>
          <p:cNvCxnSpPr/>
          <p:nvPr/>
        </p:nvCxnSpPr>
        <p:spPr>
          <a:xfrm>
            <a:off x="2730788" y="3584377"/>
            <a:ext cx="3314075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-1782652373518-44"/>
          <p:cNvCxnSpPr/>
          <p:nvPr/>
        </p:nvCxnSpPr>
        <p:spPr>
          <a:xfrm>
            <a:off x="6044863" y="3584377"/>
            <a:ext cx="257764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l-1782652373527-51"/>
          <p:cNvCxnSpPr/>
          <p:nvPr/>
        </p:nvCxnSpPr>
        <p:spPr>
          <a:xfrm>
            <a:off x="521494" y="3809405"/>
            <a:ext cx="220929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-1782652373519-45"/>
          <p:cNvCxnSpPr/>
          <p:nvPr/>
        </p:nvCxnSpPr>
        <p:spPr>
          <a:xfrm>
            <a:off x="2730788" y="3809405"/>
            <a:ext cx="3314075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l-1782652373519-46"/>
          <p:cNvCxnSpPr/>
          <p:nvPr/>
        </p:nvCxnSpPr>
        <p:spPr>
          <a:xfrm>
            <a:off x="6044863" y="3809405"/>
            <a:ext cx="257764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el-1782652373527-52"/>
          <p:cNvCxnSpPr/>
          <p:nvPr/>
        </p:nvCxnSpPr>
        <p:spPr>
          <a:xfrm>
            <a:off x="521494" y="4034433"/>
            <a:ext cx="2209294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-1782652373520-47"/>
          <p:cNvCxnSpPr/>
          <p:nvPr/>
        </p:nvCxnSpPr>
        <p:spPr>
          <a:xfrm>
            <a:off x="2730788" y="4034433"/>
            <a:ext cx="3314075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-1782652373474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el-1782652373478-4"/>
          <p:cNvSpPr txBox="1"/>
          <p:nvPr/>
        </p:nvSpPr>
        <p:spPr>
          <a:xfrm>
            <a:off x="400050" y="185023"/>
            <a:ext cx="447199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13</a:t>
            </a:r>
            <a:r>
              <a:rPr b="1" sz="585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78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37" name="el-1782652373479-5"/>
          <p:cNvSpPr txBox="1"/>
          <p:nvPr/>
        </p:nvSpPr>
        <p:spPr>
          <a:xfrm>
            <a:off x="1090136" y="167878"/>
            <a:ext cx="158448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Step 3 — 深化与对比分析</a:t>
            </a:r>
            <a:endParaRPr/>
          </a:p>
        </p:txBody>
      </p:sp>
      <p:sp>
        <p:nvSpPr>
          <p:cNvPr id="38" name="el-1782652373497-15"/>
          <p:cNvSpPr txBox="1"/>
          <p:nvPr/>
        </p:nvSpPr>
        <p:spPr>
          <a:xfrm>
            <a:off x="542925" y="1073348"/>
            <a:ext cx="390048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🌡 Thermal 深化分析</a:t>
            </a:r>
            <a:endParaRPr/>
          </a:p>
        </p:txBody>
      </p:sp>
      <p:sp>
        <p:nvSpPr>
          <p:cNvPr id="39" name="el-1782652373547-62"/>
          <p:cNvSpPr txBox="1"/>
          <p:nvPr/>
        </p:nvSpPr>
        <p:spPr>
          <a:xfrm>
            <a:off x="585788" y="1304806"/>
            <a:ext cx="292894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定义</a:t>
            </a:r>
            <a:endParaRPr/>
          </a:p>
        </p:txBody>
      </p:sp>
      <p:sp>
        <p:nvSpPr>
          <p:cNvPr id="40" name="el-1782652373543-58"/>
          <p:cNvSpPr txBox="1"/>
          <p:nvPr/>
        </p:nvSpPr>
        <p:spPr>
          <a:xfrm>
            <a:off x="871538" y="1287661"/>
            <a:ext cx="276293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freq_throttle_ratio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：0.0 = 无降频，1.0 = 完全限频</a:t>
            </a:r>
            <a:endParaRPr/>
          </a:p>
        </p:txBody>
      </p:sp>
      <p:sp>
        <p:nvSpPr>
          <p:cNvPr id="41" name="el-1782652373551-64"/>
          <p:cNvSpPr txBox="1"/>
          <p:nvPr/>
        </p:nvSpPr>
        <p:spPr>
          <a:xfrm>
            <a:off x="585788" y="1504831"/>
            <a:ext cx="492919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视频场景</a:t>
            </a:r>
            <a:endParaRPr/>
          </a:p>
        </p:txBody>
      </p:sp>
      <p:sp>
        <p:nvSpPr>
          <p:cNvPr id="42" name="el-1782652373544-59"/>
          <p:cNvSpPr txBox="1"/>
          <p:nvPr/>
        </p:nvSpPr>
        <p:spPr>
          <a:xfrm>
            <a:off x="1071563" y="1487686"/>
            <a:ext cx="275873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实测 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freq_throttle_ratio = 1.00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（30.3 → 52.3°C）</a:t>
            </a:r>
            <a:endParaRPr/>
          </a:p>
        </p:txBody>
      </p:sp>
      <p:sp>
        <p:nvSpPr>
          <p:cNvPr id="43" name="el-1782652373553-66"/>
          <p:cNvSpPr txBox="1"/>
          <p:nvPr/>
        </p:nvSpPr>
        <p:spPr>
          <a:xfrm>
            <a:off x="585788" y="1704856"/>
            <a:ext cx="813673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页面切换 Run 2</a:t>
            </a:r>
            <a:endParaRPr/>
          </a:p>
        </p:txBody>
      </p:sp>
      <p:sp>
        <p:nvSpPr>
          <p:cNvPr id="44" name="el-1782652373546-60"/>
          <p:cNvSpPr txBox="1"/>
          <p:nvPr/>
        </p:nvSpPr>
        <p:spPr>
          <a:xfrm>
            <a:off x="1392317" y="1687711"/>
            <a:ext cx="275873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实测 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freq_throttle_ratio = 0.47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（36.8 → 41.5°C）</a:t>
            </a:r>
            <a:endParaRPr/>
          </a:p>
        </p:txBody>
      </p:sp>
      <p:sp>
        <p:nvSpPr>
          <p:cNvPr id="45" name="el-1782652373498-16"/>
          <p:cNvSpPr txBox="1"/>
          <p:nvPr/>
        </p:nvSpPr>
        <p:spPr>
          <a:xfrm>
            <a:off x="4786313" y="1073348"/>
            <a:ext cx="390048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📊 Multi-session 对比</a:t>
            </a:r>
            <a:endParaRPr/>
          </a:p>
        </p:txBody>
      </p:sp>
      <p:sp>
        <p:nvSpPr>
          <p:cNvPr id="46" name="el-1782652373555-68"/>
          <p:cNvSpPr txBox="1"/>
          <p:nvPr/>
        </p:nvSpPr>
        <p:spPr>
          <a:xfrm>
            <a:off x="4829175" y="1304806"/>
            <a:ext cx="492919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对比维度</a:t>
            </a:r>
            <a:endParaRPr/>
          </a:p>
        </p:txBody>
      </p:sp>
      <p:sp>
        <p:nvSpPr>
          <p:cNvPr id="47" name="el-1782652373556-70"/>
          <p:cNvSpPr txBox="1"/>
          <p:nvPr/>
        </p:nvSpPr>
        <p:spPr>
          <a:xfrm>
            <a:off x="5314950" y="1287661"/>
            <a:ext cx="3307556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5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Jank率 · 根因分布 · 图规模 · Top-5线程 · thermal profile · freq_throttle_ratio</a:t>
            </a:r>
            <a:endParaRPr/>
          </a:p>
        </p:txBody>
      </p:sp>
      <p:sp>
        <p:nvSpPr>
          <p:cNvPr id="48" name="el-1782652373557-71"/>
          <p:cNvSpPr txBox="1"/>
          <p:nvPr/>
        </p:nvSpPr>
        <p:spPr>
          <a:xfrm>
            <a:off x="4829175" y="1676281"/>
            <a:ext cx="492919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关键发现</a:t>
            </a:r>
            <a:endParaRPr/>
          </a:p>
        </p:txBody>
      </p:sp>
      <p:sp>
        <p:nvSpPr>
          <p:cNvPr id="49" name="el-1782652373547-61"/>
          <p:cNvSpPr txBox="1"/>
          <p:nvPr/>
        </p:nvSpPr>
        <p:spPr>
          <a:xfrm>
            <a:off x="5314950" y="1659136"/>
            <a:ext cx="3307556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5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Jank率差异（</a:t>
            </a: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72.5% → 96.6% → 71.2%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）与温控降频程度直接相关，调度竞争本身即显著</a:t>
            </a:r>
            <a:endParaRPr/>
          </a:p>
        </p:txBody>
      </p:sp>
      <p:sp>
        <p:nvSpPr>
          <p:cNvPr id="50" name="el-1782652373487-10"/>
          <p:cNvSpPr txBox="1"/>
          <p:nvPr/>
        </p:nvSpPr>
        <p:spPr>
          <a:xfrm>
            <a:off x="521494" y="2259211"/>
            <a:ext cx="816530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1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⚙ Inference Engine 证据链 · 多信号加权融合</a:t>
            </a:r>
            <a:endParaRPr/>
          </a:p>
        </p:txBody>
      </p:sp>
      <p:sp>
        <p:nvSpPr>
          <p:cNvPr id="51" name="el-1782652373498-17"/>
          <p:cNvSpPr txBox="1"/>
          <p:nvPr/>
        </p:nvSpPr>
        <p:spPr>
          <a:xfrm>
            <a:off x="564356" y="2490668"/>
            <a:ext cx="830193" cy="1500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Cross-scenario</a:t>
            </a:r>
            <a:endParaRPr/>
          </a:p>
        </p:txBody>
      </p:sp>
      <p:sp>
        <p:nvSpPr>
          <p:cNvPr id="52" name="el-1782652373499-19"/>
          <p:cNvSpPr txBox="1"/>
          <p:nvPr/>
        </p:nvSpPr>
        <p:spPr>
          <a:xfrm>
            <a:off x="1387406" y="2473523"/>
            <a:ext cx="397210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页面切换（6维）与视频（+decode_late第7维）同一套流程，验证7维必要性</a:t>
            </a:r>
            <a:endParaRPr/>
          </a:p>
        </p:txBody>
      </p:sp>
      <p:sp>
        <p:nvSpPr>
          <p:cNvPr id="53" name="el-1782652373500-20"/>
          <p:cNvSpPr txBox="1"/>
          <p:nvPr/>
        </p:nvSpPr>
        <p:spPr>
          <a:xfrm>
            <a:off x="578644" y="2716411"/>
            <a:ext cx="220572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信号名</a:t>
            </a:r>
            <a:endParaRPr/>
          </a:p>
        </p:txBody>
      </p:sp>
      <p:sp>
        <p:nvSpPr>
          <p:cNvPr id="54" name="el-1782652373501-22"/>
          <p:cNvSpPr txBox="1"/>
          <p:nvPr/>
        </p:nvSpPr>
        <p:spPr>
          <a:xfrm>
            <a:off x="2787938" y="2716411"/>
            <a:ext cx="3310503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来源</a:t>
            </a:r>
            <a:endParaRPr/>
          </a:p>
        </p:txBody>
      </p:sp>
      <p:sp>
        <p:nvSpPr>
          <p:cNvPr id="55" name="el-1782652373503-24"/>
          <p:cNvSpPr txBox="1"/>
          <p:nvPr/>
        </p:nvSpPr>
        <p:spPr>
          <a:xfrm>
            <a:off x="6102013" y="2716411"/>
            <a:ext cx="257407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权重范围 + 用途</a:t>
            </a:r>
            <a:endParaRPr/>
          </a:p>
        </p:txBody>
      </p:sp>
      <p:sp>
        <p:nvSpPr>
          <p:cNvPr id="56" name="el-1782652373531-53"/>
          <p:cNvSpPr txBox="1"/>
          <p:nvPr/>
        </p:nvSpPr>
        <p:spPr>
          <a:xfrm>
            <a:off x="578644" y="2941439"/>
            <a:ext cx="87171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runnable_delay</a:t>
            </a:r>
            <a:endParaRPr/>
          </a:p>
        </p:txBody>
      </p:sp>
      <p:sp>
        <p:nvSpPr>
          <p:cNvPr id="57" name="el-1782652373505-26"/>
          <p:cNvSpPr txBox="1"/>
          <p:nvPr/>
        </p:nvSpPr>
        <p:spPr>
          <a:xfrm>
            <a:off x="2787938" y="2941439"/>
            <a:ext cx="3310503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sched_switch</a:t>
            </a:r>
            <a:endParaRPr/>
          </a:p>
        </p:txBody>
      </p:sp>
      <p:sp>
        <p:nvSpPr>
          <p:cNvPr id="58" name="el-1782652373505-27"/>
          <p:cNvSpPr txBox="1"/>
          <p:nvPr/>
        </p:nvSpPr>
        <p:spPr>
          <a:xfrm>
            <a:off x="6102013" y="2941439"/>
            <a:ext cx="257407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0.0~1.0 调度竞争主信号</a:t>
            </a:r>
            <a:endParaRPr/>
          </a:p>
        </p:txBody>
      </p:sp>
      <p:sp>
        <p:nvSpPr>
          <p:cNvPr id="59" name="el-1782652373531-54"/>
          <p:cNvSpPr txBox="1"/>
          <p:nvPr/>
        </p:nvSpPr>
        <p:spPr>
          <a:xfrm>
            <a:off x="578644" y="3166467"/>
            <a:ext cx="961281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binder_centrality</a:t>
            </a:r>
            <a:endParaRPr/>
          </a:p>
        </p:txBody>
      </p:sp>
      <p:sp>
        <p:nvSpPr>
          <p:cNvPr id="60" name="el-1782652373507-28"/>
          <p:cNvSpPr txBox="1"/>
          <p:nvPr/>
        </p:nvSpPr>
        <p:spPr>
          <a:xfrm>
            <a:off x="2787938" y="3166467"/>
            <a:ext cx="3310503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binder_transaction</a:t>
            </a:r>
            <a:endParaRPr/>
          </a:p>
        </p:txBody>
      </p:sp>
      <p:sp>
        <p:nvSpPr>
          <p:cNvPr id="61" name="el-1782652373507-29"/>
          <p:cNvSpPr txBox="1"/>
          <p:nvPr/>
        </p:nvSpPr>
        <p:spPr>
          <a:xfrm>
            <a:off x="6102013" y="3166467"/>
            <a:ext cx="257407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0.0~1.0 跨进程IPC瓶颈</a:t>
            </a:r>
            <a:endParaRPr/>
          </a:p>
        </p:txBody>
      </p:sp>
      <p:sp>
        <p:nvSpPr>
          <p:cNvPr id="62" name="el-1782652373532-55"/>
          <p:cNvSpPr txBox="1"/>
          <p:nvPr/>
        </p:nvSpPr>
        <p:spPr>
          <a:xfrm>
            <a:off x="578644" y="3391495"/>
            <a:ext cx="61266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futex_wait</a:t>
            </a:r>
            <a:endParaRPr/>
          </a:p>
        </p:txBody>
      </p:sp>
      <p:sp>
        <p:nvSpPr>
          <p:cNvPr id="63" name="el-1782652373508-30"/>
          <p:cNvSpPr txBox="1"/>
          <p:nvPr/>
        </p:nvSpPr>
        <p:spPr>
          <a:xfrm>
            <a:off x="2787938" y="3391495"/>
            <a:ext cx="3310503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futex</a:t>
            </a:r>
            <a:endParaRPr/>
          </a:p>
        </p:txBody>
      </p:sp>
      <p:sp>
        <p:nvSpPr>
          <p:cNvPr id="64" name="el-1782652373509-31"/>
          <p:cNvSpPr txBox="1"/>
          <p:nvPr/>
        </p:nvSpPr>
        <p:spPr>
          <a:xfrm>
            <a:off x="6102013" y="3391495"/>
            <a:ext cx="257407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0.0~1.0 锁竞争强度</a:t>
            </a:r>
            <a:endParaRPr/>
          </a:p>
        </p:txBody>
      </p:sp>
      <p:sp>
        <p:nvSpPr>
          <p:cNvPr id="65" name="el-1782652373532-56"/>
          <p:cNvSpPr txBox="1"/>
          <p:nvPr/>
        </p:nvSpPr>
        <p:spPr>
          <a:xfrm>
            <a:off x="578644" y="3616523"/>
            <a:ext cx="933777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thermal_throttle</a:t>
            </a:r>
            <a:endParaRPr/>
          </a:p>
        </p:txBody>
      </p:sp>
      <p:sp>
        <p:nvSpPr>
          <p:cNvPr id="66" name="el-1782652373509-32"/>
          <p:cNvSpPr txBox="1"/>
          <p:nvPr/>
        </p:nvSpPr>
        <p:spPr>
          <a:xfrm>
            <a:off x="2787938" y="3616523"/>
            <a:ext cx="3310503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thermal+cpu_frequency</a:t>
            </a:r>
            <a:endParaRPr/>
          </a:p>
        </p:txBody>
      </p:sp>
      <p:sp>
        <p:nvSpPr>
          <p:cNvPr id="67" name="el-1782652373511-33"/>
          <p:cNvSpPr txBox="1"/>
          <p:nvPr/>
        </p:nvSpPr>
        <p:spPr>
          <a:xfrm>
            <a:off x="6102013" y="3616523"/>
            <a:ext cx="257407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0.0~1.0 温控降频</a:t>
            </a:r>
            <a:endParaRPr/>
          </a:p>
        </p:txBody>
      </p:sp>
      <p:sp>
        <p:nvSpPr>
          <p:cNvPr id="68" name="el-1782652373532-57"/>
          <p:cNvSpPr txBox="1"/>
          <p:nvPr/>
        </p:nvSpPr>
        <p:spPr>
          <a:xfrm>
            <a:off x="578644" y="3841552"/>
            <a:ext cx="69446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decode_late</a:t>
            </a:r>
            <a:endParaRPr/>
          </a:p>
        </p:txBody>
      </p:sp>
      <p:sp>
        <p:nvSpPr>
          <p:cNvPr id="69" name="el-1782652373511-34"/>
          <p:cNvSpPr txBox="1"/>
          <p:nvPr/>
        </p:nvSpPr>
        <p:spPr>
          <a:xfrm>
            <a:off x="2787938" y="3841552"/>
            <a:ext cx="3310503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视频帧解码时间</a:t>
            </a:r>
            <a:endParaRPr/>
          </a:p>
        </p:txBody>
      </p:sp>
      <p:sp>
        <p:nvSpPr>
          <p:cNvPr id="70" name="el-1782652373512-35"/>
          <p:cNvSpPr txBox="1"/>
          <p:nvPr/>
        </p:nvSpPr>
        <p:spPr>
          <a:xfrm>
            <a:off x="6102013" y="3841552"/>
            <a:ext cx="2574072" cy="16787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0.0~1.0 视频解码延迟</a:t>
            </a:r>
            <a:endParaRPr/>
          </a:p>
        </p:txBody>
      </p:sp>
      <p:sp>
        <p:nvSpPr>
          <p:cNvPr id="71" name="el-1782652373487-9"/>
          <p:cNvSpPr txBox="1"/>
          <p:nvPr/>
        </p:nvSpPr>
        <p:spPr>
          <a:xfrm>
            <a:off x="521494" y="4095155"/>
            <a:ext cx="8154591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→ 多信号加权融合 → </a:t>
            </a:r>
            <a:r>
              <a:rPr b="1" sz="84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hypothesis + confidence</a:t>
            </a:r>
            <a:r>
              <a:rPr sz="84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 → hint 映射（BOOST / UCLAMP / PROTECT）</a:t>
            </a:r>
            <a:endParaRPr/>
          </a:p>
        </p:txBody>
      </p:sp>
      <p:sp>
        <p:nvSpPr>
          <p:cNvPr id="72" name="el-1782652373479-6"/>
          <p:cNvSpPr txBox="1"/>
          <p:nvPr/>
        </p:nvSpPr>
        <p:spPr>
          <a:xfrm>
            <a:off x="400050" y="4915615"/>
            <a:ext cx="1768346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73" name="el-1782652373480-7"/>
          <p:cNvSpPr txBox="1"/>
          <p:nvPr/>
        </p:nvSpPr>
        <p:spPr>
          <a:xfrm>
            <a:off x="7841516" y="4915615"/>
            <a:ext cx="948869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3920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3922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3932-10"/>
          <p:cNvSpPr/>
          <p:nvPr/>
        </p:nvSpPr>
        <p:spPr>
          <a:xfrm>
            <a:off x="400050" y="1024414"/>
            <a:ext cx="28575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l-1782652373937-12"/>
          <p:cNvSpPr/>
          <p:nvPr/>
        </p:nvSpPr>
        <p:spPr>
          <a:xfrm>
            <a:off x="400050" y="1213009"/>
            <a:ext cx="8343900" cy="183022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el-1782652373941-14"/>
          <p:cNvSpPr/>
          <p:nvPr/>
        </p:nvSpPr>
        <p:spPr>
          <a:xfrm>
            <a:off x="407194" y="1220153"/>
            <a:ext cx="8329613" cy="21574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7" name="el-1782652373941-16"/>
          <p:cNvCxnSpPr/>
          <p:nvPr/>
        </p:nvCxnSpPr>
        <p:spPr>
          <a:xfrm>
            <a:off x="407194" y="1432322"/>
            <a:ext cx="8329613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-1782652373946-22"/>
          <p:cNvCxnSpPr/>
          <p:nvPr/>
        </p:nvCxnSpPr>
        <p:spPr>
          <a:xfrm>
            <a:off x="2783473" y="1220153"/>
            <a:ext cx="914" cy="208598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el-1782652373947-24"/>
          <p:cNvCxnSpPr/>
          <p:nvPr/>
        </p:nvCxnSpPr>
        <p:spPr>
          <a:xfrm>
            <a:off x="407194" y="1632347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el-1782652373959-45"/>
          <p:cNvCxnSpPr/>
          <p:nvPr/>
        </p:nvCxnSpPr>
        <p:spPr>
          <a:xfrm>
            <a:off x="2783473" y="1435894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-1782652373965-59"/>
          <p:cNvSpPr/>
          <p:nvPr/>
        </p:nvSpPr>
        <p:spPr>
          <a:xfrm>
            <a:off x="492919" y="1476613"/>
            <a:ext cx="1094065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2" name="el-1782652373947-25"/>
          <p:cNvCxnSpPr/>
          <p:nvPr/>
        </p:nvCxnSpPr>
        <p:spPr>
          <a:xfrm>
            <a:off x="407194" y="1832372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-1782652373959-46"/>
          <p:cNvCxnSpPr/>
          <p:nvPr/>
        </p:nvCxnSpPr>
        <p:spPr>
          <a:xfrm>
            <a:off x="2783473" y="1635919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-1782652373965-61"/>
          <p:cNvSpPr/>
          <p:nvPr/>
        </p:nvSpPr>
        <p:spPr>
          <a:xfrm>
            <a:off x="492919" y="1676638"/>
            <a:ext cx="764203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5" name="el-1782652373948-26"/>
          <p:cNvCxnSpPr/>
          <p:nvPr/>
        </p:nvCxnSpPr>
        <p:spPr>
          <a:xfrm>
            <a:off x="407194" y="2032397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-1782652373960-47"/>
          <p:cNvCxnSpPr/>
          <p:nvPr/>
        </p:nvCxnSpPr>
        <p:spPr>
          <a:xfrm>
            <a:off x="2783473" y="1835944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-1782652373966-63"/>
          <p:cNvSpPr/>
          <p:nvPr/>
        </p:nvSpPr>
        <p:spPr>
          <a:xfrm>
            <a:off x="492919" y="1876663"/>
            <a:ext cx="858411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8" name="el-1782652373948-27"/>
          <p:cNvCxnSpPr/>
          <p:nvPr/>
        </p:nvCxnSpPr>
        <p:spPr>
          <a:xfrm>
            <a:off x="407194" y="2232422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-1782652373960-48"/>
          <p:cNvCxnSpPr/>
          <p:nvPr/>
        </p:nvCxnSpPr>
        <p:spPr>
          <a:xfrm>
            <a:off x="2783473" y="2035969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l-1782652373967-65"/>
          <p:cNvSpPr/>
          <p:nvPr/>
        </p:nvSpPr>
        <p:spPr>
          <a:xfrm>
            <a:off x="492919" y="2076688"/>
            <a:ext cx="858411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1" name="el-1782652373948-28"/>
          <p:cNvCxnSpPr/>
          <p:nvPr/>
        </p:nvCxnSpPr>
        <p:spPr>
          <a:xfrm>
            <a:off x="407194" y="2432447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-1782652373960-49"/>
          <p:cNvCxnSpPr/>
          <p:nvPr/>
        </p:nvCxnSpPr>
        <p:spPr>
          <a:xfrm>
            <a:off x="2783473" y="2235994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-1782652373968-67"/>
          <p:cNvSpPr/>
          <p:nvPr/>
        </p:nvSpPr>
        <p:spPr>
          <a:xfrm>
            <a:off x="492919" y="2276713"/>
            <a:ext cx="669905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4" name="el-1782652373948-29"/>
          <p:cNvCxnSpPr/>
          <p:nvPr/>
        </p:nvCxnSpPr>
        <p:spPr>
          <a:xfrm>
            <a:off x="407194" y="2632472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l-1782652373961-50"/>
          <p:cNvCxnSpPr/>
          <p:nvPr/>
        </p:nvCxnSpPr>
        <p:spPr>
          <a:xfrm>
            <a:off x="2783473" y="2436019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-1782652373969-69"/>
          <p:cNvSpPr/>
          <p:nvPr/>
        </p:nvSpPr>
        <p:spPr>
          <a:xfrm>
            <a:off x="492919" y="2476738"/>
            <a:ext cx="952708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7" name="el-1782652373949-30"/>
          <p:cNvCxnSpPr/>
          <p:nvPr/>
        </p:nvCxnSpPr>
        <p:spPr>
          <a:xfrm>
            <a:off x="407194" y="2832497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-1782652373961-51"/>
          <p:cNvCxnSpPr/>
          <p:nvPr/>
        </p:nvCxnSpPr>
        <p:spPr>
          <a:xfrm>
            <a:off x="2783473" y="2636044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-1782652373970-72"/>
          <p:cNvSpPr/>
          <p:nvPr/>
        </p:nvSpPr>
        <p:spPr>
          <a:xfrm>
            <a:off x="492919" y="2676763"/>
            <a:ext cx="1094065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0" name="el-1782652373961-52"/>
          <p:cNvCxnSpPr/>
          <p:nvPr/>
        </p:nvCxnSpPr>
        <p:spPr>
          <a:xfrm>
            <a:off x="2783473" y="2836069"/>
            <a:ext cx="914" cy="200025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l-1782652373970-74"/>
          <p:cNvSpPr/>
          <p:nvPr/>
        </p:nvSpPr>
        <p:spPr>
          <a:xfrm>
            <a:off x="492919" y="2880360"/>
            <a:ext cx="952708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82652373936-11"/>
          <p:cNvSpPr/>
          <p:nvPr/>
        </p:nvSpPr>
        <p:spPr>
          <a:xfrm>
            <a:off x="400050" y="3131820"/>
            <a:ext cx="28575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el-1782652373937-13"/>
          <p:cNvSpPr/>
          <p:nvPr/>
        </p:nvSpPr>
        <p:spPr>
          <a:xfrm>
            <a:off x="400050" y="3320415"/>
            <a:ext cx="8343900" cy="103012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el-1782652373941-15"/>
          <p:cNvSpPr/>
          <p:nvPr/>
        </p:nvSpPr>
        <p:spPr>
          <a:xfrm>
            <a:off x="407194" y="3327559"/>
            <a:ext cx="8329613" cy="21574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5" name="el-1782652373942-17"/>
          <p:cNvCxnSpPr/>
          <p:nvPr/>
        </p:nvCxnSpPr>
        <p:spPr>
          <a:xfrm>
            <a:off x="407194" y="3539728"/>
            <a:ext cx="8329613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-1782652373946-23"/>
          <p:cNvCxnSpPr/>
          <p:nvPr/>
        </p:nvCxnSpPr>
        <p:spPr>
          <a:xfrm>
            <a:off x="2783473" y="3327559"/>
            <a:ext cx="914" cy="208598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l-1782652373949-31"/>
          <p:cNvCxnSpPr/>
          <p:nvPr/>
        </p:nvCxnSpPr>
        <p:spPr>
          <a:xfrm>
            <a:off x="407194" y="3739753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el-1782652373961-53"/>
          <p:cNvCxnSpPr/>
          <p:nvPr/>
        </p:nvCxnSpPr>
        <p:spPr>
          <a:xfrm>
            <a:off x="2783473" y="3543300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el-1782652373971-76"/>
          <p:cNvSpPr/>
          <p:nvPr/>
        </p:nvSpPr>
        <p:spPr>
          <a:xfrm>
            <a:off x="492919" y="3584019"/>
            <a:ext cx="575608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0" name="el-1782652373949-32"/>
          <p:cNvCxnSpPr/>
          <p:nvPr/>
        </p:nvCxnSpPr>
        <p:spPr>
          <a:xfrm>
            <a:off x="407194" y="3939778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el-1782652373962-54"/>
          <p:cNvCxnSpPr/>
          <p:nvPr/>
        </p:nvCxnSpPr>
        <p:spPr>
          <a:xfrm>
            <a:off x="2783473" y="3743325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el-1782652373971-78"/>
          <p:cNvSpPr/>
          <p:nvPr/>
        </p:nvSpPr>
        <p:spPr>
          <a:xfrm>
            <a:off x="492919" y="3784044"/>
            <a:ext cx="858411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3" name="el-1782652373950-33"/>
          <p:cNvCxnSpPr/>
          <p:nvPr/>
        </p:nvCxnSpPr>
        <p:spPr>
          <a:xfrm>
            <a:off x="407194" y="4139803"/>
            <a:ext cx="8329613" cy="914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-1782652373962-55"/>
          <p:cNvCxnSpPr/>
          <p:nvPr/>
        </p:nvCxnSpPr>
        <p:spPr>
          <a:xfrm>
            <a:off x="2783473" y="3943350"/>
            <a:ext cx="914" cy="192881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-1782652373972-80"/>
          <p:cNvSpPr/>
          <p:nvPr/>
        </p:nvSpPr>
        <p:spPr>
          <a:xfrm>
            <a:off x="492919" y="3984069"/>
            <a:ext cx="669905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6" name="el-1782652373962-56"/>
          <p:cNvCxnSpPr/>
          <p:nvPr/>
        </p:nvCxnSpPr>
        <p:spPr>
          <a:xfrm>
            <a:off x="2783473" y="4143375"/>
            <a:ext cx="914" cy="200025"/>
          </a:xfrm>
          <a:prstGeom prst="line">
            <a:avLst/>
          </a:prstGeom>
          <a:ln w="7144" cap="flat">
            <a:solidFill>
              <a:srgbClr val="EDED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-1782652373972-82"/>
          <p:cNvSpPr/>
          <p:nvPr/>
        </p:nvSpPr>
        <p:spPr>
          <a:xfrm>
            <a:off x="492919" y="4187666"/>
            <a:ext cx="952708" cy="11144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DEDF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8" name="el-1782652373920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el-1782652373923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14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50" name="el-1782652373924-5"/>
          <p:cNvSpPr txBox="1"/>
          <p:nvPr/>
        </p:nvSpPr>
        <p:spPr>
          <a:xfrm>
            <a:off x="1140678" y="167878"/>
            <a:ext cx="83581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自动化工具链</a:t>
            </a:r>
            <a:endParaRPr/>
          </a:p>
        </p:txBody>
      </p:sp>
      <p:sp>
        <p:nvSpPr>
          <p:cNvPr id="51" name="el-1782652373926-8"/>
          <p:cNvSpPr txBox="1"/>
          <p:nvPr/>
        </p:nvSpPr>
        <p:spPr>
          <a:xfrm>
            <a:off x="500063" y="1021556"/>
            <a:ext cx="830103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页面切换 · 视频浏览增强版脚本（8 个）</a:t>
            </a:r>
            <a:endParaRPr/>
          </a:p>
        </p:txBody>
      </p:sp>
      <p:sp>
        <p:nvSpPr>
          <p:cNvPr id="52" name="el-1782652373944-18"/>
          <p:cNvSpPr txBox="1"/>
          <p:nvPr/>
        </p:nvSpPr>
        <p:spPr>
          <a:xfrm>
            <a:off x="492919" y="1255871"/>
            <a:ext cx="2344132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脚本</a:t>
            </a:r>
            <a:endParaRPr/>
          </a:p>
        </p:txBody>
      </p:sp>
      <p:sp>
        <p:nvSpPr>
          <p:cNvPr id="53" name="el-1782652373945-19"/>
          <p:cNvSpPr txBox="1"/>
          <p:nvPr/>
        </p:nvSpPr>
        <p:spPr>
          <a:xfrm>
            <a:off x="2872770" y="1255871"/>
            <a:ext cx="5914043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功能</a:t>
            </a:r>
            <a:endParaRPr/>
          </a:p>
        </p:txBody>
      </p:sp>
      <p:sp>
        <p:nvSpPr>
          <p:cNvPr id="54" name="el-1782652373964-58"/>
          <p:cNvSpPr txBox="1"/>
          <p:nvPr/>
        </p:nvSpPr>
        <p:spPr>
          <a:xfrm>
            <a:off x="521494" y="1476613"/>
            <a:ext cx="1108353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deploy.sh / deploy.ps1</a:t>
            </a:r>
            <a:endParaRPr/>
          </a:p>
        </p:txBody>
      </p:sp>
      <p:sp>
        <p:nvSpPr>
          <p:cNvPr id="55" name="el-1782652373953-34"/>
          <p:cNvSpPr txBox="1"/>
          <p:nvPr/>
        </p:nvSpPr>
        <p:spPr>
          <a:xfrm>
            <a:off x="2872770" y="1464469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一键部署到 Pixel 6a 并采集数据</a:t>
            </a:r>
            <a:endParaRPr/>
          </a:p>
        </p:txBody>
      </p:sp>
      <p:sp>
        <p:nvSpPr>
          <p:cNvPr id="56" name="el-1782652373965-60"/>
          <p:cNvSpPr txBox="1"/>
          <p:nvPr/>
        </p:nvSpPr>
        <p:spPr>
          <a:xfrm>
            <a:off x="521494" y="1676638"/>
            <a:ext cx="778490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frame_query.sql</a:t>
            </a:r>
            <a:endParaRPr/>
          </a:p>
        </p:txBody>
      </p:sp>
      <p:sp>
        <p:nvSpPr>
          <p:cNvPr id="57" name="el-1782652373953-35"/>
          <p:cNvSpPr txBox="1"/>
          <p:nvPr/>
        </p:nvSpPr>
        <p:spPr>
          <a:xfrm>
            <a:off x="2872770" y="1664494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Perfetto SQL 查询帧信息</a:t>
            </a:r>
            <a:endParaRPr/>
          </a:p>
        </p:txBody>
      </p:sp>
      <p:sp>
        <p:nvSpPr>
          <p:cNvPr id="58" name="el-1782652373965-62"/>
          <p:cNvSpPr txBox="1"/>
          <p:nvPr/>
        </p:nvSpPr>
        <p:spPr>
          <a:xfrm>
            <a:off x="521494" y="1876663"/>
            <a:ext cx="872698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graph_features.py</a:t>
            </a:r>
            <a:endParaRPr/>
          </a:p>
        </p:txBody>
      </p:sp>
      <p:sp>
        <p:nvSpPr>
          <p:cNvPr id="59" name="el-1782652373953-36"/>
          <p:cNvSpPr txBox="1"/>
          <p:nvPr/>
        </p:nvSpPr>
        <p:spPr>
          <a:xfrm>
            <a:off x="2872770" y="1864519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从图拓扑中提取每帧的边类型分布特征</a:t>
            </a:r>
            <a:endParaRPr/>
          </a:p>
        </p:txBody>
      </p:sp>
      <p:sp>
        <p:nvSpPr>
          <p:cNvPr id="60" name="el-1782652373966-64"/>
          <p:cNvSpPr txBox="1"/>
          <p:nvPr/>
        </p:nvSpPr>
        <p:spPr>
          <a:xfrm>
            <a:off x="521494" y="2076688"/>
            <a:ext cx="872698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trace_features.py</a:t>
            </a:r>
            <a:endParaRPr/>
          </a:p>
        </p:txBody>
      </p:sp>
      <p:sp>
        <p:nvSpPr>
          <p:cNvPr id="61" name="el-1782652373954-37"/>
          <p:cNvSpPr txBox="1"/>
          <p:nvPr/>
        </p:nvSpPr>
        <p:spPr>
          <a:xfrm>
            <a:off x="2872770" y="2064544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从 trace 中提取时序特征</a:t>
            </a:r>
            <a:endParaRPr/>
          </a:p>
        </p:txBody>
      </p:sp>
      <p:sp>
        <p:nvSpPr>
          <p:cNvPr id="62" name="el-1782652373967-66"/>
          <p:cNvSpPr txBox="1"/>
          <p:nvPr/>
        </p:nvSpPr>
        <p:spPr>
          <a:xfrm>
            <a:off x="521494" y="2276713"/>
            <a:ext cx="684193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auto_label.py</a:t>
            </a:r>
            <a:endParaRPr/>
          </a:p>
        </p:txBody>
      </p:sp>
      <p:sp>
        <p:nvSpPr>
          <p:cNvPr id="63" name="el-1782652373954-38"/>
          <p:cNvSpPr txBox="1"/>
          <p:nvPr/>
        </p:nvSpPr>
        <p:spPr>
          <a:xfrm>
            <a:off x="2872770" y="2264569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启发式自动标注 Jank 根因</a:t>
            </a:r>
            <a:endParaRPr/>
          </a:p>
        </p:txBody>
      </p:sp>
      <p:sp>
        <p:nvSpPr>
          <p:cNvPr id="64" name="el-1782652373968-68"/>
          <p:cNvSpPr txBox="1"/>
          <p:nvPr/>
        </p:nvSpPr>
        <p:spPr>
          <a:xfrm>
            <a:off x="521494" y="2476738"/>
            <a:ext cx="966996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train_jank_model.py</a:t>
            </a:r>
            <a:endParaRPr/>
          </a:p>
        </p:txBody>
      </p:sp>
      <p:sp>
        <p:nvSpPr>
          <p:cNvPr id="65" name="el-1782652373963-57"/>
          <p:cNvSpPr txBox="1"/>
          <p:nvPr/>
        </p:nvSpPr>
        <p:spPr>
          <a:xfrm>
            <a:off x="2872770" y="2472095"/>
            <a:ext cx="885825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决策树分类器训练 +</a:t>
            </a:r>
            <a:endParaRPr/>
          </a:p>
        </p:txBody>
      </p:sp>
      <p:sp>
        <p:nvSpPr>
          <p:cNvPr id="66" name="el-1782652373969-70"/>
          <p:cNvSpPr txBox="1"/>
          <p:nvPr/>
        </p:nvSpPr>
        <p:spPr>
          <a:xfrm>
            <a:off x="3712160" y="2472095"/>
            <a:ext cx="601057" cy="12072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3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C 头文件导出</a:t>
            </a:r>
            <a:endParaRPr/>
          </a:p>
        </p:txBody>
      </p:sp>
      <p:sp>
        <p:nvSpPr>
          <p:cNvPr id="67" name="el-1782652373969-71"/>
          <p:cNvSpPr txBox="1"/>
          <p:nvPr/>
        </p:nvSpPr>
        <p:spPr>
          <a:xfrm>
            <a:off x="521494" y="2676763"/>
            <a:ext cx="1108353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export_step2_graphs.py</a:t>
            </a:r>
            <a:endParaRPr/>
          </a:p>
        </p:txBody>
      </p:sp>
      <p:sp>
        <p:nvSpPr>
          <p:cNvPr id="68" name="el-1782652373954-39"/>
          <p:cNvSpPr txBox="1"/>
          <p:nvPr/>
        </p:nvSpPr>
        <p:spPr>
          <a:xfrm>
            <a:off x="2872770" y="2664619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图可视化导出（SVG）</a:t>
            </a:r>
            <a:endParaRPr/>
          </a:p>
        </p:txBody>
      </p:sp>
      <p:sp>
        <p:nvSpPr>
          <p:cNvPr id="69" name="el-1782652373970-73"/>
          <p:cNvSpPr txBox="1"/>
          <p:nvPr/>
        </p:nvSpPr>
        <p:spPr>
          <a:xfrm>
            <a:off x="521494" y="2880360"/>
            <a:ext cx="966996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render_graph_svg.py</a:t>
            </a:r>
            <a:endParaRPr/>
          </a:p>
        </p:txBody>
      </p:sp>
      <p:sp>
        <p:nvSpPr>
          <p:cNvPr id="70" name="el-1782652373954-40"/>
          <p:cNvSpPr txBox="1"/>
          <p:nvPr/>
        </p:nvSpPr>
        <p:spPr>
          <a:xfrm>
            <a:off x="2872770" y="2864644"/>
            <a:ext cx="591047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SVG 渲染</a:t>
            </a:r>
            <a:endParaRPr/>
          </a:p>
        </p:txBody>
      </p:sp>
      <p:sp>
        <p:nvSpPr>
          <p:cNvPr id="71" name="el-1782652373926-9"/>
          <p:cNvSpPr txBox="1"/>
          <p:nvPr/>
        </p:nvSpPr>
        <p:spPr>
          <a:xfrm>
            <a:off x="500063" y="3128963"/>
            <a:ext cx="830103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相机场景脚本（4 个）</a:t>
            </a:r>
            <a:endParaRPr/>
          </a:p>
        </p:txBody>
      </p:sp>
      <p:sp>
        <p:nvSpPr>
          <p:cNvPr id="72" name="el-1782652373945-20"/>
          <p:cNvSpPr txBox="1"/>
          <p:nvPr/>
        </p:nvSpPr>
        <p:spPr>
          <a:xfrm>
            <a:off x="492919" y="3363278"/>
            <a:ext cx="2344132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脚本</a:t>
            </a:r>
            <a:endParaRPr/>
          </a:p>
        </p:txBody>
      </p:sp>
      <p:sp>
        <p:nvSpPr>
          <p:cNvPr id="73" name="el-1782652373945-21"/>
          <p:cNvSpPr txBox="1"/>
          <p:nvPr/>
        </p:nvSpPr>
        <p:spPr>
          <a:xfrm>
            <a:off x="2872770" y="3363278"/>
            <a:ext cx="5914043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78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功能</a:t>
            </a:r>
            <a:endParaRPr/>
          </a:p>
        </p:txBody>
      </p:sp>
      <p:sp>
        <p:nvSpPr>
          <p:cNvPr id="74" name="el-1782652373970-75"/>
          <p:cNvSpPr txBox="1"/>
          <p:nvPr/>
        </p:nvSpPr>
        <p:spPr>
          <a:xfrm>
            <a:off x="521494" y="3584019"/>
            <a:ext cx="589895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auto_run.py</a:t>
            </a:r>
            <a:endParaRPr/>
          </a:p>
        </p:txBody>
      </p:sp>
      <p:sp>
        <p:nvSpPr>
          <p:cNvPr id="75" name="el-1782652373954-41"/>
          <p:cNvSpPr txBox="1"/>
          <p:nvPr/>
        </p:nvSpPr>
        <p:spPr>
          <a:xfrm>
            <a:off x="2872770" y="3571875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全自动：编译→部署→采集→拉取→分析→报告</a:t>
            </a:r>
            <a:endParaRPr/>
          </a:p>
        </p:txBody>
      </p:sp>
      <p:sp>
        <p:nvSpPr>
          <p:cNvPr id="76" name="el-1782652373971-77"/>
          <p:cNvSpPr txBox="1"/>
          <p:nvPr/>
        </p:nvSpPr>
        <p:spPr>
          <a:xfrm>
            <a:off x="521494" y="3784044"/>
            <a:ext cx="872698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analyze_delays.py</a:t>
            </a:r>
            <a:endParaRPr/>
          </a:p>
        </p:txBody>
      </p:sp>
      <p:sp>
        <p:nvSpPr>
          <p:cNvPr id="77" name="el-1782652373955-42"/>
          <p:cNvSpPr txBox="1"/>
          <p:nvPr/>
        </p:nvSpPr>
        <p:spPr>
          <a:xfrm>
            <a:off x="2872770" y="3771900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延迟聚合 + Binder 配对 + Futex 统计</a:t>
            </a:r>
            <a:endParaRPr/>
          </a:p>
        </p:txBody>
      </p:sp>
      <p:sp>
        <p:nvSpPr>
          <p:cNvPr id="78" name="el-1782652373971-79"/>
          <p:cNvSpPr txBox="1"/>
          <p:nvPr/>
        </p:nvSpPr>
        <p:spPr>
          <a:xfrm>
            <a:off x="521494" y="3984069"/>
            <a:ext cx="684193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root_cause.py</a:t>
            </a:r>
            <a:endParaRPr/>
          </a:p>
        </p:txBody>
      </p:sp>
      <p:sp>
        <p:nvSpPr>
          <p:cNvPr id="79" name="el-1782652373955-43"/>
          <p:cNvSpPr txBox="1"/>
          <p:nvPr/>
        </p:nvSpPr>
        <p:spPr>
          <a:xfrm>
            <a:off x="2872770" y="3971925"/>
            <a:ext cx="5910471" cy="13573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根因归因</a:t>
            </a:r>
            <a:endParaRPr/>
          </a:p>
        </p:txBody>
      </p:sp>
      <p:sp>
        <p:nvSpPr>
          <p:cNvPr id="80" name="el-1782652373972-81"/>
          <p:cNvSpPr txBox="1"/>
          <p:nvPr/>
        </p:nvSpPr>
        <p:spPr>
          <a:xfrm>
            <a:off x="521494" y="4187666"/>
            <a:ext cx="966996" cy="1114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670">
                <a:solidFill>
                  <a:srgbClr val="1A1A2E"/>
                </a:solidFill>
                <a:latin typeface="Consolas"/>
                <a:ea typeface="Consolas"/>
                <a:cs typeface="Consolas"/>
              </a:rPr>
              <a:t>safe_hint_engine.py</a:t>
            </a:r>
            <a:endParaRPr/>
          </a:p>
        </p:txBody>
      </p:sp>
      <p:sp>
        <p:nvSpPr>
          <p:cNvPr id="81" name="el-1782652373955-44"/>
          <p:cNvSpPr txBox="1"/>
          <p:nvPr/>
        </p:nvSpPr>
        <p:spPr>
          <a:xfrm>
            <a:off x="2872770" y="4171950"/>
            <a:ext cx="591047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安全调优配置 + shell 脚本</a:t>
            </a:r>
            <a:endParaRPr/>
          </a:p>
        </p:txBody>
      </p:sp>
      <p:sp>
        <p:nvSpPr>
          <p:cNvPr id="82" name="el-1782652373924-6"/>
          <p:cNvSpPr txBox="1"/>
          <p:nvPr/>
        </p:nvSpPr>
        <p:spPr>
          <a:xfrm>
            <a:off x="400050" y="4915615"/>
            <a:ext cx="1768346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83" name="el-1782652373924-7"/>
          <p:cNvSpPr txBox="1"/>
          <p:nvPr/>
        </p:nvSpPr>
        <p:spPr>
          <a:xfrm>
            <a:off x="7841516" y="4915615"/>
            <a:ext cx="948869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4042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4046-3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-1782652374053-8"/>
          <p:cNvSpPr/>
          <p:nvPr/>
        </p:nvSpPr>
        <p:spPr>
          <a:xfrm>
            <a:off x="400050" y="737949"/>
            <a:ext cx="8343900" cy="149733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el-1782652374060-10"/>
          <p:cNvSpPr/>
          <p:nvPr/>
        </p:nvSpPr>
        <p:spPr>
          <a:xfrm>
            <a:off x="400050" y="2306717"/>
            <a:ext cx="2032397" cy="7829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6" name="el-1782652374067-16"/>
          <p:cNvCxnSpPr/>
          <p:nvPr/>
        </p:nvCxnSpPr>
        <p:spPr>
          <a:xfrm>
            <a:off x="414338" y="2306717"/>
            <a:ext cx="914" cy="7829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el-1782652374061-11"/>
          <p:cNvSpPr/>
          <p:nvPr/>
        </p:nvSpPr>
        <p:spPr>
          <a:xfrm>
            <a:off x="2503884" y="2306717"/>
            <a:ext cx="2032397" cy="7829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8" name="el-1782652374068-17"/>
          <p:cNvCxnSpPr/>
          <p:nvPr/>
        </p:nvCxnSpPr>
        <p:spPr>
          <a:xfrm>
            <a:off x="2518172" y="2306717"/>
            <a:ext cx="914" cy="7829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-1782652374062-12"/>
          <p:cNvSpPr/>
          <p:nvPr/>
        </p:nvSpPr>
        <p:spPr>
          <a:xfrm>
            <a:off x="4607719" y="2306717"/>
            <a:ext cx="2032397" cy="7829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0" name="el-1782652374070-18"/>
          <p:cNvCxnSpPr/>
          <p:nvPr/>
        </p:nvCxnSpPr>
        <p:spPr>
          <a:xfrm>
            <a:off x="4622006" y="2306717"/>
            <a:ext cx="914" cy="7829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-1782652374063-13"/>
          <p:cNvSpPr/>
          <p:nvPr/>
        </p:nvSpPr>
        <p:spPr>
          <a:xfrm>
            <a:off x="6711553" y="2306717"/>
            <a:ext cx="2032397" cy="78295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2" name="el-1782652374071-19"/>
          <p:cNvCxnSpPr/>
          <p:nvPr/>
        </p:nvCxnSpPr>
        <p:spPr>
          <a:xfrm>
            <a:off x="6725841" y="2306717"/>
            <a:ext cx="914" cy="782955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-1782652374065-14"/>
          <p:cNvSpPr/>
          <p:nvPr/>
        </p:nvSpPr>
        <p:spPr>
          <a:xfrm>
            <a:off x="400050" y="3161109"/>
            <a:ext cx="4121944" cy="141589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14" name="el-1782652374102-31"/>
          <p:cNvCxnSpPr/>
          <p:nvPr/>
        </p:nvCxnSpPr>
        <p:spPr>
          <a:xfrm>
            <a:off x="535781" y="3448288"/>
            <a:ext cx="914" cy="38576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-1782652374103-32"/>
          <p:cNvCxnSpPr/>
          <p:nvPr/>
        </p:nvCxnSpPr>
        <p:spPr>
          <a:xfrm>
            <a:off x="535781" y="3876913"/>
            <a:ext cx="914" cy="192881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-1782652374103-33"/>
          <p:cNvCxnSpPr/>
          <p:nvPr/>
        </p:nvCxnSpPr>
        <p:spPr>
          <a:xfrm>
            <a:off x="535781" y="4112657"/>
            <a:ext cx="914" cy="385763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-1782652374066-15"/>
          <p:cNvSpPr/>
          <p:nvPr/>
        </p:nvSpPr>
        <p:spPr>
          <a:xfrm>
            <a:off x="4622006" y="3161109"/>
            <a:ext cx="4121944" cy="141589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l-1782652374122-59"/>
          <p:cNvSpPr/>
          <p:nvPr/>
        </p:nvSpPr>
        <p:spPr>
          <a:xfrm>
            <a:off x="4743450" y="3764399"/>
            <a:ext cx="649010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82652374125-62"/>
          <p:cNvSpPr/>
          <p:nvPr/>
        </p:nvSpPr>
        <p:spPr>
          <a:xfrm>
            <a:off x="5563910" y="3764399"/>
            <a:ext cx="891897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82652374129-65"/>
          <p:cNvSpPr/>
          <p:nvPr/>
        </p:nvSpPr>
        <p:spPr>
          <a:xfrm>
            <a:off x="6627257" y="3764399"/>
            <a:ext cx="650081" cy="19431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D405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1" name="el-1782652374044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-1782652374048-4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15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23" name="el-1782652374049-5"/>
          <p:cNvSpPr txBox="1"/>
          <p:nvPr/>
        </p:nvSpPr>
        <p:spPr>
          <a:xfrm>
            <a:off x="1140678" y="159306"/>
            <a:ext cx="7858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总结与展望</a:t>
            </a:r>
            <a:endParaRPr/>
          </a:p>
        </p:txBody>
      </p:sp>
      <p:sp>
        <p:nvSpPr>
          <p:cNvPr id="24" name="el-1782652374058-9"/>
          <p:cNvSpPr txBox="1"/>
          <p:nvPr/>
        </p:nvSpPr>
        <p:spPr>
          <a:xfrm>
            <a:off x="550069" y="816531"/>
            <a:ext cx="8108156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✓ 我们做了什么（9 项成果）</a:t>
            </a:r>
            <a:endParaRPr/>
          </a:p>
        </p:txBody>
      </p:sp>
      <p:sp>
        <p:nvSpPr>
          <p:cNvPr id="25" name="el-1782652374113-44"/>
          <p:cNvSpPr txBox="1"/>
          <p:nvPr/>
        </p:nvSpPr>
        <p:spPr>
          <a:xfrm>
            <a:off x="485775" y="1023699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26" name="el-1782652374105-34"/>
          <p:cNvSpPr txBox="1"/>
          <p:nvPr/>
        </p:nvSpPr>
        <p:spPr>
          <a:xfrm>
            <a:off x="735806" y="1039416"/>
            <a:ext cx="290223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完整数据采集 Pipeline：eBPF + Perfetto 覆盖四大场景</a:t>
            </a:r>
            <a:endParaRPr/>
          </a:p>
        </p:txBody>
      </p:sp>
      <p:sp>
        <p:nvSpPr>
          <p:cNvPr id="27" name="el-1782652374113-45"/>
          <p:cNvSpPr txBox="1"/>
          <p:nvPr/>
        </p:nvSpPr>
        <p:spPr>
          <a:xfrm>
            <a:off x="4593431" y="1023699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28" name="el-1782652374105-35"/>
          <p:cNvSpPr txBox="1"/>
          <p:nvPr/>
        </p:nvSpPr>
        <p:spPr>
          <a:xfrm>
            <a:off x="4843463" y="1039416"/>
            <a:ext cx="245745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身份解析与图构建：帧窗口内的依赖关键路径图</a:t>
            </a:r>
            <a:endParaRPr/>
          </a:p>
        </p:txBody>
      </p:sp>
      <p:sp>
        <p:nvSpPr>
          <p:cNvPr id="29" name="el-1782652374114-46"/>
          <p:cNvSpPr txBox="1"/>
          <p:nvPr/>
        </p:nvSpPr>
        <p:spPr>
          <a:xfrm>
            <a:off x="485775" y="1225153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30" name="el-1782652374105-36"/>
          <p:cNvSpPr txBox="1"/>
          <p:nvPr/>
        </p:nvSpPr>
        <p:spPr>
          <a:xfrm>
            <a:off x="735806" y="1240869"/>
            <a:ext cx="3538389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多维度特征提取：6 维特征，涵盖调度、IPC、锁、温控、解码、中断</a:t>
            </a:r>
            <a:endParaRPr/>
          </a:p>
        </p:txBody>
      </p:sp>
      <p:sp>
        <p:nvSpPr>
          <p:cNvPr id="31" name="el-1782652374114-47"/>
          <p:cNvSpPr txBox="1"/>
          <p:nvPr/>
        </p:nvSpPr>
        <p:spPr>
          <a:xfrm>
            <a:off x="4593431" y="1225153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32" name="el-1782652374106-37"/>
          <p:cNvSpPr txBox="1"/>
          <p:nvPr/>
        </p:nvSpPr>
        <p:spPr>
          <a:xfrm>
            <a:off x="4843463" y="1240869"/>
            <a:ext cx="2927956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自动标注 + 决策树分类：端到端 Jank 根因分类 Pipeline</a:t>
            </a:r>
            <a:endParaRPr/>
          </a:p>
        </p:txBody>
      </p:sp>
      <p:sp>
        <p:nvSpPr>
          <p:cNvPr id="33" name="el-1782652374115-48"/>
          <p:cNvSpPr txBox="1"/>
          <p:nvPr/>
        </p:nvSpPr>
        <p:spPr>
          <a:xfrm>
            <a:off x="485775" y="1496616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34" name="el-1782652374106-38"/>
          <p:cNvSpPr txBox="1"/>
          <p:nvPr/>
        </p:nvSpPr>
        <p:spPr>
          <a:xfrm>
            <a:off x="735806" y="1432322"/>
            <a:ext cx="3194060" cy="3086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Hint Engine：安全的用户态 hint 推荐（BOOST / UCLAMP / PROTECT）</a:t>
            </a:r>
            <a:endParaRPr/>
          </a:p>
        </p:txBody>
      </p:sp>
      <p:sp>
        <p:nvSpPr>
          <p:cNvPr id="35" name="el-1782652374115-49"/>
          <p:cNvSpPr txBox="1"/>
          <p:nvPr/>
        </p:nvSpPr>
        <p:spPr>
          <a:xfrm>
            <a:off x="4593431" y="1496616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36" name="el-1782652374106-39"/>
          <p:cNvSpPr txBox="1"/>
          <p:nvPr/>
        </p:nvSpPr>
        <p:spPr>
          <a:xfrm>
            <a:off x="4843463" y="1512332"/>
            <a:ext cx="2701856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多 Session 对比：页面切换 ×2 + 视频浏览对比分析</a:t>
            </a:r>
            <a:endParaRPr/>
          </a:p>
        </p:txBody>
      </p:sp>
      <p:sp>
        <p:nvSpPr>
          <p:cNvPr id="37" name="el-1782652374115-50"/>
          <p:cNvSpPr txBox="1"/>
          <p:nvPr/>
        </p:nvSpPr>
        <p:spPr>
          <a:xfrm>
            <a:off x="485775" y="1768078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38" name="el-1782652374107-40"/>
          <p:cNvSpPr txBox="1"/>
          <p:nvPr/>
        </p:nvSpPr>
        <p:spPr>
          <a:xfrm>
            <a:off x="735806" y="1783794"/>
            <a:ext cx="27666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信息流滚动补充分析：线程分类 + 评分 + ftrace 融合</a:t>
            </a:r>
            <a:endParaRPr/>
          </a:p>
        </p:txBody>
      </p:sp>
      <p:sp>
        <p:nvSpPr>
          <p:cNvPr id="39" name="el-1782652374116-51"/>
          <p:cNvSpPr txBox="1"/>
          <p:nvPr/>
        </p:nvSpPr>
        <p:spPr>
          <a:xfrm>
            <a:off x="4593431" y="1768078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40" name="el-1782652374107-41"/>
          <p:cNvSpPr txBox="1"/>
          <p:nvPr/>
        </p:nvSpPr>
        <p:spPr>
          <a:xfrm>
            <a:off x="4843463" y="1783794"/>
            <a:ext cx="280035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自动化部署与分析：一键式脚本，从编译到报告全自动</a:t>
            </a:r>
            <a:endParaRPr/>
          </a:p>
        </p:txBody>
      </p:sp>
      <p:sp>
        <p:nvSpPr>
          <p:cNvPr id="41" name="el-1782652374117-52"/>
          <p:cNvSpPr txBox="1"/>
          <p:nvPr/>
        </p:nvSpPr>
        <p:spPr>
          <a:xfrm>
            <a:off x="485775" y="1969532"/>
            <a:ext cx="257175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b="1" sz="101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✔</a:t>
            </a:r>
            <a:endParaRPr/>
          </a:p>
        </p:txBody>
      </p:sp>
      <p:sp>
        <p:nvSpPr>
          <p:cNvPr id="42" name="el-1782652374107-42"/>
          <p:cNvSpPr txBox="1"/>
          <p:nvPr/>
        </p:nvSpPr>
        <p:spPr>
          <a:xfrm>
            <a:off x="735806" y="1985248"/>
            <a:ext cx="2950547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项目文档：4 份调研报告 + 5 次会议记录 + 7 份分析报告</a:t>
            </a:r>
            <a:endParaRPr/>
          </a:p>
        </p:txBody>
      </p:sp>
      <p:sp>
        <p:nvSpPr>
          <p:cNvPr id="43" name="el-1782652374086-24"/>
          <p:cNvSpPr txBox="1"/>
          <p:nvPr/>
        </p:nvSpPr>
        <p:spPr>
          <a:xfrm>
            <a:off x="514350" y="2371011"/>
            <a:ext cx="187880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发现 1</a:t>
            </a:r>
            <a:endParaRPr/>
          </a:p>
        </p:txBody>
      </p:sp>
      <p:sp>
        <p:nvSpPr>
          <p:cNvPr id="44" name="el-1782652374078-20"/>
          <p:cNvSpPr txBox="1"/>
          <p:nvPr/>
        </p:nvSpPr>
        <p:spPr>
          <a:xfrm>
            <a:off x="514350" y="2528173"/>
            <a:ext cx="1825228" cy="49720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05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调度竞争是卡顿主因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：无温控条件下 Jank 率仍高达 72.5% — 非 Binder 非锁，就是调度问题</a:t>
            </a:r>
            <a:endParaRPr/>
          </a:p>
        </p:txBody>
      </p:sp>
      <p:sp>
        <p:nvSpPr>
          <p:cNvPr id="45" name="el-1782652374087-25"/>
          <p:cNvSpPr txBox="1"/>
          <p:nvPr/>
        </p:nvSpPr>
        <p:spPr>
          <a:xfrm>
            <a:off x="2618184" y="2371011"/>
            <a:ext cx="187880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发现 2</a:t>
            </a:r>
            <a:endParaRPr/>
          </a:p>
        </p:txBody>
      </p:sp>
      <p:sp>
        <p:nvSpPr>
          <p:cNvPr id="46" name="el-1782652374080-21"/>
          <p:cNvSpPr txBox="1"/>
          <p:nvPr/>
        </p:nvSpPr>
        <p:spPr>
          <a:xfrm>
            <a:off x="2618184" y="2528173"/>
            <a:ext cx="1825228" cy="49720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05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温控降频雪上加霜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：温度升高后 Jank 率升至 96.6%，降频介入显著恶化</a:t>
            </a:r>
            <a:endParaRPr/>
          </a:p>
        </p:txBody>
      </p:sp>
      <p:sp>
        <p:nvSpPr>
          <p:cNvPr id="47" name="el-1782652374087-26"/>
          <p:cNvSpPr txBox="1"/>
          <p:nvPr/>
        </p:nvSpPr>
        <p:spPr>
          <a:xfrm>
            <a:off x="4722019" y="2371011"/>
            <a:ext cx="187880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发现 3</a:t>
            </a:r>
            <a:endParaRPr/>
          </a:p>
        </p:txBody>
      </p:sp>
      <p:sp>
        <p:nvSpPr>
          <p:cNvPr id="48" name="el-1782652374084-22"/>
          <p:cNvSpPr txBox="1"/>
          <p:nvPr/>
        </p:nvSpPr>
        <p:spPr>
          <a:xfrm>
            <a:off x="4722019" y="2528173"/>
            <a:ext cx="1825228" cy="49720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05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场景差异不容忽视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：视频温控最严重但 Jank 率非最高 — 不同场景延迟容忍度不同</a:t>
            </a:r>
            <a:endParaRPr/>
          </a:p>
        </p:txBody>
      </p:sp>
      <p:sp>
        <p:nvSpPr>
          <p:cNvPr id="49" name="el-1782652374090-27"/>
          <p:cNvSpPr txBox="1"/>
          <p:nvPr/>
        </p:nvSpPr>
        <p:spPr>
          <a:xfrm>
            <a:off x="6825853" y="2371011"/>
            <a:ext cx="187880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840" spc="11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◆ 发现 4</a:t>
            </a:r>
            <a:endParaRPr/>
          </a:p>
        </p:txBody>
      </p:sp>
      <p:sp>
        <p:nvSpPr>
          <p:cNvPr id="50" name="el-1782652374085-23"/>
          <p:cNvSpPr txBox="1"/>
          <p:nvPr/>
        </p:nvSpPr>
        <p:spPr>
          <a:xfrm>
            <a:off x="6825853" y="2528173"/>
            <a:ext cx="1825228" cy="49720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305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Hint Engine 自适应</a:t>
            </a:r>
            <a:r>
              <a:rPr sz="90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：能根据温控程度自动切换策略（PROTECT → UCLAMP）</a:t>
            </a:r>
            <a:endParaRPr/>
          </a:p>
        </p:txBody>
      </p:sp>
      <p:sp>
        <p:nvSpPr>
          <p:cNvPr id="51" name="el-1782652374091-28"/>
          <p:cNvSpPr txBox="1"/>
          <p:nvPr/>
        </p:nvSpPr>
        <p:spPr>
          <a:xfrm>
            <a:off x="521494" y="3239691"/>
            <a:ext cx="3939778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✦ 核心贡献</a:t>
            </a:r>
            <a:endParaRPr/>
          </a:p>
        </p:txBody>
      </p:sp>
      <p:sp>
        <p:nvSpPr>
          <p:cNvPr id="52" name="el-1782652374118-53"/>
          <p:cNvSpPr txBox="1"/>
          <p:nvPr/>
        </p:nvSpPr>
        <p:spPr>
          <a:xfrm>
            <a:off x="635794" y="3448288"/>
            <a:ext cx="207169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①</a:t>
            </a:r>
            <a:endParaRPr/>
          </a:p>
        </p:txBody>
      </p:sp>
      <p:sp>
        <p:nvSpPr>
          <p:cNvPr id="53" name="el-1782652374112-43"/>
          <p:cNvSpPr txBox="1"/>
          <p:nvPr/>
        </p:nvSpPr>
        <p:spPr>
          <a:xfrm>
            <a:off x="850106" y="3448288"/>
            <a:ext cx="3550444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证明了 </a:t>
            </a: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Frame-Centric</a:t>
            </a: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（帧对齐+依赖感知）比 PID-Centric 更有效定位卡顿根因</a:t>
            </a:r>
            <a:endParaRPr/>
          </a:p>
        </p:txBody>
      </p:sp>
      <p:sp>
        <p:nvSpPr>
          <p:cNvPr id="54" name="el-1782652374118-54"/>
          <p:cNvSpPr txBox="1"/>
          <p:nvPr/>
        </p:nvSpPr>
        <p:spPr>
          <a:xfrm>
            <a:off x="635794" y="3876913"/>
            <a:ext cx="207169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②</a:t>
            </a:r>
            <a:endParaRPr/>
          </a:p>
        </p:txBody>
      </p:sp>
      <p:sp>
        <p:nvSpPr>
          <p:cNvPr id="55" name="el-1782652374119-55"/>
          <p:cNvSpPr txBox="1"/>
          <p:nvPr/>
        </p:nvSpPr>
        <p:spPr>
          <a:xfrm>
            <a:off x="850106" y="3876913"/>
            <a:ext cx="3329791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识别了调度竞争为卡顿主因（非温控、非 Binder、非锁）</a:t>
            </a:r>
            <a:endParaRPr/>
          </a:p>
        </p:txBody>
      </p:sp>
      <p:sp>
        <p:nvSpPr>
          <p:cNvPr id="56" name="el-1782652374121-56"/>
          <p:cNvSpPr txBox="1"/>
          <p:nvPr/>
        </p:nvSpPr>
        <p:spPr>
          <a:xfrm>
            <a:off x="635794" y="4112657"/>
            <a:ext cx="207169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01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③</a:t>
            </a:r>
            <a:endParaRPr/>
          </a:p>
        </p:txBody>
      </p:sp>
      <p:sp>
        <p:nvSpPr>
          <p:cNvPr id="57" name="el-1782652374121-57"/>
          <p:cNvSpPr txBox="1"/>
          <p:nvPr/>
        </p:nvSpPr>
        <p:spPr>
          <a:xfrm>
            <a:off x="850106" y="4112657"/>
            <a:ext cx="3550444" cy="3857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15"/>
              </a:lnSpc>
            </a:pPr>
            <a:r>
              <a:rPr sz="101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Hint Engine 能根据温度等环境条件自适应调整策略（PROTECT → UCLAMP）</a:t>
            </a:r>
            <a:endParaRPr/>
          </a:p>
        </p:txBody>
      </p:sp>
      <p:sp>
        <p:nvSpPr>
          <p:cNvPr id="58" name="el-1782652374091-29"/>
          <p:cNvSpPr txBox="1"/>
          <p:nvPr/>
        </p:nvSpPr>
        <p:spPr>
          <a:xfrm>
            <a:off x="4743450" y="3575804"/>
            <a:ext cx="3939778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下一步方向</a:t>
            </a:r>
            <a:endParaRPr/>
          </a:p>
        </p:txBody>
      </p:sp>
      <p:sp>
        <p:nvSpPr>
          <p:cNvPr id="59" name="el-1782652374121-58"/>
          <p:cNvSpPr txBox="1"/>
          <p:nvPr/>
        </p:nvSpPr>
        <p:spPr>
          <a:xfrm>
            <a:off x="4814888" y="3792974"/>
            <a:ext cx="62757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sched_ext</a:t>
            </a:r>
            <a:endParaRPr/>
          </a:p>
        </p:txBody>
      </p:sp>
      <p:sp>
        <p:nvSpPr>
          <p:cNvPr id="60" name="el-1782652374123-60"/>
          <p:cNvSpPr txBox="1"/>
          <p:nvPr/>
        </p:nvSpPr>
        <p:spPr>
          <a:xfrm>
            <a:off x="5421035" y="3787259"/>
            <a:ext cx="17145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61" name="el-1782652374124-61"/>
          <p:cNvSpPr txBox="1"/>
          <p:nvPr/>
        </p:nvSpPr>
        <p:spPr>
          <a:xfrm>
            <a:off x="5635347" y="3792974"/>
            <a:ext cx="870466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Learned Policy</a:t>
            </a:r>
            <a:endParaRPr/>
          </a:p>
        </p:txBody>
      </p:sp>
      <p:sp>
        <p:nvSpPr>
          <p:cNvPr id="62" name="el-1782652374126-63"/>
          <p:cNvSpPr txBox="1"/>
          <p:nvPr/>
        </p:nvSpPr>
        <p:spPr>
          <a:xfrm>
            <a:off x="6484382" y="3787259"/>
            <a:ext cx="17145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63" name="el-1782652374126-64"/>
          <p:cNvSpPr txBox="1"/>
          <p:nvPr/>
        </p:nvSpPr>
        <p:spPr>
          <a:xfrm>
            <a:off x="6698694" y="3792974"/>
            <a:ext cx="628650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none" anchor="ctr"/>
          <a:lstStyle/>
          <a:p>
            <a:pPr algn="l">
              <a:lnSpc>
                <a:spcPct val="100000"/>
              </a:lnSpc>
            </a:pPr>
            <a:r>
              <a:rPr b="1" sz="780" spc="1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多场景扩展</a:t>
            </a:r>
            <a:endParaRPr/>
          </a:p>
        </p:txBody>
      </p:sp>
      <p:sp>
        <p:nvSpPr>
          <p:cNvPr id="64" name="el-1782652374092-30"/>
          <p:cNvSpPr txBox="1"/>
          <p:nvPr/>
        </p:nvSpPr>
        <p:spPr>
          <a:xfrm>
            <a:off x="4743450" y="4001572"/>
            <a:ext cx="3932634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可编程调度器 · 强化学习 · 游戏/支付等高频交互场景</a:t>
            </a:r>
            <a:endParaRPr/>
          </a:p>
        </p:txBody>
      </p:sp>
      <p:sp>
        <p:nvSpPr>
          <p:cNvPr id="65" name="el-1782652374050-6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66" name="el-1782652374050-7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c="http://schemas.openxmlformats.org/markup-compatibility/2006" mc:Ignorable="a14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l-1782652374262-1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el-1782652374275-44"/>
          <p:cNvCxnSpPr/>
          <p:nvPr/>
        </p:nvCxnSpPr>
        <p:spPr>
          <a:xfrm>
            <a:off x="994231" y="167878"/>
            <a:ext cx="914" cy="171450"/>
          </a:xfrm>
          <a:prstGeom prst="line">
            <a:avLst/>
          </a:prstGeom>
          <a:ln w="9525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el-1782652374273-43"/>
          <p:cNvGraphicFramePr/>
          <p:nvPr/>
        </p:nvGraphicFramePr>
        <p:xfrm>
          <a:off x="400050" y="1074420"/>
          <a:ext cx="8343900" cy="2387441"/>
        </p:xfrm>
        <a:graphic>
          <a:graphicData uri="http://schemas.openxmlformats.org/drawingml/2006/table">
            <a:tbl>
              <a:tblPr>
                <a:tableStyleId>{2D5ABB26-0587-4C30-8999-92F81FD0307C}</a:tableStyleId>
                <a:tblLayout type="fixed"/>
              </a:tblPr>
              <a:tblGrid>
                <a:gridCol w="1854696"/>
                <a:gridCol w="1775668"/>
                <a:gridCol w="1775668"/>
                <a:gridCol w="1113979"/>
                <a:gridCol w="1816745"/>
              </a:tblGrid>
              <a:tr h="310039">
                <a:tc>
                  <a:txBody>
                    <a:bodyPr lIns="85725" tIns="71438" rIns="85725" bIns="71438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85725" tIns="71438" rIns="85725" bIns="71438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页面切换 Run 1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85725" tIns="71438" rIns="85725" bIns="71438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页面切换 Run 2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85725" tIns="71438" rIns="85725" bIns="71438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视频浏览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  <a:tc>
                  <a:txBody>
                    <a:bodyPr lIns="85725" tIns="71438" rIns="85725" bIns="71438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信息流滚动</a:t>
                      </a:r>
                      <a:endParaRPr/>
                    </a:p>
                  </a:txBody>
                  <a:tcPr marL="0" marR="0" marT="0" marB="0">
                    <a:solidFill>
                      <a:srgbClr val="2D4059"/>
                    </a:solidFill>
                    <a:lnL w="7144">
                      <a:solidFill>
                        <a:srgbClr val="3A4D63"/>
                      </a:solidFill>
                    </a:lnL>
                    <a:lnR w="7144">
                      <a:solidFill>
                        <a:srgbClr val="3A4D63"/>
                      </a:solidFill>
                    </a:lnR>
                    <a:lnT w="7144">
                      <a:solidFill>
                        <a:srgbClr val="3A4D63"/>
                      </a:solidFill>
                    </a:lnT>
                    <a:lnB w="7144">
                      <a:solidFill>
                        <a:srgbClr val="3A4D63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采集时长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34.2 s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原始事件数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~870 万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~580 万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~500 万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 万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events.bin 体积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690 MB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459 MB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451 MB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图节点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6968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4799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6622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图边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5234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3106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4992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人工标注帧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1575+ 帧已标注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  <a:tr h="295751">
                <a:tc>
                  <a:txBody>
                    <a:bodyPr lIns="114300" tIns="64294" rIns="85725" bIns="64294" anchor="ctr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2D40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Jank 率</a:t>
                      </a:r>
                      <a:endParaRPr/>
                    </a:p>
                  </a:txBody>
                  <a:tcPr marL="0" marR="0" marT="0" marB="0">
                    <a:solidFill>
                      <a:srgbClr val="F4F4F7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72.5%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96.6%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sz="900">
                          <a:solidFill>
                            <a:srgbClr val="D4A01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71.2%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lIns="85725" tIns="64294" rIns="85725" bIns="64294" anchor="ctr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>
                          <a:solidFill>
                            <a:srgbClr val="9A9AA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  <a:endParaRPr/>
                    </a:p>
                  </a:txBody>
                  <a:tcPr marL="0" marR="0" marT="0" marB="0">
                    <a:solidFill>
                      <a:srgbClr val="FFFFFF"/>
                    </a:solidFill>
                    <a:lnL w="7144">
                      <a:solidFill>
                        <a:srgbClr val="D0D0D8"/>
                      </a:solidFill>
                    </a:lnL>
                    <a:lnR w="7144">
                      <a:solidFill>
                        <a:srgbClr val="D0D0D8"/>
                      </a:solidFill>
                    </a:lnR>
                    <a:lnT w="7144">
                      <a:solidFill>
                        <a:srgbClr val="D0D0D8"/>
                      </a:solidFill>
                    </a:lnT>
                    <a:lnB w="7144">
                      <a:solidFill>
                        <a:srgbClr val="D0D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el-1782652374281-49"/>
          <p:cNvSpPr/>
          <p:nvPr/>
        </p:nvSpPr>
        <p:spPr>
          <a:xfrm>
            <a:off x="400050" y="3604736"/>
            <a:ext cx="8343900" cy="63579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D0D0D8"/>
            </a:solidFill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6" name="el-1782652374283-50"/>
          <p:cNvCxnSpPr/>
          <p:nvPr/>
        </p:nvCxnSpPr>
        <p:spPr>
          <a:xfrm>
            <a:off x="414338" y="3604736"/>
            <a:ext cx="914" cy="635794"/>
          </a:xfrm>
          <a:prstGeom prst="line">
            <a:avLst/>
          </a:prstGeom>
          <a:ln w="28575" cap="flat">
            <a:solidFill>
              <a:srgbClr val="D4A017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el-1782652374263-2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D0D0D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82652374277-45"/>
          <p:cNvSpPr txBox="1"/>
          <p:nvPr/>
        </p:nvSpPr>
        <p:spPr>
          <a:xfrm>
            <a:off x="400050" y="179308"/>
            <a:ext cx="504885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00" spc="17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16</a:t>
            </a:r>
            <a:r>
              <a:rPr b="1" sz="6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b="1" sz="900" spc="17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 / 16</a:t>
            </a:r>
            <a:endParaRPr/>
          </a:p>
        </p:txBody>
      </p:sp>
      <p:sp>
        <p:nvSpPr>
          <p:cNvPr id="9" name="el-1782652374278-46"/>
          <p:cNvSpPr txBox="1"/>
          <p:nvPr/>
        </p:nvSpPr>
        <p:spPr>
          <a:xfrm>
            <a:off x="1140678" y="159306"/>
            <a:ext cx="1357313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112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附录：关键技术指标</a:t>
            </a:r>
            <a:endParaRPr/>
          </a:p>
        </p:txBody>
      </p:sp>
      <p:sp>
        <p:nvSpPr>
          <p:cNvPr id="10" name="el-1782652374289-55"/>
          <p:cNvSpPr txBox="1"/>
          <p:nvPr/>
        </p:nvSpPr>
        <p:spPr>
          <a:xfrm>
            <a:off x="571500" y="3711893"/>
            <a:ext cx="870912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📅 数据日期：</a:t>
            </a:r>
            <a:endParaRPr/>
          </a:p>
        </p:txBody>
      </p:sp>
      <p:sp>
        <p:nvSpPr>
          <p:cNvPr id="11" name="el-1782652374286-51"/>
          <p:cNvSpPr txBox="1"/>
          <p:nvPr/>
        </p:nvSpPr>
        <p:spPr>
          <a:xfrm>
            <a:off x="1424553" y="3717608"/>
            <a:ext cx="767507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2026 年 6 月</a:t>
            </a:r>
            <a:endParaRPr/>
          </a:p>
        </p:txBody>
      </p:sp>
      <p:sp>
        <p:nvSpPr>
          <p:cNvPr id="12" name="el-1782652374290-56"/>
          <p:cNvSpPr txBox="1"/>
          <p:nvPr/>
        </p:nvSpPr>
        <p:spPr>
          <a:xfrm>
            <a:off x="2359938" y="3711893"/>
            <a:ext cx="628025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📱 设备：</a:t>
            </a:r>
            <a:endParaRPr/>
          </a:p>
        </p:txBody>
      </p:sp>
      <p:sp>
        <p:nvSpPr>
          <p:cNvPr id="13" name="el-1782652374288-52"/>
          <p:cNvSpPr txBox="1"/>
          <p:nvPr/>
        </p:nvSpPr>
        <p:spPr>
          <a:xfrm>
            <a:off x="2970103" y="3717608"/>
            <a:ext cx="2032218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Pixel 6a (Android 14, Magisk root)</a:t>
            </a:r>
            <a:endParaRPr/>
          </a:p>
        </p:txBody>
      </p:sp>
      <p:sp>
        <p:nvSpPr>
          <p:cNvPr id="14" name="el-1782652374290-57"/>
          <p:cNvSpPr txBox="1"/>
          <p:nvPr/>
        </p:nvSpPr>
        <p:spPr>
          <a:xfrm>
            <a:off x="5170200" y="3711893"/>
            <a:ext cx="870912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⏱ 采集时长：</a:t>
            </a:r>
            <a:endParaRPr/>
          </a:p>
        </p:txBody>
      </p:sp>
      <p:sp>
        <p:nvSpPr>
          <p:cNvPr id="15" name="el-1782652374288-53"/>
          <p:cNvSpPr txBox="1"/>
          <p:nvPr/>
        </p:nvSpPr>
        <p:spPr>
          <a:xfrm>
            <a:off x="6023253" y="3717608"/>
            <a:ext cx="425053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各场景</a:t>
            </a:r>
            <a:endParaRPr/>
          </a:p>
        </p:txBody>
      </p:sp>
      <p:sp>
        <p:nvSpPr>
          <p:cNvPr id="16" name="el-1782652374291-58"/>
          <p:cNvSpPr txBox="1"/>
          <p:nvPr/>
        </p:nvSpPr>
        <p:spPr>
          <a:xfrm>
            <a:off x="6430447" y="3711893"/>
            <a:ext cx="610433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D4A017"/>
                </a:solidFill>
                <a:latin typeface="Microsoft YaHei"/>
                <a:ea typeface="Microsoft YaHei"/>
                <a:cs typeface="Microsoft YaHei"/>
              </a:rPr>
              <a:t>30~34 秒</a:t>
            </a:r>
            <a:endParaRPr/>
          </a:p>
        </p:txBody>
      </p:sp>
      <p:sp>
        <p:nvSpPr>
          <p:cNvPr id="17" name="el-1782652374291-59"/>
          <p:cNvSpPr txBox="1"/>
          <p:nvPr/>
        </p:nvSpPr>
        <p:spPr>
          <a:xfrm>
            <a:off x="571500" y="3951208"/>
            <a:ext cx="870912" cy="18216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b="1" sz="950">
                <a:solidFill>
                  <a:srgbClr val="2D4059"/>
                </a:solidFill>
                <a:latin typeface="Microsoft YaHei"/>
                <a:ea typeface="Microsoft YaHei"/>
                <a:cs typeface="Microsoft YaHei"/>
              </a:rPr>
              <a:t>📂 实验结果：</a:t>
            </a:r>
            <a:endParaRPr/>
          </a:p>
        </p:txBody>
      </p:sp>
      <p:sp>
        <p:nvSpPr>
          <p:cNvPr id="18" name="el-1782652374288-54"/>
          <p:cNvSpPr txBox="1"/>
          <p:nvPr/>
        </p:nvSpPr>
        <p:spPr>
          <a:xfrm>
            <a:off x="1424553" y="3956923"/>
            <a:ext cx="1618506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A1A2E"/>
                </a:solidFill>
                <a:latin typeface="Microsoft YaHei"/>
                <a:ea typeface="Microsoft YaHei"/>
                <a:cs typeface="Microsoft YaHei"/>
              </a:rPr>
              <a:t>TracePilot/ebpf/ebpf_data/</a:t>
            </a:r>
            <a:endParaRPr/>
          </a:p>
        </p:txBody>
      </p:sp>
      <p:sp>
        <p:nvSpPr>
          <p:cNvPr id="19" name="el-1782652374278-47"/>
          <p:cNvSpPr txBox="1"/>
          <p:nvPr/>
        </p:nvSpPr>
        <p:spPr>
          <a:xfrm>
            <a:off x="400050" y="4904184"/>
            <a:ext cx="2040434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· Frame-Centric 调度辅助系统</a:t>
            </a:r>
            <a:endParaRPr/>
          </a:p>
        </p:txBody>
      </p:sp>
      <p:sp>
        <p:nvSpPr>
          <p:cNvPr id="20" name="el-1782652374278-48"/>
          <p:cNvSpPr txBox="1"/>
          <p:nvPr/>
        </p:nvSpPr>
        <p:spPr>
          <a:xfrm>
            <a:off x="7709267" y="4904184"/>
            <a:ext cx="108826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spc="17">
                <a:solidFill>
                  <a:srgbClr val="5A5A7A"/>
                </a:solidFill>
                <a:latin typeface="Microsoft YaHei"/>
                <a:ea typeface="Microsoft YaHei"/>
                <a:cs typeface="Microsoft YaHei"/>
              </a:rPr>
              <a:t>TracePilot | 2026.06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html-to-pptx-demo</Application>
  <Slides>16</Slides>
  <Notes>0</Notes>
  <HiddenSlides>0</HiddenSlides>
  <MMClips>0</MMClips>
  <ScaleCrop>false</ScaleCrop>
  <HeadingPairs>
    <vt:vector size="2" baseType="variant">
      <vt:variant>
        <vt:lpstr>主题</vt:lpstr>
      </vt:variant>
      <vt:variant>
        <vt:i4>1</vt:i4>
      </vt:variant>
    </vt:vector>
  </HeadingPairs>
  <TitlesOfParts>
    <vt:vector size="1" baseType="lpstr">
      <vt:lpstr>默认</vt:lpstr>
    </vt:vector>
  </TitlesOfParts>
  <Company/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Export</dc:title>
  <dc:creator>html-to-pptx-demo</dc:creator>
  <cp:lastModifiedBy>html-to-pptx-demo</cp:lastModifiedBy>
  <dcterms:created xsi:type="dcterms:W3CDTF">2026-06-28T13:12:55.440Z</dcterms:created>
  <dcterms:modified xsi:type="dcterms:W3CDTF">2026-06-28T13:12:55.440Z</dcterms:modified>
</cp:coreProperties>
</file>