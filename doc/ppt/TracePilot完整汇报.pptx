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4" r:id="rId15"/>
    <p:sldId id="273" r:id="rId16"/>
    <p:sldId id="268" r:id="rId17"/>
    <p:sldId id="269" r:id="rId18"/>
    <p:sldId id="270" r:id="rId19"/>
    <p:sldId id="271" r:id="rId20"/>
    <p:sldId id="272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95" r:id="rId29"/>
    <p:sldId id="300" r:id="rId30"/>
    <p:sldId id="299" r:id="rId31"/>
    <p:sldId id="301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3" r:id="rId41"/>
    <p:sldId id="291" r:id="rId42"/>
    <p:sldId id="292" r:id="rId43"/>
  </p:sldIdLst>
  <p:sldSz cx="9144000" cy="51435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3" d="100"/>
          <a:sy n="143" d="100"/>
        </p:scale>
        <p:origin x="115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-1782912279721-16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</p:pic>
      <p:sp>
        <p:nvSpPr>
          <p:cNvPr id="3" name="el-1782912276318-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0A0E1A">
                  <a:alpha val="20000"/>
                </a:srgbClr>
              </a:gs>
              <a:gs pos="100000">
                <a:srgbClr val="080B16">
                  <a:alpha val="7500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/>
        </p:txBody>
      </p:sp>
      <p:sp>
        <p:nvSpPr>
          <p:cNvPr id="4" name="el-1782912276319-3"/>
          <p:cNvSpPr/>
          <p:nvPr/>
        </p:nvSpPr>
        <p:spPr>
          <a:xfrm>
            <a:off x="5286375" y="857250"/>
            <a:ext cx="3286125" cy="32861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D4A017">
                  <a:alpha val="8000"/>
                </a:srgbClr>
              </a:gs>
              <a:gs pos="70000">
                <a:srgbClr val="D4A01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/>
        </p:txBody>
      </p:sp>
      <p:sp>
        <p:nvSpPr>
          <p:cNvPr id="5" name="el-1782912276321-4"/>
          <p:cNvSpPr/>
          <p:nvPr/>
        </p:nvSpPr>
        <p:spPr>
          <a:xfrm>
            <a:off x="0" y="2143125"/>
            <a:ext cx="2143125" cy="27146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2D4059">
                  <a:alpha val="30000"/>
                </a:srgbClr>
              </a:gs>
              <a:gs pos="70000">
                <a:srgbClr val="2D405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/>
        </p:txBody>
      </p:sp>
      <p:cxnSp>
        <p:nvCxnSpPr>
          <p:cNvPr id="6" name="el-1782912276877-6"/>
          <p:cNvCxnSpPr/>
          <p:nvPr/>
        </p:nvCxnSpPr>
        <p:spPr>
          <a:xfrm>
            <a:off x="4286250" y="1595914"/>
            <a:ext cx="571500" cy="914"/>
          </a:xfrm>
          <a:prstGeom prst="line">
            <a:avLst/>
          </a:prstGeom>
          <a:ln w="14288" cap="flat">
            <a:solidFill>
              <a:srgbClr val="D4A017">
                <a:alpha val="70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2912276884-11"/>
          <p:cNvSpPr/>
          <p:nvPr/>
        </p:nvSpPr>
        <p:spPr>
          <a:xfrm>
            <a:off x="1998196" y="2766060"/>
            <a:ext cx="5147518" cy="5829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278" y="0"/>
                </a:moveTo>
                <a:lnTo>
                  <a:pt x="99722" y="0"/>
                </a:lnTo>
                <a:lnTo>
                  <a:pt x="99750" y="16"/>
                </a:lnTo>
                <a:lnTo>
                  <a:pt x="99776" y="49"/>
                </a:lnTo>
                <a:lnTo>
                  <a:pt x="99804" y="98"/>
                </a:lnTo>
                <a:lnTo>
                  <a:pt x="99828" y="180"/>
                </a:lnTo>
                <a:lnTo>
                  <a:pt x="99854" y="295"/>
                </a:lnTo>
                <a:lnTo>
                  <a:pt x="99876" y="410"/>
                </a:lnTo>
                <a:lnTo>
                  <a:pt x="99898" y="557"/>
                </a:lnTo>
                <a:lnTo>
                  <a:pt x="99919" y="721"/>
                </a:lnTo>
                <a:lnTo>
                  <a:pt x="99937" y="902"/>
                </a:lnTo>
                <a:lnTo>
                  <a:pt x="99954" y="1098"/>
                </a:lnTo>
                <a:lnTo>
                  <a:pt x="99967" y="1295"/>
                </a:lnTo>
                <a:lnTo>
                  <a:pt x="99980" y="1525"/>
                </a:lnTo>
                <a:lnTo>
                  <a:pt x="99989" y="1738"/>
                </a:lnTo>
                <a:lnTo>
                  <a:pt x="99994" y="1984"/>
                </a:lnTo>
                <a:lnTo>
                  <a:pt x="99998" y="2213"/>
                </a:lnTo>
                <a:lnTo>
                  <a:pt x="100000" y="2459"/>
                </a:lnTo>
                <a:lnTo>
                  <a:pt x="100000" y="97541"/>
                </a:lnTo>
                <a:lnTo>
                  <a:pt x="99998" y="97787"/>
                </a:lnTo>
                <a:lnTo>
                  <a:pt x="99994" y="98016"/>
                </a:lnTo>
                <a:lnTo>
                  <a:pt x="99989" y="98262"/>
                </a:lnTo>
                <a:lnTo>
                  <a:pt x="99980" y="98475"/>
                </a:lnTo>
                <a:lnTo>
                  <a:pt x="99967" y="98705"/>
                </a:lnTo>
                <a:lnTo>
                  <a:pt x="99954" y="98902"/>
                </a:lnTo>
                <a:lnTo>
                  <a:pt x="99937" y="99098"/>
                </a:lnTo>
                <a:lnTo>
                  <a:pt x="99919" y="99279"/>
                </a:lnTo>
                <a:lnTo>
                  <a:pt x="99898" y="99443"/>
                </a:lnTo>
                <a:lnTo>
                  <a:pt x="99876" y="99590"/>
                </a:lnTo>
                <a:lnTo>
                  <a:pt x="99854" y="99705"/>
                </a:lnTo>
                <a:lnTo>
                  <a:pt x="99828" y="99820"/>
                </a:lnTo>
                <a:lnTo>
                  <a:pt x="99804" y="99902"/>
                </a:lnTo>
                <a:lnTo>
                  <a:pt x="99776" y="99951"/>
                </a:lnTo>
                <a:lnTo>
                  <a:pt x="99750" y="99984"/>
                </a:lnTo>
                <a:lnTo>
                  <a:pt x="99722" y="100000"/>
                </a:lnTo>
                <a:lnTo>
                  <a:pt x="278" y="100000"/>
                </a:lnTo>
                <a:lnTo>
                  <a:pt x="250" y="99984"/>
                </a:lnTo>
                <a:lnTo>
                  <a:pt x="224" y="99951"/>
                </a:lnTo>
                <a:lnTo>
                  <a:pt x="196" y="99902"/>
                </a:lnTo>
                <a:lnTo>
                  <a:pt x="172" y="99820"/>
                </a:lnTo>
                <a:lnTo>
                  <a:pt x="146" y="99705"/>
                </a:lnTo>
                <a:lnTo>
                  <a:pt x="124" y="99590"/>
                </a:lnTo>
                <a:lnTo>
                  <a:pt x="102" y="99443"/>
                </a:lnTo>
                <a:lnTo>
                  <a:pt x="81" y="99279"/>
                </a:lnTo>
                <a:lnTo>
                  <a:pt x="63" y="99098"/>
                </a:lnTo>
                <a:lnTo>
                  <a:pt x="46" y="98902"/>
                </a:lnTo>
                <a:lnTo>
                  <a:pt x="33" y="98705"/>
                </a:lnTo>
                <a:lnTo>
                  <a:pt x="20" y="98475"/>
                </a:lnTo>
                <a:lnTo>
                  <a:pt x="11" y="98262"/>
                </a:lnTo>
                <a:lnTo>
                  <a:pt x="6" y="98016"/>
                </a:lnTo>
                <a:lnTo>
                  <a:pt x="2" y="97787"/>
                </a:lnTo>
                <a:lnTo>
                  <a:pt x="0" y="97541"/>
                </a:lnTo>
                <a:lnTo>
                  <a:pt x="0" y="2459"/>
                </a:lnTo>
                <a:lnTo>
                  <a:pt x="2" y="2213"/>
                </a:lnTo>
                <a:lnTo>
                  <a:pt x="6" y="1984"/>
                </a:lnTo>
                <a:lnTo>
                  <a:pt x="11" y="1738"/>
                </a:lnTo>
                <a:lnTo>
                  <a:pt x="20" y="1525"/>
                </a:lnTo>
                <a:lnTo>
                  <a:pt x="33" y="1295"/>
                </a:lnTo>
                <a:lnTo>
                  <a:pt x="46" y="1098"/>
                </a:lnTo>
                <a:lnTo>
                  <a:pt x="63" y="902"/>
                </a:lnTo>
                <a:lnTo>
                  <a:pt x="81" y="721"/>
                </a:lnTo>
                <a:lnTo>
                  <a:pt x="102" y="557"/>
                </a:lnTo>
                <a:lnTo>
                  <a:pt x="124" y="410"/>
                </a:lnTo>
                <a:lnTo>
                  <a:pt x="146" y="295"/>
                </a:lnTo>
                <a:lnTo>
                  <a:pt x="172" y="180"/>
                </a:lnTo>
                <a:lnTo>
                  <a:pt x="196" y="98"/>
                </a:lnTo>
                <a:lnTo>
                  <a:pt x="224" y="49"/>
                </a:lnTo>
                <a:lnTo>
                  <a:pt x="250" y="16"/>
                </a:lnTo>
                <a:lnTo>
                  <a:pt x="278" y="0"/>
                </a:lnTo>
                <a:close/>
              </a:path>
            </a:pathLst>
          </a:custGeom>
          <a:solidFill>
            <a:srgbClr val="D4A017">
              <a:alpha val="1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2912276886-12"/>
          <p:cNvSpPr/>
          <p:nvPr/>
        </p:nvSpPr>
        <p:spPr>
          <a:xfrm>
            <a:off x="1998196" y="2766060"/>
            <a:ext cx="28575" cy="5829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50000" y="0"/>
                </a:moveTo>
                <a:lnTo>
                  <a:pt x="45099" y="12"/>
                </a:lnTo>
                <a:lnTo>
                  <a:pt x="40245" y="47"/>
                </a:lnTo>
                <a:lnTo>
                  <a:pt x="35486" y="106"/>
                </a:lnTo>
                <a:lnTo>
                  <a:pt x="30866" y="187"/>
                </a:lnTo>
                <a:lnTo>
                  <a:pt x="26430" y="289"/>
                </a:lnTo>
                <a:lnTo>
                  <a:pt x="22221" y="413"/>
                </a:lnTo>
                <a:lnTo>
                  <a:pt x="18280" y="556"/>
                </a:lnTo>
                <a:lnTo>
                  <a:pt x="14645" y="718"/>
                </a:lnTo>
                <a:lnTo>
                  <a:pt x="11349" y="896"/>
                </a:lnTo>
                <a:lnTo>
                  <a:pt x="8427" y="1089"/>
                </a:lnTo>
                <a:lnTo>
                  <a:pt x="5904" y="1296"/>
                </a:lnTo>
                <a:lnTo>
                  <a:pt x="3806" y="1513"/>
                </a:lnTo>
                <a:lnTo>
                  <a:pt x="2153" y="1739"/>
                </a:lnTo>
                <a:lnTo>
                  <a:pt x="961" y="1973"/>
                </a:lnTo>
                <a:lnTo>
                  <a:pt x="241" y="2211"/>
                </a:lnTo>
                <a:lnTo>
                  <a:pt x="0" y="2451"/>
                </a:lnTo>
                <a:lnTo>
                  <a:pt x="0" y="97549"/>
                </a:lnTo>
                <a:lnTo>
                  <a:pt x="241" y="97789"/>
                </a:lnTo>
                <a:lnTo>
                  <a:pt x="961" y="98027"/>
                </a:lnTo>
                <a:lnTo>
                  <a:pt x="2153" y="98261"/>
                </a:lnTo>
                <a:lnTo>
                  <a:pt x="3806" y="98487"/>
                </a:lnTo>
                <a:lnTo>
                  <a:pt x="5904" y="98704"/>
                </a:lnTo>
                <a:lnTo>
                  <a:pt x="8427" y="98911"/>
                </a:lnTo>
                <a:lnTo>
                  <a:pt x="11349" y="99104"/>
                </a:lnTo>
                <a:lnTo>
                  <a:pt x="14645" y="99282"/>
                </a:lnTo>
                <a:lnTo>
                  <a:pt x="18280" y="99444"/>
                </a:lnTo>
                <a:lnTo>
                  <a:pt x="22221" y="99587"/>
                </a:lnTo>
                <a:lnTo>
                  <a:pt x="26430" y="99711"/>
                </a:lnTo>
                <a:lnTo>
                  <a:pt x="30866" y="99813"/>
                </a:lnTo>
                <a:lnTo>
                  <a:pt x="35486" y="99894"/>
                </a:lnTo>
                <a:lnTo>
                  <a:pt x="40245" y="99953"/>
                </a:lnTo>
                <a:lnTo>
                  <a:pt x="45099" y="99988"/>
                </a:lnTo>
                <a:lnTo>
                  <a:pt x="50000" y="100000"/>
                </a:lnTo>
                <a:lnTo>
                  <a:pt x="100000" y="100000"/>
                </a:lnTo>
                <a:lnTo>
                  <a:pt x="100000" y="97549"/>
                </a:lnTo>
                <a:lnTo>
                  <a:pt x="100000" y="2451"/>
                </a:lnTo>
                <a:lnTo>
                  <a:pt x="100000" y="2451"/>
                </a:lnTo>
                <a:lnTo>
                  <a:pt x="50000" y="0"/>
                </a:lnTo>
                <a:close/>
              </a:path>
            </a:pathLst>
          </a:custGeom>
          <a:solidFill>
            <a:srgbClr val="D4A017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2912276878-7"/>
          <p:cNvSpPr txBox="1"/>
          <p:nvPr/>
        </p:nvSpPr>
        <p:spPr>
          <a:xfrm>
            <a:off x="2909203" y="840105"/>
            <a:ext cx="3325594" cy="534353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ctr">
              <a:srgbClr val="000000">
                <a:alpha val="5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3820" b="1" spc="338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</a:t>
            </a:r>
            <a:r>
              <a:rPr sz="3820" b="1" spc="33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Pilot</a:t>
            </a:r>
            <a:endParaRPr sz="3820" b="1" spc="338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2912276880-8"/>
          <p:cNvSpPr txBox="1"/>
          <p:nvPr/>
        </p:nvSpPr>
        <p:spPr>
          <a:xfrm>
            <a:off x="2600682" y="1731645"/>
            <a:ext cx="3942636" cy="262890"/>
          </a:xfrm>
          <a:prstGeom prst="rect">
            <a:avLst/>
          </a:prstGeom>
          <a:noFill/>
          <a:ln>
            <a:noFill/>
          </a:ln>
          <a:effectLst>
            <a:outerShdw blurRad="85725" dist="14288" dir="5400000" algn="ctr">
              <a:srgbClr val="000000">
                <a:alpha val="4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570" spc="169">
                <a:solidFill>
                  <a:srgbClr val="E8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以帧为中心的 Android 调度辅助系统</a:t>
            </a:r>
            <a:endParaRPr sz="1570" spc="169">
              <a:solidFill>
                <a:srgbClr val="E8E8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2912276881-9"/>
          <p:cNvSpPr txBox="1"/>
          <p:nvPr/>
        </p:nvSpPr>
        <p:spPr>
          <a:xfrm>
            <a:off x="2588002" y="2080260"/>
            <a:ext cx="3967907" cy="428625"/>
          </a:xfrm>
          <a:prstGeom prst="rect">
            <a:avLst/>
          </a:prstGeom>
          <a:noFill/>
          <a:ln>
            <a:noFill/>
          </a:ln>
          <a:effectLst>
            <a:outerShdw blurRad="57150" dist="7144" dir="5400000" algn="ctr">
              <a:srgbClr val="000000">
                <a:alpha val="30000"/>
              </a:srgbClr>
            </a:outerShdw>
          </a:effectLst>
        </p:spPr>
        <p:txBody>
          <a:bodyPr lIns="0" tIns="0" rIns="0" bIns="0"/>
          <a:lstStyle/>
          <a:p>
            <a:pPr algn="ctr">
              <a:lnSpc>
                <a:spcPts val="1680"/>
              </a:lnSpc>
            </a:pPr>
            <a:r>
              <a:rPr sz="1120" spc="34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Frame-aligned, dependency-aware scheduling assistant</a:t>
            </a:r>
            <a:endParaRPr sz="1120" spc="34">
              <a:solidFill>
                <a:srgbClr val="FFFFFF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ts val="1680"/>
              </a:lnSpc>
            </a:pPr>
            <a:r>
              <a:rPr sz="1120" spc="34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targeting Android interaction workloads</a:t>
            </a:r>
            <a:endParaRPr sz="1120" spc="34">
              <a:solidFill>
                <a:srgbClr val="FFFFFF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2912276881-10"/>
          <p:cNvSpPr txBox="1"/>
          <p:nvPr/>
        </p:nvSpPr>
        <p:spPr>
          <a:xfrm>
            <a:off x="2213937" y="2851785"/>
            <a:ext cx="4744611" cy="411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615"/>
              </a:lnSpc>
            </a:pPr>
            <a:r>
              <a:rPr sz="1010" spc="23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 Pixel 6a 平台，利用 eBPF 采集内核调度事件，结合 Perfetto 标定帧边界，</a:t>
            </a:r>
            <a:endParaRPr sz="1010" spc="23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ts val="1615"/>
              </a:lnSpc>
            </a:pPr>
            <a:r>
              <a:rPr sz="1010" spc="23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构建帧级依赖路径图，定位卡顿根因并生成调度优化建议</a:t>
            </a:r>
            <a:endParaRPr sz="1010" spc="23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2912276888-13"/>
          <p:cNvSpPr txBox="1"/>
          <p:nvPr/>
        </p:nvSpPr>
        <p:spPr>
          <a:xfrm>
            <a:off x="3912543" y="3663315"/>
            <a:ext cx="1318915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spc="113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 团队</a:t>
            </a:r>
            <a:endParaRPr sz="1120" spc="113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2912276888-14"/>
          <p:cNvSpPr txBox="1"/>
          <p:nvPr/>
        </p:nvSpPr>
        <p:spPr>
          <a:xfrm>
            <a:off x="2987675" y="3863340"/>
            <a:ext cx="3472180" cy="2628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10" spc="68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潘智勇 · 李松茂 · 邵晨轩 · 贺小轩 · 杨子皓</a:t>
            </a:r>
            <a:endParaRPr sz="1010" spc="68">
              <a:solidFill>
                <a:srgbClr val="FFFFFF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2912276889-15"/>
          <p:cNvSpPr txBox="1"/>
          <p:nvPr/>
        </p:nvSpPr>
        <p:spPr>
          <a:xfrm>
            <a:off x="4095601" y="4137660"/>
            <a:ext cx="952798" cy="1657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50" spc="113">
                <a:solidFill>
                  <a:srgbClr val="FFFFFF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年 </a:t>
            </a:r>
            <a:r>
              <a:rPr lang="en-US" altLang="en-US" sz="950" spc="113">
                <a:solidFill>
                  <a:srgbClr val="FFFFFF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sz="950" spc="113">
                <a:solidFill>
                  <a:srgbClr val="FFFFFF">
                    <a:alpha val="5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月</a:t>
            </a:r>
            <a:endParaRPr sz="950" spc="113">
              <a:solidFill>
                <a:srgbClr val="FFFFFF">
                  <a:alpha val="5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2912276323-5"/>
          <p:cNvSpPr/>
          <p:nvPr/>
        </p:nvSpPr>
        <p:spPr>
          <a:xfrm>
            <a:off x="171450" y="2143125"/>
            <a:ext cx="28575" cy="857250"/>
          </a:xfrm>
          <a:prstGeom prst="roundRect">
            <a:avLst>
              <a:gd name="adj" fmla="val 50000"/>
            </a:avLst>
          </a:prstGeom>
          <a:solidFill>
            <a:srgbClr val="D4A017">
              <a:alpha val="5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2912276256-1"/>
          <p:cNvSpPr txBox="1"/>
          <p:nvPr/>
        </p:nvSpPr>
        <p:spPr>
          <a:xfrm>
            <a:off x="400050" y="4817745"/>
            <a:ext cx="1522730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spc="113">
                <a:solidFill>
                  <a:srgbClr val="FFFFFF">
                    <a:alpha val="1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 | 2026.0</a:t>
            </a:r>
            <a:r>
              <a:rPr lang="en-US" altLang="" sz="730" spc="113">
                <a:solidFill>
                  <a:srgbClr val="FFFFFF">
                    <a:alpha val="1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altLang="" sz="730" spc="113">
              <a:solidFill>
                <a:srgbClr val="FFFFFF">
                  <a:alpha val="1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-1782912275414-3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</p:pic>
      <p:sp>
        <p:nvSpPr>
          <p:cNvPr id="3" name="el-1782912275257-3"/>
          <p:cNvSpPr/>
          <p:nvPr/>
        </p:nvSpPr>
        <p:spPr>
          <a:xfrm>
            <a:off x="8608219" y="857250"/>
            <a:ext cx="21431" cy="3429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4A017">
                  <a:alpha val="60000"/>
                </a:srgbClr>
              </a:gs>
              <a:gs pos="100000">
                <a:srgbClr val="D4A017">
                  <a:alpha val="10000"/>
                </a:srgbClr>
              </a:gs>
            </a:gsLst>
            <a:lin ang="540000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4" name="el-1782912275284-9"/>
          <p:cNvSpPr/>
          <p:nvPr/>
        </p:nvSpPr>
        <p:spPr>
          <a:xfrm>
            <a:off x="428625" y="377190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2912275287-10"/>
          <p:cNvSpPr/>
          <p:nvPr/>
        </p:nvSpPr>
        <p:spPr>
          <a:xfrm>
            <a:off x="542925" y="377190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2912275290-11"/>
          <p:cNvSpPr/>
          <p:nvPr/>
        </p:nvSpPr>
        <p:spPr>
          <a:xfrm>
            <a:off x="657225" y="377190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2912275291-12"/>
          <p:cNvSpPr/>
          <p:nvPr/>
        </p:nvSpPr>
        <p:spPr>
          <a:xfrm>
            <a:off x="428625" y="525780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2912275294-13"/>
          <p:cNvSpPr/>
          <p:nvPr/>
        </p:nvSpPr>
        <p:spPr>
          <a:xfrm>
            <a:off x="542925" y="525780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2912275297-14"/>
          <p:cNvSpPr/>
          <p:nvPr/>
        </p:nvSpPr>
        <p:spPr>
          <a:xfrm>
            <a:off x="657225" y="525780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2912275299-15"/>
          <p:cNvSpPr/>
          <p:nvPr/>
        </p:nvSpPr>
        <p:spPr>
          <a:xfrm>
            <a:off x="428625" y="674370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2912275301-16"/>
          <p:cNvSpPr/>
          <p:nvPr/>
        </p:nvSpPr>
        <p:spPr>
          <a:xfrm>
            <a:off x="542925" y="674370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2912275303-17"/>
          <p:cNvSpPr/>
          <p:nvPr/>
        </p:nvSpPr>
        <p:spPr>
          <a:xfrm>
            <a:off x="657225" y="674370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2912275305-18"/>
          <p:cNvSpPr/>
          <p:nvPr/>
        </p:nvSpPr>
        <p:spPr>
          <a:xfrm>
            <a:off x="428625" y="822960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2912275306-19"/>
          <p:cNvSpPr/>
          <p:nvPr/>
        </p:nvSpPr>
        <p:spPr>
          <a:xfrm>
            <a:off x="542925" y="822960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2912275309-20"/>
          <p:cNvSpPr/>
          <p:nvPr/>
        </p:nvSpPr>
        <p:spPr>
          <a:xfrm>
            <a:off x="657225" y="822960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2912275311-21"/>
          <p:cNvSpPr/>
          <p:nvPr/>
        </p:nvSpPr>
        <p:spPr>
          <a:xfrm>
            <a:off x="428625" y="971550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2912275314-22"/>
          <p:cNvSpPr/>
          <p:nvPr/>
        </p:nvSpPr>
        <p:spPr>
          <a:xfrm>
            <a:off x="542925" y="971550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2912275316-23"/>
          <p:cNvSpPr/>
          <p:nvPr/>
        </p:nvSpPr>
        <p:spPr>
          <a:xfrm>
            <a:off x="657225" y="971550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2912275318-24"/>
          <p:cNvSpPr/>
          <p:nvPr/>
        </p:nvSpPr>
        <p:spPr>
          <a:xfrm>
            <a:off x="428625" y="1120140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2912275320-25"/>
          <p:cNvSpPr/>
          <p:nvPr/>
        </p:nvSpPr>
        <p:spPr>
          <a:xfrm>
            <a:off x="542925" y="1120140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el-1782912275323-26"/>
          <p:cNvSpPr/>
          <p:nvPr/>
        </p:nvSpPr>
        <p:spPr>
          <a:xfrm>
            <a:off x="657225" y="1120140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2912275325-27"/>
          <p:cNvSpPr/>
          <p:nvPr/>
        </p:nvSpPr>
        <p:spPr>
          <a:xfrm>
            <a:off x="428625" y="1268730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-1782912275327-28"/>
          <p:cNvSpPr/>
          <p:nvPr/>
        </p:nvSpPr>
        <p:spPr>
          <a:xfrm>
            <a:off x="542925" y="1268730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2912275329-29"/>
          <p:cNvSpPr/>
          <p:nvPr/>
        </p:nvSpPr>
        <p:spPr>
          <a:xfrm>
            <a:off x="657225" y="1268730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el-1782912275331-30"/>
          <p:cNvSpPr/>
          <p:nvPr/>
        </p:nvSpPr>
        <p:spPr>
          <a:xfrm>
            <a:off x="428625" y="1417320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82912275333-31"/>
          <p:cNvSpPr/>
          <p:nvPr/>
        </p:nvSpPr>
        <p:spPr>
          <a:xfrm>
            <a:off x="542925" y="1417320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el-1782912275335-32"/>
          <p:cNvSpPr/>
          <p:nvPr/>
        </p:nvSpPr>
        <p:spPr>
          <a:xfrm>
            <a:off x="657225" y="1417320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-1782912275239-2"/>
          <p:cNvSpPr txBox="1"/>
          <p:nvPr/>
        </p:nvSpPr>
        <p:spPr>
          <a:xfrm>
            <a:off x="400050" y="1785938"/>
            <a:ext cx="2598539" cy="1571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70" b="1" spc="-495">
                <a:solidFill>
                  <a:srgbClr val="D4A017">
                    <a:alpha val="1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2370" b="1" spc="-495">
              <a:solidFill>
                <a:srgbClr val="D4A017">
                  <a:alpha val="12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el-1782912275277-7"/>
          <p:cNvCxnSpPr/>
          <p:nvPr/>
        </p:nvCxnSpPr>
        <p:spPr>
          <a:xfrm>
            <a:off x="871538" y="1146572"/>
            <a:ext cx="914" cy="180023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el-1782912275278-8"/>
          <p:cNvCxnSpPr/>
          <p:nvPr/>
        </p:nvCxnSpPr>
        <p:spPr>
          <a:xfrm>
            <a:off x="857250" y="2564606"/>
            <a:ext cx="3886200" cy="914"/>
          </a:xfrm>
          <a:prstGeom prst="line">
            <a:avLst/>
          </a:prstGeom>
          <a:ln w="7144" cap="flat">
            <a:solidFill>
              <a:srgbClr val="D4A017">
                <a:alpha val="25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el-1782912275273-5"/>
          <p:cNvSpPr txBox="1"/>
          <p:nvPr/>
        </p:nvSpPr>
        <p:spPr>
          <a:xfrm>
            <a:off x="1014413" y="1146572"/>
            <a:ext cx="1996500" cy="18002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spc="225">
                <a:solidFill>
                  <a:srgbClr val="D4A017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1 · 动机与问题</a:t>
            </a:r>
            <a:endParaRPr sz="1010" spc="225">
              <a:solidFill>
                <a:srgbClr val="D4A017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82912275272-4"/>
          <p:cNvSpPr txBox="1"/>
          <p:nvPr/>
        </p:nvSpPr>
        <p:spPr>
          <a:xfrm>
            <a:off x="857250" y="1469469"/>
            <a:ext cx="3886200" cy="8915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3505"/>
              </a:lnSpc>
            </a:pPr>
            <a:r>
              <a:rPr sz="2920" b="1" spc="-29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第一章 · </a:t>
            </a:r>
            <a:r>
              <a:rPr sz="2920" b="1" spc="-29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研究动机与问题定义</a:t>
            </a:r>
            <a:endParaRPr sz="2920" b="1" spc="-29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82912275275-6"/>
          <p:cNvSpPr txBox="1"/>
          <p:nvPr/>
        </p:nvSpPr>
        <p:spPr>
          <a:xfrm>
            <a:off x="857250" y="2739628"/>
            <a:ext cx="3886200" cy="1257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70"/>
              </a:lnSpc>
            </a:pPr>
            <a:r>
              <a:rPr sz="123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Android 交互卡顿的诊断困境在于跨进程依赖链难以追踪，传统 PID-Centric 方法无法定位根因。本章系统阐述 Frame-Centric 的核心思想，通过对比 PID 视角与 Frame 视角的诊断差异，论证以帧为中心的分析方法的必要性，并介绍实验设备选型与前期调研基础。</a:t>
            </a:r>
            <a:endParaRPr sz="1230">
              <a:solidFill>
                <a:srgbClr val="FFFFFF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2912275236-1"/>
          <p:cNvSpPr txBox="1"/>
          <p:nvPr/>
        </p:nvSpPr>
        <p:spPr>
          <a:xfrm>
            <a:off x="7731323" y="4777740"/>
            <a:ext cx="106263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56">
                <a:solidFill>
                  <a:srgbClr val="FFFFFF">
                    <a:alpha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 </a:t>
            </a:r>
            <a:r>
              <a:rPr sz="780" spc="56">
                <a:solidFill>
                  <a:srgbClr val="D4A017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r>
              <a:rPr sz="780" spc="56">
                <a:solidFill>
                  <a:srgbClr val="FFFFFF">
                    <a:alpha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2026.0</a:t>
            </a:r>
            <a:r>
              <a:rPr lang="en-US" altLang="en-US" sz="780" spc="56">
                <a:solidFill>
                  <a:srgbClr val="FFFFFF">
                    <a:alpha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altLang="en-US" sz="780" spc="56">
              <a:solidFill>
                <a:srgbClr val="FFFFFF">
                  <a:alpha val="2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2912275431-1"/>
          <p:cNvSpPr/>
          <p:nvPr/>
        </p:nvSpPr>
        <p:spPr>
          <a:xfrm>
            <a:off x="0" y="0"/>
            <a:ext cx="9144000" cy="5143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2912275432-3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2912275456-16"/>
          <p:cNvCxnSpPr/>
          <p:nvPr/>
        </p:nvCxnSpPr>
        <p:spPr>
          <a:xfrm>
            <a:off x="414338" y="1135856"/>
            <a:ext cx="914" cy="137160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2912275450-9"/>
          <p:cNvSpPr/>
          <p:nvPr/>
        </p:nvSpPr>
        <p:spPr>
          <a:xfrm>
            <a:off x="400050" y="2141696"/>
            <a:ext cx="4029075" cy="6000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8936" y="0"/>
                </a:lnTo>
                <a:lnTo>
                  <a:pt x="99040" y="32"/>
                </a:lnTo>
                <a:lnTo>
                  <a:pt x="99144" y="143"/>
                </a:lnTo>
                <a:lnTo>
                  <a:pt x="99246" y="302"/>
                </a:lnTo>
                <a:lnTo>
                  <a:pt x="99343" y="540"/>
                </a:lnTo>
                <a:lnTo>
                  <a:pt x="99437" y="841"/>
                </a:lnTo>
                <a:lnTo>
                  <a:pt x="99527" y="1206"/>
                </a:lnTo>
                <a:lnTo>
                  <a:pt x="99610" y="1619"/>
                </a:lnTo>
                <a:lnTo>
                  <a:pt x="99688" y="2095"/>
                </a:lnTo>
                <a:lnTo>
                  <a:pt x="99759" y="2619"/>
                </a:lnTo>
                <a:lnTo>
                  <a:pt x="99820" y="3175"/>
                </a:lnTo>
                <a:lnTo>
                  <a:pt x="99875" y="3778"/>
                </a:lnTo>
                <a:lnTo>
                  <a:pt x="99920" y="4413"/>
                </a:lnTo>
                <a:lnTo>
                  <a:pt x="99955" y="5063"/>
                </a:lnTo>
                <a:lnTo>
                  <a:pt x="99979" y="5746"/>
                </a:lnTo>
                <a:lnTo>
                  <a:pt x="99995" y="6444"/>
                </a:lnTo>
                <a:lnTo>
                  <a:pt x="100000" y="7143"/>
                </a:lnTo>
                <a:lnTo>
                  <a:pt x="100000" y="92857"/>
                </a:lnTo>
                <a:lnTo>
                  <a:pt x="99995" y="93556"/>
                </a:lnTo>
                <a:lnTo>
                  <a:pt x="99979" y="94254"/>
                </a:lnTo>
                <a:lnTo>
                  <a:pt x="99955" y="94937"/>
                </a:lnTo>
                <a:lnTo>
                  <a:pt x="99920" y="95587"/>
                </a:lnTo>
                <a:lnTo>
                  <a:pt x="99875" y="96222"/>
                </a:lnTo>
                <a:lnTo>
                  <a:pt x="99820" y="96825"/>
                </a:lnTo>
                <a:lnTo>
                  <a:pt x="99759" y="97381"/>
                </a:lnTo>
                <a:lnTo>
                  <a:pt x="99688" y="97905"/>
                </a:lnTo>
                <a:lnTo>
                  <a:pt x="99610" y="98381"/>
                </a:lnTo>
                <a:lnTo>
                  <a:pt x="99527" y="98794"/>
                </a:lnTo>
                <a:lnTo>
                  <a:pt x="99437" y="99159"/>
                </a:lnTo>
                <a:lnTo>
                  <a:pt x="99343" y="99460"/>
                </a:lnTo>
                <a:lnTo>
                  <a:pt x="99246" y="99698"/>
                </a:lnTo>
                <a:lnTo>
                  <a:pt x="99144" y="99857"/>
                </a:lnTo>
                <a:lnTo>
                  <a:pt x="99040" y="99968"/>
                </a:lnTo>
                <a:lnTo>
                  <a:pt x="98936" y="100000"/>
                </a:lnTo>
                <a:lnTo>
                  <a:pt x="0" y="100000"/>
                </a:lnTo>
                <a:lnTo>
                  <a:pt x="0" y="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2912275453-11"/>
          <p:cNvSpPr/>
          <p:nvPr/>
        </p:nvSpPr>
        <p:spPr>
          <a:xfrm>
            <a:off x="400050" y="2141696"/>
            <a:ext cx="4029075" cy="6000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0" y="0"/>
                </a:lnTo>
              </a:path>
            </a:pathLst>
          </a:custGeom>
          <a:noFill/>
          <a:ln w="28575" algn="in">
            <a:solidFill>
              <a:srgbClr val="D4A017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2912275465-20"/>
          <p:cNvSpPr/>
          <p:nvPr/>
        </p:nvSpPr>
        <p:spPr>
          <a:xfrm>
            <a:off x="400050" y="2884646"/>
            <a:ext cx="4029075" cy="777240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2912275483-27"/>
          <p:cNvSpPr/>
          <p:nvPr/>
        </p:nvSpPr>
        <p:spPr>
          <a:xfrm>
            <a:off x="1021556" y="3006090"/>
            <a:ext cx="784384" cy="245745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2912275486-30"/>
          <p:cNvSpPr/>
          <p:nvPr/>
        </p:nvSpPr>
        <p:spPr>
          <a:xfrm>
            <a:off x="2091690" y="3006090"/>
            <a:ext cx="1040844" cy="245745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2912275488-33"/>
          <p:cNvSpPr/>
          <p:nvPr/>
        </p:nvSpPr>
        <p:spPr>
          <a:xfrm>
            <a:off x="3418284" y="3006090"/>
            <a:ext cx="589270" cy="245745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2912275491-36"/>
          <p:cNvSpPr/>
          <p:nvPr/>
        </p:nvSpPr>
        <p:spPr>
          <a:xfrm>
            <a:off x="535781" y="3294698"/>
            <a:ext cx="1041023" cy="245745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2912275494-39"/>
          <p:cNvSpPr/>
          <p:nvPr/>
        </p:nvSpPr>
        <p:spPr>
          <a:xfrm>
            <a:off x="1862554" y="3294698"/>
            <a:ext cx="1059865" cy="245745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2912275466-21"/>
          <p:cNvSpPr/>
          <p:nvPr/>
        </p:nvSpPr>
        <p:spPr>
          <a:xfrm>
            <a:off x="4714875" y="1050131"/>
            <a:ext cx="4029075" cy="128016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2912275534-65"/>
          <p:cNvSpPr/>
          <p:nvPr/>
        </p:nvSpPr>
        <p:spPr>
          <a:xfrm>
            <a:off x="6757541" y="1185863"/>
            <a:ext cx="571500" cy="165735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2912275468-22"/>
          <p:cNvSpPr/>
          <p:nvPr/>
        </p:nvSpPr>
        <p:spPr>
          <a:xfrm>
            <a:off x="4714875" y="2473166"/>
            <a:ext cx="4029075" cy="104870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8582" y="0"/>
                </a:lnTo>
                <a:lnTo>
                  <a:pt x="98721" y="27"/>
                </a:lnTo>
                <a:lnTo>
                  <a:pt x="98858" y="109"/>
                </a:lnTo>
                <a:lnTo>
                  <a:pt x="98993" y="236"/>
                </a:lnTo>
                <a:lnTo>
                  <a:pt x="99125" y="418"/>
                </a:lnTo>
                <a:lnTo>
                  <a:pt x="99251" y="645"/>
                </a:lnTo>
                <a:lnTo>
                  <a:pt x="99369" y="918"/>
                </a:lnTo>
                <a:lnTo>
                  <a:pt x="99482" y="1236"/>
                </a:lnTo>
                <a:lnTo>
                  <a:pt x="99584" y="1600"/>
                </a:lnTo>
                <a:lnTo>
                  <a:pt x="99678" y="1991"/>
                </a:lnTo>
                <a:lnTo>
                  <a:pt x="99761" y="2427"/>
                </a:lnTo>
                <a:lnTo>
                  <a:pt x="99832" y="2882"/>
                </a:lnTo>
                <a:lnTo>
                  <a:pt x="99891" y="3364"/>
                </a:lnTo>
                <a:lnTo>
                  <a:pt x="99939" y="3873"/>
                </a:lnTo>
                <a:lnTo>
                  <a:pt x="99972" y="4391"/>
                </a:lnTo>
                <a:lnTo>
                  <a:pt x="99993" y="4918"/>
                </a:lnTo>
                <a:lnTo>
                  <a:pt x="100000" y="5455"/>
                </a:lnTo>
                <a:lnTo>
                  <a:pt x="100000" y="94545"/>
                </a:lnTo>
                <a:lnTo>
                  <a:pt x="99993" y="95082"/>
                </a:lnTo>
                <a:lnTo>
                  <a:pt x="99972" y="95609"/>
                </a:lnTo>
                <a:lnTo>
                  <a:pt x="99939" y="96127"/>
                </a:lnTo>
                <a:lnTo>
                  <a:pt x="99891" y="96636"/>
                </a:lnTo>
                <a:lnTo>
                  <a:pt x="99832" y="97118"/>
                </a:lnTo>
                <a:lnTo>
                  <a:pt x="99761" y="97573"/>
                </a:lnTo>
                <a:lnTo>
                  <a:pt x="99678" y="98009"/>
                </a:lnTo>
                <a:lnTo>
                  <a:pt x="99584" y="98400"/>
                </a:lnTo>
                <a:lnTo>
                  <a:pt x="99482" y="98764"/>
                </a:lnTo>
                <a:lnTo>
                  <a:pt x="99369" y="99082"/>
                </a:lnTo>
                <a:lnTo>
                  <a:pt x="99251" y="99355"/>
                </a:lnTo>
                <a:lnTo>
                  <a:pt x="99125" y="99582"/>
                </a:lnTo>
                <a:lnTo>
                  <a:pt x="98993" y="99764"/>
                </a:lnTo>
                <a:lnTo>
                  <a:pt x="98858" y="99891"/>
                </a:lnTo>
                <a:lnTo>
                  <a:pt x="98721" y="99973"/>
                </a:lnTo>
                <a:lnTo>
                  <a:pt x="98582" y="100000"/>
                </a:lnTo>
                <a:lnTo>
                  <a:pt x="0" y="100000"/>
                </a:lnTo>
                <a:lnTo>
                  <a:pt x="0" y="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2912275471-24"/>
          <p:cNvSpPr/>
          <p:nvPr/>
        </p:nvSpPr>
        <p:spPr>
          <a:xfrm>
            <a:off x="4714875" y="2473166"/>
            <a:ext cx="4029075" cy="104870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0" y="0"/>
                </a:lnTo>
              </a:path>
            </a:pathLst>
          </a:custGeom>
          <a:noFill/>
          <a:ln w="35719" algn="in">
            <a:solidFill>
              <a:srgbClr val="D4A017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el-1782912275470-23"/>
          <p:cNvSpPr/>
          <p:nvPr/>
        </p:nvSpPr>
        <p:spPr>
          <a:xfrm>
            <a:off x="4714875" y="3664744"/>
            <a:ext cx="4029075" cy="600075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el-1782912275497-42"/>
          <p:cNvSpPr/>
          <p:nvPr/>
        </p:nvSpPr>
        <p:spPr>
          <a:xfrm>
            <a:off x="4850606" y="3771900"/>
            <a:ext cx="967710" cy="171450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2912275502-47"/>
          <p:cNvSpPr/>
          <p:nvPr/>
        </p:nvSpPr>
        <p:spPr>
          <a:xfrm>
            <a:off x="6932742" y="3771900"/>
            <a:ext cx="437376" cy="171450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2912275506-52"/>
          <p:cNvSpPr/>
          <p:nvPr/>
        </p:nvSpPr>
        <p:spPr>
          <a:xfrm>
            <a:off x="4850606" y="3986213"/>
            <a:ext cx="501313" cy="171450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el-1782912275509-57"/>
          <p:cNvSpPr/>
          <p:nvPr/>
        </p:nvSpPr>
        <p:spPr>
          <a:xfrm>
            <a:off x="6466344" y="3986213"/>
            <a:ext cx="802332" cy="171450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2912275432-2"/>
          <p:cNvSpPr/>
          <p:nvPr/>
        </p:nvSpPr>
        <p:spPr>
          <a:xfrm>
            <a:off x="0" y="4800600"/>
            <a:ext cx="9144000" cy="3429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3" name="el-1782912275433-4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el-1782912275436-5"/>
          <p:cNvSpPr txBox="1"/>
          <p:nvPr/>
        </p:nvSpPr>
        <p:spPr>
          <a:xfrm>
            <a:off x="400050" y="179308"/>
            <a:ext cx="51488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r>
              <a:rPr sz="6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9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37</a:t>
            </a:r>
            <a:endParaRPr sz="900" b="1" spc="28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2912275454-13"/>
          <p:cNvSpPr txBox="1"/>
          <p:nvPr/>
        </p:nvSpPr>
        <p:spPr>
          <a:xfrm>
            <a:off x="1086386" y="179308"/>
            <a:ext cx="152394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第一章 · 研究动机与问题定义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2912275455-14"/>
          <p:cNvSpPr txBox="1"/>
          <p:nvPr/>
        </p:nvSpPr>
        <p:spPr>
          <a:xfrm>
            <a:off x="2610326" y="179308"/>
            <a:ext cx="96619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D0D0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900">
              <a:solidFill>
                <a:srgbClr val="D0D0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2912275455-15"/>
          <p:cNvSpPr txBox="1"/>
          <p:nvPr/>
        </p:nvSpPr>
        <p:spPr>
          <a:xfrm>
            <a:off x="2706946" y="179308"/>
            <a:ext cx="2045881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Android 卡顿：从何而来，如何定位？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2912275450-10"/>
          <p:cNvSpPr txBox="1"/>
          <p:nvPr/>
        </p:nvSpPr>
        <p:spPr>
          <a:xfrm>
            <a:off x="528638" y="1135856"/>
            <a:ext cx="3957638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56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▎核心问题</a:t>
            </a:r>
            <a:endParaRPr sz="900" b="1" spc="56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2912275443-7"/>
          <p:cNvSpPr txBox="1"/>
          <p:nvPr/>
        </p:nvSpPr>
        <p:spPr>
          <a:xfrm>
            <a:off x="400050" y="1415891"/>
            <a:ext cx="4053364" cy="582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290"/>
              </a:lnSpc>
            </a:pPr>
            <a:r>
              <a:rPr sz="1910" b="1" spc="-17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Android 卡顿</a:t>
            </a:r>
            <a:endParaRPr sz="1910" b="1" spc="-17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2290"/>
              </a:lnSpc>
            </a:pPr>
            <a:r>
              <a:rPr sz="1910" b="1" spc="-17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从何而来，如何定位？</a:t>
            </a:r>
            <a:endParaRPr sz="1910" b="1" spc="-17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2912275445-8"/>
          <p:cNvSpPr txBox="1"/>
          <p:nvPr/>
        </p:nvSpPr>
        <p:spPr>
          <a:xfrm>
            <a:off x="542925" y="2227421"/>
            <a:ext cx="3786188" cy="428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Android 交互卡顿（Jank）的根源是</a:t>
            </a:r>
            <a:r>
              <a:rPr sz="112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跨进程等待链</a:t>
            </a:r>
            <a:r>
              <a:rPr sz="112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sz="112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680"/>
              </a:lnSpc>
            </a:pPr>
            <a:r>
              <a:rPr sz="112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单进程分析方法无法定位跨进程依赖问题。</a:t>
            </a:r>
            <a:endParaRPr sz="112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2912275480-25"/>
          <p:cNvSpPr txBox="1"/>
          <p:nvPr/>
        </p:nvSpPr>
        <p:spPr>
          <a:xfrm>
            <a:off x="535781" y="3043238"/>
            <a:ext cx="450056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等待链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82912275481-26"/>
          <p:cNvSpPr txBox="1"/>
          <p:nvPr/>
        </p:nvSpPr>
        <p:spPr>
          <a:xfrm>
            <a:off x="1121569" y="3048953"/>
            <a:ext cx="745093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spc="17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 Thread</a:t>
            </a:r>
            <a:endParaRPr sz="950" spc="17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82912275483-28"/>
          <p:cNvSpPr txBox="1"/>
          <p:nvPr/>
        </p:nvSpPr>
        <p:spPr>
          <a:xfrm>
            <a:off x="1877378" y="3034665"/>
            <a:ext cx="214313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12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2912275484-29"/>
          <p:cNvSpPr txBox="1"/>
          <p:nvPr/>
        </p:nvSpPr>
        <p:spPr>
          <a:xfrm>
            <a:off x="2191703" y="3048953"/>
            <a:ext cx="1001554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spc="17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RenderThread</a:t>
            </a:r>
            <a:endParaRPr sz="950" spc="17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82912275486-31"/>
          <p:cNvSpPr txBox="1"/>
          <p:nvPr/>
        </p:nvSpPr>
        <p:spPr>
          <a:xfrm>
            <a:off x="3203972" y="3034665"/>
            <a:ext cx="214313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12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82912275486-32"/>
          <p:cNvSpPr txBox="1"/>
          <p:nvPr/>
        </p:nvSpPr>
        <p:spPr>
          <a:xfrm>
            <a:off x="3518297" y="3048953"/>
            <a:ext cx="549979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spc="17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Binder</a:t>
            </a:r>
            <a:endParaRPr sz="950" spc="17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l-1782912275489-34"/>
          <p:cNvSpPr txBox="1"/>
          <p:nvPr/>
        </p:nvSpPr>
        <p:spPr>
          <a:xfrm>
            <a:off x="4078992" y="3034665"/>
            <a:ext cx="214313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12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el-1782912275489-35"/>
          <p:cNvSpPr txBox="1"/>
          <p:nvPr/>
        </p:nvSpPr>
        <p:spPr>
          <a:xfrm>
            <a:off x="635794" y="3337560"/>
            <a:ext cx="1001732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spc="17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system_server</a:t>
            </a:r>
            <a:endParaRPr sz="950" spc="17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el-1782912275492-37"/>
          <p:cNvSpPr txBox="1"/>
          <p:nvPr/>
        </p:nvSpPr>
        <p:spPr>
          <a:xfrm>
            <a:off x="1648242" y="3323273"/>
            <a:ext cx="214313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12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l-1782912275492-38"/>
          <p:cNvSpPr txBox="1"/>
          <p:nvPr/>
        </p:nvSpPr>
        <p:spPr>
          <a:xfrm>
            <a:off x="1962567" y="3337560"/>
            <a:ext cx="1020574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spc="17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SurfaceFlinger</a:t>
            </a:r>
            <a:endParaRPr sz="950" spc="17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el-1782912275454-12"/>
          <p:cNvSpPr txBox="1"/>
          <p:nvPr/>
        </p:nvSpPr>
        <p:spPr>
          <a:xfrm>
            <a:off x="400050" y="3819049"/>
            <a:ext cx="4029075" cy="36004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15"/>
              </a:lnSpc>
            </a:pPr>
            <a:r>
              <a:rPr sz="101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跨进程依赖导致传统 PID-Centric 方法失效 —— 卡顿不是单个 PID 的问题。</a:t>
            </a:r>
            <a:endParaRPr sz="101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el-1782912275532-63"/>
          <p:cNvSpPr txBox="1"/>
          <p:nvPr/>
        </p:nvSpPr>
        <p:spPr>
          <a:xfrm>
            <a:off x="4864894" y="1171575"/>
            <a:ext cx="1892647" cy="1943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⚠️ PID-Centric 为何不可行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el-1782912275532-64"/>
          <p:cNvSpPr txBox="1"/>
          <p:nvPr/>
        </p:nvSpPr>
        <p:spPr>
          <a:xfrm>
            <a:off x="6843266" y="1200150"/>
            <a:ext cx="535781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传统方法</a:t>
            </a:r>
            <a:endParaRPr sz="78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l-1782912275535-67"/>
          <p:cNvSpPr txBox="1"/>
          <p:nvPr/>
        </p:nvSpPr>
        <p:spPr>
          <a:xfrm>
            <a:off x="6622256" y="1437322"/>
            <a:ext cx="2035969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 App 每次启动 PID 不同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el-1782912275526-59"/>
          <p:cNvSpPr txBox="1"/>
          <p:nvPr/>
        </p:nvSpPr>
        <p:spPr>
          <a:xfrm>
            <a:off x="6622256" y="1651635"/>
            <a:ext cx="2035969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Jank 根因是</a:t>
            </a: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跨进程等待链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el-1782912275527-60"/>
          <p:cNvSpPr txBox="1"/>
          <p:nvPr/>
        </p:nvSpPr>
        <p:spPr>
          <a:xfrm>
            <a:off x="6622256" y="1865948"/>
            <a:ext cx="1971675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1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只能观测内核事件，无法回答</a:t>
            </a: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用户经历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el-1782912275495-40"/>
          <p:cNvSpPr txBox="1"/>
          <p:nvPr/>
        </p:nvSpPr>
        <p:spPr>
          <a:xfrm>
            <a:off x="4893469" y="2587466"/>
            <a:ext cx="3779044" cy="1943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🔍 对比结论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el-1782912275536-70"/>
          <p:cNvSpPr txBox="1"/>
          <p:nvPr/>
        </p:nvSpPr>
        <p:spPr>
          <a:xfrm>
            <a:off x="4893469" y="2824639"/>
            <a:ext cx="589270" cy="18002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PID 视角</a:t>
            </a:r>
            <a:endParaRPr sz="101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el-1782912275528-61"/>
          <p:cNvSpPr txBox="1"/>
          <p:nvPr/>
        </p:nvSpPr>
        <p:spPr>
          <a:xfrm>
            <a:off x="5504170" y="2824639"/>
            <a:ext cx="3161199" cy="18002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看到 pid=1234 进程 CPU 占用高 → </a:t>
            </a: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无法定位根因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el-1782912275537-71"/>
          <p:cNvSpPr txBox="1"/>
          <p:nvPr/>
        </p:nvSpPr>
        <p:spPr>
          <a:xfrm>
            <a:off x="4893469" y="3047524"/>
            <a:ext cx="761434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Frame 视角</a:t>
            </a:r>
            <a:endParaRPr sz="101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el-1782912275531-62"/>
          <p:cNvSpPr txBox="1"/>
          <p:nvPr/>
        </p:nvSpPr>
        <p:spPr>
          <a:xfrm>
            <a:off x="5676335" y="3047524"/>
            <a:ext cx="2924741" cy="36004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15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看到 </a:t>
            </a: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f32</a:t>
            </a: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帧内 SurfaceFlinger 被 Binder 调用阻塞 </a:t>
            </a: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12ms</a:t>
            </a: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精准定位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el-1782912275495-41"/>
          <p:cNvSpPr txBox="1"/>
          <p:nvPr/>
        </p:nvSpPr>
        <p:spPr>
          <a:xfrm>
            <a:off x="4936331" y="3786188"/>
            <a:ext cx="935563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FrameTimeline</a:t>
            </a:r>
            <a:endParaRPr sz="84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el-1782912275498-43"/>
          <p:cNvSpPr txBox="1"/>
          <p:nvPr/>
        </p:nvSpPr>
        <p:spPr>
          <a:xfrm>
            <a:off x="5904042" y="3771900"/>
            <a:ext cx="19288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el-1782912275499-44"/>
          <p:cNvSpPr txBox="1"/>
          <p:nvPr/>
        </p:nvSpPr>
        <p:spPr>
          <a:xfrm>
            <a:off x="6118354" y="3771900"/>
            <a:ext cx="578644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定义问题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el-1782912275499-45"/>
          <p:cNvSpPr txBox="1"/>
          <p:nvPr/>
        </p:nvSpPr>
        <p:spPr>
          <a:xfrm>
            <a:off x="6718429" y="3771900"/>
            <a:ext cx="19288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el-1782912275500-46"/>
          <p:cNvSpPr txBox="1"/>
          <p:nvPr/>
        </p:nvSpPr>
        <p:spPr>
          <a:xfrm>
            <a:off x="7018467" y="3786188"/>
            <a:ext cx="405229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eBPF</a:t>
            </a:r>
            <a:endParaRPr sz="84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el-1782912275502-48"/>
          <p:cNvSpPr txBox="1"/>
          <p:nvPr/>
        </p:nvSpPr>
        <p:spPr>
          <a:xfrm>
            <a:off x="7455843" y="3771900"/>
            <a:ext cx="19288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el-1782912275503-49"/>
          <p:cNvSpPr txBox="1"/>
          <p:nvPr/>
        </p:nvSpPr>
        <p:spPr>
          <a:xfrm>
            <a:off x="7670155" y="3771900"/>
            <a:ext cx="578644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提供原因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el-1782912275503-50"/>
          <p:cNvSpPr txBox="1"/>
          <p:nvPr/>
        </p:nvSpPr>
        <p:spPr>
          <a:xfrm>
            <a:off x="8270230" y="3771900"/>
            <a:ext cx="19288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el-1782912275503-51"/>
          <p:cNvSpPr txBox="1"/>
          <p:nvPr/>
        </p:nvSpPr>
        <p:spPr>
          <a:xfrm>
            <a:off x="4936331" y="4000500"/>
            <a:ext cx="469166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Graph</a:t>
            </a:r>
            <a:endParaRPr sz="84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el-1782912275506-53"/>
          <p:cNvSpPr txBox="1"/>
          <p:nvPr/>
        </p:nvSpPr>
        <p:spPr>
          <a:xfrm>
            <a:off x="5437644" y="3986213"/>
            <a:ext cx="19288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el-1782912275507-54"/>
          <p:cNvSpPr txBox="1"/>
          <p:nvPr/>
        </p:nvSpPr>
        <p:spPr>
          <a:xfrm>
            <a:off x="5651956" y="3986213"/>
            <a:ext cx="578644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关键路径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el-1782912275507-55"/>
          <p:cNvSpPr txBox="1"/>
          <p:nvPr/>
        </p:nvSpPr>
        <p:spPr>
          <a:xfrm>
            <a:off x="6252031" y="3986213"/>
            <a:ext cx="19288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el-1782912275507-56"/>
          <p:cNvSpPr txBox="1"/>
          <p:nvPr/>
        </p:nvSpPr>
        <p:spPr>
          <a:xfrm>
            <a:off x="6552069" y="4000500"/>
            <a:ext cx="770186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Hint Engine</a:t>
            </a:r>
            <a:endParaRPr sz="84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el-1782912275509-58"/>
          <p:cNvSpPr txBox="1"/>
          <p:nvPr/>
        </p:nvSpPr>
        <p:spPr>
          <a:xfrm>
            <a:off x="7354402" y="3986213"/>
            <a:ext cx="578644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受控干预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el-1782912275457-17"/>
          <p:cNvSpPr txBox="1"/>
          <p:nvPr/>
        </p:nvSpPr>
        <p:spPr>
          <a:xfrm>
            <a:off x="400050" y="4907042"/>
            <a:ext cx="53506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el-1782912275458-18"/>
          <p:cNvSpPr txBox="1"/>
          <p:nvPr/>
        </p:nvSpPr>
        <p:spPr>
          <a:xfrm>
            <a:off x="1056561" y="4907042"/>
            <a:ext cx="7911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el-1782912275459-19"/>
          <p:cNvSpPr txBox="1"/>
          <p:nvPr/>
        </p:nvSpPr>
        <p:spPr>
          <a:xfrm>
            <a:off x="1257121" y="4907042"/>
            <a:ext cx="44103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</a:t>
            </a:r>
            <a:r>
              <a:rPr lang="en-US" altLang="en-US"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altLang="en-US"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el-1782912275437-6"/>
          <p:cNvSpPr txBox="1"/>
          <p:nvPr/>
        </p:nvSpPr>
        <p:spPr>
          <a:xfrm>
            <a:off x="7460486" y="4907042"/>
            <a:ext cx="1333470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第一章 · 研究动机与问题定义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el-1782912275546-72"/>
          <p:cNvSpPr/>
          <p:nvPr/>
        </p:nvSpPr>
        <p:spPr>
          <a:xfrm>
            <a:off x="4864894" y="1493044"/>
            <a:ext cx="42863" cy="42863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el-1782912275546-73"/>
          <p:cNvSpPr/>
          <p:nvPr/>
        </p:nvSpPr>
        <p:spPr>
          <a:xfrm>
            <a:off x="4864894" y="1707356"/>
            <a:ext cx="42863" cy="42863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el-1782912275547-74"/>
          <p:cNvSpPr/>
          <p:nvPr/>
        </p:nvSpPr>
        <p:spPr>
          <a:xfrm>
            <a:off x="4864894" y="1921669"/>
            <a:ext cx="42863" cy="42863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el-1782912275534-66"/>
          <p:cNvSpPr txBox="1"/>
          <p:nvPr/>
        </p:nvSpPr>
        <p:spPr>
          <a:xfrm>
            <a:off x="4950619" y="1437322"/>
            <a:ext cx="162163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PID 不稳定</a:t>
            </a:r>
            <a:endParaRPr sz="101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el-1782912275535-68"/>
          <p:cNvSpPr txBox="1"/>
          <p:nvPr/>
        </p:nvSpPr>
        <p:spPr>
          <a:xfrm>
            <a:off x="4950619" y="1651635"/>
            <a:ext cx="162163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卡顿 ≠ 单进程</a:t>
            </a:r>
            <a:endParaRPr sz="101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el-1782912275536-69"/>
          <p:cNvSpPr txBox="1"/>
          <p:nvPr/>
        </p:nvSpPr>
        <p:spPr>
          <a:xfrm>
            <a:off x="4950619" y="1865948"/>
            <a:ext cx="162163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eBPF 局限</a:t>
            </a:r>
            <a:endParaRPr sz="101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2912276120-1"/>
          <p:cNvSpPr/>
          <p:nvPr/>
        </p:nvSpPr>
        <p:spPr>
          <a:xfrm>
            <a:off x="0" y="0"/>
            <a:ext cx="9144000" cy="4000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2912276122-3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2912276141-18"/>
          <p:cNvSpPr/>
          <p:nvPr/>
        </p:nvSpPr>
        <p:spPr>
          <a:xfrm>
            <a:off x="400050" y="994767"/>
            <a:ext cx="4029075" cy="1924526"/>
          </a:xfrm>
          <a:prstGeom prst="roundRect">
            <a:avLst>
              <a:gd name="adj" fmla="val 3959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el-1782912276182-34"/>
          <p:cNvSpPr/>
          <p:nvPr/>
        </p:nvSpPr>
        <p:spPr>
          <a:xfrm>
            <a:off x="1737449" y="1136213"/>
            <a:ext cx="571500" cy="148590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2912276161-25"/>
          <p:cNvSpPr/>
          <p:nvPr/>
        </p:nvSpPr>
        <p:spPr>
          <a:xfrm>
            <a:off x="550069" y="2290643"/>
            <a:ext cx="3729038" cy="5072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8852" y="0"/>
                </a:lnTo>
                <a:lnTo>
                  <a:pt x="98964" y="38"/>
                </a:lnTo>
                <a:lnTo>
                  <a:pt x="99077" y="170"/>
                </a:lnTo>
                <a:lnTo>
                  <a:pt x="99186" y="358"/>
                </a:lnTo>
                <a:lnTo>
                  <a:pt x="99291" y="642"/>
                </a:lnTo>
                <a:lnTo>
                  <a:pt x="99393" y="1000"/>
                </a:lnTo>
                <a:lnTo>
                  <a:pt x="99490" y="1434"/>
                </a:lnTo>
                <a:lnTo>
                  <a:pt x="99579" y="1925"/>
                </a:lnTo>
                <a:lnTo>
                  <a:pt x="99663" y="2491"/>
                </a:lnTo>
                <a:lnTo>
                  <a:pt x="99740" y="3113"/>
                </a:lnTo>
                <a:lnTo>
                  <a:pt x="99806" y="3774"/>
                </a:lnTo>
                <a:lnTo>
                  <a:pt x="99865" y="4491"/>
                </a:lnTo>
                <a:lnTo>
                  <a:pt x="99913" y="5245"/>
                </a:lnTo>
                <a:lnTo>
                  <a:pt x="99952" y="6019"/>
                </a:lnTo>
                <a:lnTo>
                  <a:pt x="99977" y="6830"/>
                </a:lnTo>
                <a:lnTo>
                  <a:pt x="99995" y="7660"/>
                </a:lnTo>
                <a:lnTo>
                  <a:pt x="100000" y="8491"/>
                </a:lnTo>
                <a:lnTo>
                  <a:pt x="100000" y="91509"/>
                </a:lnTo>
                <a:lnTo>
                  <a:pt x="99995" y="92340"/>
                </a:lnTo>
                <a:lnTo>
                  <a:pt x="99977" y="93170"/>
                </a:lnTo>
                <a:lnTo>
                  <a:pt x="99952" y="93981"/>
                </a:lnTo>
                <a:lnTo>
                  <a:pt x="99913" y="94755"/>
                </a:lnTo>
                <a:lnTo>
                  <a:pt x="99865" y="95509"/>
                </a:lnTo>
                <a:lnTo>
                  <a:pt x="99806" y="96226"/>
                </a:lnTo>
                <a:lnTo>
                  <a:pt x="99740" y="96887"/>
                </a:lnTo>
                <a:lnTo>
                  <a:pt x="99663" y="97509"/>
                </a:lnTo>
                <a:lnTo>
                  <a:pt x="99579" y="98075"/>
                </a:lnTo>
                <a:lnTo>
                  <a:pt x="99490" y="98566"/>
                </a:lnTo>
                <a:lnTo>
                  <a:pt x="99393" y="99000"/>
                </a:lnTo>
                <a:lnTo>
                  <a:pt x="99291" y="99358"/>
                </a:lnTo>
                <a:lnTo>
                  <a:pt x="99186" y="99642"/>
                </a:lnTo>
                <a:lnTo>
                  <a:pt x="99077" y="99830"/>
                </a:lnTo>
                <a:lnTo>
                  <a:pt x="98964" y="99962"/>
                </a:lnTo>
                <a:lnTo>
                  <a:pt x="98852" y="100000"/>
                </a:lnTo>
                <a:lnTo>
                  <a:pt x="0" y="100000"/>
                </a:lnTo>
                <a:lnTo>
                  <a:pt x="0" y="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2912276162-26"/>
          <p:cNvSpPr/>
          <p:nvPr/>
        </p:nvSpPr>
        <p:spPr>
          <a:xfrm>
            <a:off x="550069" y="2290643"/>
            <a:ext cx="3729038" cy="5072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0" y="0"/>
                </a:lnTo>
              </a:path>
            </a:pathLst>
          </a:custGeom>
          <a:noFill/>
          <a:ln w="28575" algn="in">
            <a:solidFill>
              <a:srgbClr val="D4A017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2912276165-27"/>
          <p:cNvSpPr/>
          <p:nvPr/>
        </p:nvSpPr>
        <p:spPr>
          <a:xfrm>
            <a:off x="393065" y="3141980"/>
            <a:ext cx="4029075" cy="1450975"/>
          </a:xfrm>
          <a:prstGeom prst="roundRect">
            <a:avLst>
              <a:gd name="adj" fmla="val 4547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2912276136-14"/>
          <p:cNvCxnSpPr/>
          <p:nvPr/>
        </p:nvCxnSpPr>
        <p:spPr>
          <a:xfrm>
            <a:off x="4729163" y="396835"/>
            <a:ext cx="914" cy="137160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2912276151-19"/>
          <p:cNvSpPr/>
          <p:nvPr/>
        </p:nvSpPr>
        <p:spPr>
          <a:xfrm>
            <a:off x="4714875" y="648295"/>
            <a:ext cx="4029075" cy="1228725"/>
          </a:xfrm>
          <a:prstGeom prst="roundRect">
            <a:avLst>
              <a:gd name="adj" fmla="val 6202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2912276188-43"/>
          <p:cNvSpPr/>
          <p:nvPr/>
        </p:nvSpPr>
        <p:spPr>
          <a:xfrm>
            <a:off x="4864894" y="784027"/>
            <a:ext cx="200025" cy="200025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2912276190-44"/>
          <p:cNvSpPr/>
          <p:nvPr/>
        </p:nvSpPr>
        <p:spPr>
          <a:xfrm>
            <a:off x="5150644" y="985480"/>
            <a:ext cx="342900" cy="148590"/>
          </a:xfrm>
          <a:prstGeom prst="roundRect">
            <a:avLst>
              <a:gd name="adj" fmla="val 25641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2912276190-44__text"/>
          <p:cNvSpPr txBox="1"/>
          <p:nvPr/>
        </p:nvSpPr>
        <p:spPr>
          <a:xfrm>
            <a:off x="5150644" y="985480"/>
            <a:ext cx="34290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00" spc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调度</a:t>
            </a:r>
            <a:endParaRPr sz="900" spc="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2912276192-45"/>
          <p:cNvSpPr/>
          <p:nvPr/>
        </p:nvSpPr>
        <p:spPr>
          <a:xfrm>
            <a:off x="5665083" y="985480"/>
            <a:ext cx="468541" cy="148590"/>
          </a:xfrm>
          <a:prstGeom prst="roundRect">
            <a:avLst>
              <a:gd name="adj" fmla="val 25641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2912276192-45__text"/>
          <p:cNvSpPr txBox="1"/>
          <p:nvPr/>
        </p:nvSpPr>
        <p:spPr>
          <a:xfrm>
            <a:off x="5665083" y="985480"/>
            <a:ext cx="468541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00" spc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Binder</a:t>
            </a:r>
            <a:endParaRPr sz="900" spc="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2912276194-46"/>
          <p:cNvSpPr/>
          <p:nvPr/>
        </p:nvSpPr>
        <p:spPr>
          <a:xfrm>
            <a:off x="6305163" y="985480"/>
            <a:ext cx="409873" cy="148590"/>
          </a:xfrm>
          <a:prstGeom prst="roundRect">
            <a:avLst>
              <a:gd name="adj" fmla="val 25641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2912276194-46__text"/>
          <p:cNvSpPr txBox="1"/>
          <p:nvPr/>
        </p:nvSpPr>
        <p:spPr>
          <a:xfrm>
            <a:off x="6305163" y="985480"/>
            <a:ext cx="409873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00" spc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Futex</a:t>
            </a:r>
            <a:endParaRPr sz="900" spc="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2912276196-47"/>
          <p:cNvSpPr/>
          <p:nvPr/>
        </p:nvSpPr>
        <p:spPr>
          <a:xfrm>
            <a:off x="6886575" y="985480"/>
            <a:ext cx="608469" cy="148590"/>
          </a:xfrm>
          <a:prstGeom prst="roundRect">
            <a:avLst>
              <a:gd name="adj" fmla="val 25641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2912276196-47__text"/>
          <p:cNvSpPr txBox="1"/>
          <p:nvPr/>
        </p:nvSpPr>
        <p:spPr>
          <a:xfrm>
            <a:off x="6886575" y="985480"/>
            <a:ext cx="608469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00" spc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 频率</a:t>
            </a:r>
            <a:endParaRPr sz="900" spc="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82912276199-49"/>
          <p:cNvSpPr/>
          <p:nvPr/>
        </p:nvSpPr>
        <p:spPr>
          <a:xfrm>
            <a:off x="4864894" y="1255514"/>
            <a:ext cx="200025" cy="200025"/>
          </a:xfrm>
          <a:prstGeom prst="ellipse">
            <a:avLst/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2912276202-51"/>
          <p:cNvSpPr/>
          <p:nvPr/>
        </p:nvSpPr>
        <p:spPr>
          <a:xfrm>
            <a:off x="4864894" y="1555552"/>
            <a:ext cx="200025" cy="200025"/>
          </a:xfrm>
          <a:prstGeom prst="ellipse">
            <a:avLst/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-1782912276134-8"/>
          <p:cNvSpPr/>
          <p:nvPr/>
        </p:nvSpPr>
        <p:spPr>
          <a:xfrm>
            <a:off x="4714875" y="1991320"/>
            <a:ext cx="4029075" cy="71794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8936" y="0"/>
                </a:lnTo>
                <a:lnTo>
                  <a:pt x="99040" y="27"/>
                </a:lnTo>
                <a:lnTo>
                  <a:pt x="99144" y="120"/>
                </a:lnTo>
                <a:lnTo>
                  <a:pt x="99246" y="253"/>
                </a:lnTo>
                <a:lnTo>
                  <a:pt x="99343" y="453"/>
                </a:lnTo>
                <a:lnTo>
                  <a:pt x="99437" y="707"/>
                </a:lnTo>
                <a:lnTo>
                  <a:pt x="99527" y="1013"/>
                </a:lnTo>
                <a:lnTo>
                  <a:pt x="99610" y="1360"/>
                </a:lnTo>
                <a:lnTo>
                  <a:pt x="99688" y="1760"/>
                </a:lnTo>
                <a:lnTo>
                  <a:pt x="99759" y="2200"/>
                </a:lnTo>
                <a:lnTo>
                  <a:pt x="99820" y="2667"/>
                </a:lnTo>
                <a:lnTo>
                  <a:pt x="99875" y="3173"/>
                </a:lnTo>
                <a:lnTo>
                  <a:pt x="99920" y="3707"/>
                </a:lnTo>
                <a:lnTo>
                  <a:pt x="99955" y="4253"/>
                </a:lnTo>
                <a:lnTo>
                  <a:pt x="99979" y="4827"/>
                </a:lnTo>
                <a:lnTo>
                  <a:pt x="99995" y="5413"/>
                </a:lnTo>
                <a:lnTo>
                  <a:pt x="100000" y="6000"/>
                </a:lnTo>
                <a:lnTo>
                  <a:pt x="100000" y="94000"/>
                </a:lnTo>
                <a:lnTo>
                  <a:pt x="99995" y="94587"/>
                </a:lnTo>
                <a:lnTo>
                  <a:pt x="99979" y="95173"/>
                </a:lnTo>
                <a:lnTo>
                  <a:pt x="99955" y="95747"/>
                </a:lnTo>
                <a:lnTo>
                  <a:pt x="99920" y="96293"/>
                </a:lnTo>
                <a:lnTo>
                  <a:pt x="99875" y="96827"/>
                </a:lnTo>
                <a:lnTo>
                  <a:pt x="99820" y="97333"/>
                </a:lnTo>
                <a:lnTo>
                  <a:pt x="99759" y="97800"/>
                </a:lnTo>
                <a:lnTo>
                  <a:pt x="99688" y="98240"/>
                </a:lnTo>
                <a:lnTo>
                  <a:pt x="99610" y="98640"/>
                </a:lnTo>
                <a:lnTo>
                  <a:pt x="99527" y="98987"/>
                </a:lnTo>
                <a:lnTo>
                  <a:pt x="99437" y="99293"/>
                </a:lnTo>
                <a:lnTo>
                  <a:pt x="99343" y="99547"/>
                </a:lnTo>
                <a:lnTo>
                  <a:pt x="99246" y="99747"/>
                </a:lnTo>
                <a:lnTo>
                  <a:pt x="99144" y="99880"/>
                </a:lnTo>
                <a:lnTo>
                  <a:pt x="99040" y="99973"/>
                </a:lnTo>
                <a:lnTo>
                  <a:pt x="98936" y="100000"/>
                </a:lnTo>
                <a:lnTo>
                  <a:pt x="0" y="100000"/>
                </a:lnTo>
                <a:lnTo>
                  <a:pt x="0" y="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2912276135-10"/>
          <p:cNvSpPr/>
          <p:nvPr/>
        </p:nvSpPr>
        <p:spPr>
          <a:xfrm>
            <a:off x="4714875" y="1991320"/>
            <a:ext cx="4029075" cy="71794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0" y="0"/>
                </a:lnTo>
              </a:path>
            </a:pathLst>
          </a:custGeom>
          <a:noFill/>
          <a:ln w="28575" algn="in">
            <a:solidFill>
              <a:srgbClr val="2D4059"/>
            </a:solidFill>
            <a:prstDash val="solid"/>
          </a:ln>
        </p:spPr>
        <p:txBody>
          <a:bodyPr/>
          <a:lstStyle/>
          <a:p/>
        </p:txBody>
      </p:sp>
      <p:sp>
        <p:nvSpPr>
          <p:cNvPr id="25" name="el-1782912276121-2"/>
          <p:cNvSpPr/>
          <p:nvPr/>
        </p:nvSpPr>
        <p:spPr>
          <a:xfrm>
            <a:off x="0" y="4800600"/>
            <a:ext cx="9144000" cy="3429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6" name="el-1782912276122-4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el-1782912276125-5"/>
          <p:cNvSpPr txBox="1"/>
          <p:nvPr/>
        </p:nvSpPr>
        <p:spPr>
          <a:xfrm>
            <a:off x="400050" y="179308"/>
            <a:ext cx="51488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r>
              <a:rPr sz="6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9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37</a:t>
            </a:r>
            <a:endParaRPr sz="900" b="1" spc="28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2912276135-11"/>
          <p:cNvSpPr txBox="1"/>
          <p:nvPr/>
        </p:nvSpPr>
        <p:spPr>
          <a:xfrm>
            <a:off x="1086485" y="179070"/>
            <a:ext cx="1662430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第一章 · 研究动机与问题定义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2912276135-12"/>
          <p:cNvSpPr txBox="1"/>
          <p:nvPr/>
        </p:nvSpPr>
        <p:spPr>
          <a:xfrm>
            <a:off x="2706846" y="179308"/>
            <a:ext cx="96619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D0D0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900">
              <a:solidFill>
                <a:srgbClr val="D0D0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2912276136-13"/>
          <p:cNvSpPr txBox="1"/>
          <p:nvPr/>
        </p:nvSpPr>
        <p:spPr>
          <a:xfrm>
            <a:off x="2843471" y="179308"/>
            <a:ext cx="108585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实验设备与调研基础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82912276156-20"/>
          <p:cNvSpPr txBox="1"/>
          <p:nvPr/>
        </p:nvSpPr>
        <p:spPr>
          <a:xfrm>
            <a:off x="400050" y="533995"/>
            <a:ext cx="4150519" cy="3036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10" b="1" spc="-17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实验设备与</a:t>
            </a:r>
            <a:r>
              <a:rPr sz="1910" b="1" spc="-17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调研基础</a:t>
            </a:r>
            <a:endParaRPr sz="1910" b="1" spc="-17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82912276178-32"/>
          <p:cNvSpPr txBox="1"/>
          <p:nvPr/>
        </p:nvSpPr>
        <p:spPr>
          <a:xfrm>
            <a:off x="550069" y="1116211"/>
            <a:ext cx="1187381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 Pixel 6a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2912276179-33"/>
          <p:cNvSpPr txBox="1"/>
          <p:nvPr/>
        </p:nvSpPr>
        <p:spPr>
          <a:xfrm>
            <a:off x="1837462" y="1150501"/>
            <a:ext cx="517922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选型论证</a:t>
            </a:r>
            <a:endParaRPr sz="73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82912276183-35"/>
          <p:cNvSpPr txBox="1"/>
          <p:nvPr/>
        </p:nvSpPr>
        <p:spPr>
          <a:xfrm>
            <a:off x="550069" y="1390531"/>
            <a:ext cx="1857375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</a:t>
            </a:r>
            <a:endParaRPr sz="101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82912276183-36"/>
          <p:cNvSpPr txBox="1"/>
          <p:nvPr/>
        </p:nvSpPr>
        <p:spPr>
          <a:xfrm>
            <a:off x="2486025" y="1390531"/>
            <a:ext cx="1857375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Android 14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l-1782912276183-37"/>
          <p:cNvSpPr txBox="1"/>
          <p:nvPr/>
        </p:nvSpPr>
        <p:spPr>
          <a:xfrm>
            <a:off x="550069" y="1604844"/>
            <a:ext cx="1857375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内核</a:t>
            </a:r>
            <a:endParaRPr sz="101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el-1782912276184-38"/>
          <p:cNvSpPr txBox="1"/>
          <p:nvPr/>
        </p:nvSpPr>
        <p:spPr>
          <a:xfrm>
            <a:off x="2486025" y="1604844"/>
            <a:ext cx="1857375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Kernel 6.1 · BTF 启用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el-1782912276184-39"/>
          <p:cNvSpPr txBox="1"/>
          <p:nvPr/>
        </p:nvSpPr>
        <p:spPr>
          <a:xfrm>
            <a:off x="550069" y="1819156"/>
            <a:ext cx="1857375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Root</a:t>
            </a:r>
            <a:endParaRPr sz="101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l-1782912276185-40"/>
          <p:cNvSpPr txBox="1"/>
          <p:nvPr/>
        </p:nvSpPr>
        <p:spPr>
          <a:xfrm>
            <a:off x="2486025" y="1819156"/>
            <a:ext cx="1857375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Magisk · 解锁路径清晰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el-1782912276185-41"/>
          <p:cNvSpPr txBox="1"/>
          <p:nvPr/>
        </p:nvSpPr>
        <p:spPr>
          <a:xfrm>
            <a:off x="550069" y="2033468"/>
            <a:ext cx="1857375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生态</a:t>
            </a:r>
            <a:endParaRPr sz="101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el-1782912276172-28"/>
          <p:cNvSpPr txBox="1"/>
          <p:nvPr/>
        </p:nvSpPr>
        <p:spPr>
          <a:xfrm>
            <a:off x="2486025" y="2033468"/>
            <a:ext cx="1857375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论文叙事 reference 设备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el-1782912276160-24"/>
          <p:cNvSpPr txBox="1"/>
          <p:nvPr/>
        </p:nvSpPr>
        <p:spPr>
          <a:xfrm>
            <a:off x="678656" y="2362081"/>
            <a:ext cx="3500438" cy="3643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25"/>
              </a:lnSpc>
            </a:pP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 Pixel 系列官方开发者友好，Magisk 生态成熟，避免运营商合约锁版本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l-1782912276158-22"/>
          <p:cNvSpPr txBox="1"/>
          <p:nvPr/>
        </p:nvSpPr>
        <p:spPr>
          <a:xfrm>
            <a:off x="425052" y="2928937"/>
            <a:ext cx="4100513" cy="1943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📋 </a:t>
            </a:r>
            <a:r>
              <a:rPr sz="1120" b="1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前期调研</a:t>
            </a:r>
            <a:r>
              <a:rPr sz="1120" b="1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共 7 </a:t>
            </a:r>
            <a:r>
              <a:rPr sz="1120" b="1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份报告</a:t>
            </a:r>
            <a:endParaRPr dirty="0"/>
          </a:p>
        </p:txBody>
      </p:sp>
      <p:sp>
        <p:nvSpPr>
          <p:cNvPr id="45" name="el-1782912276216-59"/>
          <p:cNvSpPr txBox="1"/>
          <p:nvPr/>
        </p:nvSpPr>
        <p:spPr>
          <a:xfrm>
            <a:off x="535242" y="3211472"/>
            <a:ext cx="217884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 dirty="0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endParaRPr dirty="0"/>
          </a:p>
        </p:txBody>
      </p:sp>
      <p:sp>
        <p:nvSpPr>
          <p:cNvPr id="46" name="el-1782912276211-52"/>
          <p:cNvSpPr txBox="1"/>
          <p:nvPr/>
        </p:nvSpPr>
        <p:spPr>
          <a:xfrm>
            <a:off x="735267" y="3211472"/>
            <a:ext cx="1793439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Android 1</a:t>
            </a:r>
            <a:r>
              <a:rPr lang="en-US" altLang="en-US"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eBPF 预测调度方案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el-1782912276217-60"/>
          <p:cNvSpPr txBox="1"/>
          <p:nvPr/>
        </p:nvSpPr>
        <p:spPr>
          <a:xfrm>
            <a:off x="535242" y="3431499"/>
            <a:ext cx="217884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el-1782912276212-53"/>
          <p:cNvSpPr txBox="1"/>
          <p:nvPr/>
        </p:nvSpPr>
        <p:spPr>
          <a:xfrm>
            <a:off x="735267" y="3431499"/>
            <a:ext cx="1616720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eBPF 数据采集 7 层模型设计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el-1782912276217-61"/>
          <p:cNvSpPr txBox="1"/>
          <p:nvPr/>
        </p:nvSpPr>
        <p:spPr>
          <a:xfrm>
            <a:off x="535242" y="3651527"/>
            <a:ext cx="217884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el-1782912276212-54"/>
          <p:cNvSpPr txBox="1"/>
          <p:nvPr/>
        </p:nvSpPr>
        <p:spPr>
          <a:xfrm>
            <a:off x="735267" y="3651527"/>
            <a:ext cx="2858572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系统行为观测扩展 / 高频场景 / 关键线程识别方法论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el-1782912276218-62"/>
          <p:cNvSpPr txBox="1"/>
          <p:nvPr/>
        </p:nvSpPr>
        <p:spPr>
          <a:xfrm>
            <a:off x="535242" y="3871554"/>
            <a:ext cx="217884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el-1782912276213-55"/>
          <p:cNvSpPr txBox="1"/>
          <p:nvPr/>
        </p:nvSpPr>
        <p:spPr>
          <a:xfrm>
            <a:off x="735267" y="3871554"/>
            <a:ext cx="2098298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Page Turning / Feed Scroll 场景分析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el-1782912276218-63"/>
          <p:cNvSpPr txBox="1"/>
          <p:nvPr/>
        </p:nvSpPr>
        <p:spPr>
          <a:xfrm>
            <a:off x="535242" y="4091582"/>
            <a:ext cx="217884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el-1782912276214-56"/>
          <p:cNvSpPr txBox="1"/>
          <p:nvPr/>
        </p:nvSpPr>
        <p:spPr>
          <a:xfrm>
            <a:off x="735267" y="4091582"/>
            <a:ext cx="1025128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Pixel 6a 选型论证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el-1782912276219-64"/>
          <p:cNvSpPr txBox="1"/>
          <p:nvPr/>
        </p:nvSpPr>
        <p:spPr>
          <a:xfrm>
            <a:off x="535242" y="4311609"/>
            <a:ext cx="217884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el-1782912276214-57"/>
          <p:cNvSpPr txBox="1"/>
          <p:nvPr/>
        </p:nvSpPr>
        <p:spPr>
          <a:xfrm>
            <a:off x="735267" y="4311609"/>
            <a:ext cx="3020735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 Pixel 6a, Android 1</a:t>
            </a:r>
            <a:r>
              <a:rPr lang="en-US" altLang=""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真机 root 后 eBPF 采集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el-1782912276134-9"/>
          <p:cNvSpPr txBox="1"/>
          <p:nvPr/>
        </p:nvSpPr>
        <p:spPr>
          <a:xfrm>
            <a:off x="4843463" y="396835"/>
            <a:ext cx="3957638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56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▎</a:t>
            </a:r>
            <a:r>
              <a:rPr lang="zh-CN" altLang="" sz="900" b="1" spc="56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初步</a:t>
            </a:r>
            <a:r>
              <a:rPr sz="900" b="1" spc="56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900" b="1" spc="56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el-1782912276186-42"/>
          <p:cNvSpPr txBox="1"/>
          <p:nvPr/>
        </p:nvSpPr>
        <p:spPr>
          <a:xfrm>
            <a:off x="4811316" y="784027"/>
            <a:ext cx="307181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84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el-1782912276175-29"/>
          <p:cNvSpPr txBox="1"/>
          <p:nvPr/>
        </p:nvSpPr>
        <p:spPr>
          <a:xfrm>
            <a:off x="5150485" y="769620"/>
            <a:ext cx="2673350" cy="3860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ts val="1515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eBPF 适合承担</a:t>
            </a: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内核态行为观测</a:t>
            </a: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，最关键事件：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515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　</a:t>
            </a: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sz="92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　　</a:t>
            </a:r>
            <a:r>
              <a:rPr lang="en-US" altLang="" sz="92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+     </a:t>
            </a:r>
            <a:r>
              <a:rPr sz="8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　　</a:t>
            </a: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　　　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el-1782912276197-48"/>
          <p:cNvSpPr txBox="1"/>
          <p:nvPr/>
        </p:nvSpPr>
        <p:spPr>
          <a:xfrm>
            <a:off x="4811316" y="1255514"/>
            <a:ext cx="307181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84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el-1782912276177-30"/>
          <p:cNvSpPr txBox="1"/>
          <p:nvPr/>
        </p:nvSpPr>
        <p:spPr>
          <a:xfrm>
            <a:off x="5150485" y="1241425"/>
            <a:ext cx="3148330" cy="24574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一期聚焦 </a:t>
            </a: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页面切换</a:t>
            </a:r>
            <a:r>
              <a:rPr lang="en-US" altLang=""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/FEEDSCOROLL</a:t>
            </a: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场景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el-1782912276200-50"/>
          <p:cNvSpPr txBox="1"/>
          <p:nvPr/>
        </p:nvSpPr>
        <p:spPr>
          <a:xfrm>
            <a:off x="4811316" y="1555552"/>
            <a:ext cx="307181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84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el-1782912276178-31"/>
          <p:cNvSpPr txBox="1"/>
          <p:nvPr/>
        </p:nvSpPr>
        <p:spPr>
          <a:xfrm>
            <a:off x="5150644" y="1541264"/>
            <a:ext cx="2607290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 </a:t>
            </a: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Frame-Centric</a:t>
            </a: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而非 PID-Centric 视角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el-1782912276131-7"/>
          <p:cNvSpPr txBox="1"/>
          <p:nvPr/>
        </p:nvSpPr>
        <p:spPr>
          <a:xfrm>
            <a:off x="4857750" y="2077045"/>
            <a:ext cx="3771900" cy="5464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25"/>
              </a:lnSpc>
            </a:pP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💡 eBPF 承担内核态行为观测，</a:t>
            </a: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调度事件 + Binder + Futex + CPU 频率</a:t>
            </a: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是最关键信号；一期聚焦页面切换，采用 Frame-Centric 视角定位卡顿根因。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el-1782912276136-15"/>
          <p:cNvSpPr txBox="1"/>
          <p:nvPr/>
        </p:nvSpPr>
        <p:spPr>
          <a:xfrm>
            <a:off x="400050" y="4907042"/>
            <a:ext cx="53506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el-1782912276137-16"/>
          <p:cNvSpPr txBox="1"/>
          <p:nvPr/>
        </p:nvSpPr>
        <p:spPr>
          <a:xfrm>
            <a:off x="1056561" y="4907042"/>
            <a:ext cx="7911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el-1782912276137-17"/>
          <p:cNvSpPr txBox="1"/>
          <p:nvPr/>
        </p:nvSpPr>
        <p:spPr>
          <a:xfrm>
            <a:off x="1257121" y="4907042"/>
            <a:ext cx="44103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</a:t>
            </a:r>
            <a:r>
              <a:rPr lang="en-US" altLang="en-US"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altLang="en-US"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el-1782912276126-6"/>
          <p:cNvSpPr txBox="1"/>
          <p:nvPr/>
        </p:nvSpPr>
        <p:spPr>
          <a:xfrm>
            <a:off x="7460486" y="4907042"/>
            <a:ext cx="1333470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第一章 · 研究动机与问题定义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el-1782912276177-30"/>
          <p:cNvSpPr txBox="1"/>
          <p:nvPr/>
        </p:nvSpPr>
        <p:spPr>
          <a:xfrm>
            <a:off x="4787900" y="3364230"/>
            <a:ext cx="3957320" cy="4000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lang="en-US" altLang="zh-CN"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Perfetto </a:t>
            </a:r>
            <a:r>
              <a:rPr lang="zh-CN" altLang="en-US"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 </a:t>
            </a:r>
            <a:r>
              <a:rPr lang="en-US" altLang="zh-CN"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 </a:t>
            </a:r>
            <a:r>
              <a:rPr lang="zh-CN" altLang="en-US"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开发的 </a:t>
            </a:r>
            <a:r>
              <a:rPr lang="en-US" altLang="zh-CN"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Android/Linux </a:t>
            </a:r>
            <a:r>
              <a:rPr lang="zh-CN" altLang="en-US"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平台高性能用户态与内核态追踪工具栈，是 </a:t>
            </a:r>
            <a:r>
              <a:rPr lang="en-US" altLang="zh-CN"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Systrace </a:t>
            </a:r>
            <a:r>
              <a:rPr lang="zh-CN" altLang="en-US"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的继任者。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el-1782912276177-30"/>
          <p:cNvSpPr txBox="1"/>
          <p:nvPr/>
        </p:nvSpPr>
        <p:spPr>
          <a:xfrm>
            <a:off x="4787900" y="3940175"/>
            <a:ext cx="3928745" cy="4584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lang="zh-CN" altLang="en-US"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帧对齐是 </a:t>
            </a:r>
            <a:r>
              <a:rPr lang="en-US" altLang="zh-CN"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 </a:t>
            </a:r>
            <a:r>
              <a:rPr lang="zh-CN" altLang="en-US"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的核心技术，用于将 </a:t>
            </a:r>
            <a:r>
              <a:rPr lang="en-US" altLang="zh-CN"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eBPF </a:t>
            </a:r>
            <a:r>
              <a:rPr lang="zh-CN" altLang="en-US"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采集的内核调度事件 与 </a:t>
            </a:r>
            <a:r>
              <a:rPr lang="en-US" altLang="zh-CN"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Perfetto </a:t>
            </a:r>
            <a:r>
              <a:rPr lang="zh-CN" altLang="en-US"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采集的用户态帧信息 在时间上精确匹配，从而回答"哪些线程导致了哪一帧卡顿"。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el-1782912276178-32"/>
          <p:cNvSpPr txBox="1"/>
          <p:nvPr/>
        </p:nvSpPr>
        <p:spPr>
          <a:xfrm>
            <a:off x="4811395" y="3060065"/>
            <a:ext cx="1187450" cy="3041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lang="zh-CN" altLang=""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技术调研</a:t>
            </a:r>
            <a:endParaRPr lang="zh-CN" altLang=""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-1782912276107-3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</p:pic>
      <p:cxnSp>
        <p:nvCxnSpPr>
          <p:cNvPr id="3" name="el-1782912275862-1"/>
          <p:cNvCxnSpPr/>
          <p:nvPr/>
        </p:nvCxnSpPr>
        <p:spPr>
          <a:xfrm>
            <a:off x="575072" y="1143000"/>
            <a:ext cx="914" cy="2857500"/>
          </a:xfrm>
          <a:prstGeom prst="line">
            <a:avLst/>
          </a:prstGeom>
          <a:ln w="9525" cap="flat">
            <a:solidFill>
              <a:srgbClr val="D4A017">
                <a:alpha val="12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2912275870-4"/>
          <p:cNvSpPr/>
          <p:nvPr/>
        </p:nvSpPr>
        <p:spPr>
          <a:xfrm>
            <a:off x="8608219" y="857250"/>
            <a:ext cx="21431" cy="3429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4A017">
                  <a:alpha val="60000"/>
                </a:srgbClr>
              </a:gs>
              <a:gs pos="100000">
                <a:srgbClr val="D4A017">
                  <a:alpha val="5000"/>
                </a:srgbClr>
              </a:gs>
            </a:gsLst>
            <a:lin ang="540000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5" name="el-1782912275902-10"/>
          <p:cNvSpPr/>
          <p:nvPr/>
        </p:nvSpPr>
        <p:spPr>
          <a:xfrm>
            <a:off x="428625" y="3714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2912275911-11"/>
          <p:cNvSpPr/>
          <p:nvPr/>
        </p:nvSpPr>
        <p:spPr>
          <a:xfrm>
            <a:off x="542925" y="3714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2912275920-12"/>
          <p:cNvSpPr/>
          <p:nvPr/>
        </p:nvSpPr>
        <p:spPr>
          <a:xfrm>
            <a:off x="657225" y="3714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2912275925-13"/>
          <p:cNvSpPr/>
          <p:nvPr/>
        </p:nvSpPr>
        <p:spPr>
          <a:xfrm>
            <a:off x="771525" y="3714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2912275931-14"/>
          <p:cNvSpPr/>
          <p:nvPr/>
        </p:nvSpPr>
        <p:spPr>
          <a:xfrm>
            <a:off x="428625" y="4857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2912275939-15"/>
          <p:cNvSpPr/>
          <p:nvPr/>
        </p:nvSpPr>
        <p:spPr>
          <a:xfrm>
            <a:off x="542925" y="4857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2912275945-16"/>
          <p:cNvSpPr/>
          <p:nvPr/>
        </p:nvSpPr>
        <p:spPr>
          <a:xfrm>
            <a:off x="657225" y="4857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2912275950-17"/>
          <p:cNvSpPr/>
          <p:nvPr/>
        </p:nvSpPr>
        <p:spPr>
          <a:xfrm>
            <a:off x="771525" y="4857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2912275956-18"/>
          <p:cNvSpPr/>
          <p:nvPr/>
        </p:nvSpPr>
        <p:spPr>
          <a:xfrm>
            <a:off x="428625" y="6000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2912275970-19"/>
          <p:cNvSpPr/>
          <p:nvPr/>
        </p:nvSpPr>
        <p:spPr>
          <a:xfrm>
            <a:off x="542925" y="6000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2912275977-20"/>
          <p:cNvSpPr/>
          <p:nvPr/>
        </p:nvSpPr>
        <p:spPr>
          <a:xfrm>
            <a:off x="657225" y="6000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2912275985-21"/>
          <p:cNvSpPr/>
          <p:nvPr/>
        </p:nvSpPr>
        <p:spPr>
          <a:xfrm>
            <a:off x="771525" y="6000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2912276000-22"/>
          <p:cNvSpPr/>
          <p:nvPr/>
        </p:nvSpPr>
        <p:spPr>
          <a:xfrm>
            <a:off x="428625" y="7143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2912276006-23"/>
          <p:cNvSpPr/>
          <p:nvPr/>
        </p:nvSpPr>
        <p:spPr>
          <a:xfrm>
            <a:off x="542925" y="7143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2912276012-24"/>
          <p:cNvSpPr/>
          <p:nvPr/>
        </p:nvSpPr>
        <p:spPr>
          <a:xfrm>
            <a:off x="657225" y="7143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2912276015-25"/>
          <p:cNvSpPr/>
          <p:nvPr/>
        </p:nvSpPr>
        <p:spPr>
          <a:xfrm>
            <a:off x="771525" y="7143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el-1782912276018-26"/>
          <p:cNvSpPr/>
          <p:nvPr/>
        </p:nvSpPr>
        <p:spPr>
          <a:xfrm>
            <a:off x="428625" y="8286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2912276020-27"/>
          <p:cNvSpPr/>
          <p:nvPr/>
        </p:nvSpPr>
        <p:spPr>
          <a:xfrm>
            <a:off x="542925" y="8286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-1782912276022-28"/>
          <p:cNvSpPr/>
          <p:nvPr/>
        </p:nvSpPr>
        <p:spPr>
          <a:xfrm>
            <a:off x="657225" y="8286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2912276025-29"/>
          <p:cNvSpPr/>
          <p:nvPr/>
        </p:nvSpPr>
        <p:spPr>
          <a:xfrm>
            <a:off x="771525" y="8286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el-1782912276027-30"/>
          <p:cNvSpPr/>
          <p:nvPr/>
        </p:nvSpPr>
        <p:spPr>
          <a:xfrm>
            <a:off x="428625" y="9429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82912276031-31"/>
          <p:cNvSpPr/>
          <p:nvPr/>
        </p:nvSpPr>
        <p:spPr>
          <a:xfrm>
            <a:off x="542925" y="9429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el-1782912276033-32"/>
          <p:cNvSpPr/>
          <p:nvPr/>
        </p:nvSpPr>
        <p:spPr>
          <a:xfrm>
            <a:off x="657225" y="9429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-1782912276035-33"/>
          <p:cNvSpPr/>
          <p:nvPr/>
        </p:nvSpPr>
        <p:spPr>
          <a:xfrm>
            <a:off x="771525" y="9429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el-1782912275864-3"/>
          <p:cNvSpPr txBox="1"/>
          <p:nvPr/>
        </p:nvSpPr>
        <p:spPr>
          <a:xfrm>
            <a:off x="400050" y="1785938"/>
            <a:ext cx="2598539" cy="1571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70" b="1" spc="-495">
                <a:solidFill>
                  <a:srgbClr val="D4A017">
                    <a:alpha val="1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370" b="1" spc="-495">
              <a:solidFill>
                <a:srgbClr val="D4A017">
                  <a:alpha val="12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" name="el-1782912275883-8"/>
          <p:cNvCxnSpPr/>
          <p:nvPr/>
        </p:nvCxnSpPr>
        <p:spPr>
          <a:xfrm>
            <a:off x="871538" y="1107281"/>
            <a:ext cx="914" cy="180023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el-1782912275884-9"/>
          <p:cNvCxnSpPr/>
          <p:nvPr/>
        </p:nvCxnSpPr>
        <p:spPr>
          <a:xfrm>
            <a:off x="857250" y="2525316"/>
            <a:ext cx="4029075" cy="914"/>
          </a:xfrm>
          <a:prstGeom prst="line">
            <a:avLst/>
          </a:prstGeom>
          <a:ln w="7144" cap="flat">
            <a:solidFill>
              <a:srgbClr val="D4A017">
                <a:alpha val="25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l-1782912275880-6"/>
          <p:cNvSpPr txBox="1"/>
          <p:nvPr/>
        </p:nvSpPr>
        <p:spPr>
          <a:xfrm>
            <a:off x="1014413" y="1107281"/>
            <a:ext cx="1996500" cy="18002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spc="225">
                <a:solidFill>
                  <a:srgbClr val="D4A017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2 · 架构与采集</a:t>
            </a:r>
            <a:endParaRPr sz="1010" spc="225">
              <a:solidFill>
                <a:srgbClr val="D4A017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82912275879-5"/>
          <p:cNvSpPr txBox="1"/>
          <p:nvPr/>
        </p:nvSpPr>
        <p:spPr>
          <a:xfrm>
            <a:off x="857250" y="1430020"/>
            <a:ext cx="5613400" cy="8915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3505"/>
              </a:lnSpc>
            </a:pPr>
            <a:r>
              <a:rPr sz="2920" b="1" spc="-29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第二章 · </a:t>
            </a:r>
            <a:r>
              <a:rPr sz="2920" b="1" spc="-29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系统架构与数据采集</a:t>
            </a:r>
            <a:endParaRPr sz="2920" b="1" spc="-29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2912275881-7"/>
          <p:cNvSpPr txBox="1"/>
          <p:nvPr/>
        </p:nvSpPr>
        <p:spPr>
          <a:xfrm>
            <a:off x="857250" y="2700338"/>
            <a:ext cx="4029075" cy="1335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90"/>
              </a:lnSpc>
            </a:pPr>
            <a:r>
              <a:rPr sz="123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 采用五层系统架构设计，从硬件底层到分析层层层递进。本章详解 eBPF 13 探针的选型推导逻辑与 Perfetto 帧标定技术的双通道同步采集管线，阐述各层职责划分与技术实现细节，以及编译工具链的完整部署流程。</a:t>
            </a:r>
            <a:endParaRPr sz="123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82912275864-2"/>
          <p:cNvSpPr txBox="1"/>
          <p:nvPr/>
        </p:nvSpPr>
        <p:spPr>
          <a:xfrm>
            <a:off x="7731323" y="4777740"/>
            <a:ext cx="106263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56">
                <a:solidFill>
                  <a:srgbClr val="FFFFFF">
                    <a:alpha val="2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 </a:t>
            </a:r>
            <a:r>
              <a:rPr sz="780" spc="56">
                <a:solidFill>
                  <a:srgbClr val="D4A017">
                    <a:alpha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r>
              <a:rPr sz="780" spc="56">
                <a:solidFill>
                  <a:srgbClr val="FFFFFF">
                    <a:alpha val="2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2026.0</a:t>
            </a:r>
            <a:r>
              <a:rPr lang="en-US" altLang="en-US" sz="780" spc="56">
                <a:solidFill>
                  <a:srgbClr val="FFFFFF">
                    <a:alpha val="2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altLang="en-US" sz="780" spc="56">
              <a:solidFill>
                <a:srgbClr val="FFFFFF">
                  <a:alpha val="2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2912279774-1"/>
          <p:cNvSpPr/>
          <p:nvPr/>
        </p:nvSpPr>
        <p:spPr>
          <a:xfrm>
            <a:off x="0" y="0"/>
            <a:ext cx="9144000" cy="1557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2912279859-20"/>
          <p:cNvSpPr/>
          <p:nvPr/>
        </p:nvSpPr>
        <p:spPr>
          <a:xfrm>
            <a:off x="400050" y="812959"/>
            <a:ext cx="5027682" cy="433054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420" y="0"/>
                </a:moveTo>
                <a:lnTo>
                  <a:pt x="98580" y="0"/>
                </a:lnTo>
                <a:lnTo>
                  <a:pt x="98720" y="9"/>
                </a:lnTo>
                <a:lnTo>
                  <a:pt x="98856" y="31"/>
                </a:lnTo>
                <a:lnTo>
                  <a:pt x="98992" y="70"/>
                </a:lnTo>
                <a:lnTo>
                  <a:pt x="99123" y="125"/>
                </a:lnTo>
                <a:lnTo>
                  <a:pt x="99250" y="196"/>
                </a:lnTo>
                <a:lnTo>
                  <a:pt x="99369" y="277"/>
                </a:lnTo>
                <a:lnTo>
                  <a:pt x="99481" y="374"/>
                </a:lnTo>
                <a:lnTo>
                  <a:pt x="99583" y="484"/>
                </a:lnTo>
                <a:lnTo>
                  <a:pt x="99678" y="602"/>
                </a:lnTo>
                <a:lnTo>
                  <a:pt x="99761" y="732"/>
                </a:lnTo>
                <a:lnTo>
                  <a:pt x="99831" y="870"/>
                </a:lnTo>
                <a:lnTo>
                  <a:pt x="99892" y="1018"/>
                </a:lnTo>
                <a:lnTo>
                  <a:pt x="99939" y="1169"/>
                </a:lnTo>
                <a:lnTo>
                  <a:pt x="99973" y="1327"/>
                </a:lnTo>
                <a:lnTo>
                  <a:pt x="99992" y="1486"/>
                </a:lnTo>
                <a:lnTo>
                  <a:pt x="100000" y="1648"/>
                </a:lnTo>
                <a:lnTo>
                  <a:pt x="100000" y="99985"/>
                </a:lnTo>
                <a:lnTo>
                  <a:pt x="0" y="99985"/>
                </a:lnTo>
                <a:lnTo>
                  <a:pt x="0" y="1648"/>
                </a:lnTo>
                <a:lnTo>
                  <a:pt x="8" y="1486"/>
                </a:lnTo>
                <a:lnTo>
                  <a:pt x="27" y="1327"/>
                </a:lnTo>
                <a:lnTo>
                  <a:pt x="61" y="1169"/>
                </a:lnTo>
                <a:lnTo>
                  <a:pt x="108" y="1018"/>
                </a:lnTo>
                <a:lnTo>
                  <a:pt x="169" y="870"/>
                </a:lnTo>
                <a:lnTo>
                  <a:pt x="239" y="732"/>
                </a:lnTo>
                <a:lnTo>
                  <a:pt x="322" y="602"/>
                </a:lnTo>
                <a:lnTo>
                  <a:pt x="417" y="484"/>
                </a:lnTo>
                <a:lnTo>
                  <a:pt x="519" y="374"/>
                </a:lnTo>
                <a:lnTo>
                  <a:pt x="631" y="277"/>
                </a:lnTo>
                <a:lnTo>
                  <a:pt x="750" y="196"/>
                </a:lnTo>
                <a:lnTo>
                  <a:pt x="877" y="125"/>
                </a:lnTo>
                <a:lnTo>
                  <a:pt x="1008" y="70"/>
                </a:lnTo>
                <a:lnTo>
                  <a:pt x="1144" y="31"/>
                </a:lnTo>
                <a:lnTo>
                  <a:pt x="1280" y="9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2912279873-24"/>
          <p:cNvCxnSpPr/>
          <p:nvPr/>
        </p:nvCxnSpPr>
        <p:spPr>
          <a:xfrm>
            <a:off x="407194" y="1492329"/>
            <a:ext cx="5013395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2912279891-34"/>
          <p:cNvSpPr/>
          <p:nvPr/>
        </p:nvSpPr>
        <p:spPr>
          <a:xfrm>
            <a:off x="4734788" y="948690"/>
            <a:ext cx="542925" cy="148590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8" name="el-1782912279874-25"/>
          <p:cNvCxnSpPr/>
          <p:nvPr/>
        </p:nvCxnSpPr>
        <p:spPr>
          <a:xfrm>
            <a:off x="407194" y="2485311"/>
            <a:ext cx="5013395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2912279895-39"/>
          <p:cNvSpPr/>
          <p:nvPr/>
        </p:nvSpPr>
        <p:spPr>
          <a:xfrm>
            <a:off x="4889093" y="1610201"/>
            <a:ext cx="388620" cy="148590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0" name="el-1782912279874-26"/>
          <p:cNvCxnSpPr/>
          <p:nvPr/>
        </p:nvCxnSpPr>
        <p:spPr>
          <a:xfrm>
            <a:off x="407194" y="3312557"/>
            <a:ext cx="5013395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2912279899-44"/>
          <p:cNvSpPr/>
          <p:nvPr/>
        </p:nvSpPr>
        <p:spPr>
          <a:xfrm>
            <a:off x="4750683" y="2603182"/>
            <a:ext cx="527030" cy="148590"/>
          </a:xfrm>
          <a:prstGeom prst="roundRect">
            <a:avLst>
              <a:gd name="adj" fmla="val 50000"/>
            </a:avLst>
          </a:prstGeom>
          <a:solidFill>
            <a:srgbClr val="3A5A7A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2" name="el-1782912279875-27"/>
          <p:cNvCxnSpPr/>
          <p:nvPr/>
        </p:nvCxnSpPr>
        <p:spPr>
          <a:xfrm>
            <a:off x="407194" y="4305538"/>
            <a:ext cx="5013395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2912279904-49"/>
          <p:cNvSpPr/>
          <p:nvPr/>
        </p:nvSpPr>
        <p:spPr>
          <a:xfrm>
            <a:off x="4735324" y="3430429"/>
            <a:ext cx="542389" cy="148590"/>
          </a:xfrm>
          <a:prstGeom prst="roundRect">
            <a:avLst>
              <a:gd name="adj" fmla="val 50000"/>
            </a:avLst>
          </a:prstGeom>
          <a:solidFill>
            <a:srgbClr val="4A6A8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2912279908-54"/>
          <p:cNvSpPr/>
          <p:nvPr/>
        </p:nvSpPr>
        <p:spPr>
          <a:xfrm>
            <a:off x="4408230" y="4423410"/>
            <a:ext cx="869484" cy="14859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2912279847-16"/>
          <p:cNvCxnSpPr/>
          <p:nvPr/>
        </p:nvCxnSpPr>
        <p:spPr>
          <a:xfrm>
            <a:off x="5699195" y="1035844"/>
            <a:ext cx="914" cy="188595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2912279866-21"/>
          <p:cNvSpPr/>
          <p:nvPr/>
        </p:nvSpPr>
        <p:spPr>
          <a:xfrm>
            <a:off x="5684907" y="1338739"/>
            <a:ext cx="3059043" cy="831533"/>
          </a:xfrm>
          <a:prstGeom prst="roundRect">
            <a:avLst>
              <a:gd name="adj" fmla="val 9164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el-1782912279926-60"/>
          <p:cNvSpPr/>
          <p:nvPr/>
        </p:nvSpPr>
        <p:spPr>
          <a:xfrm>
            <a:off x="5820638" y="1454468"/>
            <a:ext cx="171450" cy="17145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2912279870-22"/>
          <p:cNvSpPr/>
          <p:nvPr/>
        </p:nvSpPr>
        <p:spPr>
          <a:xfrm>
            <a:off x="5684907" y="2255996"/>
            <a:ext cx="3059043" cy="831533"/>
          </a:xfrm>
          <a:prstGeom prst="roundRect">
            <a:avLst>
              <a:gd name="adj" fmla="val 9164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el-1782912279928-62"/>
          <p:cNvSpPr/>
          <p:nvPr/>
        </p:nvSpPr>
        <p:spPr>
          <a:xfrm>
            <a:off x="5820638" y="2371725"/>
            <a:ext cx="171450" cy="17145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2912279872-23"/>
          <p:cNvSpPr/>
          <p:nvPr/>
        </p:nvSpPr>
        <p:spPr>
          <a:xfrm>
            <a:off x="5684907" y="3173254"/>
            <a:ext cx="3059043" cy="831533"/>
          </a:xfrm>
          <a:prstGeom prst="roundRect">
            <a:avLst>
              <a:gd name="adj" fmla="val 9164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21" name="el-1782912279931-64"/>
          <p:cNvSpPr/>
          <p:nvPr/>
        </p:nvSpPr>
        <p:spPr>
          <a:xfrm>
            <a:off x="5820638" y="3288982"/>
            <a:ext cx="171450" cy="17145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2912279831-7"/>
          <p:cNvSpPr/>
          <p:nvPr/>
        </p:nvSpPr>
        <p:spPr>
          <a:xfrm>
            <a:off x="5684907" y="4133374"/>
            <a:ext cx="3059043" cy="51149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8598" y="0"/>
                </a:lnTo>
                <a:lnTo>
                  <a:pt x="98735" y="37"/>
                </a:lnTo>
                <a:lnTo>
                  <a:pt x="98872" y="167"/>
                </a:lnTo>
                <a:lnTo>
                  <a:pt x="99006" y="352"/>
                </a:lnTo>
                <a:lnTo>
                  <a:pt x="99134" y="630"/>
                </a:lnTo>
                <a:lnTo>
                  <a:pt x="99259" y="981"/>
                </a:lnTo>
                <a:lnTo>
                  <a:pt x="99377" y="1407"/>
                </a:lnTo>
                <a:lnTo>
                  <a:pt x="99486" y="1889"/>
                </a:lnTo>
                <a:lnTo>
                  <a:pt x="99589" y="2444"/>
                </a:lnTo>
                <a:lnTo>
                  <a:pt x="99682" y="3056"/>
                </a:lnTo>
                <a:lnTo>
                  <a:pt x="99763" y="3704"/>
                </a:lnTo>
                <a:lnTo>
                  <a:pt x="99835" y="4407"/>
                </a:lnTo>
                <a:lnTo>
                  <a:pt x="99894" y="5148"/>
                </a:lnTo>
                <a:lnTo>
                  <a:pt x="99941" y="5907"/>
                </a:lnTo>
                <a:lnTo>
                  <a:pt x="99972" y="6704"/>
                </a:lnTo>
                <a:lnTo>
                  <a:pt x="99994" y="7519"/>
                </a:lnTo>
                <a:lnTo>
                  <a:pt x="100000" y="8333"/>
                </a:lnTo>
                <a:lnTo>
                  <a:pt x="100000" y="91667"/>
                </a:lnTo>
                <a:lnTo>
                  <a:pt x="99994" y="92481"/>
                </a:lnTo>
                <a:lnTo>
                  <a:pt x="99972" y="93296"/>
                </a:lnTo>
                <a:lnTo>
                  <a:pt x="99941" y="94093"/>
                </a:lnTo>
                <a:lnTo>
                  <a:pt x="99894" y="94852"/>
                </a:lnTo>
                <a:lnTo>
                  <a:pt x="99835" y="95593"/>
                </a:lnTo>
                <a:lnTo>
                  <a:pt x="99763" y="96296"/>
                </a:lnTo>
                <a:lnTo>
                  <a:pt x="99682" y="96944"/>
                </a:lnTo>
                <a:lnTo>
                  <a:pt x="99589" y="97556"/>
                </a:lnTo>
                <a:lnTo>
                  <a:pt x="99486" y="98111"/>
                </a:lnTo>
                <a:lnTo>
                  <a:pt x="99377" y="98593"/>
                </a:lnTo>
                <a:lnTo>
                  <a:pt x="99259" y="99019"/>
                </a:lnTo>
                <a:lnTo>
                  <a:pt x="99134" y="99370"/>
                </a:lnTo>
                <a:lnTo>
                  <a:pt x="99006" y="99648"/>
                </a:lnTo>
                <a:lnTo>
                  <a:pt x="98872" y="99833"/>
                </a:lnTo>
                <a:lnTo>
                  <a:pt x="98735" y="99963"/>
                </a:lnTo>
                <a:lnTo>
                  <a:pt x="98598" y="100000"/>
                </a:lnTo>
                <a:lnTo>
                  <a:pt x="0" y="100000"/>
                </a:lnTo>
                <a:lnTo>
                  <a:pt x="0" y="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-1782912279837-11"/>
          <p:cNvSpPr/>
          <p:nvPr/>
        </p:nvSpPr>
        <p:spPr>
          <a:xfrm>
            <a:off x="5684907" y="4133374"/>
            <a:ext cx="3059043" cy="51149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0" y="0"/>
                </a:lnTo>
              </a:path>
            </a:pathLst>
          </a:custGeom>
          <a:noFill/>
          <a:ln w="28575" algn="in">
            <a:solidFill>
              <a:srgbClr val="2D4059"/>
            </a:solidFill>
            <a:prstDash val="solid"/>
          </a:ln>
        </p:spPr>
        <p:txBody>
          <a:bodyPr/>
          <a:lstStyle/>
          <a:p/>
        </p:txBody>
      </p:sp>
      <p:sp>
        <p:nvSpPr>
          <p:cNvPr id="25" name="el-1782912279800-4"/>
          <p:cNvSpPr txBox="1"/>
          <p:nvPr/>
        </p:nvSpPr>
        <p:spPr>
          <a:xfrm>
            <a:off x="400050" y="51435"/>
            <a:ext cx="51488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r>
              <a:rPr sz="6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9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37</a:t>
            </a:r>
            <a:endParaRPr sz="900" b="1" spc="28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2912279841-12"/>
          <p:cNvSpPr txBox="1"/>
          <p:nvPr/>
        </p:nvSpPr>
        <p:spPr>
          <a:xfrm>
            <a:off x="1056640" y="0"/>
            <a:ext cx="1882140" cy="2622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第二章 · 系统架构与数据采集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2912279842-13"/>
          <p:cNvSpPr txBox="1"/>
          <p:nvPr/>
        </p:nvSpPr>
        <p:spPr>
          <a:xfrm>
            <a:off x="2783840" y="51435"/>
            <a:ext cx="15494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D0D0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900">
              <a:solidFill>
                <a:srgbClr val="D0D0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2912279842-14"/>
          <p:cNvSpPr txBox="1"/>
          <p:nvPr/>
        </p:nvSpPr>
        <p:spPr>
          <a:xfrm>
            <a:off x="2938721" y="74295"/>
            <a:ext cx="97155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五层系统架构总览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2912279832-9"/>
          <p:cNvSpPr txBox="1"/>
          <p:nvPr/>
        </p:nvSpPr>
        <p:spPr>
          <a:xfrm>
            <a:off x="400050" y="407035"/>
            <a:ext cx="2238375" cy="2628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-1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五层架构 · 端到端管线</a:t>
            </a:r>
            <a:endParaRPr sz="1570" b="1" spc="-1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2912279886-30"/>
          <p:cNvSpPr txBox="1"/>
          <p:nvPr/>
        </p:nvSpPr>
        <p:spPr>
          <a:xfrm>
            <a:off x="478631" y="948690"/>
            <a:ext cx="300038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2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12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82912279887-31"/>
          <p:cNvSpPr txBox="1"/>
          <p:nvPr/>
        </p:nvSpPr>
        <p:spPr>
          <a:xfrm>
            <a:off x="878681" y="948690"/>
            <a:ext cx="928688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硬件层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82912279888-32"/>
          <p:cNvSpPr txBox="1"/>
          <p:nvPr/>
        </p:nvSpPr>
        <p:spPr>
          <a:xfrm>
            <a:off x="1319530" y="934720"/>
            <a:ext cx="3315335" cy="4972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05"/>
              </a:lnSpc>
            </a:pPr>
            <a:r>
              <a:rPr sz="9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Pixel 6a (Tensor SoC) · Android 14 (GKI </a:t>
            </a:r>
            <a:r>
              <a:rPr lang="en-US" altLang="en-US" sz="9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sz="9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.10) · Magisk root 提权 · ARM64 架构 · 提供 8 核 big.LITTLE 调度拓扑与 Mali-G</a:t>
            </a:r>
            <a:r>
              <a:rPr lang="en-US" altLang="" sz="9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sz="9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GPU</a:t>
            </a:r>
            <a:endParaRPr sz="90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2912279888-33"/>
          <p:cNvSpPr txBox="1"/>
          <p:nvPr/>
        </p:nvSpPr>
        <p:spPr>
          <a:xfrm>
            <a:off x="4820513" y="962978"/>
            <a:ext cx="503634" cy="12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目标设备</a:t>
            </a:r>
            <a:endParaRPr sz="73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82912279892-35"/>
          <p:cNvSpPr txBox="1"/>
          <p:nvPr/>
        </p:nvSpPr>
        <p:spPr>
          <a:xfrm>
            <a:off x="478631" y="1610201"/>
            <a:ext cx="300038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2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12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82912279892-36"/>
          <p:cNvSpPr txBox="1"/>
          <p:nvPr/>
        </p:nvSpPr>
        <p:spPr>
          <a:xfrm>
            <a:off x="878681" y="1610201"/>
            <a:ext cx="928688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内核采集层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l-1782912279892-37"/>
          <p:cNvSpPr txBox="1"/>
          <p:nvPr/>
        </p:nvSpPr>
        <p:spPr>
          <a:xfrm>
            <a:off x="1634490" y="1595755"/>
            <a:ext cx="3154680" cy="8286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05"/>
              </a:lnSpc>
            </a:pPr>
            <a:r>
              <a:rPr sz="9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探针覆sched_switch/binder/futex/cpu_freq/thermal/irq/mem 七大类事件 · 采用 tracepoint/kprobe/tp_btf 三种挂载方式 · 经 ringbuf 零拷贝输出为 3 个标准化 CSV · 30s 采集产生 450~690MB 原始事件数据</a:t>
            </a:r>
            <a:endParaRPr sz="90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el-1782912279893-38"/>
          <p:cNvSpPr txBox="1"/>
          <p:nvPr/>
        </p:nvSpPr>
        <p:spPr>
          <a:xfrm>
            <a:off x="4974818" y="1624489"/>
            <a:ext cx="349329" cy="12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eBPF</a:t>
            </a:r>
            <a:endParaRPr sz="73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el-1782912279895-40"/>
          <p:cNvSpPr txBox="1"/>
          <p:nvPr/>
        </p:nvSpPr>
        <p:spPr>
          <a:xfrm>
            <a:off x="478631" y="2603182"/>
            <a:ext cx="300038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2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12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l-1782912279896-41"/>
          <p:cNvSpPr txBox="1"/>
          <p:nvPr/>
        </p:nvSpPr>
        <p:spPr>
          <a:xfrm>
            <a:off x="878681" y="2603182"/>
            <a:ext cx="928688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帧标定层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el-1782912279896-42"/>
          <p:cNvSpPr txBox="1"/>
          <p:nvPr/>
        </p:nvSpPr>
        <p:spPr>
          <a:xfrm>
            <a:off x="1496060" y="2588895"/>
            <a:ext cx="3075940" cy="662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05"/>
              </a:lnSpc>
            </a:pPr>
            <a:r>
              <a:rPr sz="9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 Perfetto trace_processor_shell 执行 SQL 查询，从 FrameTimeline 数据集中解析帧边界 · 标定 4 种帧类型：SF(开始帧)/VD(可见帧)/VF(结束帧)/AP(应用帧) · 输出 frames.txt 包含帧时间戳、类型和 jank 状态标签</a:t>
            </a:r>
            <a:endParaRPr sz="90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el-1782912279897-43"/>
          <p:cNvSpPr txBox="1"/>
          <p:nvPr/>
        </p:nvSpPr>
        <p:spPr>
          <a:xfrm>
            <a:off x="4836408" y="2617470"/>
            <a:ext cx="487740" cy="12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Perfetto</a:t>
            </a:r>
            <a:endParaRPr sz="73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el-1782912279899-45"/>
          <p:cNvSpPr txBox="1"/>
          <p:nvPr/>
        </p:nvSpPr>
        <p:spPr>
          <a:xfrm>
            <a:off x="478631" y="3430429"/>
            <a:ext cx="300038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2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12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l-1782912279900-46"/>
          <p:cNvSpPr txBox="1"/>
          <p:nvPr/>
        </p:nvSpPr>
        <p:spPr>
          <a:xfrm>
            <a:off x="878681" y="3430429"/>
            <a:ext cx="928688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用户态加载层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el-1782912279900-47"/>
          <p:cNvSpPr txBox="1"/>
          <p:nvPr/>
        </p:nvSpPr>
        <p:spPr>
          <a:xfrm>
            <a:off x="1835944" y="3416141"/>
            <a:ext cx="2799368" cy="8286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05"/>
              </a:lnSpc>
            </a:pPr>
            <a:r>
              <a:rPr sz="9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 bpf() syscall 将 eBPF 对象加载到内核 · 用户态轮询 ringbuf 读取事件流 · 进行 UID/PID/线程名身份解析与进程上下文关联 · 按帧时间窗口聚合事件并构建线程依赖关系图 · 最后执行 Hint Engine 多级决策输出 Jank 分类结果</a:t>
            </a:r>
            <a:endParaRPr sz="90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el-1782912279901-48"/>
          <p:cNvSpPr txBox="1"/>
          <p:nvPr/>
        </p:nvSpPr>
        <p:spPr>
          <a:xfrm>
            <a:off x="4821049" y="3444716"/>
            <a:ext cx="503099" cy="12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loader</a:t>
            </a:r>
            <a:endParaRPr sz="73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el-1782912279904-50"/>
          <p:cNvSpPr txBox="1"/>
          <p:nvPr/>
        </p:nvSpPr>
        <p:spPr>
          <a:xfrm>
            <a:off x="478631" y="4423410"/>
            <a:ext cx="300038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2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12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el-1782912279904-51"/>
          <p:cNvSpPr txBox="1"/>
          <p:nvPr/>
        </p:nvSpPr>
        <p:spPr>
          <a:xfrm>
            <a:off x="878681" y="4423410"/>
            <a:ext cx="928688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分析层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el-1782912279905-52"/>
          <p:cNvSpPr txBox="1"/>
          <p:nvPr/>
        </p:nvSpPr>
        <p:spPr>
          <a:xfrm>
            <a:off x="1346200" y="4290060"/>
            <a:ext cx="3058795" cy="8540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05"/>
              </a:lnSpc>
            </a:pPr>
            <a:r>
              <a:rPr sz="900" dirty="0" err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analyze_delays</a:t>
            </a:r>
            <a:r>
              <a:rPr sz="90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dirty="0" err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模块计算线程级调度延迟与</a:t>
            </a:r>
            <a:r>
              <a:rPr sz="90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Binder/</a:t>
            </a:r>
            <a:r>
              <a:rPr sz="900" dirty="0" err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Futex</a:t>
            </a:r>
            <a:r>
              <a:rPr sz="90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dirty="0" err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等待时间</a:t>
            </a:r>
            <a:r>
              <a:rPr sz="90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sz="900" dirty="0" err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critical_path</a:t>
            </a:r>
            <a:r>
              <a:rPr sz="90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dirty="0" err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识别帧关键路径上的瓶颈节点</a:t>
            </a:r>
            <a:r>
              <a:rPr sz="90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sz="900" dirty="0" err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root_cause</a:t>
            </a:r>
            <a:r>
              <a:rPr sz="90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dirty="0" err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进行多因子根因推断与归因排序</a:t>
            </a:r>
            <a:r>
              <a:rPr sz="90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sz="900" dirty="0" err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jank_classifier</a:t>
            </a:r>
            <a:r>
              <a:rPr sz="90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dirty="0" err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</a:t>
            </a:r>
            <a:r>
              <a:rPr sz="90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dirty="0" err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CriticalScore</a:t>
            </a:r>
            <a:r>
              <a:rPr sz="90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sz="900" dirty="0" err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依赖图特征训练分类模型</a:t>
            </a:r>
            <a:r>
              <a:rPr sz="90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sz="900" dirty="0" err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最终输出完整的分析报告</a:t>
            </a:r>
            <a:endParaRPr dirty="0"/>
          </a:p>
        </p:txBody>
      </p:sp>
      <p:sp>
        <p:nvSpPr>
          <p:cNvPr id="50" name="el-1782912279906-53"/>
          <p:cNvSpPr txBox="1"/>
          <p:nvPr/>
        </p:nvSpPr>
        <p:spPr>
          <a:xfrm>
            <a:off x="4493955" y="4437698"/>
            <a:ext cx="830193" cy="12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Python+sklearn</a:t>
            </a:r>
            <a:endParaRPr sz="73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el-1782912279836-10"/>
          <p:cNvSpPr txBox="1"/>
          <p:nvPr/>
        </p:nvSpPr>
        <p:spPr>
          <a:xfrm>
            <a:off x="5813495" y="1035844"/>
            <a:ext cx="3009037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关键设计决策</a:t>
            </a:r>
            <a:endParaRPr sz="123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el-1782912279923-59"/>
          <p:cNvSpPr txBox="1"/>
          <p:nvPr/>
        </p:nvSpPr>
        <p:spPr>
          <a:xfrm>
            <a:off x="5770632" y="1454468"/>
            <a:ext cx="271463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endParaRPr sz="78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el-1782912279921-56"/>
          <p:cNvSpPr txBox="1"/>
          <p:nvPr/>
        </p:nvSpPr>
        <p:spPr>
          <a:xfrm>
            <a:off x="6049238" y="1445895"/>
            <a:ext cx="1071563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双通道同步采集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el-1782912279884-28"/>
          <p:cNvSpPr txBox="1"/>
          <p:nvPr/>
        </p:nvSpPr>
        <p:spPr>
          <a:xfrm>
            <a:off x="5820638" y="1677353"/>
            <a:ext cx="2787581" cy="3857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15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Perfetto</a:t>
            </a: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标定帧边界 · </a:t>
            </a: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eBPF</a:t>
            </a: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采集内核事件 · 两者通过 </a:t>
            </a: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BootTime</a:t>
            </a: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时间戳对齐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el-1782912279926-61"/>
          <p:cNvSpPr txBox="1"/>
          <p:nvPr/>
        </p:nvSpPr>
        <p:spPr>
          <a:xfrm>
            <a:off x="5770632" y="2371725"/>
            <a:ext cx="271463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endParaRPr sz="78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el-1782912279921-57"/>
          <p:cNvSpPr txBox="1"/>
          <p:nvPr/>
        </p:nvSpPr>
        <p:spPr>
          <a:xfrm>
            <a:off x="6049238" y="2363153"/>
            <a:ext cx="642938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离线分析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el-1782912279909-55"/>
          <p:cNvSpPr txBox="1"/>
          <p:nvPr/>
        </p:nvSpPr>
        <p:spPr>
          <a:xfrm>
            <a:off x="5820638" y="2594610"/>
            <a:ext cx="2787581" cy="3857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15"/>
              </a:lnSpc>
            </a:pP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采集与分析分离：设备端仅写入 CSV，所有重计算在宿主机完成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el-1782912279928-63"/>
          <p:cNvSpPr txBox="1"/>
          <p:nvPr/>
        </p:nvSpPr>
        <p:spPr>
          <a:xfrm>
            <a:off x="5770632" y="3288982"/>
            <a:ext cx="271463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endParaRPr sz="78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el-1782912279922-58"/>
          <p:cNvSpPr txBox="1"/>
          <p:nvPr/>
        </p:nvSpPr>
        <p:spPr>
          <a:xfrm>
            <a:off x="6049238" y="3280410"/>
            <a:ext cx="1214438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两条独立验证路径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el-1782912279886-29"/>
          <p:cNvSpPr txBox="1"/>
          <p:nvPr/>
        </p:nvSpPr>
        <p:spPr>
          <a:xfrm>
            <a:off x="5820638" y="3511868"/>
            <a:ext cx="2787581" cy="3857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15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CriticalScore</a:t>
            </a: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排名 + </a:t>
            </a: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根因归因</a:t>
            </a: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并行计算、互相校验 · 架构解耦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el-1782912279824-6"/>
          <p:cNvSpPr txBox="1"/>
          <p:nvPr/>
        </p:nvSpPr>
        <p:spPr>
          <a:xfrm>
            <a:off x="5827782" y="4219099"/>
            <a:ext cx="2801868" cy="3400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30"/>
              </a:lnSpc>
            </a:pPr>
            <a:r>
              <a:rPr sz="95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⚡ 设计哲学</a:t>
            </a:r>
            <a:r>
              <a:rPr sz="95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离线分析保证设备端零负担 · 双通道对齐确保帧级精度 · 独立路径提升系统鲁棒性</a:t>
            </a:r>
            <a:endParaRPr sz="95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el-1782912279848-17"/>
          <p:cNvSpPr txBox="1"/>
          <p:nvPr/>
        </p:nvSpPr>
        <p:spPr>
          <a:xfrm>
            <a:off x="5796280" y="4947920"/>
            <a:ext cx="53506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el-1782912279848-18"/>
          <p:cNvSpPr txBox="1"/>
          <p:nvPr/>
        </p:nvSpPr>
        <p:spPr>
          <a:xfrm>
            <a:off x="6300391" y="4947920"/>
            <a:ext cx="7911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el-1782912279849-19"/>
          <p:cNvSpPr txBox="1"/>
          <p:nvPr/>
        </p:nvSpPr>
        <p:spPr>
          <a:xfrm>
            <a:off x="6372046" y="4947920"/>
            <a:ext cx="44103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</a:t>
            </a:r>
            <a:r>
              <a:rPr lang="en-US" altLang=""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altLang=""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el-1782912279802-5"/>
          <p:cNvSpPr txBox="1"/>
          <p:nvPr/>
        </p:nvSpPr>
        <p:spPr>
          <a:xfrm>
            <a:off x="7533640" y="4945380"/>
            <a:ext cx="1468120" cy="139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第二章 · 系统架构与数据采集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2912279954-1"/>
          <p:cNvSpPr/>
          <p:nvPr/>
        </p:nvSpPr>
        <p:spPr>
          <a:xfrm>
            <a:off x="237490" y="0"/>
            <a:ext cx="8906510" cy="1555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2912279956-3"/>
          <p:cNvCxnSpPr/>
          <p:nvPr/>
        </p:nvCxnSpPr>
        <p:spPr>
          <a:xfrm>
            <a:off x="0" y="152162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2912279965-7"/>
          <p:cNvSpPr/>
          <p:nvPr/>
        </p:nvSpPr>
        <p:spPr>
          <a:xfrm>
            <a:off x="107315" y="195580"/>
            <a:ext cx="8742045" cy="43434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654" y="0"/>
                </a:moveTo>
                <a:lnTo>
                  <a:pt x="99993" y="0"/>
                </a:lnTo>
                <a:lnTo>
                  <a:pt x="99993" y="100000"/>
                </a:lnTo>
                <a:lnTo>
                  <a:pt x="654" y="100000"/>
                </a:lnTo>
                <a:lnTo>
                  <a:pt x="589" y="99935"/>
                </a:lnTo>
                <a:lnTo>
                  <a:pt x="526" y="99739"/>
                </a:lnTo>
                <a:lnTo>
                  <a:pt x="464" y="99435"/>
                </a:lnTo>
                <a:lnTo>
                  <a:pt x="403" y="99000"/>
                </a:lnTo>
                <a:lnTo>
                  <a:pt x="345" y="98457"/>
                </a:lnTo>
                <a:lnTo>
                  <a:pt x="291" y="97804"/>
                </a:lnTo>
                <a:lnTo>
                  <a:pt x="239" y="97043"/>
                </a:lnTo>
                <a:lnTo>
                  <a:pt x="192" y="96174"/>
                </a:lnTo>
                <a:lnTo>
                  <a:pt x="148" y="95239"/>
                </a:lnTo>
                <a:lnTo>
                  <a:pt x="110" y="94196"/>
                </a:lnTo>
                <a:lnTo>
                  <a:pt x="77" y="93109"/>
                </a:lnTo>
                <a:lnTo>
                  <a:pt x="50" y="91957"/>
                </a:lnTo>
                <a:lnTo>
                  <a:pt x="28" y="90739"/>
                </a:lnTo>
                <a:lnTo>
                  <a:pt x="13" y="89500"/>
                </a:lnTo>
                <a:lnTo>
                  <a:pt x="3" y="88239"/>
                </a:lnTo>
                <a:lnTo>
                  <a:pt x="0" y="86957"/>
                </a:lnTo>
                <a:lnTo>
                  <a:pt x="0" y="13043"/>
                </a:lnTo>
                <a:lnTo>
                  <a:pt x="3" y="11761"/>
                </a:lnTo>
                <a:lnTo>
                  <a:pt x="13" y="10500"/>
                </a:lnTo>
                <a:lnTo>
                  <a:pt x="28" y="9261"/>
                </a:lnTo>
                <a:lnTo>
                  <a:pt x="50" y="8043"/>
                </a:lnTo>
                <a:lnTo>
                  <a:pt x="77" y="6891"/>
                </a:lnTo>
                <a:lnTo>
                  <a:pt x="110" y="5804"/>
                </a:lnTo>
                <a:lnTo>
                  <a:pt x="148" y="4761"/>
                </a:lnTo>
                <a:lnTo>
                  <a:pt x="192" y="3826"/>
                </a:lnTo>
                <a:lnTo>
                  <a:pt x="239" y="2957"/>
                </a:lnTo>
                <a:lnTo>
                  <a:pt x="291" y="2196"/>
                </a:lnTo>
                <a:lnTo>
                  <a:pt x="345" y="1543"/>
                </a:lnTo>
                <a:lnTo>
                  <a:pt x="403" y="1000"/>
                </a:lnTo>
                <a:lnTo>
                  <a:pt x="464" y="565"/>
                </a:lnTo>
                <a:lnTo>
                  <a:pt x="526" y="261"/>
                </a:lnTo>
                <a:lnTo>
                  <a:pt x="589" y="65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el-1782912279976-12"/>
          <p:cNvSpPr/>
          <p:nvPr/>
        </p:nvSpPr>
        <p:spPr>
          <a:xfrm>
            <a:off x="237649" y="339725"/>
            <a:ext cx="885825" cy="220028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2912279979-15"/>
          <p:cNvSpPr/>
          <p:nvPr/>
        </p:nvSpPr>
        <p:spPr>
          <a:xfrm>
            <a:off x="1391444" y="339725"/>
            <a:ext cx="542925" cy="220028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2912279982-18"/>
          <p:cNvSpPr/>
          <p:nvPr/>
        </p:nvSpPr>
        <p:spPr>
          <a:xfrm>
            <a:off x="2152809" y="348615"/>
            <a:ext cx="771525" cy="220028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2912279985-22"/>
          <p:cNvSpPr/>
          <p:nvPr/>
        </p:nvSpPr>
        <p:spPr>
          <a:xfrm>
            <a:off x="3667601" y="364490"/>
            <a:ext cx="657225" cy="220028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2912279989-25"/>
          <p:cNvSpPr/>
          <p:nvPr/>
        </p:nvSpPr>
        <p:spPr>
          <a:xfrm>
            <a:off x="4679156" y="364490"/>
            <a:ext cx="702320" cy="220028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2912279992-28"/>
          <p:cNvSpPr/>
          <p:nvPr/>
        </p:nvSpPr>
        <p:spPr>
          <a:xfrm>
            <a:off x="5625316" y="348615"/>
            <a:ext cx="643741" cy="220028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2912279995-31"/>
          <p:cNvSpPr/>
          <p:nvPr/>
        </p:nvSpPr>
        <p:spPr>
          <a:xfrm>
            <a:off x="6443980" y="348615"/>
            <a:ext cx="614045" cy="220345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2" name="el-1782912280014-38"/>
          <p:cNvCxnSpPr/>
          <p:nvPr/>
        </p:nvCxnSpPr>
        <p:spPr>
          <a:xfrm>
            <a:off x="107633" y="771684"/>
            <a:ext cx="914" cy="188595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2912280018-39"/>
          <p:cNvSpPr/>
          <p:nvPr/>
        </p:nvSpPr>
        <p:spPr>
          <a:xfrm>
            <a:off x="107315" y="1021556"/>
            <a:ext cx="4538960" cy="36665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43" y="0"/>
                </a:moveTo>
                <a:lnTo>
                  <a:pt x="99057" y="0"/>
                </a:lnTo>
                <a:lnTo>
                  <a:pt x="99149" y="5"/>
                </a:lnTo>
                <a:lnTo>
                  <a:pt x="99241" y="23"/>
                </a:lnTo>
                <a:lnTo>
                  <a:pt x="99331" y="49"/>
                </a:lnTo>
                <a:lnTo>
                  <a:pt x="99417" y="88"/>
                </a:lnTo>
                <a:lnTo>
                  <a:pt x="99501" y="138"/>
                </a:lnTo>
                <a:lnTo>
                  <a:pt x="99581" y="197"/>
                </a:lnTo>
                <a:lnTo>
                  <a:pt x="99654" y="265"/>
                </a:lnTo>
                <a:lnTo>
                  <a:pt x="99723" y="343"/>
                </a:lnTo>
                <a:lnTo>
                  <a:pt x="99786" y="429"/>
                </a:lnTo>
                <a:lnTo>
                  <a:pt x="99841" y="519"/>
                </a:lnTo>
                <a:lnTo>
                  <a:pt x="99889" y="618"/>
                </a:lnTo>
                <a:lnTo>
                  <a:pt x="99929" y="722"/>
                </a:lnTo>
                <a:lnTo>
                  <a:pt x="99960" y="829"/>
                </a:lnTo>
                <a:lnTo>
                  <a:pt x="99981" y="940"/>
                </a:lnTo>
                <a:lnTo>
                  <a:pt x="99996" y="1055"/>
                </a:lnTo>
                <a:lnTo>
                  <a:pt x="100000" y="1169"/>
                </a:lnTo>
                <a:lnTo>
                  <a:pt x="100000" y="98831"/>
                </a:lnTo>
                <a:lnTo>
                  <a:pt x="99996" y="98945"/>
                </a:lnTo>
                <a:lnTo>
                  <a:pt x="99981" y="99060"/>
                </a:lnTo>
                <a:lnTo>
                  <a:pt x="99960" y="99171"/>
                </a:lnTo>
                <a:lnTo>
                  <a:pt x="99929" y="99278"/>
                </a:lnTo>
                <a:lnTo>
                  <a:pt x="99889" y="99382"/>
                </a:lnTo>
                <a:lnTo>
                  <a:pt x="99841" y="99481"/>
                </a:lnTo>
                <a:lnTo>
                  <a:pt x="99786" y="99571"/>
                </a:lnTo>
                <a:lnTo>
                  <a:pt x="99723" y="99657"/>
                </a:lnTo>
                <a:lnTo>
                  <a:pt x="99654" y="99735"/>
                </a:lnTo>
                <a:lnTo>
                  <a:pt x="99581" y="99803"/>
                </a:lnTo>
                <a:lnTo>
                  <a:pt x="99501" y="99862"/>
                </a:lnTo>
                <a:lnTo>
                  <a:pt x="99417" y="99912"/>
                </a:lnTo>
                <a:lnTo>
                  <a:pt x="99331" y="99951"/>
                </a:lnTo>
                <a:lnTo>
                  <a:pt x="99241" y="99977"/>
                </a:lnTo>
                <a:lnTo>
                  <a:pt x="99149" y="99995"/>
                </a:lnTo>
                <a:lnTo>
                  <a:pt x="99057" y="100000"/>
                </a:lnTo>
                <a:lnTo>
                  <a:pt x="943" y="100000"/>
                </a:lnTo>
                <a:lnTo>
                  <a:pt x="851" y="99995"/>
                </a:lnTo>
                <a:lnTo>
                  <a:pt x="759" y="99977"/>
                </a:lnTo>
                <a:lnTo>
                  <a:pt x="669" y="99951"/>
                </a:lnTo>
                <a:lnTo>
                  <a:pt x="583" y="99912"/>
                </a:lnTo>
                <a:lnTo>
                  <a:pt x="499" y="99862"/>
                </a:lnTo>
                <a:lnTo>
                  <a:pt x="419" y="99803"/>
                </a:lnTo>
                <a:lnTo>
                  <a:pt x="346" y="99735"/>
                </a:lnTo>
                <a:lnTo>
                  <a:pt x="277" y="99657"/>
                </a:lnTo>
                <a:lnTo>
                  <a:pt x="214" y="99571"/>
                </a:lnTo>
                <a:lnTo>
                  <a:pt x="159" y="99481"/>
                </a:lnTo>
                <a:lnTo>
                  <a:pt x="111" y="99382"/>
                </a:lnTo>
                <a:lnTo>
                  <a:pt x="71" y="99278"/>
                </a:lnTo>
                <a:lnTo>
                  <a:pt x="40" y="99171"/>
                </a:lnTo>
                <a:lnTo>
                  <a:pt x="19" y="99060"/>
                </a:lnTo>
                <a:lnTo>
                  <a:pt x="4" y="98945"/>
                </a:lnTo>
                <a:lnTo>
                  <a:pt x="0" y="98831"/>
                </a:lnTo>
                <a:lnTo>
                  <a:pt x="0" y="1169"/>
                </a:lnTo>
                <a:lnTo>
                  <a:pt x="4" y="1055"/>
                </a:lnTo>
                <a:lnTo>
                  <a:pt x="19" y="940"/>
                </a:lnTo>
                <a:lnTo>
                  <a:pt x="40" y="829"/>
                </a:lnTo>
                <a:lnTo>
                  <a:pt x="71" y="722"/>
                </a:lnTo>
                <a:lnTo>
                  <a:pt x="111" y="618"/>
                </a:lnTo>
                <a:lnTo>
                  <a:pt x="159" y="519"/>
                </a:lnTo>
                <a:lnTo>
                  <a:pt x="214" y="429"/>
                </a:lnTo>
                <a:lnTo>
                  <a:pt x="277" y="343"/>
                </a:lnTo>
                <a:lnTo>
                  <a:pt x="346" y="265"/>
                </a:lnTo>
                <a:lnTo>
                  <a:pt x="419" y="197"/>
                </a:lnTo>
                <a:lnTo>
                  <a:pt x="499" y="138"/>
                </a:lnTo>
                <a:lnTo>
                  <a:pt x="583" y="88"/>
                </a:lnTo>
                <a:lnTo>
                  <a:pt x="669" y="49"/>
                </a:lnTo>
                <a:lnTo>
                  <a:pt x="759" y="23"/>
                </a:lnTo>
                <a:lnTo>
                  <a:pt x="851" y="5"/>
                </a:lnTo>
                <a:lnTo>
                  <a:pt x="943" y="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2912280076-45"/>
          <p:cNvSpPr/>
          <p:nvPr/>
        </p:nvSpPr>
        <p:spPr>
          <a:xfrm>
            <a:off x="186849" y="1021715"/>
            <a:ext cx="1473131" cy="2875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4200"/>
                </a:moveTo>
                <a:lnTo>
                  <a:pt x="6" y="4133"/>
                </a:lnTo>
                <a:lnTo>
                  <a:pt x="368" y="1867"/>
                </a:lnTo>
                <a:lnTo>
                  <a:pt x="813" y="0"/>
                </a:ln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2912280077-47"/>
          <p:cNvSpPr/>
          <p:nvPr/>
        </p:nvSpPr>
        <p:spPr>
          <a:xfrm>
            <a:off x="1619974" y="1020445"/>
            <a:ext cx="946993" cy="2875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2912280079-49"/>
          <p:cNvSpPr/>
          <p:nvPr/>
        </p:nvSpPr>
        <p:spPr>
          <a:xfrm>
            <a:off x="2556173" y="1028700"/>
            <a:ext cx="1262747" cy="2875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2912280081-51"/>
          <p:cNvSpPr/>
          <p:nvPr/>
        </p:nvSpPr>
        <p:spPr>
          <a:xfrm>
            <a:off x="3804315" y="1028700"/>
            <a:ext cx="841802" cy="2875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8568" y="0"/>
                </a:lnTo>
                <a:lnTo>
                  <a:pt x="98591" y="33"/>
                </a:lnTo>
                <a:lnTo>
                  <a:pt x="99352" y="1867"/>
                </a:lnTo>
                <a:lnTo>
                  <a:pt x="100000" y="4167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8" name="el-1782912280114-102"/>
          <p:cNvCxnSpPr/>
          <p:nvPr/>
        </p:nvCxnSpPr>
        <p:spPr>
          <a:xfrm>
            <a:off x="407194" y="1319808"/>
            <a:ext cx="1473131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-1782912280114-103"/>
          <p:cNvCxnSpPr/>
          <p:nvPr/>
        </p:nvCxnSpPr>
        <p:spPr>
          <a:xfrm>
            <a:off x="1663789" y="1319808"/>
            <a:ext cx="946993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2912280114-104"/>
          <p:cNvCxnSpPr/>
          <p:nvPr/>
        </p:nvCxnSpPr>
        <p:spPr>
          <a:xfrm>
            <a:off x="2827318" y="1319808"/>
            <a:ext cx="1262747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-1782912280115-105"/>
          <p:cNvCxnSpPr/>
          <p:nvPr/>
        </p:nvCxnSpPr>
        <p:spPr>
          <a:xfrm>
            <a:off x="4090065" y="1319808"/>
            <a:ext cx="841802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-1782912280116-106"/>
          <p:cNvCxnSpPr/>
          <p:nvPr/>
        </p:nvCxnSpPr>
        <p:spPr>
          <a:xfrm>
            <a:off x="407194" y="1903809"/>
            <a:ext cx="1473131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l-1782912280116-107"/>
          <p:cNvCxnSpPr/>
          <p:nvPr/>
        </p:nvCxnSpPr>
        <p:spPr>
          <a:xfrm>
            <a:off x="1880324" y="1903809"/>
            <a:ext cx="946993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-1782912280117-108"/>
          <p:cNvCxnSpPr/>
          <p:nvPr/>
        </p:nvCxnSpPr>
        <p:spPr>
          <a:xfrm>
            <a:off x="2827318" y="1903809"/>
            <a:ext cx="1262747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el-1782912280134-129"/>
          <p:cNvCxnSpPr/>
          <p:nvPr/>
        </p:nvCxnSpPr>
        <p:spPr>
          <a:xfrm>
            <a:off x="4090065" y="1903809"/>
            <a:ext cx="841802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l-1782912280117-109"/>
          <p:cNvCxnSpPr/>
          <p:nvPr/>
        </p:nvCxnSpPr>
        <p:spPr>
          <a:xfrm>
            <a:off x="407194" y="2487811"/>
            <a:ext cx="1473131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-1782912280118-110"/>
          <p:cNvCxnSpPr/>
          <p:nvPr/>
        </p:nvCxnSpPr>
        <p:spPr>
          <a:xfrm>
            <a:off x="1880324" y="2487811"/>
            <a:ext cx="946993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l-1782912280118-111"/>
          <p:cNvCxnSpPr/>
          <p:nvPr/>
        </p:nvCxnSpPr>
        <p:spPr>
          <a:xfrm>
            <a:off x="2827318" y="2487811"/>
            <a:ext cx="1262747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el-1782912280118-112"/>
          <p:cNvCxnSpPr/>
          <p:nvPr/>
        </p:nvCxnSpPr>
        <p:spPr>
          <a:xfrm>
            <a:off x="4090065" y="2487811"/>
            <a:ext cx="841802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el-1782912280119-113"/>
          <p:cNvCxnSpPr/>
          <p:nvPr/>
        </p:nvCxnSpPr>
        <p:spPr>
          <a:xfrm>
            <a:off x="407194" y="2927152"/>
            <a:ext cx="1473131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el-1782912280119-114"/>
          <p:cNvCxnSpPr/>
          <p:nvPr/>
        </p:nvCxnSpPr>
        <p:spPr>
          <a:xfrm>
            <a:off x="1880324" y="2927152"/>
            <a:ext cx="946993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el-1782912280120-115"/>
          <p:cNvCxnSpPr/>
          <p:nvPr/>
        </p:nvCxnSpPr>
        <p:spPr>
          <a:xfrm>
            <a:off x="2827318" y="2927152"/>
            <a:ext cx="1262747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el-1782912280120-116"/>
          <p:cNvCxnSpPr/>
          <p:nvPr/>
        </p:nvCxnSpPr>
        <p:spPr>
          <a:xfrm>
            <a:off x="4090065" y="2927152"/>
            <a:ext cx="841802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-1782912280121-117"/>
          <p:cNvCxnSpPr/>
          <p:nvPr/>
        </p:nvCxnSpPr>
        <p:spPr>
          <a:xfrm>
            <a:off x="407194" y="3366492"/>
            <a:ext cx="1473131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el-1782912280121-118"/>
          <p:cNvCxnSpPr/>
          <p:nvPr/>
        </p:nvCxnSpPr>
        <p:spPr>
          <a:xfrm>
            <a:off x="1880324" y="3366492"/>
            <a:ext cx="946993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el-1782912280122-119"/>
          <p:cNvCxnSpPr/>
          <p:nvPr/>
        </p:nvCxnSpPr>
        <p:spPr>
          <a:xfrm>
            <a:off x="2827318" y="3366492"/>
            <a:ext cx="1262747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el-1782912280123-120"/>
          <p:cNvCxnSpPr/>
          <p:nvPr/>
        </p:nvCxnSpPr>
        <p:spPr>
          <a:xfrm>
            <a:off x="4090065" y="3366492"/>
            <a:ext cx="841802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el-1782912280123-121"/>
          <p:cNvCxnSpPr/>
          <p:nvPr/>
        </p:nvCxnSpPr>
        <p:spPr>
          <a:xfrm>
            <a:off x="407194" y="3805833"/>
            <a:ext cx="1473131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el-1782912280124-122"/>
          <p:cNvCxnSpPr/>
          <p:nvPr/>
        </p:nvCxnSpPr>
        <p:spPr>
          <a:xfrm>
            <a:off x="1880324" y="3805833"/>
            <a:ext cx="946993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el-1782912280124-123"/>
          <p:cNvCxnSpPr/>
          <p:nvPr/>
        </p:nvCxnSpPr>
        <p:spPr>
          <a:xfrm>
            <a:off x="2827318" y="3805833"/>
            <a:ext cx="1262747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el-1782912280125-124"/>
          <p:cNvCxnSpPr/>
          <p:nvPr/>
        </p:nvCxnSpPr>
        <p:spPr>
          <a:xfrm>
            <a:off x="4090065" y="3805833"/>
            <a:ext cx="841802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el-1782912280125-125"/>
          <p:cNvCxnSpPr/>
          <p:nvPr/>
        </p:nvCxnSpPr>
        <p:spPr>
          <a:xfrm>
            <a:off x="407194" y="4245173"/>
            <a:ext cx="1473131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el-1782912280126-126"/>
          <p:cNvCxnSpPr/>
          <p:nvPr/>
        </p:nvCxnSpPr>
        <p:spPr>
          <a:xfrm>
            <a:off x="1880324" y="4245173"/>
            <a:ext cx="946993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-1782912280127-127"/>
          <p:cNvCxnSpPr/>
          <p:nvPr/>
        </p:nvCxnSpPr>
        <p:spPr>
          <a:xfrm>
            <a:off x="2827318" y="4245173"/>
            <a:ext cx="1262747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el-1782912280127-128"/>
          <p:cNvCxnSpPr/>
          <p:nvPr/>
        </p:nvCxnSpPr>
        <p:spPr>
          <a:xfrm>
            <a:off x="4090065" y="4245173"/>
            <a:ext cx="841802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el-1782912280020-40"/>
          <p:cNvSpPr/>
          <p:nvPr/>
        </p:nvSpPr>
        <p:spPr>
          <a:xfrm>
            <a:off x="4985365" y="818039"/>
            <a:ext cx="4033540" cy="864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415" y="0"/>
                </a:moveTo>
                <a:lnTo>
                  <a:pt x="99974" y="0"/>
                </a:lnTo>
                <a:lnTo>
                  <a:pt x="99974" y="100000"/>
                </a:lnTo>
                <a:lnTo>
                  <a:pt x="1415" y="100000"/>
                </a:lnTo>
                <a:lnTo>
                  <a:pt x="1276" y="99967"/>
                </a:lnTo>
                <a:lnTo>
                  <a:pt x="1139" y="99868"/>
                </a:lnTo>
                <a:lnTo>
                  <a:pt x="1005" y="99714"/>
                </a:lnTo>
                <a:lnTo>
                  <a:pt x="873" y="99495"/>
                </a:lnTo>
                <a:lnTo>
                  <a:pt x="748" y="99220"/>
                </a:lnTo>
                <a:lnTo>
                  <a:pt x="630" y="98890"/>
                </a:lnTo>
                <a:lnTo>
                  <a:pt x="517" y="98505"/>
                </a:lnTo>
                <a:lnTo>
                  <a:pt x="415" y="98066"/>
                </a:lnTo>
                <a:lnTo>
                  <a:pt x="321" y="97593"/>
                </a:lnTo>
                <a:lnTo>
                  <a:pt x="238" y="97066"/>
                </a:lnTo>
                <a:lnTo>
                  <a:pt x="167" y="96516"/>
                </a:lnTo>
                <a:lnTo>
                  <a:pt x="108" y="95934"/>
                </a:lnTo>
                <a:lnTo>
                  <a:pt x="61" y="95319"/>
                </a:lnTo>
                <a:lnTo>
                  <a:pt x="28" y="94692"/>
                </a:lnTo>
                <a:lnTo>
                  <a:pt x="7" y="94055"/>
                </a:lnTo>
                <a:lnTo>
                  <a:pt x="0" y="93407"/>
                </a:lnTo>
                <a:lnTo>
                  <a:pt x="0" y="6593"/>
                </a:lnTo>
                <a:lnTo>
                  <a:pt x="7" y="5945"/>
                </a:lnTo>
                <a:lnTo>
                  <a:pt x="28" y="5308"/>
                </a:lnTo>
                <a:lnTo>
                  <a:pt x="61" y="4681"/>
                </a:lnTo>
                <a:lnTo>
                  <a:pt x="108" y="4066"/>
                </a:lnTo>
                <a:lnTo>
                  <a:pt x="167" y="3484"/>
                </a:lnTo>
                <a:lnTo>
                  <a:pt x="238" y="2934"/>
                </a:lnTo>
                <a:lnTo>
                  <a:pt x="321" y="2407"/>
                </a:lnTo>
                <a:lnTo>
                  <a:pt x="415" y="1934"/>
                </a:lnTo>
                <a:lnTo>
                  <a:pt x="517" y="1495"/>
                </a:lnTo>
                <a:lnTo>
                  <a:pt x="630" y="1110"/>
                </a:lnTo>
                <a:lnTo>
                  <a:pt x="748" y="780"/>
                </a:lnTo>
                <a:lnTo>
                  <a:pt x="873" y="505"/>
                </a:lnTo>
                <a:lnTo>
                  <a:pt x="1005" y="286"/>
                </a:lnTo>
                <a:lnTo>
                  <a:pt x="1139" y="132"/>
                </a:lnTo>
                <a:lnTo>
                  <a:pt x="1276" y="33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7" name="el-1782912280093-80"/>
          <p:cNvCxnSpPr/>
          <p:nvPr/>
        </p:nvCxnSpPr>
        <p:spPr>
          <a:xfrm>
            <a:off x="5256907" y="1125855"/>
            <a:ext cx="914" cy="182166"/>
          </a:xfrm>
          <a:prstGeom prst="line">
            <a:avLst/>
          </a:prstGeom>
          <a:ln w="21431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el-1782912280093-81"/>
          <p:cNvCxnSpPr/>
          <p:nvPr/>
        </p:nvCxnSpPr>
        <p:spPr>
          <a:xfrm>
            <a:off x="5256907" y="1365171"/>
            <a:ext cx="914" cy="182166"/>
          </a:xfrm>
          <a:prstGeom prst="line">
            <a:avLst/>
          </a:prstGeom>
          <a:ln w="21431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el-1782912280023-41"/>
          <p:cNvSpPr/>
          <p:nvPr/>
        </p:nvSpPr>
        <p:spPr>
          <a:xfrm>
            <a:off x="4716125" y="1754505"/>
            <a:ext cx="4033540" cy="8572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415" y="0"/>
                </a:moveTo>
                <a:lnTo>
                  <a:pt x="99974" y="0"/>
                </a:lnTo>
                <a:lnTo>
                  <a:pt x="99974" y="100000"/>
                </a:lnTo>
                <a:lnTo>
                  <a:pt x="1415" y="100000"/>
                </a:lnTo>
                <a:lnTo>
                  <a:pt x="1276" y="99967"/>
                </a:lnTo>
                <a:lnTo>
                  <a:pt x="1139" y="99867"/>
                </a:lnTo>
                <a:lnTo>
                  <a:pt x="1005" y="99711"/>
                </a:lnTo>
                <a:lnTo>
                  <a:pt x="873" y="99489"/>
                </a:lnTo>
                <a:lnTo>
                  <a:pt x="748" y="99211"/>
                </a:lnTo>
                <a:lnTo>
                  <a:pt x="630" y="98878"/>
                </a:lnTo>
                <a:lnTo>
                  <a:pt x="517" y="98489"/>
                </a:lnTo>
                <a:lnTo>
                  <a:pt x="415" y="98044"/>
                </a:lnTo>
                <a:lnTo>
                  <a:pt x="321" y="97567"/>
                </a:lnTo>
                <a:lnTo>
                  <a:pt x="238" y="97033"/>
                </a:lnTo>
                <a:lnTo>
                  <a:pt x="167" y="96478"/>
                </a:lnTo>
                <a:lnTo>
                  <a:pt x="108" y="95889"/>
                </a:lnTo>
                <a:lnTo>
                  <a:pt x="61" y="95267"/>
                </a:lnTo>
                <a:lnTo>
                  <a:pt x="28" y="94633"/>
                </a:lnTo>
                <a:lnTo>
                  <a:pt x="7" y="93989"/>
                </a:lnTo>
                <a:lnTo>
                  <a:pt x="0" y="93333"/>
                </a:lnTo>
                <a:lnTo>
                  <a:pt x="0" y="6667"/>
                </a:lnTo>
                <a:lnTo>
                  <a:pt x="7" y="6011"/>
                </a:lnTo>
                <a:lnTo>
                  <a:pt x="28" y="5367"/>
                </a:lnTo>
                <a:lnTo>
                  <a:pt x="61" y="4733"/>
                </a:lnTo>
                <a:lnTo>
                  <a:pt x="108" y="4111"/>
                </a:lnTo>
                <a:lnTo>
                  <a:pt x="167" y="3522"/>
                </a:lnTo>
                <a:lnTo>
                  <a:pt x="238" y="2967"/>
                </a:lnTo>
                <a:lnTo>
                  <a:pt x="321" y="2433"/>
                </a:lnTo>
                <a:lnTo>
                  <a:pt x="415" y="1956"/>
                </a:lnTo>
                <a:lnTo>
                  <a:pt x="517" y="1511"/>
                </a:lnTo>
                <a:lnTo>
                  <a:pt x="630" y="1122"/>
                </a:lnTo>
                <a:lnTo>
                  <a:pt x="748" y="789"/>
                </a:lnTo>
                <a:lnTo>
                  <a:pt x="873" y="511"/>
                </a:lnTo>
                <a:lnTo>
                  <a:pt x="1005" y="289"/>
                </a:lnTo>
                <a:lnTo>
                  <a:pt x="1139" y="133"/>
                </a:lnTo>
                <a:lnTo>
                  <a:pt x="1276" y="33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el-1782912280095-83"/>
          <p:cNvSpPr/>
          <p:nvPr/>
        </p:nvSpPr>
        <p:spPr>
          <a:xfrm>
            <a:off x="4739938" y="1854835"/>
            <a:ext cx="1359902" cy="200025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el-1782912280098-86"/>
          <p:cNvSpPr/>
          <p:nvPr/>
        </p:nvSpPr>
        <p:spPr>
          <a:xfrm>
            <a:off x="6276687" y="1854835"/>
            <a:ext cx="1122551" cy="200025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el-1782912280101-89"/>
          <p:cNvSpPr/>
          <p:nvPr/>
        </p:nvSpPr>
        <p:spPr>
          <a:xfrm>
            <a:off x="7740015" y="1823085"/>
            <a:ext cx="1010285" cy="2000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2069" y="0"/>
                </a:moveTo>
                <a:lnTo>
                  <a:pt x="99448" y="0"/>
                </a:lnTo>
                <a:lnTo>
                  <a:pt x="99448" y="100000"/>
                </a:lnTo>
                <a:lnTo>
                  <a:pt x="12069" y="100000"/>
                </a:lnTo>
                <a:lnTo>
                  <a:pt x="10885" y="99762"/>
                </a:lnTo>
                <a:lnTo>
                  <a:pt x="9713" y="99048"/>
                </a:lnTo>
                <a:lnTo>
                  <a:pt x="8563" y="97857"/>
                </a:lnTo>
                <a:lnTo>
                  <a:pt x="7448" y="96190"/>
                </a:lnTo>
                <a:lnTo>
                  <a:pt x="6379" y="94095"/>
                </a:lnTo>
                <a:lnTo>
                  <a:pt x="5368" y="91571"/>
                </a:lnTo>
                <a:lnTo>
                  <a:pt x="4414" y="88667"/>
                </a:lnTo>
                <a:lnTo>
                  <a:pt x="3540" y="85333"/>
                </a:lnTo>
                <a:lnTo>
                  <a:pt x="2736" y="81714"/>
                </a:lnTo>
                <a:lnTo>
                  <a:pt x="2034" y="77762"/>
                </a:lnTo>
                <a:lnTo>
                  <a:pt x="1425" y="73571"/>
                </a:lnTo>
                <a:lnTo>
                  <a:pt x="920" y="69143"/>
                </a:lnTo>
                <a:lnTo>
                  <a:pt x="517" y="64524"/>
                </a:lnTo>
                <a:lnTo>
                  <a:pt x="230" y="59762"/>
                </a:lnTo>
                <a:lnTo>
                  <a:pt x="57" y="54905"/>
                </a:lnTo>
                <a:lnTo>
                  <a:pt x="0" y="50000"/>
                </a:lnTo>
                <a:lnTo>
                  <a:pt x="57" y="45095"/>
                </a:lnTo>
                <a:lnTo>
                  <a:pt x="230" y="40238"/>
                </a:lnTo>
                <a:lnTo>
                  <a:pt x="517" y="35476"/>
                </a:lnTo>
                <a:lnTo>
                  <a:pt x="920" y="30857"/>
                </a:lnTo>
                <a:lnTo>
                  <a:pt x="1425" y="26429"/>
                </a:lnTo>
                <a:lnTo>
                  <a:pt x="2034" y="22238"/>
                </a:lnTo>
                <a:lnTo>
                  <a:pt x="2736" y="18286"/>
                </a:lnTo>
                <a:lnTo>
                  <a:pt x="3540" y="14667"/>
                </a:lnTo>
                <a:lnTo>
                  <a:pt x="4414" y="11333"/>
                </a:lnTo>
                <a:lnTo>
                  <a:pt x="5368" y="8429"/>
                </a:lnTo>
                <a:lnTo>
                  <a:pt x="6379" y="5905"/>
                </a:lnTo>
                <a:lnTo>
                  <a:pt x="7448" y="3810"/>
                </a:lnTo>
                <a:lnTo>
                  <a:pt x="8563" y="2143"/>
                </a:lnTo>
                <a:lnTo>
                  <a:pt x="9713" y="952"/>
                </a:lnTo>
                <a:lnTo>
                  <a:pt x="10885" y="238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el-1782912280104-92"/>
          <p:cNvSpPr/>
          <p:nvPr/>
        </p:nvSpPr>
        <p:spPr>
          <a:xfrm>
            <a:off x="5453360" y="2083118"/>
            <a:ext cx="678031" cy="200025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el-1782912280106-95"/>
          <p:cNvSpPr/>
          <p:nvPr/>
        </p:nvSpPr>
        <p:spPr>
          <a:xfrm>
            <a:off x="6431429" y="2083118"/>
            <a:ext cx="689640" cy="200025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el-1782912280109-98"/>
          <p:cNvSpPr/>
          <p:nvPr/>
        </p:nvSpPr>
        <p:spPr>
          <a:xfrm>
            <a:off x="7421107" y="2083118"/>
            <a:ext cx="821710" cy="200025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el-1782912280112-101"/>
          <p:cNvSpPr/>
          <p:nvPr/>
        </p:nvSpPr>
        <p:spPr>
          <a:xfrm>
            <a:off x="5239048" y="2326005"/>
            <a:ext cx="1413391" cy="200025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el-1782912279955-2"/>
          <p:cNvSpPr/>
          <p:nvPr/>
        </p:nvSpPr>
        <p:spPr>
          <a:xfrm>
            <a:off x="-36195" y="5092263"/>
            <a:ext cx="9144000" cy="696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3429"/>
                </a:moveTo>
                <a:lnTo>
                  <a:pt x="0" y="0"/>
                </a:lnTo>
                <a:lnTo>
                  <a:pt x="100000" y="0"/>
                </a:lnTo>
                <a:lnTo>
                  <a:pt x="100000" y="10342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8" name="el-1782912279956-4"/>
          <p:cNvCxnSpPr/>
          <p:nvPr/>
        </p:nvCxnSpPr>
        <p:spPr>
          <a:xfrm>
            <a:off x="0" y="4876125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el-1782912279961-5"/>
          <p:cNvSpPr txBox="1"/>
          <p:nvPr/>
        </p:nvSpPr>
        <p:spPr>
          <a:xfrm>
            <a:off x="400050" y="0"/>
            <a:ext cx="51488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r>
              <a:rPr sz="6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9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37</a:t>
            </a:r>
            <a:endParaRPr sz="900" b="1" spc="28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el-1782912279972-8"/>
          <p:cNvSpPr txBox="1"/>
          <p:nvPr/>
        </p:nvSpPr>
        <p:spPr>
          <a:xfrm>
            <a:off x="1086485" y="0"/>
            <a:ext cx="1669415" cy="1797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第二章 · 系统架构与数据采集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el-1782912279972-9"/>
          <p:cNvSpPr txBox="1"/>
          <p:nvPr/>
        </p:nvSpPr>
        <p:spPr>
          <a:xfrm>
            <a:off x="2730341" y="0"/>
            <a:ext cx="96619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D0D0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900">
              <a:solidFill>
                <a:srgbClr val="D0D0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el-1782912279973-10"/>
          <p:cNvSpPr txBox="1"/>
          <p:nvPr/>
        </p:nvSpPr>
        <p:spPr>
          <a:xfrm>
            <a:off x="2843471" y="6985"/>
            <a:ext cx="2032754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eBPF 探针设计 — 为什么是这 13 个？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el-1782912279973-11"/>
          <p:cNvSpPr txBox="1"/>
          <p:nvPr/>
        </p:nvSpPr>
        <p:spPr>
          <a:xfrm>
            <a:off x="323691" y="384334"/>
            <a:ext cx="842963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用户感知卡顿</a:t>
            </a:r>
            <a:endParaRPr sz="9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el-1782912279976-13"/>
          <p:cNvSpPr txBox="1"/>
          <p:nvPr/>
        </p:nvSpPr>
        <p:spPr>
          <a:xfrm>
            <a:off x="1233646" y="364331"/>
            <a:ext cx="214313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12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el-1782912279976-14"/>
          <p:cNvSpPr txBox="1"/>
          <p:nvPr/>
        </p:nvSpPr>
        <p:spPr>
          <a:xfrm>
            <a:off x="1475740" y="384175"/>
            <a:ext cx="400685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帧掉了</a:t>
            </a:r>
            <a:endParaRPr sz="9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el-1782912279979-16"/>
          <p:cNvSpPr txBox="1"/>
          <p:nvPr/>
        </p:nvSpPr>
        <p:spPr>
          <a:xfrm>
            <a:off x="1979771" y="348456"/>
            <a:ext cx="214313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12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el-1782912279979-17"/>
          <p:cNvSpPr txBox="1"/>
          <p:nvPr/>
        </p:nvSpPr>
        <p:spPr>
          <a:xfrm>
            <a:off x="2195671" y="364649"/>
            <a:ext cx="728663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线程没在跑</a:t>
            </a:r>
            <a:endParaRPr sz="9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el-1782912279982-19"/>
          <p:cNvSpPr txBox="1"/>
          <p:nvPr/>
        </p:nvSpPr>
        <p:spPr>
          <a:xfrm>
            <a:off x="2987516" y="364331"/>
            <a:ext cx="214313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12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el-1782912279983-20"/>
          <p:cNvSpPr txBox="1"/>
          <p:nvPr/>
        </p:nvSpPr>
        <p:spPr>
          <a:xfrm>
            <a:off x="3131820" y="384175"/>
            <a:ext cx="535940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三种可能：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el-1782912279983-21"/>
          <p:cNvSpPr txBox="1"/>
          <p:nvPr/>
        </p:nvSpPr>
        <p:spPr>
          <a:xfrm>
            <a:off x="3707924" y="384334"/>
            <a:ext cx="614363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调度排队</a:t>
            </a:r>
            <a:endParaRPr sz="9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el-1782912279986-23"/>
          <p:cNvSpPr txBox="1"/>
          <p:nvPr/>
        </p:nvSpPr>
        <p:spPr>
          <a:xfrm>
            <a:off x="4464844" y="371316"/>
            <a:ext cx="214313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12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el-1782912279987-24"/>
          <p:cNvSpPr txBox="1"/>
          <p:nvPr/>
        </p:nvSpPr>
        <p:spPr>
          <a:xfrm>
            <a:off x="4739799" y="388779"/>
            <a:ext cx="659457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 Binder</a:t>
            </a:r>
            <a:endParaRPr sz="9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el-1782912279989-26"/>
          <p:cNvSpPr txBox="1"/>
          <p:nvPr/>
        </p:nvSpPr>
        <p:spPr>
          <a:xfrm>
            <a:off x="5453549" y="371316"/>
            <a:ext cx="214313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12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el-1782912279990-27"/>
          <p:cNvSpPr txBox="1"/>
          <p:nvPr/>
        </p:nvSpPr>
        <p:spPr>
          <a:xfrm>
            <a:off x="5668179" y="388779"/>
            <a:ext cx="600879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 Futex</a:t>
            </a:r>
            <a:endParaRPr sz="9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el-1782912279992-29"/>
          <p:cNvSpPr txBox="1"/>
          <p:nvPr/>
        </p:nvSpPr>
        <p:spPr>
          <a:xfrm>
            <a:off x="6300490" y="371316"/>
            <a:ext cx="214313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12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el-1782912279993-30"/>
          <p:cNvSpPr txBox="1"/>
          <p:nvPr/>
        </p:nvSpPr>
        <p:spPr>
          <a:xfrm>
            <a:off x="6478270" y="384175"/>
            <a:ext cx="60198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环境因素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el-1782912279995-32"/>
          <p:cNvSpPr txBox="1"/>
          <p:nvPr/>
        </p:nvSpPr>
        <p:spPr>
          <a:xfrm>
            <a:off x="7061785" y="384334"/>
            <a:ext cx="1540996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(cpu_freq/thermal/irq/mem)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el-1782912280013-37"/>
          <p:cNvSpPr txBox="1"/>
          <p:nvPr/>
        </p:nvSpPr>
        <p:spPr>
          <a:xfrm>
            <a:off x="237490" y="771525"/>
            <a:ext cx="950595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探针一览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el-1782912280074-44"/>
          <p:cNvSpPr txBox="1"/>
          <p:nvPr/>
        </p:nvSpPr>
        <p:spPr>
          <a:xfrm>
            <a:off x="546735" y="1068705"/>
            <a:ext cx="687070" cy="1447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 spc="17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探针 (类型)</a:t>
            </a:r>
            <a:endParaRPr sz="840" b="1" spc="17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el-1782912280076-46"/>
          <p:cNvSpPr txBox="1"/>
          <p:nvPr/>
        </p:nvSpPr>
        <p:spPr>
          <a:xfrm>
            <a:off x="1908175" y="1099820"/>
            <a:ext cx="592455" cy="1447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 spc="17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 CSV</a:t>
            </a:r>
            <a:endParaRPr sz="840" b="1" spc="17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el-1782912280078-48"/>
          <p:cNvSpPr txBox="1"/>
          <p:nvPr/>
        </p:nvSpPr>
        <p:spPr>
          <a:xfrm>
            <a:off x="2898775" y="1100455"/>
            <a:ext cx="697865" cy="1447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 spc="17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数据量 / 30s</a:t>
            </a:r>
            <a:endParaRPr sz="840" b="1" spc="17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el-1782912280080-50"/>
          <p:cNvSpPr txBox="1"/>
          <p:nvPr/>
        </p:nvSpPr>
        <p:spPr>
          <a:xfrm>
            <a:off x="3995420" y="1099820"/>
            <a:ext cx="374650" cy="1447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 spc="17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备注</a:t>
            </a:r>
            <a:endParaRPr sz="840" b="1" spc="17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el-1782912280081-52"/>
          <p:cNvSpPr txBox="1"/>
          <p:nvPr/>
        </p:nvSpPr>
        <p:spPr>
          <a:xfrm>
            <a:off x="478631" y="1539478"/>
            <a:ext cx="145527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sched_switch (tracepoint)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el-1782912280082-53"/>
          <p:cNvSpPr txBox="1"/>
          <p:nvPr/>
        </p:nvSpPr>
        <p:spPr>
          <a:xfrm>
            <a:off x="1951762" y="1394817"/>
            <a:ext cx="804118" cy="43398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ts val="1135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sched_events.csv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el-1782912280082-54"/>
          <p:cNvSpPr txBox="1"/>
          <p:nvPr/>
        </p:nvSpPr>
        <p:spPr>
          <a:xfrm>
            <a:off x="2898755" y="1539478"/>
            <a:ext cx="1244888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~200万行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el-1782912280083-55"/>
          <p:cNvSpPr txBox="1"/>
          <p:nvPr/>
        </p:nvSpPr>
        <p:spPr>
          <a:xfrm>
            <a:off x="3851623" y="1347827"/>
            <a:ext cx="698927" cy="43398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ts val="1135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sched_wakeup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el-1782912280083-56"/>
          <p:cNvSpPr txBox="1"/>
          <p:nvPr/>
        </p:nvSpPr>
        <p:spPr>
          <a:xfrm>
            <a:off x="478631" y="1978819"/>
            <a:ext cx="1330256" cy="43398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ts val="1135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binder_transaction</a:t>
            </a:r>
            <a:r>
              <a:rPr lang="zh-CN" altLang="en-US"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tracepoint</a:t>
            </a:r>
            <a:r>
              <a:rPr lang="zh-CN" altLang="en-US"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el-1782912280084-57"/>
          <p:cNvSpPr txBox="1"/>
          <p:nvPr/>
        </p:nvSpPr>
        <p:spPr>
          <a:xfrm>
            <a:off x="1951762" y="1978819"/>
            <a:ext cx="804118" cy="43398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ts val="1135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binder_futex_events.csv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el-1782912280084-58"/>
          <p:cNvSpPr txBox="1"/>
          <p:nvPr/>
        </p:nvSpPr>
        <p:spPr>
          <a:xfrm>
            <a:off x="2898755" y="2123480"/>
            <a:ext cx="1244888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~16万行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el-1782912280085-59"/>
          <p:cNvSpPr txBox="1"/>
          <p:nvPr/>
        </p:nvSpPr>
        <p:spPr>
          <a:xfrm>
            <a:off x="478631" y="2562820"/>
            <a:ext cx="1330256" cy="2893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ts val="1135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futex sys_enter/exit (tracepoint)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el-1782912280085-60"/>
          <p:cNvSpPr txBox="1"/>
          <p:nvPr/>
        </p:nvSpPr>
        <p:spPr>
          <a:xfrm>
            <a:off x="1951762" y="2562820"/>
            <a:ext cx="804118" cy="2893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ts val="1135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binder_futex_events.csv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el-1782912280086-61"/>
          <p:cNvSpPr txBox="1"/>
          <p:nvPr/>
        </p:nvSpPr>
        <p:spPr>
          <a:xfrm>
            <a:off x="2898755" y="2635151"/>
            <a:ext cx="1244888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~27万行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el-1782912280086-62"/>
          <p:cNvSpPr txBox="1"/>
          <p:nvPr/>
        </p:nvSpPr>
        <p:spPr>
          <a:xfrm>
            <a:off x="4161503" y="2635151"/>
            <a:ext cx="823942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el-1782912280086-63"/>
          <p:cNvSpPr txBox="1"/>
          <p:nvPr/>
        </p:nvSpPr>
        <p:spPr>
          <a:xfrm>
            <a:off x="478631" y="3002161"/>
            <a:ext cx="1330256" cy="2893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ts val="1135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cpu_frequency (tracepoint)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el-1782912280087-64"/>
          <p:cNvSpPr txBox="1"/>
          <p:nvPr/>
        </p:nvSpPr>
        <p:spPr>
          <a:xfrm>
            <a:off x="1951762" y="3002161"/>
            <a:ext cx="804118" cy="2893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ts val="1135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binder_futex_events.csv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el-1782912280087-65"/>
          <p:cNvSpPr txBox="1"/>
          <p:nvPr/>
        </p:nvSpPr>
        <p:spPr>
          <a:xfrm>
            <a:off x="2898755" y="3074491"/>
            <a:ext cx="1244888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~1万行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el-1782912280088-66"/>
          <p:cNvSpPr txBox="1"/>
          <p:nvPr/>
        </p:nvSpPr>
        <p:spPr>
          <a:xfrm>
            <a:off x="4161503" y="3074491"/>
            <a:ext cx="823942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el-1782912280088-67"/>
          <p:cNvSpPr txBox="1"/>
          <p:nvPr/>
        </p:nvSpPr>
        <p:spPr>
          <a:xfrm>
            <a:off x="478631" y="3441502"/>
            <a:ext cx="1330256" cy="2893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ts val="1135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thermal_temperature (tracepoint)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el-1782912280088-68"/>
          <p:cNvSpPr txBox="1"/>
          <p:nvPr/>
        </p:nvSpPr>
        <p:spPr>
          <a:xfrm>
            <a:off x="1951762" y="3441502"/>
            <a:ext cx="804118" cy="2893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ts val="1135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binder_futex_events.csv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el-1782912280089-69"/>
          <p:cNvSpPr txBox="1"/>
          <p:nvPr/>
        </p:nvSpPr>
        <p:spPr>
          <a:xfrm>
            <a:off x="2898755" y="3513832"/>
            <a:ext cx="1244888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el-1782912280089-70"/>
          <p:cNvSpPr txBox="1"/>
          <p:nvPr/>
        </p:nvSpPr>
        <p:spPr>
          <a:xfrm>
            <a:off x="4161503" y="3513832"/>
            <a:ext cx="823942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el-1782912280089-71"/>
          <p:cNvSpPr txBox="1"/>
          <p:nvPr/>
        </p:nvSpPr>
        <p:spPr>
          <a:xfrm>
            <a:off x="478631" y="3953173"/>
            <a:ext cx="145527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mem_reclaim (tracepoint)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el-1782912280090-72"/>
          <p:cNvSpPr txBox="1"/>
          <p:nvPr/>
        </p:nvSpPr>
        <p:spPr>
          <a:xfrm>
            <a:off x="1951762" y="3880842"/>
            <a:ext cx="804118" cy="2893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ts val="1135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binder_futex_events.csv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el-1782912280090-73"/>
          <p:cNvSpPr txBox="1"/>
          <p:nvPr/>
        </p:nvSpPr>
        <p:spPr>
          <a:xfrm>
            <a:off x="2898755" y="3953173"/>
            <a:ext cx="1244888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~55次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el-1782912280091-74"/>
          <p:cNvSpPr txBox="1"/>
          <p:nvPr/>
        </p:nvSpPr>
        <p:spPr>
          <a:xfrm>
            <a:off x="4161503" y="3953173"/>
            <a:ext cx="823942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el-1782912280091-75"/>
          <p:cNvSpPr txBox="1"/>
          <p:nvPr/>
        </p:nvSpPr>
        <p:spPr>
          <a:xfrm>
            <a:off x="478631" y="4320183"/>
            <a:ext cx="1330256" cy="2893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ts val="1135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irq_handler + softirq (tp_btf)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el-1782912280091-76"/>
          <p:cNvSpPr txBox="1"/>
          <p:nvPr/>
        </p:nvSpPr>
        <p:spPr>
          <a:xfrm>
            <a:off x="1951762" y="4392513"/>
            <a:ext cx="92913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irq_events.csv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el-1782912280092-77"/>
          <p:cNvSpPr txBox="1"/>
          <p:nvPr/>
        </p:nvSpPr>
        <p:spPr>
          <a:xfrm>
            <a:off x="2898755" y="4392513"/>
            <a:ext cx="1244888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~210万行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1" name="el-1782912280092-78"/>
          <p:cNvSpPr txBox="1"/>
          <p:nvPr/>
        </p:nvSpPr>
        <p:spPr>
          <a:xfrm>
            <a:off x="4161503" y="4392513"/>
            <a:ext cx="823942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tp_btf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el-1782912280092-79"/>
          <p:cNvSpPr txBox="1"/>
          <p:nvPr/>
        </p:nvSpPr>
        <p:spPr>
          <a:xfrm>
            <a:off x="5076011" y="897255"/>
            <a:ext cx="4267498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📌 关键设计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" name="el-1782912280073-43"/>
          <p:cNvSpPr txBox="1"/>
          <p:nvPr/>
        </p:nvSpPr>
        <p:spPr>
          <a:xfrm>
            <a:off x="5367635" y="1365171"/>
            <a:ext cx="4146054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跨探针复用 </a:t>
            </a: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字段 CSV</a:t>
            </a: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格式，统一解析管线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" name="el-1782912280094-82"/>
          <p:cNvSpPr txBox="1"/>
          <p:nvPr/>
        </p:nvSpPr>
        <p:spPr>
          <a:xfrm>
            <a:off x="4818360" y="1868805"/>
            <a:ext cx="1313468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Docker (Ubuntu 22.04)</a:t>
            </a:r>
            <a:endParaRPr sz="84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" name="el-1782912280095-84"/>
          <p:cNvSpPr txBox="1"/>
          <p:nvPr/>
        </p:nvSpPr>
        <p:spPr>
          <a:xfrm>
            <a:off x="6156355" y="1868488"/>
            <a:ext cx="19288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el-1782912280096-85"/>
          <p:cNvSpPr txBox="1"/>
          <p:nvPr/>
        </p:nvSpPr>
        <p:spPr>
          <a:xfrm>
            <a:off x="6300500" y="1883410"/>
            <a:ext cx="1076117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NDK r26b + clang</a:t>
            </a:r>
            <a:endParaRPr sz="84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" name="el-1782912280099-87"/>
          <p:cNvSpPr txBox="1"/>
          <p:nvPr/>
        </p:nvSpPr>
        <p:spPr>
          <a:xfrm>
            <a:off x="7452578" y="1851343"/>
            <a:ext cx="19288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0" name="el-1782912280099-88"/>
          <p:cNvSpPr txBox="1"/>
          <p:nvPr/>
        </p:nvSpPr>
        <p:spPr>
          <a:xfrm>
            <a:off x="7800975" y="1868805"/>
            <a:ext cx="94869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交叉编译 ARM64</a:t>
            </a:r>
            <a:endParaRPr sz="84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1" name="el-1782912280102-90"/>
          <p:cNvSpPr txBox="1"/>
          <p:nvPr/>
        </p:nvSpPr>
        <p:spPr>
          <a:xfrm>
            <a:off x="5239048" y="2097405"/>
            <a:ext cx="19288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2" name="el-1782912280102-91"/>
          <p:cNvSpPr txBox="1"/>
          <p:nvPr/>
        </p:nvSpPr>
        <p:spPr>
          <a:xfrm>
            <a:off x="5553373" y="2111693"/>
            <a:ext cx="631597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adb push</a:t>
            </a:r>
            <a:endParaRPr sz="84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" name="el-1782912280105-93"/>
          <p:cNvSpPr txBox="1"/>
          <p:nvPr/>
        </p:nvSpPr>
        <p:spPr>
          <a:xfrm>
            <a:off x="6217117" y="2097405"/>
            <a:ext cx="19288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" name="el-1782912280105-94"/>
          <p:cNvSpPr txBox="1"/>
          <p:nvPr/>
        </p:nvSpPr>
        <p:spPr>
          <a:xfrm>
            <a:off x="6531442" y="2111693"/>
            <a:ext cx="64320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bpf() 加载</a:t>
            </a:r>
            <a:endParaRPr sz="84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5" name="el-1782912280107-96"/>
          <p:cNvSpPr txBox="1"/>
          <p:nvPr/>
        </p:nvSpPr>
        <p:spPr>
          <a:xfrm>
            <a:off x="7206794" y="2097405"/>
            <a:ext cx="19288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6" name="el-1782912280107-97"/>
          <p:cNvSpPr txBox="1"/>
          <p:nvPr/>
        </p:nvSpPr>
        <p:spPr>
          <a:xfrm>
            <a:off x="7521119" y="2111693"/>
            <a:ext cx="77527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ringbuf 输出</a:t>
            </a:r>
            <a:endParaRPr sz="84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7" name="el-1782912280109-99"/>
          <p:cNvSpPr txBox="1"/>
          <p:nvPr/>
        </p:nvSpPr>
        <p:spPr>
          <a:xfrm>
            <a:off x="8328541" y="2097405"/>
            <a:ext cx="19288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8" name="el-1782912280110-100"/>
          <p:cNvSpPr txBox="1"/>
          <p:nvPr/>
        </p:nvSpPr>
        <p:spPr>
          <a:xfrm>
            <a:off x="5339060" y="2354580"/>
            <a:ext cx="1366957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450~690 MB events.bin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9" name="el-1782912279996-33"/>
          <p:cNvSpPr txBox="1"/>
          <p:nvPr/>
        </p:nvSpPr>
        <p:spPr>
          <a:xfrm>
            <a:off x="35560" y="4954627"/>
            <a:ext cx="513636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</a:t>
            </a:r>
            <a:endParaRPr sz="78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0" name="el-1782912279996-34"/>
          <p:cNvSpPr txBox="1"/>
          <p:nvPr/>
        </p:nvSpPr>
        <p:spPr>
          <a:xfrm>
            <a:off x="611584" y="4954627"/>
            <a:ext cx="76974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8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1" name="el-1782912279997-35"/>
          <p:cNvSpPr txBox="1"/>
          <p:nvPr/>
        </p:nvSpPr>
        <p:spPr>
          <a:xfrm>
            <a:off x="740152" y="4954627"/>
            <a:ext cx="426035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</a:t>
            </a:r>
            <a:r>
              <a:rPr lang="en-US" altLang="en-US" sz="78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altLang="en-US" sz="78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2" name="el-1782912279962-6"/>
          <p:cNvSpPr txBox="1"/>
          <p:nvPr/>
        </p:nvSpPr>
        <p:spPr>
          <a:xfrm>
            <a:off x="7188200" y="4898390"/>
            <a:ext cx="1454785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第二章 · 系统架构与数据采集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3" name="el-1782912280086-62"/>
          <p:cNvSpPr txBox="1"/>
          <p:nvPr/>
        </p:nvSpPr>
        <p:spPr>
          <a:xfrm>
            <a:off x="4089748" y="2083336"/>
            <a:ext cx="823942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5292090" y="1068705"/>
            <a:ext cx="3670935" cy="254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800"/>
              <a:t>将</a:t>
            </a:r>
            <a:r>
              <a:rPr lang="en-US" altLang="zh-CN" sz="800"/>
              <a:t>eBPF</a:t>
            </a:r>
            <a:r>
              <a:rPr lang="zh-CN" altLang="en-US" sz="800"/>
              <a:t>内核观测能力与</a:t>
            </a:r>
            <a:r>
              <a:rPr lang="en-US" altLang="zh-CN" sz="800"/>
              <a:t>Android</a:t>
            </a:r>
            <a:r>
              <a:rPr lang="zh-CN" altLang="en-US" sz="800"/>
              <a:t>调度特性深度结合，实现微秒级、帧对齐、多维度的卡顿根因分析。</a:t>
            </a:r>
            <a:endParaRPr lang="zh-CN" altLang="en-US" sz="800"/>
          </a:p>
        </p:txBody>
      </p:sp>
      <p:pic>
        <p:nvPicPr>
          <p:cNvPr id="135" name="图片 1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9315" y="2571750"/>
            <a:ext cx="3178810" cy="22802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2912280299-1"/>
          <p:cNvSpPr/>
          <p:nvPr/>
        </p:nvSpPr>
        <p:spPr>
          <a:xfrm>
            <a:off x="0" y="0"/>
            <a:ext cx="9144000" cy="5143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2912280301-3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2912280311-12"/>
          <p:cNvCxnSpPr/>
          <p:nvPr/>
        </p:nvCxnSpPr>
        <p:spPr>
          <a:xfrm>
            <a:off x="414338" y="554355"/>
            <a:ext cx="914" cy="222885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2912280348-37"/>
          <p:cNvSpPr/>
          <p:nvPr/>
        </p:nvSpPr>
        <p:spPr>
          <a:xfrm>
            <a:off x="400050" y="920115"/>
            <a:ext cx="4029075" cy="895826"/>
          </a:xfrm>
          <a:prstGeom prst="roundRect">
            <a:avLst>
              <a:gd name="adj" fmla="val 8506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el-1782912280415-75"/>
          <p:cNvSpPr/>
          <p:nvPr/>
        </p:nvSpPr>
        <p:spPr>
          <a:xfrm>
            <a:off x="535781" y="1038701"/>
            <a:ext cx="375761" cy="165735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2912280417-78"/>
          <p:cNvSpPr/>
          <p:nvPr/>
        </p:nvSpPr>
        <p:spPr>
          <a:xfrm>
            <a:off x="535781" y="1258729"/>
            <a:ext cx="1111121" cy="210741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2912280420-80"/>
          <p:cNvSpPr/>
          <p:nvPr/>
        </p:nvSpPr>
        <p:spPr>
          <a:xfrm>
            <a:off x="1718340" y="1258729"/>
            <a:ext cx="1237208" cy="210741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2912280422-82"/>
          <p:cNvSpPr/>
          <p:nvPr/>
        </p:nvSpPr>
        <p:spPr>
          <a:xfrm>
            <a:off x="3026986" y="1258729"/>
            <a:ext cx="936188" cy="210741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2912280424-84"/>
          <p:cNvSpPr/>
          <p:nvPr/>
        </p:nvSpPr>
        <p:spPr>
          <a:xfrm>
            <a:off x="535781" y="1498044"/>
            <a:ext cx="1205151" cy="210741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2912280350-38"/>
          <p:cNvSpPr/>
          <p:nvPr/>
        </p:nvSpPr>
        <p:spPr>
          <a:xfrm>
            <a:off x="400050" y="1901666"/>
            <a:ext cx="4029075" cy="895826"/>
          </a:xfrm>
          <a:prstGeom prst="roundRect">
            <a:avLst>
              <a:gd name="adj" fmla="val 8506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2912280426-86"/>
          <p:cNvSpPr/>
          <p:nvPr/>
        </p:nvSpPr>
        <p:spPr>
          <a:xfrm>
            <a:off x="535781" y="2020253"/>
            <a:ext cx="375761" cy="165735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2912280429-89"/>
          <p:cNvSpPr/>
          <p:nvPr/>
        </p:nvSpPr>
        <p:spPr>
          <a:xfrm>
            <a:off x="535781" y="2240280"/>
            <a:ext cx="472827" cy="210741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2912280435-91"/>
          <p:cNvSpPr/>
          <p:nvPr/>
        </p:nvSpPr>
        <p:spPr>
          <a:xfrm>
            <a:off x="1080046" y="2240280"/>
            <a:ext cx="799564" cy="210741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2912280437-93"/>
          <p:cNvSpPr/>
          <p:nvPr/>
        </p:nvSpPr>
        <p:spPr>
          <a:xfrm>
            <a:off x="1951048" y="2240280"/>
            <a:ext cx="822067" cy="210741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2912280440-95"/>
          <p:cNvSpPr/>
          <p:nvPr/>
        </p:nvSpPr>
        <p:spPr>
          <a:xfrm>
            <a:off x="2844552" y="2240280"/>
            <a:ext cx="1013787" cy="210741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2912280442-97"/>
          <p:cNvSpPr/>
          <p:nvPr/>
        </p:nvSpPr>
        <p:spPr>
          <a:xfrm>
            <a:off x="535781" y="2479596"/>
            <a:ext cx="636419" cy="210741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2912280352-39"/>
          <p:cNvSpPr/>
          <p:nvPr/>
        </p:nvSpPr>
        <p:spPr>
          <a:xfrm>
            <a:off x="400050" y="2883218"/>
            <a:ext cx="4029075" cy="895826"/>
          </a:xfrm>
          <a:prstGeom prst="roundRect">
            <a:avLst>
              <a:gd name="adj" fmla="val 8506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el-1782912280444-99"/>
          <p:cNvSpPr/>
          <p:nvPr/>
        </p:nvSpPr>
        <p:spPr>
          <a:xfrm>
            <a:off x="535781" y="3001804"/>
            <a:ext cx="375761" cy="165735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2912280447-102"/>
          <p:cNvSpPr/>
          <p:nvPr/>
        </p:nvSpPr>
        <p:spPr>
          <a:xfrm>
            <a:off x="535781" y="3221831"/>
            <a:ext cx="805369" cy="210741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el-1782912280448-104"/>
          <p:cNvSpPr/>
          <p:nvPr/>
        </p:nvSpPr>
        <p:spPr>
          <a:xfrm>
            <a:off x="1412587" y="3221831"/>
            <a:ext cx="1331506" cy="210741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2912280450-106"/>
          <p:cNvSpPr/>
          <p:nvPr/>
        </p:nvSpPr>
        <p:spPr>
          <a:xfrm>
            <a:off x="2815530" y="3221831"/>
            <a:ext cx="917615" cy="210741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-1782912280452-108"/>
          <p:cNvSpPr/>
          <p:nvPr/>
        </p:nvSpPr>
        <p:spPr>
          <a:xfrm>
            <a:off x="535781" y="3461147"/>
            <a:ext cx="659368" cy="210741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2912280354-40"/>
          <p:cNvSpPr/>
          <p:nvPr/>
        </p:nvSpPr>
        <p:spPr>
          <a:xfrm>
            <a:off x="400050" y="3864769"/>
            <a:ext cx="4029075" cy="895826"/>
          </a:xfrm>
          <a:prstGeom prst="roundRect">
            <a:avLst>
              <a:gd name="adj" fmla="val 8506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25" name="el-1782912280455-110"/>
          <p:cNvSpPr/>
          <p:nvPr/>
        </p:nvSpPr>
        <p:spPr>
          <a:xfrm>
            <a:off x="535781" y="3983355"/>
            <a:ext cx="375761" cy="165735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82912280458-113"/>
          <p:cNvSpPr/>
          <p:nvPr/>
        </p:nvSpPr>
        <p:spPr>
          <a:xfrm>
            <a:off x="535781" y="4203383"/>
            <a:ext cx="844570" cy="210741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el-1782912280461-115"/>
          <p:cNvSpPr/>
          <p:nvPr/>
        </p:nvSpPr>
        <p:spPr>
          <a:xfrm>
            <a:off x="1451789" y="4203383"/>
            <a:ext cx="974586" cy="210741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-1782912280464-117"/>
          <p:cNvSpPr/>
          <p:nvPr/>
        </p:nvSpPr>
        <p:spPr>
          <a:xfrm>
            <a:off x="2497812" y="4203383"/>
            <a:ext cx="411301" cy="210741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el-1782912280466-119"/>
          <p:cNvSpPr/>
          <p:nvPr/>
        </p:nvSpPr>
        <p:spPr>
          <a:xfrm>
            <a:off x="2980551" y="4203383"/>
            <a:ext cx="917793" cy="210741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-1782912280468-121"/>
          <p:cNvSpPr/>
          <p:nvPr/>
        </p:nvSpPr>
        <p:spPr>
          <a:xfrm>
            <a:off x="535781" y="4442698"/>
            <a:ext cx="799207" cy="210741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1" name="el-1782912280312-13"/>
          <p:cNvCxnSpPr/>
          <p:nvPr/>
        </p:nvCxnSpPr>
        <p:spPr>
          <a:xfrm>
            <a:off x="4729163" y="554355"/>
            <a:ext cx="914" cy="222885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l-1782912280317-17"/>
          <p:cNvSpPr/>
          <p:nvPr/>
        </p:nvSpPr>
        <p:spPr>
          <a:xfrm>
            <a:off x="4714875" y="920115"/>
            <a:ext cx="4029075" cy="1580197"/>
          </a:xfrm>
          <a:prstGeom prst="roundRect">
            <a:avLst>
              <a:gd name="adj" fmla="val 4822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33" name="el-1782912280365-42"/>
          <p:cNvSpPr/>
          <p:nvPr/>
        </p:nvSpPr>
        <p:spPr>
          <a:xfrm>
            <a:off x="4864894" y="1387316"/>
            <a:ext cx="668566" cy="274320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el-1782912280368-45"/>
          <p:cNvSpPr/>
          <p:nvPr/>
        </p:nvSpPr>
        <p:spPr>
          <a:xfrm>
            <a:off x="5776347" y="1387316"/>
            <a:ext cx="841623" cy="274320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el-1782912280370-48"/>
          <p:cNvSpPr/>
          <p:nvPr/>
        </p:nvSpPr>
        <p:spPr>
          <a:xfrm>
            <a:off x="6860858" y="1410176"/>
            <a:ext cx="1021467" cy="228600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el-1782912280372-51"/>
          <p:cNvSpPr/>
          <p:nvPr/>
        </p:nvSpPr>
        <p:spPr>
          <a:xfrm>
            <a:off x="4864894" y="1727359"/>
            <a:ext cx="710803" cy="228600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el-1782912280375-54"/>
          <p:cNvSpPr/>
          <p:nvPr/>
        </p:nvSpPr>
        <p:spPr>
          <a:xfrm>
            <a:off x="5818584" y="1704499"/>
            <a:ext cx="822781" cy="274320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el-1782912280378-57"/>
          <p:cNvSpPr/>
          <p:nvPr/>
        </p:nvSpPr>
        <p:spPr>
          <a:xfrm>
            <a:off x="6884253" y="1727359"/>
            <a:ext cx="612398" cy="228600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el-1782912280380-59"/>
          <p:cNvSpPr/>
          <p:nvPr/>
        </p:nvSpPr>
        <p:spPr>
          <a:xfrm>
            <a:off x="4893469" y="2135981"/>
            <a:ext cx="884575" cy="200025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el-1782912280383-61"/>
          <p:cNvSpPr/>
          <p:nvPr/>
        </p:nvSpPr>
        <p:spPr>
          <a:xfrm>
            <a:off x="5844749" y="2135981"/>
            <a:ext cx="951190" cy="200025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el-1782912280385-63"/>
          <p:cNvSpPr/>
          <p:nvPr/>
        </p:nvSpPr>
        <p:spPr>
          <a:xfrm>
            <a:off x="6862644" y="2135981"/>
            <a:ext cx="1437144" cy="200025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el-1782912280318-18"/>
          <p:cNvSpPr/>
          <p:nvPr/>
        </p:nvSpPr>
        <p:spPr>
          <a:xfrm>
            <a:off x="4714875" y="2643188"/>
            <a:ext cx="4029075" cy="8572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8582" y="0"/>
                </a:lnTo>
                <a:lnTo>
                  <a:pt x="98721" y="33"/>
                </a:lnTo>
                <a:lnTo>
                  <a:pt x="98858" y="133"/>
                </a:lnTo>
                <a:lnTo>
                  <a:pt x="98993" y="289"/>
                </a:lnTo>
                <a:lnTo>
                  <a:pt x="99125" y="511"/>
                </a:lnTo>
                <a:lnTo>
                  <a:pt x="99251" y="789"/>
                </a:lnTo>
                <a:lnTo>
                  <a:pt x="99369" y="1122"/>
                </a:lnTo>
                <a:lnTo>
                  <a:pt x="99482" y="1511"/>
                </a:lnTo>
                <a:lnTo>
                  <a:pt x="99584" y="1956"/>
                </a:lnTo>
                <a:lnTo>
                  <a:pt x="99678" y="2433"/>
                </a:lnTo>
                <a:lnTo>
                  <a:pt x="99761" y="2967"/>
                </a:lnTo>
                <a:lnTo>
                  <a:pt x="99832" y="3522"/>
                </a:lnTo>
                <a:lnTo>
                  <a:pt x="99891" y="4111"/>
                </a:lnTo>
                <a:lnTo>
                  <a:pt x="99939" y="4733"/>
                </a:lnTo>
                <a:lnTo>
                  <a:pt x="99972" y="5367"/>
                </a:lnTo>
                <a:lnTo>
                  <a:pt x="99993" y="6011"/>
                </a:lnTo>
                <a:lnTo>
                  <a:pt x="100000" y="6667"/>
                </a:lnTo>
                <a:lnTo>
                  <a:pt x="100000" y="93333"/>
                </a:lnTo>
                <a:lnTo>
                  <a:pt x="99993" y="93989"/>
                </a:lnTo>
                <a:lnTo>
                  <a:pt x="99972" y="94633"/>
                </a:lnTo>
                <a:lnTo>
                  <a:pt x="99939" y="95267"/>
                </a:lnTo>
                <a:lnTo>
                  <a:pt x="99891" y="95889"/>
                </a:lnTo>
                <a:lnTo>
                  <a:pt x="99832" y="96478"/>
                </a:lnTo>
                <a:lnTo>
                  <a:pt x="99761" y="97033"/>
                </a:lnTo>
                <a:lnTo>
                  <a:pt x="99678" y="97567"/>
                </a:lnTo>
                <a:lnTo>
                  <a:pt x="99584" y="98044"/>
                </a:lnTo>
                <a:lnTo>
                  <a:pt x="99482" y="98489"/>
                </a:lnTo>
                <a:lnTo>
                  <a:pt x="99369" y="98878"/>
                </a:lnTo>
                <a:lnTo>
                  <a:pt x="99251" y="99211"/>
                </a:lnTo>
                <a:lnTo>
                  <a:pt x="99125" y="99489"/>
                </a:lnTo>
                <a:lnTo>
                  <a:pt x="98993" y="99711"/>
                </a:lnTo>
                <a:lnTo>
                  <a:pt x="98858" y="99867"/>
                </a:lnTo>
                <a:lnTo>
                  <a:pt x="98721" y="99967"/>
                </a:lnTo>
                <a:lnTo>
                  <a:pt x="98582" y="100000"/>
                </a:lnTo>
                <a:lnTo>
                  <a:pt x="0" y="100000"/>
                </a:lnTo>
                <a:lnTo>
                  <a:pt x="0" y="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el-1782912280322-20"/>
          <p:cNvSpPr/>
          <p:nvPr/>
        </p:nvSpPr>
        <p:spPr>
          <a:xfrm>
            <a:off x="4714875" y="2643188"/>
            <a:ext cx="4029075" cy="8572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0" y="0"/>
                </a:lnTo>
              </a:path>
            </a:pathLst>
          </a:custGeom>
          <a:noFill/>
          <a:ln w="35719" algn="in">
            <a:solidFill>
              <a:srgbClr val="D4A017"/>
            </a:solidFill>
            <a:prstDash val="solid"/>
          </a:ln>
        </p:spPr>
        <p:txBody>
          <a:bodyPr/>
          <a:lstStyle/>
          <a:p/>
        </p:txBody>
      </p:sp>
      <p:sp>
        <p:nvSpPr>
          <p:cNvPr id="44" name="el-1782912280387-65"/>
          <p:cNvSpPr/>
          <p:nvPr/>
        </p:nvSpPr>
        <p:spPr>
          <a:xfrm>
            <a:off x="4879181" y="2980373"/>
            <a:ext cx="1073706" cy="18859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el-1782912280389-67"/>
          <p:cNvSpPr/>
          <p:nvPr/>
        </p:nvSpPr>
        <p:spPr>
          <a:xfrm>
            <a:off x="6067187" y="2980373"/>
            <a:ext cx="819656" cy="18859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el-1782912280392-69"/>
          <p:cNvSpPr/>
          <p:nvPr/>
        </p:nvSpPr>
        <p:spPr>
          <a:xfrm>
            <a:off x="7001143" y="2980373"/>
            <a:ext cx="745540" cy="18859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el-1782912280394-71"/>
          <p:cNvSpPr/>
          <p:nvPr/>
        </p:nvSpPr>
        <p:spPr>
          <a:xfrm>
            <a:off x="7860983" y="2980373"/>
            <a:ext cx="654814" cy="18859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el-1782912280396-73"/>
          <p:cNvSpPr/>
          <p:nvPr/>
        </p:nvSpPr>
        <p:spPr>
          <a:xfrm>
            <a:off x="4879181" y="3211830"/>
            <a:ext cx="725448" cy="18859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el-1782912280320-19"/>
          <p:cNvSpPr/>
          <p:nvPr/>
        </p:nvSpPr>
        <p:spPr>
          <a:xfrm>
            <a:off x="4714875" y="3643313"/>
            <a:ext cx="4029075" cy="900113"/>
          </a:xfrm>
          <a:prstGeom prst="roundRect">
            <a:avLst>
              <a:gd name="adj" fmla="val 8466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50" name="el-1782912280331-25"/>
          <p:cNvSpPr/>
          <p:nvPr/>
        </p:nvSpPr>
        <p:spPr>
          <a:xfrm>
            <a:off x="5322094" y="3736181"/>
            <a:ext cx="1412319" cy="200025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el-1782912280333-27"/>
          <p:cNvSpPr/>
          <p:nvPr/>
        </p:nvSpPr>
        <p:spPr>
          <a:xfrm>
            <a:off x="6820138" y="3736181"/>
            <a:ext cx="1140500" cy="200025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el-1782912280335-29"/>
          <p:cNvSpPr/>
          <p:nvPr/>
        </p:nvSpPr>
        <p:spPr>
          <a:xfrm>
            <a:off x="4850606" y="3993356"/>
            <a:ext cx="842963" cy="200025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el-1782912280338-32"/>
          <p:cNvSpPr/>
          <p:nvPr/>
        </p:nvSpPr>
        <p:spPr>
          <a:xfrm>
            <a:off x="6179344" y="3993356"/>
            <a:ext cx="826978" cy="200025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el-1782912280339-34"/>
          <p:cNvSpPr/>
          <p:nvPr/>
        </p:nvSpPr>
        <p:spPr>
          <a:xfrm>
            <a:off x="7092047" y="3993356"/>
            <a:ext cx="1457414" cy="200025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el-1782912280342-36"/>
          <p:cNvSpPr/>
          <p:nvPr/>
        </p:nvSpPr>
        <p:spPr>
          <a:xfrm>
            <a:off x="4850606" y="4250531"/>
            <a:ext cx="785902" cy="200025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el-1782912280300-2"/>
          <p:cNvSpPr/>
          <p:nvPr/>
        </p:nvSpPr>
        <p:spPr>
          <a:xfrm>
            <a:off x="0" y="4800600"/>
            <a:ext cx="9144000" cy="3429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7" name="el-1782912280301-4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el-1782912280304-5"/>
          <p:cNvSpPr txBox="1"/>
          <p:nvPr/>
        </p:nvSpPr>
        <p:spPr>
          <a:xfrm>
            <a:off x="400050" y="179308"/>
            <a:ext cx="51488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r>
              <a:rPr sz="6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9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37</a:t>
            </a:r>
            <a:endParaRPr sz="900" b="1" spc="28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el-1782912280310-9"/>
          <p:cNvSpPr txBox="1"/>
          <p:nvPr/>
        </p:nvSpPr>
        <p:spPr>
          <a:xfrm>
            <a:off x="1086485" y="179070"/>
            <a:ext cx="1657985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第二章 · 系统架构与数据采集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el-1782912280310-10"/>
          <p:cNvSpPr txBox="1"/>
          <p:nvPr/>
        </p:nvSpPr>
        <p:spPr>
          <a:xfrm>
            <a:off x="2772886" y="179308"/>
            <a:ext cx="96619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D0D0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900">
              <a:solidFill>
                <a:srgbClr val="D0D0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el-1782912280311-11"/>
          <p:cNvSpPr txBox="1"/>
          <p:nvPr/>
        </p:nvSpPr>
        <p:spPr>
          <a:xfrm>
            <a:off x="2938086" y="195818"/>
            <a:ext cx="108585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技术栈与编译工具链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el-1782912280309-7"/>
          <p:cNvSpPr txBox="1"/>
          <p:nvPr/>
        </p:nvSpPr>
        <p:spPr>
          <a:xfrm>
            <a:off x="542925" y="554355"/>
            <a:ext cx="3979069" cy="2228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6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▎技术栈全景</a:t>
            </a:r>
            <a:endParaRPr sz="146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el-1782912280412-74"/>
          <p:cNvSpPr txBox="1"/>
          <p:nvPr/>
        </p:nvSpPr>
        <p:spPr>
          <a:xfrm>
            <a:off x="621506" y="1052989"/>
            <a:ext cx="34004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17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</a:t>
            </a:r>
            <a:endParaRPr sz="780" b="1" spc="17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el-1782912280415-76"/>
          <p:cNvSpPr txBox="1"/>
          <p:nvPr/>
        </p:nvSpPr>
        <p:spPr>
          <a:xfrm>
            <a:off x="982980" y="1027271"/>
            <a:ext cx="1067544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Programming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el-1782912280415-77"/>
          <p:cNvSpPr txBox="1"/>
          <p:nvPr/>
        </p:nvSpPr>
        <p:spPr>
          <a:xfrm>
            <a:off x="621506" y="1273016"/>
            <a:ext cx="1086118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(BPF + 加载器)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el-1782912280417-79"/>
          <p:cNvSpPr txBox="1"/>
          <p:nvPr/>
        </p:nvSpPr>
        <p:spPr>
          <a:xfrm>
            <a:off x="1804065" y="1273016"/>
            <a:ext cx="1212205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 (分析/标注)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el-1782912280420-81"/>
          <p:cNvSpPr txBox="1"/>
          <p:nvPr/>
        </p:nvSpPr>
        <p:spPr>
          <a:xfrm>
            <a:off x="3112711" y="1273016"/>
            <a:ext cx="911185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 (帧/温控)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el-1782912280422-83"/>
          <p:cNvSpPr txBox="1"/>
          <p:nvPr/>
        </p:nvSpPr>
        <p:spPr>
          <a:xfrm>
            <a:off x="621506" y="1512332"/>
            <a:ext cx="1180147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Bash / PowerShell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el-1782912280424-85"/>
          <p:cNvSpPr txBox="1"/>
          <p:nvPr/>
        </p:nvSpPr>
        <p:spPr>
          <a:xfrm>
            <a:off x="621506" y="2034540"/>
            <a:ext cx="34004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17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内核</a:t>
            </a:r>
            <a:endParaRPr sz="780" b="1" spc="17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el-1782912280426-87"/>
          <p:cNvSpPr txBox="1"/>
          <p:nvPr/>
        </p:nvSpPr>
        <p:spPr>
          <a:xfrm>
            <a:off x="982980" y="2008823"/>
            <a:ext cx="1270427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Kernel &amp; Tracing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el-1782912280426-88"/>
          <p:cNvSpPr txBox="1"/>
          <p:nvPr/>
        </p:nvSpPr>
        <p:spPr>
          <a:xfrm>
            <a:off x="621506" y="2254568"/>
            <a:ext cx="447824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eBPF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el-1782912280429-90"/>
          <p:cNvSpPr txBox="1"/>
          <p:nvPr/>
        </p:nvSpPr>
        <p:spPr>
          <a:xfrm>
            <a:off x="1165771" y="2254568"/>
            <a:ext cx="774561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BPF CO-RE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el-1782912280435-92"/>
          <p:cNvSpPr txBox="1"/>
          <p:nvPr/>
        </p:nvSpPr>
        <p:spPr>
          <a:xfrm>
            <a:off x="2036773" y="2254568"/>
            <a:ext cx="797064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Ring Buffer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el-1782912280438-94"/>
          <p:cNvSpPr txBox="1"/>
          <p:nvPr/>
        </p:nvSpPr>
        <p:spPr>
          <a:xfrm>
            <a:off x="2930277" y="2254568"/>
            <a:ext cx="988784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BPF Hash Map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el-1782912280440-96"/>
          <p:cNvSpPr txBox="1"/>
          <p:nvPr/>
        </p:nvSpPr>
        <p:spPr>
          <a:xfrm>
            <a:off x="621506" y="2493883"/>
            <a:ext cx="611416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Perfetto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el-1782912280442-98"/>
          <p:cNvSpPr txBox="1"/>
          <p:nvPr/>
        </p:nvSpPr>
        <p:spPr>
          <a:xfrm>
            <a:off x="621506" y="3016091"/>
            <a:ext cx="34004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17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</a:t>
            </a:r>
            <a:endParaRPr sz="780" b="1" spc="17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el-1782912280444-100"/>
          <p:cNvSpPr txBox="1"/>
          <p:nvPr/>
        </p:nvSpPr>
        <p:spPr>
          <a:xfrm>
            <a:off x="982980" y="2990374"/>
            <a:ext cx="1390085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Build &amp; Algorithm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el-1782912280445-101"/>
          <p:cNvSpPr txBox="1"/>
          <p:nvPr/>
        </p:nvSpPr>
        <p:spPr>
          <a:xfrm>
            <a:off x="621506" y="3236119"/>
            <a:ext cx="780365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GNU Make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el-1782912280447-103"/>
          <p:cNvSpPr txBox="1"/>
          <p:nvPr/>
        </p:nvSpPr>
        <p:spPr>
          <a:xfrm>
            <a:off x="1498312" y="3236119"/>
            <a:ext cx="1306503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NDK clang (ARM64)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el-1782912280449-105"/>
          <p:cNvSpPr txBox="1"/>
          <p:nvPr/>
        </p:nvSpPr>
        <p:spPr>
          <a:xfrm>
            <a:off x="2901255" y="3236119"/>
            <a:ext cx="892612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Brandes 介数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el-1782912280450-107"/>
          <p:cNvSpPr txBox="1"/>
          <p:nvPr/>
        </p:nvSpPr>
        <p:spPr>
          <a:xfrm>
            <a:off x="621506" y="3475434"/>
            <a:ext cx="634365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多源 BFS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el-1782912280453-109"/>
          <p:cNvSpPr txBox="1"/>
          <p:nvPr/>
        </p:nvSpPr>
        <p:spPr>
          <a:xfrm>
            <a:off x="621506" y="3997643"/>
            <a:ext cx="34004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17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导出</a:t>
            </a:r>
            <a:endParaRPr sz="780" b="1" spc="17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el-1782912280455-111"/>
          <p:cNvSpPr txBox="1"/>
          <p:nvPr/>
        </p:nvSpPr>
        <p:spPr>
          <a:xfrm>
            <a:off x="982980" y="3971925"/>
            <a:ext cx="1272570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Export &amp; Library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el-1782912280455-112"/>
          <p:cNvSpPr txBox="1"/>
          <p:nvPr/>
        </p:nvSpPr>
        <p:spPr>
          <a:xfrm>
            <a:off x="621506" y="4217670"/>
            <a:ext cx="819567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JSON / CSV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el-1782912280458-114"/>
          <p:cNvSpPr txBox="1"/>
          <p:nvPr/>
        </p:nvSpPr>
        <p:spPr>
          <a:xfrm>
            <a:off x="1537514" y="4217670"/>
            <a:ext cx="949583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Graphviz DOT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el-1782912280461-116"/>
          <p:cNvSpPr txBox="1"/>
          <p:nvPr/>
        </p:nvSpPr>
        <p:spPr>
          <a:xfrm>
            <a:off x="2583537" y="4217670"/>
            <a:ext cx="386298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SVG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el-1782912280464-118"/>
          <p:cNvSpPr txBox="1"/>
          <p:nvPr/>
        </p:nvSpPr>
        <p:spPr>
          <a:xfrm>
            <a:off x="3066276" y="4217670"/>
            <a:ext cx="892790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libbpf / libelf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el-1782912280466-120"/>
          <p:cNvSpPr txBox="1"/>
          <p:nvPr/>
        </p:nvSpPr>
        <p:spPr>
          <a:xfrm>
            <a:off x="621506" y="4456986"/>
            <a:ext cx="774204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scikit-learn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el-1782912280310-8"/>
          <p:cNvSpPr txBox="1"/>
          <p:nvPr/>
        </p:nvSpPr>
        <p:spPr>
          <a:xfrm>
            <a:off x="4857750" y="554355"/>
            <a:ext cx="3979069" cy="2228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6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▎编译 &amp; 部署流程</a:t>
            </a:r>
            <a:endParaRPr sz="146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el-1782912280327-21"/>
          <p:cNvSpPr txBox="1"/>
          <p:nvPr/>
        </p:nvSpPr>
        <p:spPr>
          <a:xfrm>
            <a:off x="4864894" y="1070134"/>
            <a:ext cx="3800475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交叉编译 → 部署 → 采集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el-1782912280362-41"/>
          <p:cNvSpPr txBox="1"/>
          <p:nvPr/>
        </p:nvSpPr>
        <p:spPr>
          <a:xfrm>
            <a:off x="4979194" y="1444466"/>
            <a:ext cx="614988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 spc="1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Docker</a:t>
            </a:r>
            <a:endParaRPr sz="950" b="1" spc="1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el-1782912280365-43"/>
          <p:cNvSpPr txBox="1"/>
          <p:nvPr/>
        </p:nvSpPr>
        <p:spPr>
          <a:xfrm>
            <a:off x="5576322" y="1421606"/>
            <a:ext cx="235744" cy="2057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23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el-1782912280365-44"/>
          <p:cNvSpPr txBox="1"/>
          <p:nvPr/>
        </p:nvSpPr>
        <p:spPr>
          <a:xfrm>
            <a:off x="5890647" y="1444466"/>
            <a:ext cx="788045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 spc="1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NDK r26b</a:t>
            </a:r>
            <a:endParaRPr sz="950" b="1" spc="1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el-1782912280368-46"/>
          <p:cNvSpPr txBox="1"/>
          <p:nvPr/>
        </p:nvSpPr>
        <p:spPr>
          <a:xfrm>
            <a:off x="6660833" y="1421606"/>
            <a:ext cx="235744" cy="2057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23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el-1782912280368-47"/>
          <p:cNvSpPr txBox="1"/>
          <p:nvPr/>
        </p:nvSpPr>
        <p:spPr>
          <a:xfrm>
            <a:off x="6960870" y="1453039"/>
            <a:ext cx="975033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 spc="1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clang (ARM64)</a:t>
            </a:r>
            <a:endParaRPr sz="840" b="1" spc="1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el-1782912280370-49"/>
          <p:cNvSpPr txBox="1"/>
          <p:nvPr/>
        </p:nvSpPr>
        <p:spPr>
          <a:xfrm>
            <a:off x="7925187" y="1421606"/>
            <a:ext cx="235744" cy="2057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23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el-1782912280371-50"/>
          <p:cNvSpPr txBox="1"/>
          <p:nvPr/>
        </p:nvSpPr>
        <p:spPr>
          <a:xfrm>
            <a:off x="4964906" y="1770221"/>
            <a:ext cx="664369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 spc="1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adb push</a:t>
            </a:r>
            <a:endParaRPr sz="840" b="1" spc="1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el-1782912280372-52"/>
          <p:cNvSpPr txBox="1"/>
          <p:nvPr/>
        </p:nvSpPr>
        <p:spPr>
          <a:xfrm>
            <a:off x="5618559" y="1738789"/>
            <a:ext cx="235744" cy="2057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23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el-1782912280373-53"/>
          <p:cNvSpPr txBox="1"/>
          <p:nvPr/>
        </p:nvSpPr>
        <p:spPr>
          <a:xfrm>
            <a:off x="5932884" y="1761649"/>
            <a:ext cx="769203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 spc="1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bpf() 加载</a:t>
            </a:r>
            <a:endParaRPr sz="950" b="1" spc="1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el-1782912280375-55"/>
          <p:cNvSpPr txBox="1"/>
          <p:nvPr/>
        </p:nvSpPr>
        <p:spPr>
          <a:xfrm>
            <a:off x="6684228" y="1738789"/>
            <a:ext cx="235744" cy="2057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23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el-1782912280376-56"/>
          <p:cNvSpPr txBox="1"/>
          <p:nvPr/>
        </p:nvSpPr>
        <p:spPr>
          <a:xfrm>
            <a:off x="6984266" y="1770221"/>
            <a:ext cx="565964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 spc="1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ringbuf</a:t>
            </a:r>
            <a:endParaRPr sz="840" b="1" spc="1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el-1782912280378-58"/>
          <p:cNvSpPr txBox="1"/>
          <p:nvPr/>
        </p:nvSpPr>
        <p:spPr>
          <a:xfrm>
            <a:off x="4964906" y="2150269"/>
            <a:ext cx="870287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Ubuntu 22.04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el-1782912280380-60"/>
          <p:cNvSpPr txBox="1"/>
          <p:nvPr/>
        </p:nvSpPr>
        <p:spPr>
          <a:xfrm>
            <a:off x="5916186" y="2150269"/>
            <a:ext cx="936903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libbpf 静态编译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el-1782912280383-62"/>
          <p:cNvSpPr txBox="1"/>
          <p:nvPr/>
        </p:nvSpPr>
        <p:spPr>
          <a:xfrm>
            <a:off x="6934081" y="2150269"/>
            <a:ext cx="1422856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450~690 MB events.bin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el-1782912280327-22"/>
          <p:cNvSpPr txBox="1"/>
          <p:nvPr/>
        </p:nvSpPr>
        <p:spPr>
          <a:xfrm>
            <a:off x="4879181" y="2743200"/>
            <a:ext cx="3807619" cy="1943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📱 目标设备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el-1782912280385-64"/>
          <p:cNvSpPr txBox="1"/>
          <p:nvPr/>
        </p:nvSpPr>
        <p:spPr>
          <a:xfrm>
            <a:off x="4964906" y="2994660"/>
            <a:ext cx="1048703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 Pixel 6a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el-1782912280387-66"/>
          <p:cNvSpPr txBox="1"/>
          <p:nvPr/>
        </p:nvSpPr>
        <p:spPr>
          <a:xfrm>
            <a:off x="6152912" y="2994660"/>
            <a:ext cx="794653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Android 14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el-1782912280389-68"/>
          <p:cNvSpPr txBox="1"/>
          <p:nvPr/>
        </p:nvSpPr>
        <p:spPr>
          <a:xfrm>
            <a:off x="7086868" y="2994660"/>
            <a:ext cx="720537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Kernel 6.1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el-1782912280392-70"/>
          <p:cNvSpPr txBox="1"/>
          <p:nvPr/>
        </p:nvSpPr>
        <p:spPr>
          <a:xfrm>
            <a:off x="7946708" y="2994660"/>
            <a:ext cx="629811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BTF 启用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el-1782912280394-72"/>
          <p:cNvSpPr txBox="1"/>
          <p:nvPr/>
        </p:nvSpPr>
        <p:spPr>
          <a:xfrm>
            <a:off x="4964906" y="3226118"/>
            <a:ext cx="700445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Root 权限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1" name="el-1782912280328-23"/>
          <p:cNvSpPr txBox="1"/>
          <p:nvPr/>
        </p:nvSpPr>
        <p:spPr>
          <a:xfrm>
            <a:off x="4850606" y="3750469"/>
            <a:ext cx="450056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图算法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el-1782912280328-24"/>
          <p:cNvSpPr txBox="1"/>
          <p:nvPr/>
        </p:nvSpPr>
        <p:spPr>
          <a:xfrm>
            <a:off x="5422106" y="3750469"/>
            <a:ext cx="137660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Brandes k-sampling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el-1782912280331-26"/>
          <p:cNvSpPr txBox="1"/>
          <p:nvPr/>
        </p:nvSpPr>
        <p:spPr>
          <a:xfrm>
            <a:off x="6920151" y="3750469"/>
            <a:ext cx="110478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多源 BFS 邻近度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el-1782912280333-28"/>
          <p:cNvSpPr txBox="1"/>
          <p:nvPr/>
        </p:nvSpPr>
        <p:spPr>
          <a:xfrm>
            <a:off x="4950619" y="4007644"/>
            <a:ext cx="807244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启发式对比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" name="el-1782912280335-30"/>
          <p:cNvSpPr txBox="1"/>
          <p:nvPr/>
        </p:nvSpPr>
        <p:spPr>
          <a:xfrm>
            <a:off x="5836444" y="4007644"/>
            <a:ext cx="321469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导出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" name="el-1782912280336-31"/>
          <p:cNvSpPr txBox="1"/>
          <p:nvPr/>
        </p:nvSpPr>
        <p:spPr>
          <a:xfrm>
            <a:off x="6279356" y="4007644"/>
            <a:ext cx="79126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result.json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" name="el-1782912280338-33"/>
          <p:cNvSpPr txBox="1"/>
          <p:nvPr/>
        </p:nvSpPr>
        <p:spPr>
          <a:xfrm>
            <a:off x="7192060" y="4007644"/>
            <a:ext cx="1421696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graph_topology.json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el-1782912280340-35"/>
          <p:cNvSpPr txBox="1"/>
          <p:nvPr/>
        </p:nvSpPr>
        <p:spPr>
          <a:xfrm>
            <a:off x="4950619" y="4264819"/>
            <a:ext cx="750183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hints.json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" name="el-1782912280312-14"/>
          <p:cNvSpPr txBox="1"/>
          <p:nvPr/>
        </p:nvSpPr>
        <p:spPr>
          <a:xfrm>
            <a:off x="400050" y="4907042"/>
            <a:ext cx="53506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0" name="el-1782912280313-15"/>
          <p:cNvSpPr txBox="1"/>
          <p:nvPr/>
        </p:nvSpPr>
        <p:spPr>
          <a:xfrm>
            <a:off x="1056561" y="4907042"/>
            <a:ext cx="7911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1" name="el-1782912280313-16"/>
          <p:cNvSpPr txBox="1"/>
          <p:nvPr/>
        </p:nvSpPr>
        <p:spPr>
          <a:xfrm>
            <a:off x="1257121" y="4907042"/>
            <a:ext cx="44103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</a:t>
            </a:r>
            <a:r>
              <a:rPr lang="en-US" altLang="en-US"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altLang="en-US"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2" name="el-1782912280305-6"/>
          <p:cNvSpPr txBox="1"/>
          <p:nvPr/>
        </p:nvSpPr>
        <p:spPr>
          <a:xfrm>
            <a:off x="7152005" y="4843780"/>
            <a:ext cx="1642110" cy="2006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第二章 · 系统架构与数据采集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-1782912280611-3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</p:pic>
      <p:cxnSp>
        <p:nvCxnSpPr>
          <p:cNvPr id="3" name="el-1782912280490-1"/>
          <p:cNvCxnSpPr/>
          <p:nvPr/>
        </p:nvCxnSpPr>
        <p:spPr>
          <a:xfrm>
            <a:off x="575072" y="1143000"/>
            <a:ext cx="914" cy="2857500"/>
          </a:xfrm>
          <a:prstGeom prst="line">
            <a:avLst/>
          </a:prstGeom>
          <a:ln w="9525" cap="flat">
            <a:solidFill>
              <a:srgbClr val="D4A017">
                <a:alpha val="12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2912280497-4"/>
          <p:cNvSpPr/>
          <p:nvPr/>
        </p:nvSpPr>
        <p:spPr>
          <a:xfrm>
            <a:off x="8608219" y="857250"/>
            <a:ext cx="21431" cy="3429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4A017">
                  <a:alpha val="60000"/>
                </a:srgbClr>
              </a:gs>
              <a:gs pos="100000">
                <a:srgbClr val="D4A017">
                  <a:alpha val="5000"/>
                </a:srgbClr>
              </a:gs>
            </a:gsLst>
            <a:lin ang="540000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5" name="el-1782912280514-10"/>
          <p:cNvSpPr/>
          <p:nvPr/>
        </p:nvSpPr>
        <p:spPr>
          <a:xfrm>
            <a:off x="428625" y="3714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2912280515-11"/>
          <p:cNvSpPr/>
          <p:nvPr/>
        </p:nvSpPr>
        <p:spPr>
          <a:xfrm>
            <a:off x="542925" y="3714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2912280517-12"/>
          <p:cNvSpPr/>
          <p:nvPr/>
        </p:nvSpPr>
        <p:spPr>
          <a:xfrm>
            <a:off x="657225" y="3714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2912280518-13"/>
          <p:cNvSpPr/>
          <p:nvPr/>
        </p:nvSpPr>
        <p:spPr>
          <a:xfrm>
            <a:off x="771525" y="3714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2912280520-14"/>
          <p:cNvSpPr/>
          <p:nvPr/>
        </p:nvSpPr>
        <p:spPr>
          <a:xfrm>
            <a:off x="428625" y="4857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2912280522-15"/>
          <p:cNvSpPr/>
          <p:nvPr/>
        </p:nvSpPr>
        <p:spPr>
          <a:xfrm>
            <a:off x="542925" y="4857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2912280525-16"/>
          <p:cNvSpPr/>
          <p:nvPr/>
        </p:nvSpPr>
        <p:spPr>
          <a:xfrm>
            <a:off x="657225" y="4857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2912280528-17"/>
          <p:cNvSpPr/>
          <p:nvPr/>
        </p:nvSpPr>
        <p:spPr>
          <a:xfrm>
            <a:off x="771525" y="4857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2912280529-18"/>
          <p:cNvSpPr/>
          <p:nvPr/>
        </p:nvSpPr>
        <p:spPr>
          <a:xfrm>
            <a:off x="428625" y="6000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2912280531-19"/>
          <p:cNvSpPr/>
          <p:nvPr/>
        </p:nvSpPr>
        <p:spPr>
          <a:xfrm>
            <a:off x="542925" y="6000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2912280532-20"/>
          <p:cNvSpPr/>
          <p:nvPr/>
        </p:nvSpPr>
        <p:spPr>
          <a:xfrm>
            <a:off x="657225" y="6000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2912280533-21"/>
          <p:cNvSpPr/>
          <p:nvPr/>
        </p:nvSpPr>
        <p:spPr>
          <a:xfrm>
            <a:off x="771525" y="6000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2912280535-22"/>
          <p:cNvSpPr/>
          <p:nvPr/>
        </p:nvSpPr>
        <p:spPr>
          <a:xfrm>
            <a:off x="428625" y="7143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2912280536-23"/>
          <p:cNvSpPr/>
          <p:nvPr/>
        </p:nvSpPr>
        <p:spPr>
          <a:xfrm>
            <a:off x="542925" y="7143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2912280539-24"/>
          <p:cNvSpPr/>
          <p:nvPr/>
        </p:nvSpPr>
        <p:spPr>
          <a:xfrm>
            <a:off x="657225" y="7143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2912280540-25"/>
          <p:cNvSpPr/>
          <p:nvPr/>
        </p:nvSpPr>
        <p:spPr>
          <a:xfrm>
            <a:off x="771525" y="7143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el-1782912280541-26"/>
          <p:cNvSpPr/>
          <p:nvPr/>
        </p:nvSpPr>
        <p:spPr>
          <a:xfrm>
            <a:off x="428625" y="8286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2912280542-27"/>
          <p:cNvSpPr/>
          <p:nvPr/>
        </p:nvSpPr>
        <p:spPr>
          <a:xfrm>
            <a:off x="542925" y="8286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-1782912280544-28"/>
          <p:cNvSpPr/>
          <p:nvPr/>
        </p:nvSpPr>
        <p:spPr>
          <a:xfrm>
            <a:off x="657225" y="8286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2912280546-29"/>
          <p:cNvSpPr/>
          <p:nvPr/>
        </p:nvSpPr>
        <p:spPr>
          <a:xfrm>
            <a:off x="771525" y="8286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el-1782912280547-30"/>
          <p:cNvSpPr/>
          <p:nvPr/>
        </p:nvSpPr>
        <p:spPr>
          <a:xfrm>
            <a:off x="428625" y="9429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82912280548-31"/>
          <p:cNvSpPr/>
          <p:nvPr/>
        </p:nvSpPr>
        <p:spPr>
          <a:xfrm>
            <a:off x="542925" y="9429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el-1782912280549-32"/>
          <p:cNvSpPr/>
          <p:nvPr/>
        </p:nvSpPr>
        <p:spPr>
          <a:xfrm>
            <a:off x="657225" y="9429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-1782912280551-33"/>
          <p:cNvSpPr/>
          <p:nvPr/>
        </p:nvSpPr>
        <p:spPr>
          <a:xfrm>
            <a:off x="771525" y="9429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el-1782912280493-3"/>
          <p:cNvSpPr txBox="1"/>
          <p:nvPr/>
        </p:nvSpPr>
        <p:spPr>
          <a:xfrm>
            <a:off x="400050" y="1785938"/>
            <a:ext cx="2598539" cy="1571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70" b="1" spc="-495">
                <a:solidFill>
                  <a:srgbClr val="D4A017">
                    <a:alpha val="1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370" b="1" spc="-495">
              <a:solidFill>
                <a:srgbClr val="D4A017">
                  <a:alpha val="12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" name="el-1782912280510-9"/>
          <p:cNvCxnSpPr/>
          <p:nvPr/>
        </p:nvCxnSpPr>
        <p:spPr>
          <a:xfrm>
            <a:off x="871538" y="1182291"/>
            <a:ext cx="914" cy="180023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el-1782912280509-8"/>
          <p:cNvCxnSpPr/>
          <p:nvPr/>
        </p:nvCxnSpPr>
        <p:spPr>
          <a:xfrm>
            <a:off x="857250" y="2600325"/>
            <a:ext cx="4314825" cy="914"/>
          </a:xfrm>
          <a:prstGeom prst="line">
            <a:avLst/>
          </a:prstGeom>
          <a:ln w="7144" cap="flat">
            <a:solidFill>
              <a:srgbClr val="D4A017">
                <a:alpha val="25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l-1782912280508-7"/>
          <p:cNvSpPr txBox="1"/>
          <p:nvPr/>
        </p:nvSpPr>
        <p:spPr>
          <a:xfrm>
            <a:off x="1014413" y="1182291"/>
            <a:ext cx="1996500" cy="18002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spc="225">
                <a:solidFill>
                  <a:srgbClr val="D4A017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3 · 场景与实验</a:t>
            </a:r>
            <a:endParaRPr sz="1010" spc="225">
              <a:solidFill>
                <a:srgbClr val="D4A017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82912280506-5"/>
          <p:cNvSpPr txBox="1"/>
          <p:nvPr/>
        </p:nvSpPr>
        <p:spPr>
          <a:xfrm>
            <a:off x="857250" y="1504950"/>
            <a:ext cx="5431155" cy="8915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3505"/>
              </a:lnSpc>
            </a:pPr>
            <a:r>
              <a:rPr sz="2920" b="1" spc="-29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· </a:t>
            </a:r>
            <a:r>
              <a:rPr sz="2920" b="1" spc="-29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五大场景与实验设计</a:t>
            </a:r>
            <a:endParaRPr sz="2920" b="1" spc="-29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2912280507-6"/>
          <p:cNvSpPr txBox="1"/>
          <p:nvPr/>
        </p:nvSpPr>
        <p:spPr>
          <a:xfrm>
            <a:off x="857250" y="2746772"/>
            <a:ext cx="4314825" cy="12144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12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为验证 TracePilot 的通用性与鲁棒性，本章设计并覆盖了 </a:t>
            </a:r>
            <a:r>
              <a:rPr sz="112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个差异化显著的采集场景</a:t>
            </a:r>
            <a:r>
              <a:rPr sz="112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——页面切换、视频浏览、信息流滚动、相机拍照、游戏对局。每个场景代表不同的线程模型、事件规模和性能特征，通过多场景验证确保系统在真实 Android 交互负载下的有效性和可靠性。</a:t>
            </a:r>
            <a:endParaRPr sz="112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82912280492-2"/>
          <p:cNvSpPr txBox="1"/>
          <p:nvPr/>
        </p:nvSpPr>
        <p:spPr>
          <a:xfrm>
            <a:off x="7731323" y="4777740"/>
            <a:ext cx="106263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56">
                <a:solidFill>
                  <a:srgbClr val="FFFFFF">
                    <a:alpha val="2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 </a:t>
            </a:r>
            <a:r>
              <a:rPr sz="780" spc="56">
                <a:solidFill>
                  <a:srgbClr val="D4A017">
                    <a:alpha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r>
              <a:rPr sz="780" spc="56">
                <a:solidFill>
                  <a:srgbClr val="FFFFFF">
                    <a:alpha val="2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2026.0</a:t>
            </a:r>
            <a:r>
              <a:rPr lang="en-US" altLang="en-US" sz="780" spc="56">
                <a:solidFill>
                  <a:srgbClr val="FFFFFF">
                    <a:alpha val="2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altLang="en-US" sz="780" spc="56">
              <a:solidFill>
                <a:srgbClr val="FFFFFF">
                  <a:alpha val="2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2912280625-1"/>
          <p:cNvSpPr/>
          <p:nvPr/>
        </p:nvSpPr>
        <p:spPr>
          <a:xfrm>
            <a:off x="0" y="0"/>
            <a:ext cx="9144000" cy="5143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2912280628-3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2912280644-13"/>
          <p:cNvCxnSpPr/>
          <p:nvPr/>
        </p:nvCxnSpPr>
        <p:spPr>
          <a:xfrm>
            <a:off x="414338" y="756523"/>
            <a:ext cx="914" cy="137160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2912280649-17"/>
          <p:cNvSpPr/>
          <p:nvPr/>
        </p:nvSpPr>
        <p:spPr>
          <a:xfrm>
            <a:off x="400050" y="1065133"/>
            <a:ext cx="2705070" cy="1303020"/>
          </a:xfrm>
          <a:prstGeom prst="roundRect">
            <a:avLst>
              <a:gd name="adj" fmla="val 5848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el-1782912280696-41"/>
          <p:cNvSpPr/>
          <p:nvPr/>
        </p:nvSpPr>
        <p:spPr>
          <a:xfrm>
            <a:off x="535781" y="1188006"/>
            <a:ext cx="185738" cy="185738"/>
          </a:xfrm>
          <a:prstGeom prst="ellipse">
            <a:avLst/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2912280699-44"/>
          <p:cNvSpPr/>
          <p:nvPr/>
        </p:nvSpPr>
        <p:spPr>
          <a:xfrm>
            <a:off x="2519333" y="1206579"/>
            <a:ext cx="450056" cy="148590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8" name="el-1782912280682-30"/>
          <p:cNvCxnSpPr/>
          <p:nvPr/>
        </p:nvCxnSpPr>
        <p:spPr>
          <a:xfrm>
            <a:off x="535781" y="1971675"/>
            <a:ext cx="2433608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2912280651-18"/>
          <p:cNvSpPr/>
          <p:nvPr/>
        </p:nvSpPr>
        <p:spPr>
          <a:xfrm>
            <a:off x="3219420" y="1065133"/>
            <a:ext cx="2705070" cy="1303020"/>
          </a:xfrm>
          <a:prstGeom prst="roundRect">
            <a:avLst>
              <a:gd name="adj" fmla="val 5848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2912280701-46"/>
          <p:cNvSpPr/>
          <p:nvPr/>
        </p:nvSpPr>
        <p:spPr>
          <a:xfrm>
            <a:off x="3355152" y="1188006"/>
            <a:ext cx="185738" cy="185738"/>
          </a:xfrm>
          <a:prstGeom prst="ellipse">
            <a:avLst/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2912280704-49"/>
          <p:cNvSpPr/>
          <p:nvPr/>
        </p:nvSpPr>
        <p:spPr>
          <a:xfrm>
            <a:off x="5338703" y="1206579"/>
            <a:ext cx="450056" cy="148590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2" name="el-1782912280683-31"/>
          <p:cNvCxnSpPr/>
          <p:nvPr/>
        </p:nvCxnSpPr>
        <p:spPr>
          <a:xfrm>
            <a:off x="3355152" y="1971675"/>
            <a:ext cx="2433608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2912280654-19"/>
          <p:cNvSpPr/>
          <p:nvPr/>
        </p:nvSpPr>
        <p:spPr>
          <a:xfrm>
            <a:off x="6038791" y="1065133"/>
            <a:ext cx="2705160" cy="1303020"/>
          </a:xfrm>
          <a:prstGeom prst="roundRect">
            <a:avLst>
              <a:gd name="adj" fmla="val 5848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2912280706-51"/>
          <p:cNvSpPr/>
          <p:nvPr/>
        </p:nvSpPr>
        <p:spPr>
          <a:xfrm>
            <a:off x="6174522" y="1188006"/>
            <a:ext cx="185738" cy="185738"/>
          </a:xfrm>
          <a:prstGeom prst="ellipse">
            <a:avLst/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2912280709-54"/>
          <p:cNvSpPr/>
          <p:nvPr/>
        </p:nvSpPr>
        <p:spPr>
          <a:xfrm>
            <a:off x="8065294" y="1206579"/>
            <a:ext cx="542925" cy="148590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6" name="el-1782912280684-32"/>
          <p:cNvCxnSpPr/>
          <p:nvPr/>
        </p:nvCxnSpPr>
        <p:spPr>
          <a:xfrm>
            <a:off x="6174522" y="1971675"/>
            <a:ext cx="2433697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2912280656-20"/>
          <p:cNvSpPr/>
          <p:nvPr/>
        </p:nvSpPr>
        <p:spPr>
          <a:xfrm>
            <a:off x="400050" y="2511028"/>
            <a:ext cx="2536031" cy="2144554"/>
          </a:xfrm>
          <a:prstGeom prst="roundRect">
            <a:avLst>
              <a:gd name="adj" fmla="val 3553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el-1782912280711-56"/>
          <p:cNvSpPr/>
          <p:nvPr/>
        </p:nvSpPr>
        <p:spPr>
          <a:xfrm>
            <a:off x="535781" y="2633901"/>
            <a:ext cx="185738" cy="185738"/>
          </a:xfrm>
          <a:prstGeom prst="ellipse">
            <a:avLst/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2912280714-59"/>
          <p:cNvSpPr/>
          <p:nvPr/>
        </p:nvSpPr>
        <p:spPr>
          <a:xfrm>
            <a:off x="2350294" y="2652475"/>
            <a:ext cx="450056" cy="148590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0" name="el-1782912280685-33"/>
          <p:cNvCxnSpPr/>
          <p:nvPr/>
        </p:nvCxnSpPr>
        <p:spPr>
          <a:xfrm>
            <a:off x="535781" y="3417570"/>
            <a:ext cx="2264569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2912280658-21"/>
          <p:cNvSpPr/>
          <p:nvPr/>
        </p:nvSpPr>
        <p:spPr>
          <a:xfrm>
            <a:off x="3050381" y="2511028"/>
            <a:ext cx="2536031" cy="2144554"/>
          </a:xfrm>
          <a:prstGeom prst="roundRect">
            <a:avLst>
              <a:gd name="adj" fmla="val 3553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22" name="el-1782912280719-61"/>
          <p:cNvSpPr/>
          <p:nvPr/>
        </p:nvSpPr>
        <p:spPr>
          <a:xfrm>
            <a:off x="3186113" y="2633901"/>
            <a:ext cx="185738" cy="185738"/>
          </a:xfrm>
          <a:prstGeom prst="ellipse">
            <a:avLst/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-1782912280723-64"/>
          <p:cNvSpPr/>
          <p:nvPr/>
        </p:nvSpPr>
        <p:spPr>
          <a:xfrm>
            <a:off x="5000625" y="2652475"/>
            <a:ext cx="450056" cy="148590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4" name="el-1782912280686-34"/>
          <p:cNvCxnSpPr/>
          <p:nvPr/>
        </p:nvCxnSpPr>
        <p:spPr>
          <a:xfrm>
            <a:off x="3186113" y="3417570"/>
            <a:ext cx="2264569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l-1782912280660-22"/>
          <p:cNvSpPr/>
          <p:nvPr/>
        </p:nvSpPr>
        <p:spPr>
          <a:xfrm>
            <a:off x="5700713" y="2511028"/>
            <a:ext cx="3043238" cy="214455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8125" y="0"/>
                </a:lnTo>
                <a:lnTo>
                  <a:pt x="98309" y="13"/>
                </a:lnTo>
                <a:lnTo>
                  <a:pt x="98491" y="53"/>
                </a:lnTo>
                <a:lnTo>
                  <a:pt x="98669" y="116"/>
                </a:lnTo>
                <a:lnTo>
                  <a:pt x="98844" y="204"/>
                </a:lnTo>
                <a:lnTo>
                  <a:pt x="99009" y="316"/>
                </a:lnTo>
                <a:lnTo>
                  <a:pt x="99166" y="449"/>
                </a:lnTo>
                <a:lnTo>
                  <a:pt x="99316" y="604"/>
                </a:lnTo>
                <a:lnTo>
                  <a:pt x="99450" y="782"/>
                </a:lnTo>
                <a:lnTo>
                  <a:pt x="99575" y="973"/>
                </a:lnTo>
                <a:lnTo>
                  <a:pt x="99684" y="1187"/>
                </a:lnTo>
                <a:lnTo>
                  <a:pt x="99778" y="1409"/>
                </a:lnTo>
                <a:lnTo>
                  <a:pt x="99856" y="1644"/>
                </a:lnTo>
                <a:lnTo>
                  <a:pt x="99919" y="1893"/>
                </a:lnTo>
                <a:lnTo>
                  <a:pt x="99963" y="2147"/>
                </a:lnTo>
                <a:lnTo>
                  <a:pt x="99991" y="2404"/>
                </a:lnTo>
                <a:lnTo>
                  <a:pt x="100000" y="2667"/>
                </a:lnTo>
                <a:lnTo>
                  <a:pt x="100000" y="97333"/>
                </a:lnTo>
                <a:lnTo>
                  <a:pt x="99991" y="97596"/>
                </a:lnTo>
                <a:lnTo>
                  <a:pt x="99963" y="97853"/>
                </a:lnTo>
                <a:lnTo>
                  <a:pt x="99919" y="98107"/>
                </a:lnTo>
                <a:lnTo>
                  <a:pt x="99856" y="98356"/>
                </a:lnTo>
                <a:lnTo>
                  <a:pt x="99778" y="98591"/>
                </a:lnTo>
                <a:lnTo>
                  <a:pt x="99684" y="98813"/>
                </a:lnTo>
                <a:lnTo>
                  <a:pt x="99575" y="99027"/>
                </a:lnTo>
                <a:lnTo>
                  <a:pt x="99450" y="99218"/>
                </a:lnTo>
                <a:lnTo>
                  <a:pt x="99316" y="99396"/>
                </a:lnTo>
                <a:lnTo>
                  <a:pt x="99166" y="99551"/>
                </a:lnTo>
                <a:lnTo>
                  <a:pt x="99009" y="99684"/>
                </a:lnTo>
                <a:lnTo>
                  <a:pt x="98844" y="99796"/>
                </a:lnTo>
                <a:lnTo>
                  <a:pt x="98669" y="99884"/>
                </a:lnTo>
                <a:lnTo>
                  <a:pt x="98491" y="99947"/>
                </a:lnTo>
                <a:lnTo>
                  <a:pt x="98309" y="99987"/>
                </a:lnTo>
                <a:lnTo>
                  <a:pt x="98125" y="100000"/>
                </a:lnTo>
                <a:lnTo>
                  <a:pt x="0" y="100000"/>
                </a:lnTo>
                <a:lnTo>
                  <a:pt x="0" y="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82912280664-23"/>
          <p:cNvSpPr/>
          <p:nvPr/>
        </p:nvSpPr>
        <p:spPr>
          <a:xfrm>
            <a:off x="5700713" y="2511028"/>
            <a:ext cx="3043238" cy="214455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0" y="0"/>
                </a:lnTo>
              </a:path>
            </a:pathLst>
          </a:custGeom>
          <a:noFill/>
          <a:ln w="35719" algn="in">
            <a:solidFill>
              <a:srgbClr val="D4A017"/>
            </a:solidFill>
            <a:prstDash val="solid"/>
          </a:ln>
        </p:spPr>
        <p:txBody>
          <a:bodyPr/>
          <a:lstStyle/>
          <a:p/>
        </p:txBody>
      </p:sp>
      <p:sp>
        <p:nvSpPr>
          <p:cNvPr id="27" name="el-1782912280626-2"/>
          <p:cNvSpPr/>
          <p:nvPr/>
        </p:nvSpPr>
        <p:spPr>
          <a:xfrm>
            <a:off x="0" y="4800600"/>
            <a:ext cx="9144000" cy="3429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8" name="el-1782912280628-4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-1782912280631-5"/>
          <p:cNvSpPr txBox="1"/>
          <p:nvPr/>
        </p:nvSpPr>
        <p:spPr>
          <a:xfrm>
            <a:off x="400050" y="179308"/>
            <a:ext cx="51488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sz="6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9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37</a:t>
            </a:r>
            <a:endParaRPr sz="900" b="1" spc="28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2912280642-10"/>
          <p:cNvSpPr txBox="1"/>
          <p:nvPr/>
        </p:nvSpPr>
        <p:spPr>
          <a:xfrm>
            <a:off x="1086485" y="179070"/>
            <a:ext cx="1806575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· 五大场景与实验设计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2912280642-11"/>
          <p:cNvSpPr txBox="1"/>
          <p:nvPr/>
        </p:nvSpPr>
        <p:spPr>
          <a:xfrm>
            <a:off x="2796381" y="179308"/>
            <a:ext cx="96619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D0D0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900">
              <a:solidFill>
                <a:srgbClr val="D0D0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82912280643-12"/>
          <p:cNvSpPr txBox="1"/>
          <p:nvPr/>
        </p:nvSpPr>
        <p:spPr>
          <a:xfrm>
            <a:off x="3015556" y="195818"/>
            <a:ext cx="97155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五大采集场景覆盖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82912280640-8"/>
          <p:cNvSpPr txBox="1"/>
          <p:nvPr/>
        </p:nvSpPr>
        <p:spPr>
          <a:xfrm>
            <a:off x="528638" y="756523"/>
            <a:ext cx="618738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56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▎场景矩阵</a:t>
            </a:r>
            <a:endParaRPr sz="900" b="1" spc="56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2912280641-9"/>
          <p:cNvSpPr txBox="1"/>
          <p:nvPr/>
        </p:nvSpPr>
        <p:spPr>
          <a:xfrm>
            <a:off x="1204526" y="659368"/>
            <a:ext cx="1688783" cy="2628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-1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五大采集场景覆盖</a:t>
            </a:r>
            <a:endParaRPr sz="1570" b="1" spc="-1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82912280640-7"/>
          <p:cNvSpPr txBox="1"/>
          <p:nvPr/>
        </p:nvSpPr>
        <p:spPr>
          <a:xfrm>
            <a:off x="6968490" y="733425"/>
            <a:ext cx="1839595" cy="1911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sz="101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场景 · </a:t>
            </a: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sz="101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应用 · 全链路验证</a:t>
            </a:r>
            <a:endParaRPr sz="101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82912280694-40"/>
          <p:cNvSpPr txBox="1"/>
          <p:nvPr/>
        </p:nvSpPr>
        <p:spPr>
          <a:xfrm>
            <a:off x="485775" y="1188006"/>
            <a:ext cx="285750" cy="185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78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l-1782912280697-42"/>
          <p:cNvSpPr txBox="1"/>
          <p:nvPr/>
        </p:nvSpPr>
        <p:spPr>
          <a:xfrm>
            <a:off x="792956" y="1186577"/>
            <a:ext cx="642938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页面切换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el-1782912280697-43"/>
          <p:cNvSpPr txBox="1"/>
          <p:nvPr/>
        </p:nvSpPr>
        <p:spPr>
          <a:xfrm>
            <a:off x="2605058" y="1220867"/>
            <a:ext cx="410766" cy="12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lang="zh-CN" altLang="en-US" sz="73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调度频繁</a:t>
            </a:r>
            <a:endParaRPr lang="zh-CN" altLang="en-US" sz="73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el-1782912280670-24"/>
          <p:cNvSpPr txBox="1"/>
          <p:nvPr/>
        </p:nvSpPr>
        <p:spPr>
          <a:xfrm>
            <a:off x="535781" y="1475184"/>
            <a:ext cx="2433608" cy="3643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25"/>
              </a:lnSpc>
            </a:pPr>
            <a:r>
              <a:rPr lang="en-US" altLang="zh-CN"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WeChat</a:t>
            </a:r>
            <a:r>
              <a:rPr lang="en-US" altLang="zh-CN"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690 MB events.bin · Runnable Delay </a:t>
            </a:r>
            <a:r>
              <a:rPr lang="zh-CN" altLang="en-US"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辅助分析</a:t>
            </a:r>
            <a:endParaRPr lang="zh-CN" altLang="en-US"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l-1782912280745-80"/>
          <p:cNvSpPr txBox="1"/>
          <p:nvPr/>
        </p:nvSpPr>
        <p:spPr>
          <a:xfrm>
            <a:off x="535781" y="2046684"/>
            <a:ext cx="26789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el-1782912280740-70"/>
          <p:cNvSpPr txBox="1"/>
          <p:nvPr/>
        </p:nvSpPr>
        <p:spPr>
          <a:xfrm>
            <a:off x="778669" y="2046684"/>
            <a:ext cx="74625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lang="en-US" altLang="zh-CN" sz="84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SurfaceFlinger</a:t>
            </a:r>
            <a:endParaRPr lang="en-US" altLang="zh-CN" sz="84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el-1782912280745-81"/>
          <p:cNvSpPr txBox="1"/>
          <p:nvPr/>
        </p:nvSpPr>
        <p:spPr>
          <a:xfrm>
            <a:off x="1571357" y="2046684"/>
            <a:ext cx="26789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探针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el-1782912280740-71"/>
          <p:cNvSpPr txBox="1"/>
          <p:nvPr/>
        </p:nvSpPr>
        <p:spPr>
          <a:xfrm>
            <a:off x="1814195" y="2046605"/>
            <a:ext cx="118491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lang="en-US" altLang="zh-CN" sz="84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Tracepoints + eBPF</a:t>
            </a:r>
            <a:endParaRPr lang="en-US" altLang="zh-CN" sz="84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l-1782912280700-45"/>
          <p:cNvSpPr txBox="1"/>
          <p:nvPr/>
        </p:nvSpPr>
        <p:spPr>
          <a:xfrm>
            <a:off x="3305145" y="1188006"/>
            <a:ext cx="285750" cy="185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78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el-1782912280701-47"/>
          <p:cNvSpPr txBox="1"/>
          <p:nvPr/>
        </p:nvSpPr>
        <p:spPr>
          <a:xfrm>
            <a:off x="3612327" y="1186577"/>
            <a:ext cx="642938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视频浏览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el-1782912280702-48"/>
          <p:cNvSpPr txBox="1"/>
          <p:nvPr/>
        </p:nvSpPr>
        <p:spPr>
          <a:xfrm>
            <a:off x="5424428" y="1220867"/>
            <a:ext cx="410766" cy="12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增强版</a:t>
            </a:r>
            <a:endParaRPr sz="73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el-1782912280671-25"/>
          <p:cNvSpPr txBox="1"/>
          <p:nvPr/>
        </p:nvSpPr>
        <p:spPr>
          <a:xfrm>
            <a:off x="3355152" y="1475184"/>
            <a:ext cx="2433608" cy="3643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25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抖音</a:t>
            </a: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451~459MB · Binder/Futex 图 + Jank 分类 + Hint Engine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el-1782912280745-82"/>
          <p:cNvSpPr txBox="1"/>
          <p:nvPr/>
        </p:nvSpPr>
        <p:spPr>
          <a:xfrm>
            <a:off x="3355152" y="2046684"/>
            <a:ext cx="26789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管线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el-1782912280741-72"/>
          <p:cNvSpPr txBox="1"/>
          <p:nvPr/>
        </p:nvSpPr>
        <p:spPr>
          <a:xfrm>
            <a:off x="3598039" y="2046684"/>
            <a:ext cx="88323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解码+渲染双管线</a:t>
            </a:r>
            <a:endParaRPr sz="84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el-1782912280746-83"/>
          <p:cNvSpPr txBox="1"/>
          <p:nvPr/>
        </p:nvSpPr>
        <p:spPr>
          <a:xfrm>
            <a:off x="4527709" y="2046684"/>
            <a:ext cx="375047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帧类型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el-1782912280741-73"/>
          <p:cNvSpPr txBox="1"/>
          <p:nvPr/>
        </p:nvSpPr>
        <p:spPr>
          <a:xfrm>
            <a:off x="4877752" y="2046684"/>
            <a:ext cx="734199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SF/VD/VF/AP</a:t>
            </a:r>
            <a:endParaRPr sz="84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el-1782912280704-50"/>
          <p:cNvSpPr txBox="1"/>
          <p:nvPr/>
        </p:nvSpPr>
        <p:spPr>
          <a:xfrm>
            <a:off x="6124516" y="1188006"/>
            <a:ext cx="285750" cy="185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78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el-1782912280706-52"/>
          <p:cNvSpPr txBox="1"/>
          <p:nvPr/>
        </p:nvSpPr>
        <p:spPr>
          <a:xfrm>
            <a:off x="6431697" y="1186577"/>
            <a:ext cx="785813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信息流滚动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el-1782912280707-53"/>
          <p:cNvSpPr txBox="1"/>
          <p:nvPr/>
        </p:nvSpPr>
        <p:spPr>
          <a:xfrm>
            <a:off x="8151019" y="1220867"/>
            <a:ext cx="503634" cy="12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高频压力</a:t>
            </a:r>
            <a:endParaRPr sz="73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el-1782912280673-26"/>
          <p:cNvSpPr txBox="1"/>
          <p:nvPr/>
        </p:nvSpPr>
        <p:spPr>
          <a:xfrm>
            <a:off x="6174522" y="1475184"/>
            <a:ext cx="2433697" cy="3643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25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Chrome</a:t>
            </a: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261万事件 / 34s · 秒级聚合 + 34线程 + Step2 Binder/启发式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el-1782912280746-84"/>
          <p:cNvSpPr txBox="1"/>
          <p:nvPr/>
        </p:nvSpPr>
        <p:spPr>
          <a:xfrm>
            <a:off x="6174522" y="2046684"/>
            <a:ext cx="482203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事件密度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el-1782912280741-74"/>
          <p:cNvSpPr txBox="1"/>
          <p:nvPr/>
        </p:nvSpPr>
        <p:spPr>
          <a:xfrm>
            <a:off x="6631722" y="2046684"/>
            <a:ext cx="48711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~7.6万/s</a:t>
            </a:r>
            <a:endParaRPr sz="84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el-1782912280747-85"/>
          <p:cNvSpPr txBox="1"/>
          <p:nvPr/>
        </p:nvSpPr>
        <p:spPr>
          <a:xfrm>
            <a:off x="7165271" y="2046684"/>
            <a:ext cx="26789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线程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el-1782912280741-75"/>
          <p:cNvSpPr txBox="1"/>
          <p:nvPr/>
        </p:nvSpPr>
        <p:spPr>
          <a:xfrm>
            <a:off x="7408159" y="2046684"/>
            <a:ext cx="83171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 Chrome相关</a:t>
            </a:r>
            <a:endParaRPr sz="84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el-1782912280709-55"/>
          <p:cNvSpPr txBox="1"/>
          <p:nvPr/>
        </p:nvSpPr>
        <p:spPr>
          <a:xfrm>
            <a:off x="485775" y="2633901"/>
            <a:ext cx="285750" cy="185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78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el-1782912280712-57"/>
          <p:cNvSpPr txBox="1"/>
          <p:nvPr/>
        </p:nvSpPr>
        <p:spPr>
          <a:xfrm>
            <a:off x="792956" y="2632472"/>
            <a:ext cx="642938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相机拍照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el-1782912280712-58"/>
          <p:cNvSpPr txBox="1"/>
          <p:nvPr/>
        </p:nvSpPr>
        <p:spPr>
          <a:xfrm>
            <a:off x="2436019" y="2666762"/>
            <a:ext cx="410766" cy="12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全自动</a:t>
            </a:r>
            <a:endParaRPr sz="73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el-1782912280674-27"/>
          <p:cNvSpPr txBox="1"/>
          <p:nvPr/>
        </p:nvSpPr>
        <p:spPr>
          <a:xfrm>
            <a:off x="535781" y="2921079"/>
            <a:ext cx="2264569" cy="3643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25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 Camera</a:t>
            </a: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460万事件 / 30s · 13探针 + 内核内延迟 + 全自动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el-1782912280747-86"/>
          <p:cNvSpPr txBox="1"/>
          <p:nvPr/>
        </p:nvSpPr>
        <p:spPr>
          <a:xfrm>
            <a:off x="535781" y="3492579"/>
            <a:ext cx="460772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Pipeline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el-1782912280742-76"/>
          <p:cNvSpPr txBox="1"/>
          <p:nvPr/>
        </p:nvSpPr>
        <p:spPr>
          <a:xfrm>
            <a:off x="971550" y="3492579"/>
            <a:ext cx="111835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auto_run.py 一键完成</a:t>
            </a:r>
            <a:endParaRPr sz="84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el-1782912280748-87"/>
          <p:cNvSpPr txBox="1"/>
          <p:nvPr/>
        </p:nvSpPr>
        <p:spPr>
          <a:xfrm>
            <a:off x="535781" y="3678317"/>
            <a:ext cx="26789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el-1782912280742-77"/>
          <p:cNvSpPr txBox="1"/>
          <p:nvPr/>
        </p:nvSpPr>
        <p:spPr>
          <a:xfrm>
            <a:off x="778669" y="3678317"/>
            <a:ext cx="715089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16种线程角色</a:t>
            </a:r>
            <a:endParaRPr sz="84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el-1782912280714-60"/>
          <p:cNvSpPr txBox="1"/>
          <p:nvPr/>
        </p:nvSpPr>
        <p:spPr>
          <a:xfrm>
            <a:off x="3136106" y="2633901"/>
            <a:ext cx="285750" cy="185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78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el-1782912280719-62"/>
          <p:cNvSpPr txBox="1"/>
          <p:nvPr/>
        </p:nvSpPr>
        <p:spPr>
          <a:xfrm>
            <a:off x="3443288" y="2632472"/>
            <a:ext cx="642938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游戏对局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el-1782912280720-63"/>
          <p:cNvSpPr txBox="1"/>
          <p:nvPr/>
        </p:nvSpPr>
        <p:spPr>
          <a:xfrm>
            <a:off x="5086350" y="2666762"/>
            <a:ext cx="410766" cy="12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大规模</a:t>
            </a:r>
            <a:endParaRPr sz="73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el-1782912280675-28"/>
          <p:cNvSpPr txBox="1"/>
          <p:nvPr/>
        </p:nvSpPr>
        <p:spPr>
          <a:xfrm>
            <a:off x="3186113" y="2921079"/>
            <a:ext cx="2264569" cy="3643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25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王者荣耀</a:t>
            </a: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2.1GB / 60s · Unity 引擎 + FrameTimeline + 图拓扑 60K 节点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el-1782912280748-88"/>
          <p:cNvSpPr txBox="1"/>
          <p:nvPr/>
        </p:nvSpPr>
        <p:spPr>
          <a:xfrm>
            <a:off x="3186113" y="3492579"/>
            <a:ext cx="26789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el-1782912280742-78"/>
          <p:cNvSpPr txBox="1"/>
          <p:nvPr/>
        </p:nvSpPr>
        <p:spPr>
          <a:xfrm>
            <a:off x="3429000" y="3492579"/>
            <a:ext cx="47309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~60,000</a:t>
            </a:r>
            <a:endParaRPr sz="84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el-1782912280748-89"/>
          <p:cNvSpPr txBox="1"/>
          <p:nvPr/>
        </p:nvSpPr>
        <p:spPr>
          <a:xfrm>
            <a:off x="3948529" y="3492579"/>
            <a:ext cx="16073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el-1782912280743-79"/>
          <p:cNvSpPr txBox="1"/>
          <p:nvPr/>
        </p:nvSpPr>
        <p:spPr>
          <a:xfrm>
            <a:off x="4084261" y="3492579"/>
            <a:ext cx="4102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~4,000</a:t>
            </a:r>
            <a:endParaRPr sz="84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el-1782912280678-29"/>
          <p:cNvSpPr txBox="1"/>
          <p:nvPr/>
        </p:nvSpPr>
        <p:spPr>
          <a:xfrm>
            <a:off x="5865019" y="2668191"/>
            <a:ext cx="2821781" cy="1943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🎯 场景多样性价值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el-1782912280724-65"/>
          <p:cNvSpPr txBox="1"/>
          <p:nvPr/>
        </p:nvSpPr>
        <p:spPr>
          <a:xfrm>
            <a:off x="5865019" y="3019663"/>
            <a:ext cx="189309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el-1782912280689-35"/>
          <p:cNvSpPr txBox="1"/>
          <p:nvPr/>
        </p:nvSpPr>
        <p:spPr>
          <a:xfrm>
            <a:off x="6050756" y="3019663"/>
            <a:ext cx="2082493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页面切换 → </a:t>
            </a:r>
            <a:r>
              <a:rPr lang="en-US" altLang="zh-CN"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SurfaceFlinger</a:t>
            </a: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框架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el-1782912280724-66"/>
          <p:cNvSpPr txBox="1"/>
          <p:nvPr/>
        </p:nvSpPr>
        <p:spPr>
          <a:xfrm>
            <a:off x="5865019" y="3346847"/>
            <a:ext cx="189309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el-1782912280690-36"/>
          <p:cNvSpPr txBox="1"/>
          <p:nvPr/>
        </p:nvSpPr>
        <p:spPr>
          <a:xfrm>
            <a:off x="6050756" y="3346847"/>
            <a:ext cx="1751916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视频浏览 → 解码 + 渲染双管线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el-1782912280726-67"/>
          <p:cNvSpPr txBox="1"/>
          <p:nvPr/>
        </p:nvSpPr>
        <p:spPr>
          <a:xfrm>
            <a:off x="5865019" y="3674031"/>
            <a:ext cx="189309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el-1782912280690-37"/>
          <p:cNvSpPr txBox="1"/>
          <p:nvPr/>
        </p:nvSpPr>
        <p:spPr>
          <a:xfrm>
            <a:off x="6050756" y="3674031"/>
            <a:ext cx="1832818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信息流滚动 → 高频事件压力测试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el-1782912280726-68"/>
          <p:cNvSpPr txBox="1"/>
          <p:nvPr/>
        </p:nvSpPr>
        <p:spPr>
          <a:xfrm>
            <a:off x="5865019" y="4001215"/>
            <a:ext cx="189309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el-1782912280690-38"/>
          <p:cNvSpPr txBox="1"/>
          <p:nvPr/>
        </p:nvSpPr>
        <p:spPr>
          <a:xfrm>
            <a:off x="6050756" y="4001215"/>
            <a:ext cx="1381780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相机 → HAL 层密集调用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el-1782912280727-69"/>
          <p:cNvSpPr txBox="1"/>
          <p:nvPr/>
        </p:nvSpPr>
        <p:spPr>
          <a:xfrm>
            <a:off x="5865019" y="4328398"/>
            <a:ext cx="189309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el-1782912280691-39"/>
          <p:cNvSpPr txBox="1"/>
          <p:nvPr/>
        </p:nvSpPr>
        <p:spPr>
          <a:xfrm>
            <a:off x="6050756" y="4328398"/>
            <a:ext cx="1933277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游戏 → Unity 引擎非标准线程模型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el-1782912280645-14"/>
          <p:cNvSpPr txBox="1"/>
          <p:nvPr/>
        </p:nvSpPr>
        <p:spPr>
          <a:xfrm>
            <a:off x="400050" y="4907042"/>
            <a:ext cx="53506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el-1782912280645-15"/>
          <p:cNvSpPr txBox="1"/>
          <p:nvPr/>
        </p:nvSpPr>
        <p:spPr>
          <a:xfrm>
            <a:off x="1056561" y="4907042"/>
            <a:ext cx="7911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el-1782912280646-16"/>
          <p:cNvSpPr txBox="1"/>
          <p:nvPr/>
        </p:nvSpPr>
        <p:spPr>
          <a:xfrm>
            <a:off x="1257121" y="4907042"/>
            <a:ext cx="44103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</a:t>
            </a:r>
            <a:r>
              <a:rPr lang="en-US" altLang="en-US"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altLang="en-US"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el-1782912280632-6"/>
          <p:cNvSpPr txBox="1"/>
          <p:nvPr/>
        </p:nvSpPr>
        <p:spPr>
          <a:xfrm>
            <a:off x="7165340" y="4907280"/>
            <a:ext cx="1628775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· 五大场景与实验设计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2912280977-1"/>
          <p:cNvSpPr/>
          <p:nvPr/>
        </p:nvSpPr>
        <p:spPr>
          <a:xfrm>
            <a:off x="0" y="0"/>
            <a:ext cx="9144000" cy="34480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2912280979-3"/>
          <p:cNvCxnSpPr/>
          <p:nvPr/>
        </p:nvCxnSpPr>
        <p:spPr>
          <a:xfrm>
            <a:off x="0" y="344408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2912280997-16"/>
          <p:cNvSpPr/>
          <p:nvPr/>
        </p:nvSpPr>
        <p:spPr>
          <a:xfrm>
            <a:off x="400050" y="843280"/>
            <a:ext cx="4100830" cy="3082925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el-1782912281042-37"/>
          <p:cNvSpPr/>
          <p:nvPr/>
        </p:nvSpPr>
        <p:spPr>
          <a:xfrm>
            <a:off x="2934970" y="1002665"/>
            <a:ext cx="1415415" cy="288290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2912280999-17"/>
          <p:cNvSpPr/>
          <p:nvPr/>
        </p:nvSpPr>
        <p:spPr>
          <a:xfrm>
            <a:off x="4501515" y="843280"/>
            <a:ext cx="4242435" cy="29387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2912281051-49"/>
          <p:cNvSpPr/>
          <p:nvPr/>
        </p:nvSpPr>
        <p:spPr>
          <a:xfrm>
            <a:off x="8022431" y="1142286"/>
            <a:ext cx="571500" cy="14859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2912281064-69"/>
          <p:cNvCxnSpPr/>
          <p:nvPr/>
        </p:nvCxnSpPr>
        <p:spPr>
          <a:xfrm>
            <a:off x="4793456" y="1648777"/>
            <a:ext cx="142875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-1782912281065-70"/>
          <p:cNvCxnSpPr/>
          <p:nvPr/>
        </p:nvCxnSpPr>
        <p:spPr>
          <a:xfrm>
            <a:off x="4993481" y="1648777"/>
            <a:ext cx="1089422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2912281066-71"/>
          <p:cNvCxnSpPr/>
          <p:nvPr/>
        </p:nvCxnSpPr>
        <p:spPr>
          <a:xfrm>
            <a:off x="6140053" y="1648777"/>
            <a:ext cx="1089422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-1782912281066-72"/>
          <p:cNvCxnSpPr/>
          <p:nvPr/>
        </p:nvCxnSpPr>
        <p:spPr>
          <a:xfrm>
            <a:off x="7286625" y="1648777"/>
            <a:ext cx="1307306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2912281000-18"/>
          <p:cNvSpPr/>
          <p:nvPr/>
        </p:nvSpPr>
        <p:spPr>
          <a:xfrm>
            <a:off x="415290" y="3939540"/>
            <a:ext cx="8599805" cy="5842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9315" y="0"/>
                </a:lnTo>
                <a:lnTo>
                  <a:pt x="99382" y="35"/>
                </a:lnTo>
                <a:lnTo>
                  <a:pt x="99449" y="140"/>
                </a:lnTo>
                <a:lnTo>
                  <a:pt x="99514" y="302"/>
                </a:lnTo>
                <a:lnTo>
                  <a:pt x="99578" y="535"/>
                </a:lnTo>
                <a:lnTo>
                  <a:pt x="99638" y="826"/>
                </a:lnTo>
                <a:lnTo>
                  <a:pt x="99695" y="1174"/>
                </a:lnTo>
                <a:lnTo>
                  <a:pt x="99750" y="1581"/>
                </a:lnTo>
                <a:lnTo>
                  <a:pt x="99799" y="2047"/>
                </a:lnTo>
                <a:lnTo>
                  <a:pt x="99845" y="2547"/>
                </a:lnTo>
                <a:lnTo>
                  <a:pt x="99885" y="3105"/>
                </a:lnTo>
                <a:lnTo>
                  <a:pt x="99919" y="3686"/>
                </a:lnTo>
                <a:lnTo>
                  <a:pt x="99947" y="4302"/>
                </a:lnTo>
                <a:lnTo>
                  <a:pt x="99970" y="4953"/>
                </a:lnTo>
                <a:lnTo>
                  <a:pt x="99986" y="5616"/>
                </a:lnTo>
                <a:lnTo>
                  <a:pt x="99997" y="6291"/>
                </a:lnTo>
                <a:lnTo>
                  <a:pt x="100000" y="6977"/>
                </a:lnTo>
                <a:lnTo>
                  <a:pt x="100000" y="93023"/>
                </a:lnTo>
                <a:lnTo>
                  <a:pt x="99997" y="93709"/>
                </a:lnTo>
                <a:lnTo>
                  <a:pt x="99986" y="94384"/>
                </a:lnTo>
                <a:lnTo>
                  <a:pt x="99970" y="95047"/>
                </a:lnTo>
                <a:lnTo>
                  <a:pt x="99947" y="95698"/>
                </a:lnTo>
                <a:lnTo>
                  <a:pt x="99919" y="96314"/>
                </a:lnTo>
                <a:lnTo>
                  <a:pt x="99885" y="96895"/>
                </a:lnTo>
                <a:lnTo>
                  <a:pt x="99845" y="97453"/>
                </a:lnTo>
                <a:lnTo>
                  <a:pt x="99799" y="97953"/>
                </a:lnTo>
                <a:lnTo>
                  <a:pt x="99750" y="98419"/>
                </a:lnTo>
                <a:lnTo>
                  <a:pt x="99695" y="98826"/>
                </a:lnTo>
                <a:lnTo>
                  <a:pt x="99638" y="99174"/>
                </a:lnTo>
                <a:lnTo>
                  <a:pt x="99578" y="99465"/>
                </a:lnTo>
                <a:lnTo>
                  <a:pt x="99514" y="99698"/>
                </a:lnTo>
                <a:lnTo>
                  <a:pt x="99449" y="99860"/>
                </a:lnTo>
                <a:lnTo>
                  <a:pt x="99382" y="99965"/>
                </a:lnTo>
                <a:lnTo>
                  <a:pt x="99315" y="100000"/>
                </a:lnTo>
                <a:lnTo>
                  <a:pt x="0" y="100000"/>
                </a:lnTo>
                <a:lnTo>
                  <a:pt x="0" y="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2912281002-19"/>
          <p:cNvSpPr/>
          <p:nvPr/>
        </p:nvSpPr>
        <p:spPr>
          <a:xfrm>
            <a:off x="400050" y="4082415"/>
            <a:ext cx="8343900" cy="5060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0" y="0"/>
                </a:lnTo>
              </a:path>
            </a:pathLst>
          </a:custGeom>
          <a:noFill/>
          <a:ln w="35719" algn="in">
            <a:solidFill>
              <a:srgbClr val="D4A017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2912280978-2"/>
          <p:cNvSpPr/>
          <p:nvPr/>
        </p:nvSpPr>
        <p:spPr>
          <a:xfrm>
            <a:off x="0" y="4800600"/>
            <a:ext cx="9144000" cy="3429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6" name="el-1782912280979-4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2912280982-5"/>
          <p:cNvSpPr txBox="1"/>
          <p:nvPr/>
        </p:nvSpPr>
        <p:spPr>
          <a:xfrm>
            <a:off x="400050" y="179308"/>
            <a:ext cx="51488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r>
              <a:rPr sz="6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9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37</a:t>
            </a:r>
            <a:endParaRPr sz="900" b="1" spc="28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2912280989-9"/>
          <p:cNvSpPr txBox="1"/>
          <p:nvPr/>
        </p:nvSpPr>
        <p:spPr>
          <a:xfrm>
            <a:off x="899795" y="170815"/>
            <a:ext cx="1794510" cy="1733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· 五大场景与实验设计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2912280990-10"/>
          <p:cNvSpPr txBox="1"/>
          <p:nvPr/>
        </p:nvSpPr>
        <p:spPr>
          <a:xfrm>
            <a:off x="2597626" y="179308"/>
            <a:ext cx="96619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D0D0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900">
              <a:solidFill>
                <a:srgbClr val="D0D0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2912280990-11"/>
          <p:cNvSpPr txBox="1"/>
          <p:nvPr/>
        </p:nvSpPr>
        <p:spPr>
          <a:xfrm>
            <a:off x="2699961" y="179308"/>
            <a:ext cx="184148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页面切换场景 — 综合分析报告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2912280987-7"/>
          <p:cNvSpPr txBox="1"/>
          <p:nvPr/>
        </p:nvSpPr>
        <p:spPr>
          <a:xfrm>
            <a:off x="400050" y="411480"/>
            <a:ext cx="3587115" cy="2971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 spc="-17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页面切换 · 综合分析报告</a:t>
            </a:r>
            <a:endParaRPr sz="1800" b="1" spc="-17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2912281039-35"/>
          <p:cNvSpPr txBox="1"/>
          <p:nvPr/>
        </p:nvSpPr>
        <p:spPr>
          <a:xfrm>
            <a:off x="549910" y="1122045"/>
            <a:ext cx="1795145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两次采集对照 · Run 1 &amp; Run 2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2912281040-36"/>
          <p:cNvSpPr txBox="1"/>
          <p:nvPr/>
        </p:nvSpPr>
        <p:spPr>
          <a:xfrm>
            <a:off x="3060065" y="1057275"/>
            <a:ext cx="1224280" cy="2190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page_switch_run1 / page_switch</a:t>
            </a:r>
            <a:endParaRPr lang="en-US" altLang="en-US" sz="73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2912281042-38"/>
          <p:cNvSpPr txBox="1"/>
          <p:nvPr/>
        </p:nvSpPr>
        <p:spPr>
          <a:xfrm>
            <a:off x="494030" y="1439545"/>
            <a:ext cx="105029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分析模式</a:t>
            </a:r>
            <a:endParaRPr sz="101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2912281027-23"/>
          <p:cNvSpPr txBox="1"/>
          <p:nvPr/>
        </p:nvSpPr>
        <p:spPr>
          <a:xfrm>
            <a:off x="1544320" y="1422400"/>
            <a:ext cx="2806700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Graph-based Critical Path (-G -k 10)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2912281043-39"/>
          <p:cNvSpPr txBox="1"/>
          <p:nvPr/>
        </p:nvSpPr>
        <p:spPr>
          <a:xfrm>
            <a:off x="550069" y="1746647"/>
            <a:ext cx="190738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采集时长</a:t>
            </a:r>
            <a:endParaRPr sz="101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2912281044-40"/>
          <p:cNvSpPr txBox="1"/>
          <p:nvPr/>
        </p:nvSpPr>
        <p:spPr>
          <a:xfrm>
            <a:off x="2443163" y="1746647"/>
            <a:ext cx="190738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 Session 30 秒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2912281044-41"/>
          <p:cNvSpPr txBox="1"/>
          <p:nvPr/>
        </p:nvSpPr>
        <p:spPr>
          <a:xfrm>
            <a:off x="550069" y="2053828"/>
            <a:ext cx="190738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</a:t>
            </a:r>
            <a:endParaRPr sz="101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2912281029-24"/>
          <p:cNvSpPr txBox="1"/>
          <p:nvPr/>
        </p:nvSpPr>
        <p:spPr>
          <a:xfrm>
            <a:off x="2443163" y="2053828"/>
            <a:ext cx="190738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Pixel 6a, Android 14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2912281045-42"/>
          <p:cNvSpPr txBox="1"/>
          <p:nvPr/>
        </p:nvSpPr>
        <p:spPr>
          <a:xfrm>
            <a:off x="550069" y="2361009"/>
            <a:ext cx="190738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根因分类</a:t>
            </a:r>
            <a:endParaRPr sz="101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82912281030-25"/>
          <p:cNvSpPr txBox="1"/>
          <p:nvPr/>
        </p:nvSpPr>
        <p:spPr>
          <a:xfrm>
            <a:off x="2443163" y="2361009"/>
            <a:ext cx="190738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RUNNABLE_DELAY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82912281045-43"/>
          <p:cNvSpPr txBox="1"/>
          <p:nvPr/>
        </p:nvSpPr>
        <p:spPr>
          <a:xfrm>
            <a:off x="550069" y="2668191"/>
            <a:ext cx="190738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Inference</a:t>
            </a:r>
            <a:endParaRPr sz="101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2912281031-26"/>
          <p:cNvSpPr txBox="1"/>
          <p:nvPr/>
        </p:nvSpPr>
        <p:spPr>
          <a:xfrm>
            <a:off x="2443163" y="2668191"/>
            <a:ext cx="190738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confidence=0.9999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82912281046-44"/>
          <p:cNvSpPr txBox="1"/>
          <p:nvPr/>
        </p:nvSpPr>
        <p:spPr>
          <a:xfrm>
            <a:off x="550069" y="2975372"/>
            <a:ext cx="190738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Run1 events.bin</a:t>
            </a:r>
            <a:endParaRPr sz="101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82912281032-27"/>
          <p:cNvSpPr txBox="1"/>
          <p:nvPr/>
        </p:nvSpPr>
        <p:spPr>
          <a:xfrm>
            <a:off x="2443163" y="2975372"/>
            <a:ext cx="190738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690 MB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l-1782912281047-45"/>
          <p:cNvSpPr txBox="1"/>
          <p:nvPr/>
        </p:nvSpPr>
        <p:spPr>
          <a:xfrm>
            <a:off x="550069" y="3282553"/>
            <a:ext cx="190738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Run2 events.bin</a:t>
            </a:r>
            <a:endParaRPr sz="101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el-1782912281033-28"/>
          <p:cNvSpPr txBox="1"/>
          <p:nvPr/>
        </p:nvSpPr>
        <p:spPr>
          <a:xfrm>
            <a:off x="2443163" y="3282553"/>
            <a:ext cx="190738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459 MB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el-1782912281048-46"/>
          <p:cNvSpPr txBox="1"/>
          <p:nvPr/>
        </p:nvSpPr>
        <p:spPr>
          <a:xfrm>
            <a:off x="550069" y="3589734"/>
            <a:ext cx="190738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Hint</a:t>
            </a:r>
            <a:endParaRPr sz="101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l-1782912281034-29"/>
          <p:cNvSpPr txBox="1"/>
          <p:nvPr/>
        </p:nvSpPr>
        <p:spPr>
          <a:xfrm>
            <a:off x="2443163" y="3589734"/>
            <a:ext cx="190738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PROTECT_UI_CHAIN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el-1782912281048-47"/>
          <p:cNvSpPr txBox="1"/>
          <p:nvPr/>
        </p:nvSpPr>
        <p:spPr>
          <a:xfrm>
            <a:off x="4793456" y="1122283"/>
            <a:ext cx="1223367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核心数据对照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el-1782912281049-48"/>
          <p:cNvSpPr txBox="1"/>
          <p:nvPr/>
        </p:nvSpPr>
        <p:spPr>
          <a:xfrm>
            <a:off x="8122444" y="1156573"/>
            <a:ext cx="517922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</a:t>
            </a:r>
            <a:endParaRPr sz="73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el-1782912281051-50"/>
          <p:cNvSpPr txBox="1"/>
          <p:nvPr/>
        </p:nvSpPr>
        <p:spPr>
          <a:xfrm>
            <a:off x="4661535" y="1439545"/>
            <a:ext cx="332105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</a:t>
            </a:r>
            <a:endParaRPr sz="90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l-1782912281051-51"/>
          <p:cNvSpPr txBox="1"/>
          <p:nvPr/>
        </p:nvSpPr>
        <p:spPr>
          <a:xfrm>
            <a:off x="4993481" y="1439466"/>
            <a:ext cx="1146572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 1</a:t>
            </a:r>
            <a:endParaRPr sz="90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el-1782912281052-52"/>
          <p:cNvSpPr txBox="1"/>
          <p:nvPr/>
        </p:nvSpPr>
        <p:spPr>
          <a:xfrm>
            <a:off x="6140053" y="1439466"/>
            <a:ext cx="1146572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 2</a:t>
            </a:r>
            <a:endParaRPr sz="90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el-1782912281052-53"/>
          <p:cNvSpPr txBox="1"/>
          <p:nvPr/>
        </p:nvSpPr>
        <p:spPr>
          <a:xfrm>
            <a:off x="7286625" y="1439466"/>
            <a:ext cx="136445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差异</a:t>
            </a:r>
            <a:endParaRPr sz="90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el-1782912281052-54"/>
          <p:cNvSpPr txBox="1"/>
          <p:nvPr/>
        </p:nvSpPr>
        <p:spPr>
          <a:xfrm>
            <a:off x="4500880" y="1737995"/>
            <a:ext cx="436245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总帧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el-1782912281053-55"/>
          <p:cNvSpPr txBox="1"/>
          <p:nvPr/>
        </p:nvSpPr>
        <p:spPr>
          <a:xfrm>
            <a:off x="5147945" y="1737995"/>
            <a:ext cx="427990" cy="1327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2,171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el-1782912281035-30"/>
          <p:cNvSpPr txBox="1"/>
          <p:nvPr/>
        </p:nvSpPr>
        <p:spPr>
          <a:xfrm>
            <a:off x="6140053" y="1738074"/>
            <a:ext cx="1150144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1,271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el-1782912281054-56"/>
          <p:cNvSpPr txBox="1"/>
          <p:nvPr/>
        </p:nvSpPr>
        <p:spPr>
          <a:xfrm>
            <a:off x="7286625" y="1738074"/>
            <a:ext cx="1307306" cy="320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4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Run2 采集窗口更短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el-1782912281054-57"/>
          <p:cNvSpPr txBox="1"/>
          <p:nvPr/>
        </p:nvSpPr>
        <p:spPr>
          <a:xfrm>
            <a:off x="4548505" y="2186940"/>
            <a:ext cx="448945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Jank 率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el-1782912281055-58"/>
          <p:cNvSpPr txBox="1"/>
          <p:nvPr/>
        </p:nvSpPr>
        <p:spPr>
          <a:xfrm>
            <a:off x="5147945" y="2186940"/>
            <a:ext cx="534670" cy="1543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72.5%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el-1782912281036-31"/>
          <p:cNvSpPr txBox="1"/>
          <p:nvPr/>
        </p:nvSpPr>
        <p:spPr>
          <a:xfrm>
            <a:off x="6140053" y="2186702"/>
            <a:ext cx="1150144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96.6%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el-1782912281055-59"/>
          <p:cNvSpPr txBox="1"/>
          <p:nvPr/>
        </p:nvSpPr>
        <p:spPr>
          <a:xfrm>
            <a:off x="7286625" y="2186702"/>
            <a:ext cx="1368028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温控导致恶化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el-1782912281055-60"/>
          <p:cNvSpPr txBox="1"/>
          <p:nvPr/>
        </p:nvSpPr>
        <p:spPr>
          <a:xfrm>
            <a:off x="4500245" y="2475230"/>
            <a:ext cx="492125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图规模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el-1782912281056-61"/>
          <p:cNvSpPr txBox="1"/>
          <p:nvPr/>
        </p:nvSpPr>
        <p:spPr>
          <a:xfrm>
            <a:off x="5076190" y="2475230"/>
            <a:ext cx="812165" cy="1917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6,968/5,234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el-1782912281037-32"/>
          <p:cNvSpPr txBox="1"/>
          <p:nvPr/>
        </p:nvSpPr>
        <p:spPr>
          <a:xfrm>
            <a:off x="6140053" y="2475309"/>
            <a:ext cx="1150144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4,799/3,106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el-1782912281056-62"/>
          <p:cNvSpPr txBox="1"/>
          <p:nvPr/>
        </p:nvSpPr>
        <p:spPr>
          <a:xfrm>
            <a:off x="7286625" y="2475309"/>
            <a:ext cx="1368028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节点/边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el-1782912281057-63"/>
          <p:cNvSpPr txBox="1"/>
          <p:nvPr/>
        </p:nvSpPr>
        <p:spPr>
          <a:xfrm>
            <a:off x="4522470" y="2764155"/>
            <a:ext cx="474980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lang="en-US" altLang="en-US"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</a:t>
            </a: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</a:t>
            </a:r>
            <a:r>
              <a:rPr lang="en-US" altLang="en-US"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ermal</a:t>
            </a:r>
            <a:endParaRPr lang="en-US" altLang="en-US"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el-1782912281057-64"/>
          <p:cNvSpPr txBox="1"/>
          <p:nvPr/>
        </p:nvSpPr>
        <p:spPr>
          <a:xfrm>
            <a:off x="5292090" y="2764155"/>
            <a:ext cx="283845" cy="1543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0.00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el-1782912281038-33"/>
          <p:cNvSpPr txBox="1"/>
          <p:nvPr/>
        </p:nvSpPr>
        <p:spPr>
          <a:xfrm>
            <a:off x="6140053" y="2763917"/>
            <a:ext cx="1150144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0.47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el-1782912281058-65"/>
          <p:cNvSpPr txBox="1"/>
          <p:nvPr/>
        </p:nvSpPr>
        <p:spPr>
          <a:xfrm>
            <a:off x="7286625" y="2763917"/>
            <a:ext cx="1368028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Run2 轻度降频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el-1782912281059-66"/>
          <p:cNvSpPr txBox="1"/>
          <p:nvPr/>
        </p:nvSpPr>
        <p:spPr>
          <a:xfrm>
            <a:off x="4500245" y="3052445"/>
            <a:ext cx="497205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Top-1 线程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el-1782912281059-67"/>
          <p:cNvSpPr txBox="1"/>
          <p:nvPr/>
        </p:nvSpPr>
        <p:spPr>
          <a:xfrm>
            <a:off x="5076190" y="3052445"/>
            <a:ext cx="895350" cy="158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tid 103 (0.825)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el-1782912281039-34"/>
          <p:cNvSpPr txBox="1"/>
          <p:nvPr/>
        </p:nvSpPr>
        <p:spPr>
          <a:xfrm>
            <a:off x="6140053" y="3052525"/>
            <a:ext cx="1150144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tid 16945 (0.856)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el-1782912281060-68"/>
          <p:cNvSpPr txBox="1"/>
          <p:nvPr/>
        </p:nvSpPr>
        <p:spPr>
          <a:xfrm>
            <a:off x="7286625" y="3052525"/>
            <a:ext cx="1368028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emitExt_tracker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el-1782912281017-21"/>
          <p:cNvSpPr txBox="1"/>
          <p:nvPr/>
        </p:nvSpPr>
        <p:spPr>
          <a:xfrm>
            <a:off x="4652010" y="3369945"/>
            <a:ext cx="3999230" cy="2978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Futex wait: Run1 202K vs Run2 135K · Binder: Run1 33K vs Run2 28K · 大核频率: Run1 2,093 MHz vs Run2 2,051 MHz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el-1782912281018-22"/>
          <p:cNvSpPr txBox="1"/>
          <p:nvPr/>
        </p:nvSpPr>
        <p:spPr>
          <a:xfrm>
            <a:off x="500539" y="3939461"/>
            <a:ext cx="8093869" cy="1943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📊 核心结论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el-1782912281017-20"/>
          <p:cNvSpPr txBox="1"/>
          <p:nvPr/>
        </p:nvSpPr>
        <p:spPr>
          <a:xfrm>
            <a:off x="539750" y="4133850"/>
            <a:ext cx="8541385" cy="46164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15"/>
              </a:lnSpc>
            </a:pP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两次页面切换采集根因均为 RUNNABLE_DELAY（调度竞争）。Run 2 因温升 4.7°C 触发轻度降频（throttle=0.47），Jank 率从 72.5% 飙升至 96.6%，验证了"温控雪上加霜"效应。Hint Engine 为两次采集各生成 1 条 PROTECT_UI_CHAIN hint（TTL=300ms,rollback=restore_affinity）。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el-1782912280991-13"/>
          <p:cNvSpPr txBox="1"/>
          <p:nvPr/>
        </p:nvSpPr>
        <p:spPr>
          <a:xfrm>
            <a:off x="400050" y="4907042"/>
            <a:ext cx="53506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el-1782912280992-14"/>
          <p:cNvSpPr txBox="1"/>
          <p:nvPr/>
        </p:nvSpPr>
        <p:spPr>
          <a:xfrm>
            <a:off x="1056561" y="4907042"/>
            <a:ext cx="7911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el-1782912280992-15"/>
          <p:cNvSpPr txBox="1"/>
          <p:nvPr/>
        </p:nvSpPr>
        <p:spPr>
          <a:xfrm>
            <a:off x="1257121" y="4907042"/>
            <a:ext cx="44103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</a:t>
            </a:r>
            <a:r>
              <a:rPr lang="en-US" altLang="en-US"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altLang="en-US"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el-1782912280983-6"/>
          <p:cNvSpPr txBox="1"/>
          <p:nvPr/>
        </p:nvSpPr>
        <p:spPr>
          <a:xfrm>
            <a:off x="7171055" y="4933950"/>
            <a:ext cx="1623060" cy="1104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· 五大场景与实验设计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2912281089-1"/>
          <p:cNvSpPr/>
          <p:nvPr/>
        </p:nvSpPr>
        <p:spPr>
          <a:xfrm>
            <a:off x="0" y="0"/>
            <a:ext cx="9144000" cy="5143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2912281091-3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2912281105-13"/>
          <p:cNvCxnSpPr/>
          <p:nvPr/>
        </p:nvCxnSpPr>
        <p:spPr>
          <a:xfrm>
            <a:off x="414338" y="750808"/>
            <a:ext cx="914" cy="137160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2912281112-17"/>
          <p:cNvSpPr/>
          <p:nvPr/>
        </p:nvSpPr>
        <p:spPr>
          <a:xfrm>
            <a:off x="400050" y="1344930"/>
            <a:ext cx="4447540" cy="15398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285" y="0"/>
                </a:moveTo>
                <a:lnTo>
                  <a:pt x="98715" y="0"/>
                </a:lnTo>
                <a:lnTo>
                  <a:pt x="98842" y="14"/>
                </a:lnTo>
                <a:lnTo>
                  <a:pt x="98966" y="56"/>
                </a:lnTo>
                <a:lnTo>
                  <a:pt x="99088" y="121"/>
                </a:lnTo>
                <a:lnTo>
                  <a:pt x="99208" y="214"/>
                </a:lnTo>
                <a:lnTo>
                  <a:pt x="99321" y="330"/>
                </a:lnTo>
                <a:lnTo>
                  <a:pt x="99428" y="470"/>
                </a:lnTo>
                <a:lnTo>
                  <a:pt x="99531" y="633"/>
                </a:lnTo>
                <a:lnTo>
                  <a:pt x="99623" y="819"/>
                </a:lnTo>
                <a:lnTo>
                  <a:pt x="99709" y="1019"/>
                </a:lnTo>
                <a:lnTo>
                  <a:pt x="99784" y="1242"/>
                </a:lnTo>
                <a:lnTo>
                  <a:pt x="99848" y="1474"/>
                </a:lnTo>
                <a:lnTo>
                  <a:pt x="99901" y="1721"/>
                </a:lnTo>
                <a:lnTo>
                  <a:pt x="99944" y="1981"/>
                </a:lnTo>
                <a:lnTo>
                  <a:pt x="99974" y="2247"/>
                </a:lnTo>
                <a:lnTo>
                  <a:pt x="99994" y="2516"/>
                </a:lnTo>
                <a:lnTo>
                  <a:pt x="100000" y="2791"/>
                </a:lnTo>
                <a:lnTo>
                  <a:pt x="100000" y="97209"/>
                </a:lnTo>
                <a:lnTo>
                  <a:pt x="99994" y="97484"/>
                </a:lnTo>
                <a:lnTo>
                  <a:pt x="99974" y="97753"/>
                </a:lnTo>
                <a:lnTo>
                  <a:pt x="99944" y="98019"/>
                </a:lnTo>
                <a:lnTo>
                  <a:pt x="99901" y="98279"/>
                </a:lnTo>
                <a:lnTo>
                  <a:pt x="99848" y="98526"/>
                </a:lnTo>
                <a:lnTo>
                  <a:pt x="99784" y="98758"/>
                </a:lnTo>
                <a:lnTo>
                  <a:pt x="99709" y="98981"/>
                </a:lnTo>
                <a:lnTo>
                  <a:pt x="99623" y="99181"/>
                </a:lnTo>
                <a:lnTo>
                  <a:pt x="99531" y="99367"/>
                </a:lnTo>
                <a:lnTo>
                  <a:pt x="99428" y="99530"/>
                </a:lnTo>
                <a:lnTo>
                  <a:pt x="99321" y="99670"/>
                </a:lnTo>
                <a:lnTo>
                  <a:pt x="99208" y="99786"/>
                </a:lnTo>
                <a:lnTo>
                  <a:pt x="99088" y="99879"/>
                </a:lnTo>
                <a:lnTo>
                  <a:pt x="98966" y="99944"/>
                </a:lnTo>
                <a:lnTo>
                  <a:pt x="98842" y="99986"/>
                </a:lnTo>
                <a:lnTo>
                  <a:pt x="98715" y="100000"/>
                </a:lnTo>
                <a:lnTo>
                  <a:pt x="1285" y="100000"/>
                </a:lnTo>
                <a:lnTo>
                  <a:pt x="1158" y="99986"/>
                </a:lnTo>
                <a:lnTo>
                  <a:pt x="1034" y="99944"/>
                </a:lnTo>
                <a:lnTo>
                  <a:pt x="912" y="99879"/>
                </a:lnTo>
                <a:lnTo>
                  <a:pt x="792" y="99786"/>
                </a:lnTo>
                <a:lnTo>
                  <a:pt x="679" y="99670"/>
                </a:lnTo>
                <a:lnTo>
                  <a:pt x="572" y="99530"/>
                </a:lnTo>
                <a:lnTo>
                  <a:pt x="469" y="99367"/>
                </a:lnTo>
                <a:lnTo>
                  <a:pt x="377" y="99181"/>
                </a:lnTo>
                <a:lnTo>
                  <a:pt x="291" y="98981"/>
                </a:lnTo>
                <a:lnTo>
                  <a:pt x="216" y="98758"/>
                </a:lnTo>
                <a:lnTo>
                  <a:pt x="152" y="98526"/>
                </a:lnTo>
                <a:lnTo>
                  <a:pt x="99" y="98279"/>
                </a:lnTo>
                <a:lnTo>
                  <a:pt x="56" y="98019"/>
                </a:lnTo>
                <a:lnTo>
                  <a:pt x="26" y="97753"/>
                </a:lnTo>
                <a:lnTo>
                  <a:pt x="6" y="97484"/>
                </a:lnTo>
                <a:lnTo>
                  <a:pt x="0" y="97209"/>
                </a:lnTo>
                <a:lnTo>
                  <a:pt x="0" y="2791"/>
                </a:lnTo>
                <a:lnTo>
                  <a:pt x="6" y="2516"/>
                </a:lnTo>
                <a:lnTo>
                  <a:pt x="26" y="2247"/>
                </a:lnTo>
                <a:lnTo>
                  <a:pt x="56" y="1981"/>
                </a:lnTo>
                <a:lnTo>
                  <a:pt x="99" y="1721"/>
                </a:lnTo>
                <a:lnTo>
                  <a:pt x="152" y="1474"/>
                </a:lnTo>
                <a:lnTo>
                  <a:pt x="216" y="1242"/>
                </a:lnTo>
                <a:lnTo>
                  <a:pt x="291" y="1019"/>
                </a:lnTo>
                <a:lnTo>
                  <a:pt x="377" y="819"/>
                </a:lnTo>
                <a:lnTo>
                  <a:pt x="469" y="633"/>
                </a:lnTo>
                <a:lnTo>
                  <a:pt x="572" y="470"/>
                </a:lnTo>
                <a:lnTo>
                  <a:pt x="679" y="330"/>
                </a:lnTo>
                <a:lnTo>
                  <a:pt x="792" y="214"/>
                </a:lnTo>
                <a:lnTo>
                  <a:pt x="912" y="121"/>
                </a:lnTo>
                <a:lnTo>
                  <a:pt x="1034" y="56"/>
                </a:lnTo>
                <a:lnTo>
                  <a:pt x="1158" y="14"/>
                </a:lnTo>
                <a:lnTo>
                  <a:pt x="1285" y="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el-1782912281138-28"/>
          <p:cNvSpPr/>
          <p:nvPr/>
        </p:nvSpPr>
        <p:spPr>
          <a:xfrm>
            <a:off x="407194" y="1352312"/>
            <a:ext cx="2449324" cy="2571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8926"/>
                </a:moveTo>
                <a:lnTo>
                  <a:pt x="101" y="7111"/>
                </a:lnTo>
                <a:lnTo>
                  <a:pt x="393" y="3741"/>
                </a:lnTo>
                <a:lnTo>
                  <a:pt x="747" y="963"/>
                </a:lnTo>
                <a:lnTo>
                  <a:pt x="934" y="0"/>
                </a:ln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2912281139-30"/>
          <p:cNvSpPr/>
          <p:nvPr/>
        </p:nvSpPr>
        <p:spPr>
          <a:xfrm>
            <a:off x="2856518" y="1352312"/>
            <a:ext cx="634901" cy="2571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2912281141-32"/>
          <p:cNvSpPr/>
          <p:nvPr/>
        </p:nvSpPr>
        <p:spPr>
          <a:xfrm>
            <a:off x="3491419" y="1352312"/>
            <a:ext cx="634901" cy="2571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2912281142-34"/>
          <p:cNvSpPr/>
          <p:nvPr/>
        </p:nvSpPr>
        <p:spPr>
          <a:xfrm>
            <a:off x="4126319" y="1352312"/>
            <a:ext cx="714286" cy="2571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6787" y="0"/>
                </a:lnTo>
                <a:lnTo>
                  <a:pt x="97440" y="963"/>
                </a:lnTo>
                <a:lnTo>
                  <a:pt x="98653" y="3741"/>
                </a:lnTo>
                <a:lnTo>
                  <a:pt x="99653" y="7111"/>
                </a:lnTo>
                <a:lnTo>
                  <a:pt x="100000" y="8926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0" name="el-1782912281167-71"/>
          <p:cNvCxnSpPr/>
          <p:nvPr/>
        </p:nvCxnSpPr>
        <p:spPr>
          <a:xfrm>
            <a:off x="407194" y="1613059"/>
            <a:ext cx="2449324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2912281178-85"/>
          <p:cNvSpPr/>
          <p:nvPr/>
        </p:nvSpPr>
        <p:spPr>
          <a:xfrm>
            <a:off x="478790" y="1682115"/>
            <a:ext cx="455930" cy="12890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667" y="0"/>
                </a:moveTo>
                <a:lnTo>
                  <a:pt x="98333" y="0"/>
                </a:lnTo>
                <a:lnTo>
                  <a:pt x="98496" y="71"/>
                </a:lnTo>
                <a:lnTo>
                  <a:pt x="98659" y="286"/>
                </a:lnTo>
                <a:lnTo>
                  <a:pt x="98815" y="714"/>
                </a:lnTo>
                <a:lnTo>
                  <a:pt x="98970" y="1214"/>
                </a:lnTo>
                <a:lnTo>
                  <a:pt x="99119" y="1929"/>
                </a:lnTo>
                <a:lnTo>
                  <a:pt x="99259" y="2714"/>
                </a:lnTo>
                <a:lnTo>
                  <a:pt x="99393" y="3643"/>
                </a:lnTo>
                <a:lnTo>
                  <a:pt x="99511" y="4714"/>
                </a:lnTo>
                <a:lnTo>
                  <a:pt x="99622" y="5857"/>
                </a:lnTo>
                <a:lnTo>
                  <a:pt x="99719" y="7143"/>
                </a:lnTo>
                <a:lnTo>
                  <a:pt x="99800" y="8500"/>
                </a:lnTo>
                <a:lnTo>
                  <a:pt x="99874" y="9929"/>
                </a:lnTo>
                <a:lnTo>
                  <a:pt x="99926" y="11429"/>
                </a:lnTo>
                <a:lnTo>
                  <a:pt x="99970" y="12929"/>
                </a:lnTo>
                <a:lnTo>
                  <a:pt x="99993" y="14500"/>
                </a:lnTo>
                <a:lnTo>
                  <a:pt x="100000" y="16071"/>
                </a:lnTo>
                <a:lnTo>
                  <a:pt x="100000" y="83929"/>
                </a:lnTo>
                <a:lnTo>
                  <a:pt x="99993" y="85500"/>
                </a:lnTo>
                <a:lnTo>
                  <a:pt x="99970" y="87071"/>
                </a:lnTo>
                <a:lnTo>
                  <a:pt x="99926" y="88571"/>
                </a:lnTo>
                <a:lnTo>
                  <a:pt x="99874" y="90071"/>
                </a:lnTo>
                <a:lnTo>
                  <a:pt x="99800" y="91500"/>
                </a:lnTo>
                <a:lnTo>
                  <a:pt x="99719" y="92857"/>
                </a:lnTo>
                <a:lnTo>
                  <a:pt x="99622" y="94143"/>
                </a:lnTo>
                <a:lnTo>
                  <a:pt x="99511" y="95286"/>
                </a:lnTo>
                <a:lnTo>
                  <a:pt x="99393" y="96357"/>
                </a:lnTo>
                <a:lnTo>
                  <a:pt x="99259" y="97286"/>
                </a:lnTo>
                <a:lnTo>
                  <a:pt x="99119" y="98071"/>
                </a:lnTo>
                <a:lnTo>
                  <a:pt x="98970" y="98786"/>
                </a:lnTo>
                <a:lnTo>
                  <a:pt x="98815" y="99286"/>
                </a:lnTo>
                <a:lnTo>
                  <a:pt x="98659" y="99714"/>
                </a:lnTo>
                <a:lnTo>
                  <a:pt x="98496" y="99929"/>
                </a:lnTo>
                <a:lnTo>
                  <a:pt x="98333" y="100000"/>
                </a:lnTo>
                <a:lnTo>
                  <a:pt x="1667" y="100000"/>
                </a:lnTo>
                <a:lnTo>
                  <a:pt x="1504" y="99929"/>
                </a:lnTo>
                <a:lnTo>
                  <a:pt x="1341" y="99714"/>
                </a:lnTo>
                <a:lnTo>
                  <a:pt x="1185" y="99286"/>
                </a:lnTo>
                <a:lnTo>
                  <a:pt x="1030" y="98786"/>
                </a:lnTo>
                <a:lnTo>
                  <a:pt x="881" y="98071"/>
                </a:lnTo>
                <a:lnTo>
                  <a:pt x="741" y="97286"/>
                </a:lnTo>
                <a:lnTo>
                  <a:pt x="607" y="96357"/>
                </a:lnTo>
                <a:lnTo>
                  <a:pt x="489" y="95286"/>
                </a:lnTo>
                <a:lnTo>
                  <a:pt x="378" y="94143"/>
                </a:lnTo>
                <a:lnTo>
                  <a:pt x="281" y="92857"/>
                </a:lnTo>
                <a:lnTo>
                  <a:pt x="200" y="91500"/>
                </a:lnTo>
                <a:lnTo>
                  <a:pt x="126" y="90071"/>
                </a:lnTo>
                <a:lnTo>
                  <a:pt x="74" y="88571"/>
                </a:lnTo>
                <a:lnTo>
                  <a:pt x="30" y="87071"/>
                </a:lnTo>
                <a:lnTo>
                  <a:pt x="7" y="85500"/>
                </a:lnTo>
                <a:lnTo>
                  <a:pt x="0" y="83929"/>
                </a:lnTo>
                <a:lnTo>
                  <a:pt x="0" y="16071"/>
                </a:lnTo>
                <a:lnTo>
                  <a:pt x="7" y="14500"/>
                </a:lnTo>
                <a:lnTo>
                  <a:pt x="30" y="12929"/>
                </a:lnTo>
                <a:lnTo>
                  <a:pt x="74" y="11429"/>
                </a:lnTo>
                <a:lnTo>
                  <a:pt x="126" y="9929"/>
                </a:lnTo>
                <a:lnTo>
                  <a:pt x="200" y="8500"/>
                </a:lnTo>
                <a:lnTo>
                  <a:pt x="281" y="7143"/>
                </a:lnTo>
                <a:lnTo>
                  <a:pt x="378" y="5857"/>
                </a:lnTo>
                <a:lnTo>
                  <a:pt x="489" y="4714"/>
                </a:lnTo>
                <a:lnTo>
                  <a:pt x="607" y="3643"/>
                </a:lnTo>
                <a:lnTo>
                  <a:pt x="741" y="2714"/>
                </a:lnTo>
                <a:lnTo>
                  <a:pt x="881" y="1929"/>
                </a:lnTo>
                <a:lnTo>
                  <a:pt x="1030" y="1214"/>
                </a:lnTo>
                <a:lnTo>
                  <a:pt x="1185" y="714"/>
                </a:lnTo>
                <a:lnTo>
                  <a:pt x="1341" y="286"/>
                </a:lnTo>
                <a:lnTo>
                  <a:pt x="1504" y="71"/>
                </a:lnTo>
                <a:close/>
              </a:path>
            </a:pathLst>
          </a:custGeom>
          <a:solidFill>
            <a:srgbClr val="F0F0F3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2" name="el-1782912281155-56"/>
          <p:cNvCxnSpPr/>
          <p:nvPr/>
        </p:nvCxnSpPr>
        <p:spPr>
          <a:xfrm>
            <a:off x="2856518" y="1613059"/>
            <a:ext cx="634901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-1782912281167-72"/>
          <p:cNvCxnSpPr/>
          <p:nvPr/>
        </p:nvCxnSpPr>
        <p:spPr>
          <a:xfrm>
            <a:off x="3491419" y="1613059"/>
            <a:ext cx="634901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2912281168-73"/>
          <p:cNvCxnSpPr/>
          <p:nvPr/>
        </p:nvCxnSpPr>
        <p:spPr>
          <a:xfrm>
            <a:off x="4126319" y="1613059"/>
            <a:ext cx="714286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-1782912281168-74"/>
          <p:cNvCxnSpPr/>
          <p:nvPr/>
        </p:nvCxnSpPr>
        <p:spPr>
          <a:xfrm>
            <a:off x="407194" y="1867376"/>
            <a:ext cx="2449324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2912281181-89"/>
          <p:cNvSpPr/>
          <p:nvPr/>
        </p:nvSpPr>
        <p:spPr>
          <a:xfrm>
            <a:off x="478790" y="1936750"/>
            <a:ext cx="456565" cy="12890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667" y="0"/>
                </a:moveTo>
                <a:lnTo>
                  <a:pt x="98333" y="0"/>
                </a:lnTo>
                <a:lnTo>
                  <a:pt x="98496" y="71"/>
                </a:lnTo>
                <a:lnTo>
                  <a:pt x="98659" y="286"/>
                </a:lnTo>
                <a:lnTo>
                  <a:pt x="98815" y="714"/>
                </a:lnTo>
                <a:lnTo>
                  <a:pt x="98970" y="1214"/>
                </a:lnTo>
                <a:lnTo>
                  <a:pt x="99119" y="1929"/>
                </a:lnTo>
                <a:lnTo>
                  <a:pt x="99259" y="2714"/>
                </a:lnTo>
                <a:lnTo>
                  <a:pt x="99393" y="3643"/>
                </a:lnTo>
                <a:lnTo>
                  <a:pt x="99511" y="4714"/>
                </a:lnTo>
                <a:lnTo>
                  <a:pt x="99622" y="5857"/>
                </a:lnTo>
                <a:lnTo>
                  <a:pt x="99719" y="7143"/>
                </a:lnTo>
                <a:lnTo>
                  <a:pt x="99800" y="8500"/>
                </a:lnTo>
                <a:lnTo>
                  <a:pt x="99874" y="9929"/>
                </a:lnTo>
                <a:lnTo>
                  <a:pt x="99926" y="11429"/>
                </a:lnTo>
                <a:lnTo>
                  <a:pt x="99970" y="12929"/>
                </a:lnTo>
                <a:lnTo>
                  <a:pt x="99993" y="14500"/>
                </a:lnTo>
                <a:lnTo>
                  <a:pt x="100000" y="16071"/>
                </a:lnTo>
                <a:lnTo>
                  <a:pt x="100000" y="83929"/>
                </a:lnTo>
                <a:lnTo>
                  <a:pt x="99993" y="85500"/>
                </a:lnTo>
                <a:lnTo>
                  <a:pt x="99970" y="87071"/>
                </a:lnTo>
                <a:lnTo>
                  <a:pt x="99926" y="88571"/>
                </a:lnTo>
                <a:lnTo>
                  <a:pt x="99874" y="90071"/>
                </a:lnTo>
                <a:lnTo>
                  <a:pt x="99800" y="91500"/>
                </a:lnTo>
                <a:lnTo>
                  <a:pt x="99719" y="92857"/>
                </a:lnTo>
                <a:lnTo>
                  <a:pt x="99622" y="94143"/>
                </a:lnTo>
                <a:lnTo>
                  <a:pt x="99511" y="95286"/>
                </a:lnTo>
                <a:lnTo>
                  <a:pt x="99393" y="96357"/>
                </a:lnTo>
                <a:lnTo>
                  <a:pt x="99259" y="97286"/>
                </a:lnTo>
                <a:lnTo>
                  <a:pt x="99119" y="98071"/>
                </a:lnTo>
                <a:lnTo>
                  <a:pt x="98970" y="98786"/>
                </a:lnTo>
                <a:lnTo>
                  <a:pt x="98815" y="99286"/>
                </a:lnTo>
                <a:lnTo>
                  <a:pt x="98659" y="99714"/>
                </a:lnTo>
                <a:lnTo>
                  <a:pt x="98496" y="99929"/>
                </a:lnTo>
                <a:lnTo>
                  <a:pt x="98333" y="100000"/>
                </a:lnTo>
                <a:lnTo>
                  <a:pt x="1667" y="100000"/>
                </a:lnTo>
                <a:lnTo>
                  <a:pt x="1504" y="99929"/>
                </a:lnTo>
                <a:lnTo>
                  <a:pt x="1341" y="99714"/>
                </a:lnTo>
                <a:lnTo>
                  <a:pt x="1185" y="99286"/>
                </a:lnTo>
                <a:lnTo>
                  <a:pt x="1030" y="98786"/>
                </a:lnTo>
                <a:lnTo>
                  <a:pt x="881" y="98071"/>
                </a:lnTo>
                <a:lnTo>
                  <a:pt x="741" y="97286"/>
                </a:lnTo>
                <a:lnTo>
                  <a:pt x="607" y="96357"/>
                </a:lnTo>
                <a:lnTo>
                  <a:pt x="489" y="95286"/>
                </a:lnTo>
                <a:lnTo>
                  <a:pt x="378" y="94143"/>
                </a:lnTo>
                <a:lnTo>
                  <a:pt x="281" y="92857"/>
                </a:lnTo>
                <a:lnTo>
                  <a:pt x="200" y="91500"/>
                </a:lnTo>
                <a:lnTo>
                  <a:pt x="126" y="90071"/>
                </a:lnTo>
                <a:lnTo>
                  <a:pt x="74" y="88571"/>
                </a:lnTo>
                <a:lnTo>
                  <a:pt x="30" y="87071"/>
                </a:lnTo>
                <a:lnTo>
                  <a:pt x="7" y="85500"/>
                </a:lnTo>
                <a:lnTo>
                  <a:pt x="0" y="83929"/>
                </a:lnTo>
                <a:lnTo>
                  <a:pt x="0" y="16071"/>
                </a:lnTo>
                <a:lnTo>
                  <a:pt x="7" y="14500"/>
                </a:lnTo>
                <a:lnTo>
                  <a:pt x="30" y="12929"/>
                </a:lnTo>
                <a:lnTo>
                  <a:pt x="74" y="11429"/>
                </a:lnTo>
                <a:lnTo>
                  <a:pt x="126" y="9929"/>
                </a:lnTo>
                <a:lnTo>
                  <a:pt x="200" y="8500"/>
                </a:lnTo>
                <a:lnTo>
                  <a:pt x="281" y="7143"/>
                </a:lnTo>
                <a:lnTo>
                  <a:pt x="378" y="5857"/>
                </a:lnTo>
                <a:lnTo>
                  <a:pt x="489" y="4714"/>
                </a:lnTo>
                <a:lnTo>
                  <a:pt x="607" y="3643"/>
                </a:lnTo>
                <a:lnTo>
                  <a:pt x="741" y="2714"/>
                </a:lnTo>
                <a:lnTo>
                  <a:pt x="881" y="1929"/>
                </a:lnTo>
                <a:lnTo>
                  <a:pt x="1030" y="1214"/>
                </a:lnTo>
                <a:lnTo>
                  <a:pt x="1185" y="714"/>
                </a:lnTo>
                <a:lnTo>
                  <a:pt x="1341" y="286"/>
                </a:lnTo>
                <a:lnTo>
                  <a:pt x="1504" y="71"/>
                </a:lnTo>
                <a:close/>
              </a:path>
            </a:pathLst>
          </a:custGeom>
          <a:solidFill>
            <a:srgbClr val="F0F0F3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7" name="el-1782912281156-57"/>
          <p:cNvCxnSpPr/>
          <p:nvPr/>
        </p:nvCxnSpPr>
        <p:spPr>
          <a:xfrm>
            <a:off x="2856518" y="1867376"/>
            <a:ext cx="634901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-1782912281169-75"/>
          <p:cNvCxnSpPr/>
          <p:nvPr/>
        </p:nvCxnSpPr>
        <p:spPr>
          <a:xfrm>
            <a:off x="3491419" y="1867376"/>
            <a:ext cx="634901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-1782912281169-76"/>
          <p:cNvCxnSpPr/>
          <p:nvPr/>
        </p:nvCxnSpPr>
        <p:spPr>
          <a:xfrm>
            <a:off x="4126319" y="1867376"/>
            <a:ext cx="714286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2912281169-77"/>
          <p:cNvCxnSpPr/>
          <p:nvPr/>
        </p:nvCxnSpPr>
        <p:spPr>
          <a:xfrm>
            <a:off x="407194" y="2121694"/>
            <a:ext cx="2449324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2912281185-93"/>
          <p:cNvSpPr/>
          <p:nvPr/>
        </p:nvSpPr>
        <p:spPr>
          <a:xfrm>
            <a:off x="478790" y="2190750"/>
            <a:ext cx="457200" cy="12890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30" y="0"/>
                </a:moveTo>
                <a:lnTo>
                  <a:pt x="99070" y="0"/>
                </a:lnTo>
                <a:lnTo>
                  <a:pt x="99161" y="71"/>
                </a:lnTo>
                <a:lnTo>
                  <a:pt x="99252" y="286"/>
                </a:lnTo>
                <a:lnTo>
                  <a:pt x="99339" y="714"/>
                </a:lnTo>
                <a:lnTo>
                  <a:pt x="99426" y="1214"/>
                </a:lnTo>
                <a:lnTo>
                  <a:pt x="99508" y="1929"/>
                </a:lnTo>
                <a:lnTo>
                  <a:pt x="99587" y="2714"/>
                </a:lnTo>
                <a:lnTo>
                  <a:pt x="99661" y="3643"/>
                </a:lnTo>
                <a:lnTo>
                  <a:pt x="99727" y="4714"/>
                </a:lnTo>
                <a:lnTo>
                  <a:pt x="99789" y="5857"/>
                </a:lnTo>
                <a:lnTo>
                  <a:pt x="99843" y="7143"/>
                </a:lnTo>
                <a:lnTo>
                  <a:pt x="99888" y="8500"/>
                </a:lnTo>
                <a:lnTo>
                  <a:pt x="99930" y="9929"/>
                </a:lnTo>
                <a:lnTo>
                  <a:pt x="99959" y="11429"/>
                </a:lnTo>
                <a:lnTo>
                  <a:pt x="99983" y="12929"/>
                </a:lnTo>
                <a:lnTo>
                  <a:pt x="99996" y="14500"/>
                </a:lnTo>
                <a:lnTo>
                  <a:pt x="100000" y="16071"/>
                </a:lnTo>
                <a:lnTo>
                  <a:pt x="100000" y="83929"/>
                </a:lnTo>
                <a:lnTo>
                  <a:pt x="99996" y="85500"/>
                </a:lnTo>
                <a:lnTo>
                  <a:pt x="99983" y="87071"/>
                </a:lnTo>
                <a:lnTo>
                  <a:pt x="99959" y="88571"/>
                </a:lnTo>
                <a:lnTo>
                  <a:pt x="99930" y="90071"/>
                </a:lnTo>
                <a:lnTo>
                  <a:pt x="99888" y="91500"/>
                </a:lnTo>
                <a:lnTo>
                  <a:pt x="99843" y="92857"/>
                </a:lnTo>
                <a:lnTo>
                  <a:pt x="99789" y="94143"/>
                </a:lnTo>
                <a:lnTo>
                  <a:pt x="99727" y="95286"/>
                </a:lnTo>
                <a:lnTo>
                  <a:pt x="99661" y="96357"/>
                </a:lnTo>
                <a:lnTo>
                  <a:pt x="99587" y="97286"/>
                </a:lnTo>
                <a:lnTo>
                  <a:pt x="99508" y="98071"/>
                </a:lnTo>
                <a:lnTo>
                  <a:pt x="99426" y="98786"/>
                </a:lnTo>
                <a:lnTo>
                  <a:pt x="99339" y="99286"/>
                </a:lnTo>
                <a:lnTo>
                  <a:pt x="99252" y="99714"/>
                </a:lnTo>
                <a:lnTo>
                  <a:pt x="99161" y="99929"/>
                </a:lnTo>
                <a:lnTo>
                  <a:pt x="99070" y="100000"/>
                </a:lnTo>
                <a:lnTo>
                  <a:pt x="930" y="100000"/>
                </a:lnTo>
                <a:lnTo>
                  <a:pt x="839" y="99929"/>
                </a:lnTo>
                <a:lnTo>
                  <a:pt x="748" y="99714"/>
                </a:lnTo>
                <a:lnTo>
                  <a:pt x="661" y="99286"/>
                </a:lnTo>
                <a:lnTo>
                  <a:pt x="574" y="98786"/>
                </a:lnTo>
                <a:lnTo>
                  <a:pt x="492" y="98071"/>
                </a:lnTo>
                <a:lnTo>
                  <a:pt x="413" y="97286"/>
                </a:lnTo>
                <a:lnTo>
                  <a:pt x="339" y="96357"/>
                </a:lnTo>
                <a:lnTo>
                  <a:pt x="273" y="95286"/>
                </a:lnTo>
                <a:lnTo>
                  <a:pt x="211" y="94143"/>
                </a:lnTo>
                <a:lnTo>
                  <a:pt x="157" y="92857"/>
                </a:lnTo>
                <a:lnTo>
                  <a:pt x="112" y="91500"/>
                </a:lnTo>
                <a:lnTo>
                  <a:pt x="70" y="90071"/>
                </a:lnTo>
                <a:lnTo>
                  <a:pt x="41" y="88571"/>
                </a:lnTo>
                <a:lnTo>
                  <a:pt x="17" y="87071"/>
                </a:lnTo>
                <a:lnTo>
                  <a:pt x="4" y="85500"/>
                </a:lnTo>
                <a:lnTo>
                  <a:pt x="0" y="83929"/>
                </a:lnTo>
                <a:lnTo>
                  <a:pt x="0" y="16071"/>
                </a:lnTo>
                <a:lnTo>
                  <a:pt x="4" y="14500"/>
                </a:lnTo>
                <a:lnTo>
                  <a:pt x="17" y="12929"/>
                </a:lnTo>
                <a:lnTo>
                  <a:pt x="41" y="11429"/>
                </a:lnTo>
                <a:lnTo>
                  <a:pt x="70" y="9929"/>
                </a:lnTo>
                <a:lnTo>
                  <a:pt x="112" y="8500"/>
                </a:lnTo>
                <a:lnTo>
                  <a:pt x="157" y="7143"/>
                </a:lnTo>
                <a:lnTo>
                  <a:pt x="211" y="5857"/>
                </a:lnTo>
                <a:lnTo>
                  <a:pt x="273" y="4714"/>
                </a:lnTo>
                <a:lnTo>
                  <a:pt x="339" y="3643"/>
                </a:lnTo>
                <a:lnTo>
                  <a:pt x="413" y="2714"/>
                </a:lnTo>
                <a:lnTo>
                  <a:pt x="492" y="1929"/>
                </a:lnTo>
                <a:lnTo>
                  <a:pt x="574" y="1214"/>
                </a:lnTo>
                <a:lnTo>
                  <a:pt x="661" y="714"/>
                </a:lnTo>
                <a:lnTo>
                  <a:pt x="748" y="286"/>
                </a:lnTo>
                <a:lnTo>
                  <a:pt x="839" y="71"/>
                </a:lnTo>
                <a:close/>
              </a:path>
            </a:pathLst>
          </a:custGeom>
          <a:solidFill>
            <a:srgbClr val="F0F0F3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2" name="el-1782912281157-58"/>
          <p:cNvCxnSpPr/>
          <p:nvPr/>
        </p:nvCxnSpPr>
        <p:spPr>
          <a:xfrm>
            <a:off x="2856518" y="2121694"/>
            <a:ext cx="634901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l-1782912281170-78"/>
          <p:cNvCxnSpPr/>
          <p:nvPr/>
        </p:nvCxnSpPr>
        <p:spPr>
          <a:xfrm>
            <a:off x="3491419" y="2121694"/>
            <a:ext cx="634901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-1782912281170-79"/>
          <p:cNvCxnSpPr/>
          <p:nvPr/>
        </p:nvCxnSpPr>
        <p:spPr>
          <a:xfrm>
            <a:off x="4126319" y="2121694"/>
            <a:ext cx="714286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el-1782912281171-80"/>
          <p:cNvCxnSpPr/>
          <p:nvPr/>
        </p:nvCxnSpPr>
        <p:spPr>
          <a:xfrm>
            <a:off x="407194" y="2376011"/>
            <a:ext cx="2449324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el-1782912281188-97"/>
          <p:cNvSpPr/>
          <p:nvPr/>
        </p:nvSpPr>
        <p:spPr>
          <a:xfrm>
            <a:off x="478790" y="2445385"/>
            <a:ext cx="457200" cy="12890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406" y="0"/>
                </a:moveTo>
                <a:lnTo>
                  <a:pt x="98594" y="0"/>
                </a:lnTo>
                <a:lnTo>
                  <a:pt x="98731" y="71"/>
                </a:lnTo>
                <a:lnTo>
                  <a:pt x="98869" y="286"/>
                </a:lnTo>
                <a:lnTo>
                  <a:pt x="99000" y="714"/>
                </a:lnTo>
                <a:lnTo>
                  <a:pt x="99131" y="1214"/>
                </a:lnTo>
                <a:lnTo>
                  <a:pt x="99256" y="1929"/>
                </a:lnTo>
                <a:lnTo>
                  <a:pt x="99375" y="2714"/>
                </a:lnTo>
                <a:lnTo>
                  <a:pt x="99488" y="3643"/>
                </a:lnTo>
                <a:lnTo>
                  <a:pt x="99588" y="4714"/>
                </a:lnTo>
                <a:lnTo>
                  <a:pt x="99681" y="5857"/>
                </a:lnTo>
                <a:lnTo>
                  <a:pt x="99763" y="7143"/>
                </a:lnTo>
                <a:lnTo>
                  <a:pt x="99831" y="8500"/>
                </a:lnTo>
                <a:lnTo>
                  <a:pt x="99894" y="9929"/>
                </a:lnTo>
                <a:lnTo>
                  <a:pt x="99938" y="11429"/>
                </a:lnTo>
                <a:lnTo>
                  <a:pt x="99975" y="12929"/>
                </a:lnTo>
                <a:lnTo>
                  <a:pt x="99994" y="14500"/>
                </a:lnTo>
                <a:lnTo>
                  <a:pt x="100000" y="16071"/>
                </a:lnTo>
                <a:lnTo>
                  <a:pt x="100000" y="83929"/>
                </a:lnTo>
                <a:lnTo>
                  <a:pt x="99994" y="85500"/>
                </a:lnTo>
                <a:lnTo>
                  <a:pt x="99975" y="87071"/>
                </a:lnTo>
                <a:lnTo>
                  <a:pt x="99938" y="88571"/>
                </a:lnTo>
                <a:lnTo>
                  <a:pt x="99894" y="90071"/>
                </a:lnTo>
                <a:lnTo>
                  <a:pt x="99831" y="91500"/>
                </a:lnTo>
                <a:lnTo>
                  <a:pt x="99763" y="92857"/>
                </a:lnTo>
                <a:lnTo>
                  <a:pt x="99681" y="94143"/>
                </a:lnTo>
                <a:lnTo>
                  <a:pt x="99588" y="95286"/>
                </a:lnTo>
                <a:lnTo>
                  <a:pt x="99488" y="96357"/>
                </a:lnTo>
                <a:lnTo>
                  <a:pt x="99375" y="97286"/>
                </a:lnTo>
                <a:lnTo>
                  <a:pt x="99256" y="98071"/>
                </a:lnTo>
                <a:lnTo>
                  <a:pt x="99131" y="98786"/>
                </a:lnTo>
                <a:lnTo>
                  <a:pt x="99000" y="99286"/>
                </a:lnTo>
                <a:lnTo>
                  <a:pt x="98869" y="99714"/>
                </a:lnTo>
                <a:lnTo>
                  <a:pt x="98731" y="99929"/>
                </a:lnTo>
                <a:lnTo>
                  <a:pt x="98594" y="100000"/>
                </a:lnTo>
                <a:lnTo>
                  <a:pt x="1406" y="100000"/>
                </a:lnTo>
                <a:lnTo>
                  <a:pt x="1269" y="99929"/>
                </a:lnTo>
                <a:lnTo>
                  <a:pt x="1131" y="99714"/>
                </a:lnTo>
                <a:lnTo>
                  <a:pt x="1000" y="99286"/>
                </a:lnTo>
                <a:lnTo>
                  <a:pt x="869" y="98786"/>
                </a:lnTo>
                <a:lnTo>
                  <a:pt x="744" y="98071"/>
                </a:lnTo>
                <a:lnTo>
                  <a:pt x="625" y="97286"/>
                </a:lnTo>
                <a:lnTo>
                  <a:pt x="513" y="96357"/>
                </a:lnTo>
                <a:lnTo>
                  <a:pt x="413" y="95286"/>
                </a:lnTo>
                <a:lnTo>
                  <a:pt x="319" y="94143"/>
                </a:lnTo>
                <a:lnTo>
                  <a:pt x="238" y="92857"/>
                </a:lnTo>
                <a:lnTo>
                  <a:pt x="169" y="91500"/>
                </a:lnTo>
                <a:lnTo>
                  <a:pt x="106" y="90071"/>
                </a:lnTo>
                <a:lnTo>
                  <a:pt x="63" y="88571"/>
                </a:lnTo>
                <a:lnTo>
                  <a:pt x="25" y="87071"/>
                </a:lnTo>
                <a:lnTo>
                  <a:pt x="6" y="85500"/>
                </a:lnTo>
                <a:lnTo>
                  <a:pt x="0" y="83929"/>
                </a:lnTo>
                <a:lnTo>
                  <a:pt x="0" y="16071"/>
                </a:lnTo>
                <a:lnTo>
                  <a:pt x="6" y="14500"/>
                </a:lnTo>
                <a:lnTo>
                  <a:pt x="25" y="12929"/>
                </a:lnTo>
                <a:lnTo>
                  <a:pt x="63" y="11429"/>
                </a:lnTo>
                <a:lnTo>
                  <a:pt x="106" y="9929"/>
                </a:lnTo>
                <a:lnTo>
                  <a:pt x="169" y="8500"/>
                </a:lnTo>
                <a:lnTo>
                  <a:pt x="238" y="7143"/>
                </a:lnTo>
                <a:lnTo>
                  <a:pt x="319" y="5857"/>
                </a:lnTo>
                <a:lnTo>
                  <a:pt x="413" y="4714"/>
                </a:lnTo>
                <a:lnTo>
                  <a:pt x="513" y="3643"/>
                </a:lnTo>
                <a:lnTo>
                  <a:pt x="625" y="2714"/>
                </a:lnTo>
                <a:lnTo>
                  <a:pt x="744" y="1929"/>
                </a:lnTo>
                <a:lnTo>
                  <a:pt x="869" y="1214"/>
                </a:lnTo>
                <a:lnTo>
                  <a:pt x="1000" y="714"/>
                </a:lnTo>
                <a:lnTo>
                  <a:pt x="1131" y="286"/>
                </a:lnTo>
                <a:lnTo>
                  <a:pt x="1269" y="71"/>
                </a:lnTo>
                <a:close/>
              </a:path>
            </a:pathLst>
          </a:custGeom>
          <a:solidFill>
            <a:srgbClr val="F0F0F3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7" name="el-1782912281157-59"/>
          <p:cNvCxnSpPr/>
          <p:nvPr/>
        </p:nvCxnSpPr>
        <p:spPr>
          <a:xfrm>
            <a:off x="2856518" y="2376011"/>
            <a:ext cx="634901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l-1782912281158-60"/>
          <p:cNvCxnSpPr/>
          <p:nvPr/>
        </p:nvCxnSpPr>
        <p:spPr>
          <a:xfrm>
            <a:off x="3491419" y="2376011"/>
            <a:ext cx="634901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el-1782912281159-61"/>
          <p:cNvCxnSpPr/>
          <p:nvPr/>
        </p:nvCxnSpPr>
        <p:spPr>
          <a:xfrm>
            <a:off x="4126319" y="2376011"/>
            <a:ext cx="714286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el-1782912281171-81"/>
          <p:cNvCxnSpPr/>
          <p:nvPr/>
        </p:nvCxnSpPr>
        <p:spPr>
          <a:xfrm>
            <a:off x="407194" y="2630329"/>
            <a:ext cx="2449324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el-1782912281190-99"/>
          <p:cNvSpPr/>
          <p:nvPr/>
        </p:nvSpPr>
        <p:spPr>
          <a:xfrm>
            <a:off x="478790" y="2699385"/>
            <a:ext cx="436245" cy="12890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347" y="0"/>
                </a:moveTo>
                <a:lnTo>
                  <a:pt x="98653" y="0"/>
                </a:lnTo>
                <a:lnTo>
                  <a:pt x="98784" y="71"/>
                </a:lnTo>
                <a:lnTo>
                  <a:pt x="98916" y="286"/>
                </a:lnTo>
                <a:lnTo>
                  <a:pt x="99042" y="714"/>
                </a:lnTo>
                <a:lnTo>
                  <a:pt x="99168" y="1214"/>
                </a:lnTo>
                <a:lnTo>
                  <a:pt x="99287" y="1929"/>
                </a:lnTo>
                <a:lnTo>
                  <a:pt x="99401" y="2714"/>
                </a:lnTo>
                <a:lnTo>
                  <a:pt x="99509" y="3643"/>
                </a:lnTo>
                <a:lnTo>
                  <a:pt x="99605" y="4714"/>
                </a:lnTo>
                <a:lnTo>
                  <a:pt x="99695" y="5857"/>
                </a:lnTo>
                <a:lnTo>
                  <a:pt x="99772" y="7143"/>
                </a:lnTo>
                <a:lnTo>
                  <a:pt x="99838" y="8500"/>
                </a:lnTo>
                <a:lnTo>
                  <a:pt x="99898" y="9929"/>
                </a:lnTo>
                <a:lnTo>
                  <a:pt x="99940" y="11429"/>
                </a:lnTo>
                <a:lnTo>
                  <a:pt x="99976" y="12929"/>
                </a:lnTo>
                <a:lnTo>
                  <a:pt x="99994" y="14500"/>
                </a:lnTo>
                <a:lnTo>
                  <a:pt x="100000" y="16071"/>
                </a:lnTo>
                <a:lnTo>
                  <a:pt x="100000" y="83929"/>
                </a:lnTo>
                <a:lnTo>
                  <a:pt x="99994" y="85500"/>
                </a:lnTo>
                <a:lnTo>
                  <a:pt x="99976" y="87071"/>
                </a:lnTo>
                <a:lnTo>
                  <a:pt x="99940" y="88571"/>
                </a:lnTo>
                <a:lnTo>
                  <a:pt x="99898" y="90071"/>
                </a:lnTo>
                <a:lnTo>
                  <a:pt x="99838" y="91500"/>
                </a:lnTo>
                <a:lnTo>
                  <a:pt x="99772" y="92857"/>
                </a:lnTo>
                <a:lnTo>
                  <a:pt x="99695" y="94143"/>
                </a:lnTo>
                <a:lnTo>
                  <a:pt x="99605" y="95286"/>
                </a:lnTo>
                <a:lnTo>
                  <a:pt x="99509" y="96357"/>
                </a:lnTo>
                <a:lnTo>
                  <a:pt x="99401" y="97286"/>
                </a:lnTo>
                <a:lnTo>
                  <a:pt x="99287" y="98071"/>
                </a:lnTo>
                <a:lnTo>
                  <a:pt x="99168" y="98786"/>
                </a:lnTo>
                <a:lnTo>
                  <a:pt x="99042" y="99286"/>
                </a:lnTo>
                <a:lnTo>
                  <a:pt x="98916" y="99714"/>
                </a:lnTo>
                <a:lnTo>
                  <a:pt x="98784" y="99929"/>
                </a:lnTo>
                <a:lnTo>
                  <a:pt x="98653" y="100000"/>
                </a:lnTo>
                <a:lnTo>
                  <a:pt x="1347" y="100000"/>
                </a:lnTo>
                <a:lnTo>
                  <a:pt x="1216" y="99929"/>
                </a:lnTo>
                <a:lnTo>
                  <a:pt x="1084" y="99714"/>
                </a:lnTo>
                <a:lnTo>
                  <a:pt x="958" y="99286"/>
                </a:lnTo>
                <a:lnTo>
                  <a:pt x="832" y="98786"/>
                </a:lnTo>
                <a:lnTo>
                  <a:pt x="713" y="98071"/>
                </a:lnTo>
                <a:lnTo>
                  <a:pt x="599" y="97286"/>
                </a:lnTo>
                <a:lnTo>
                  <a:pt x="491" y="96357"/>
                </a:lnTo>
                <a:lnTo>
                  <a:pt x="395" y="95286"/>
                </a:lnTo>
                <a:lnTo>
                  <a:pt x="305" y="94143"/>
                </a:lnTo>
                <a:lnTo>
                  <a:pt x="228" y="92857"/>
                </a:lnTo>
                <a:lnTo>
                  <a:pt x="162" y="91500"/>
                </a:lnTo>
                <a:lnTo>
                  <a:pt x="102" y="90071"/>
                </a:lnTo>
                <a:lnTo>
                  <a:pt x="60" y="88571"/>
                </a:lnTo>
                <a:lnTo>
                  <a:pt x="24" y="87071"/>
                </a:lnTo>
                <a:lnTo>
                  <a:pt x="6" y="85500"/>
                </a:lnTo>
                <a:lnTo>
                  <a:pt x="0" y="83929"/>
                </a:lnTo>
                <a:lnTo>
                  <a:pt x="0" y="16071"/>
                </a:lnTo>
                <a:lnTo>
                  <a:pt x="6" y="14500"/>
                </a:lnTo>
                <a:lnTo>
                  <a:pt x="24" y="12929"/>
                </a:lnTo>
                <a:lnTo>
                  <a:pt x="60" y="11429"/>
                </a:lnTo>
                <a:lnTo>
                  <a:pt x="102" y="9929"/>
                </a:lnTo>
                <a:lnTo>
                  <a:pt x="162" y="8500"/>
                </a:lnTo>
                <a:lnTo>
                  <a:pt x="228" y="7143"/>
                </a:lnTo>
                <a:lnTo>
                  <a:pt x="305" y="5857"/>
                </a:lnTo>
                <a:lnTo>
                  <a:pt x="395" y="4714"/>
                </a:lnTo>
                <a:lnTo>
                  <a:pt x="491" y="3643"/>
                </a:lnTo>
                <a:lnTo>
                  <a:pt x="599" y="2714"/>
                </a:lnTo>
                <a:lnTo>
                  <a:pt x="713" y="1929"/>
                </a:lnTo>
                <a:lnTo>
                  <a:pt x="832" y="1214"/>
                </a:lnTo>
                <a:lnTo>
                  <a:pt x="958" y="714"/>
                </a:lnTo>
                <a:lnTo>
                  <a:pt x="1084" y="286"/>
                </a:lnTo>
                <a:lnTo>
                  <a:pt x="1216" y="71"/>
                </a:lnTo>
                <a:close/>
              </a:path>
            </a:pathLst>
          </a:custGeom>
          <a:solidFill>
            <a:srgbClr val="F0F0F3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2" name="el-1782912281159-62"/>
          <p:cNvCxnSpPr/>
          <p:nvPr/>
        </p:nvCxnSpPr>
        <p:spPr>
          <a:xfrm>
            <a:off x="2856518" y="2630329"/>
            <a:ext cx="634901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el-1782912281160-63"/>
          <p:cNvCxnSpPr/>
          <p:nvPr/>
        </p:nvCxnSpPr>
        <p:spPr>
          <a:xfrm>
            <a:off x="3491419" y="2630329"/>
            <a:ext cx="634901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-1782912281160-64"/>
          <p:cNvCxnSpPr/>
          <p:nvPr/>
        </p:nvCxnSpPr>
        <p:spPr>
          <a:xfrm>
            <a:off x="4126319" y="2630329"/>
            <a:ext cx="714286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el-1782912281172-82"/>
          <p:cNvCxnSpPr/>
          <p:nvPr/>
        </p:nvCxnSpPr>
        <p:spPr>
          <a:xfrm>
            <a:off x="407194" y="2884646"/>
            <a:ext cx="2449324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el-1782912281161-65"/>
          <p:cNvCxnSpPr/>
          <p:nvPr/>
        </p:nvCxnSpPr>
        <p:spPr>
          <a:xfrm>
            <a:off x="2856518" y="2884646"/>
            <a:ext cx="634901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el-1782912281161-66"/>
          <p:cNvCxnSpPr/>
          <p:nvPr/>
        </p:nvCxnSpPr>
        <p:spPr>
          <a:xfrm>
            <a:off x="3491419" y="2884646"/>
            <a:ext cx="634901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el-1782912281162-67"/>
          <p:cNvCxnSpPr/>
          <p:nvPr/>
        </p:nvCxnSpPr>
        <p:spPr>
          <a:xfrm>
            <a:off x="4126319" y="2884646"/>
            <a:ext cx="714286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el-1782912281172-83"/>
          <p:cNvCxnSpPr/>
          <p:nvPr/>
        </p:nvCxnSpPr>
        <p:spPr>
          <a:xfrm>
            <a:off x="407194" y="3138964"/>
            <a:ext cx="2449324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el-1782912281162-68"/>
          <p:cNvCxnSpPr/>
          <p:nvPr/>
        </p:nvCxnSpPr>
        <p:spPr>
          <a:xfrm>
            <a:off x="2856518" y="3138964"/>
            <a:ext cx="634901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el-1782912281163-69"/>
          <p:cNvCxnSpPr/>
          <p:nvPr/>
        </p:nvCxnSpPr>
        <p:spPr>
          <a:xfrm>
            <a:off x="3491419" y="3138964"/>
            <a:ext cx="634901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-1782912281163-70"/>
          <p:cNvCxnSpPr/>
          <p:nvPr/>
        </p:nvCxnSpPr>
        <p:spPr>
          <a:xfrm>
            <a:off x="4126319" y="3138964"/>
            <a:ext cx="714286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el-1782912281114-18"/>
          <p:cNvSpPr/>
          <p:nvPr/>
        </p:nvSpPr>
        <p:spPr>
          <a:xfrm>
            <a:off x="5104924" y="775573"/>
            <a:ext cx="3639026" cy="1544479"/>
          </a:xfrm>
          <a:prstGeom prst="roundRect">
            <a:avLst>
              <a:gd name="adj" fmla="val 4934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46" name="el-1782912281203-106"/>
          <p:cNvSpPr/>
          <p:nvPr/>
        </p:nvSpPr>
        <p:spPr>
          <a:xfrm>
            <a:off x="6408123" y="895112"/>
            <a:ext cx="542925" cy="14859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47" name="el-1782912281149-50"/>
          <p:cNvCxnSpPr/>
          <p:nvPr/>
        </p:nvCxnSpPr>
        <p:spPr>
          <a:xfrm>
            <a:off x="5265658" y="1137999"/>
            <a:ext cx="914" cy="578644"/>
          </a:xfrm>
          <a:prstGeom prst="line">
            <a:avLst/>
          </a:prstGeom>
          <a:ln w="21431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el-1782912281150-51"/>
          <p:cNvCxnSpPr/>
          <p:nvPr/>
        </p:nvCxnSpPr>
        <p:spPr>
          <a:xfrm>
            <a:off x="5265658" y="1788081"/>
            <a:ext cx="914" cy="385763"/>
          </a:xfrm>
          <a:prstGeom prst="line">
            <a:avLst/>
          </a:prstGeom>
          <a:ln w="21431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el-1782912281151-52"/>
          <p:cNvSpPr/>
          <p:nvPr/>
        </p:nvSpPr>
        <p:spPr>
          <a:xfrm>
            <a:off x="5376387" y="1810941"/>
            <a:ext cx="1609130" cy="148590"/>
          </a:xfrm>
          <a:prstGeom prst="roundRect">
            <a:avLst>
              <a:gd name="adj" fmla="val 25641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el-1782912281151-52__text"/>
          <p:cNvSpPr txBox="1"/>
          <p:nvPr/>
        </p:nvSpPr>
        <p:spPr>
          <a:xfrm>
            <a:off x="5376387" y="1810941"/>
            <a:ext cx="160913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00" spc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 1: 6968 节点 / 5234 边</a:t>
            </a:r>
            <a:endParaRPr sz="900" spc="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el-1782912281152-53"/>
          <p:cNvSpPr/>
          <p:nvPr/>
        </p:nvSpPr>
        <p:spPr>
          <a:xfrm>
            <a:off x="7152005" y="1811020"/>
            <a:ext cx="1442085" cy="148590"/>
          </a:xfrm>
          <a:prstGeom prst="roundRect">
            <a:avLst>
              <a:gd name="adj" fmla="val 25641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el-1782912281152-53__text"/>
          <p:cNvSpPr txBox="1"/>
          <p:nvPr/>
        </p:nvSpPr>
        <p:spPr>
          <a:xfrm>
            <a:off x="7152005" y="1811020"/>
            <a:ext cx="1530985" cy="11874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00" spc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 2: 4799 节点 / 3106 边</a:t>
            </a:r>
            <a:endParaRPr sz="900" spc="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el-1782912281115-19"/>
          <p:cNvSpPr/>
          <p:nvPr/>
        </p:nvSpPr>
        <p:spPr>
          <a:xfrm>
            <a:off x="5104924" y="2423875"/>
            <a:ext cx="3639026" cy="10044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8429" y="0"/>
                </a:lnTo>
                <a:lnTo>
                  <a:pt x="98584" y="29"/>
                </a:lnTo>
                <a:lnTo>
                  <a:pt x="98736" y="114"/>
                </a:lnTo>
                <a:lnTo>
                  <a:pt x="98885" y="248"/>
                </a:lnTo>
                <a:lnTo>
                  <a:pt x="99031" y="438"/>
                </a:lnTo>
                <a:lnTo>
                  <a:pt x="99170" y="676"/>
                </a:lnTo>
                <a:lnTo>
                  <a:pt x="99301" y="962"/>
                </a:lnTo>
                <a:lnTo>
                  <a:pt x="99427" y="1295"/>
                </a:lnTo>
                <a:lnTo>
                  <a:pt x="99539" y="1676"/>
                </a:lnTo>
                <a:lnTo>
                  <a:pt x="99644" y="2086"/>
                </a:lnTo>
                <a:lnTo>
                  <a:pt x="99736" y="2543"/>
                </a:lnTo>
                <a:lnTo>
                  <a:pt x="99814" y="3019"/>
                </a:lnTo>
                <a:lnTo>
                  <a:pt x="99880" y="3524"/>
                </a:lnTo>
                <a:lnTo>
                  <a:pt x="99932" y="4057"/>
                </a:lnTo>
                <a:lnTo>
                  <a:pt x="99969" y="4600"/>
                </a:lnTo>
                <a:lnTo>
                  <a:pt x="99992" y="5152"/>
                </a:lnTo>
                <a:lnTo>
                  <a:pt x="100000" y="5714"/>
                </a:lnTo>
                <a:lnTo>
                  <a:pt x="100000" y="94286"/>
                </a:lnTo>
                <a:lnTo>
                  <a:pt x="99992" y="94848"/>
                </a:lnTo>
                <a:lnTo>
                  <a:pt x="99969" y="95400"/>
                </a:lnTo>
                <a:lnTo>
                  <a:pt x="99932" y="95943"/>
                </a:lnTo>
                <a:lnTo>
                  <a:pt x="99880" y="96476"/>
                </a:lnTo>
                <a:lnTo>
                  <a:pt x="99814" y="96981"/>
                </a:lnTo>
                <a:lnTo>
                  <a:pt x="99736" y="97457"/>
                </a:lnTo>
                <a:lnTo>
                  <a:pt x="99644" y="97914"/>
                </a:lnTo>
                <a:lnTo>
                  <a:pt x="99539" y="98324"/>
                </a:lnTo>
                <a:lnTo>
                  <a:pt x="99427" y="98705"/>
                </a:lnTo>
                <a:lnTo>
                  <a:pt x="99301" y="99038"/>
                </a:lnTo>
                <a:lnTo>
                  <a:pt x="99170" y="99324"/>
                </a:lnTo>
                <a:lnTo>
                  <a:pt x="99031" y="99562"/>
                </a:lnTo>
                <a:lnTo>
                  <a:pt x="98885" y="99752"/>
                </a:lnTo>
                <a:lnTo>
                  <a:pt x="98736" y="99886"/>
                </a:lnTo>
                <a:lnTo>
                  <a:pt x="98584" y="99971"/>
                </a:lnTo>
                <a:lnTo>
                  <a:pt x="98429" y="100000"/>
                </a:lnTo>
                <a:lnTo>
                  <a:pt x="0" y="100000"/>
                </a:lnTo>
                <a:lnTo>
                  <a:pt x="0" y="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el-1782912281119-21"/>
          <p:cNvSpPr/>
          <p:nvPr/>
        </p:nvSpPr>
        <p:spPr>
          <a:xfrm>
            <a:off x="5104924" y="2423875"/>
            <a:ext cx="3639026" cy="10044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0" y="0"/>
                </a:lnTo>
              </a:path>
            </a:pathLst>
          </a:custGeom>
          <a:noFill/>
          <a:ln w="35719" algn="in">
            <a:solidFill>
              <a:srgbClr val="D4A017"/>
            </a:solidFill>
            <a:prstDash val="solid"/>
          </a:ln>
        </p:spPr>
        <p:txBody>
          <a:bodyPr/>
          <a:lstStyle/>
          <a:p/>
        </p:txBody>
      </p:sp>
      <p:sp>
        <p:nvSpPr>
          <p:cNvPr id="55" name="el-1782912281117-20"/>
          <p:cNvSpPr/>
          <p:nvPr/>
        </p:nvSpPr>
        <p:spPr>
          <a:xfrm>
            <a:off x="5104924" y="3556873"/>
            <a:ext cx="3639026" cy="1064419"/>
          </a:xfrm>
          <a:prstGeom prst="roundRect">
            <a:avLst>
              <a:gd name="adj" fmla="val 7159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56" name="el-1782912281121-22"/>
          <p:cNvSpPr/>
          <p:nvPr/>
        </p:nvSpPr>
        <p:spPr>
          <a:xfrm>
            <a:off x="5104924" y="3556873"/>
            <a:ext cx="57150" cy="106441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0"/>
                </a:moveTo>
                <a:lnTo>
                  <a:pt x="90198" y="26"/>
                </a:lnTo>
                <a:lnTo>
                  <a:pt x="80491" y="103"/>
                </a:lnTo>
                <a:lnTo>
                  <a:pt x="70972" y="231"/>
                </a:lnTo>
                <a:lnTo>
                  <a:pt x="61732" y="409"/>
                </a:lnTo>
                <a:lnTo>
                  <a:pt x="52860" y="634"/>
                </a:lnTo>
                <a:lnTo>
                  <a:pt x="44443" y="905"/>
                </a:lnTo>
                <a:lnTo>
                  <a:pt x="36561" y="1219"/>
                </a:lnTo>
                <a:lnTo>
                  <a:pt x="29289" y="1573"/>
                </a:lnTo>
                <a:lnTo>
                  <a:pt x="22699" y="1963"/>
                </a:lnTo>
                <a:lnTo>
                  <a:pt x="16853" y="2386"/>
                </a:lnTo>
                <a:lnTo>
                  <a:pt x="11808" y="2838"/>
                </a:lnTo>
                <a:lnTo>
                  <a:pt x="7612" y="3314"/>
                </a:lnTo>
                <a:lnTo>
                  <a:pt x="4306" y="3811"/>
                </a:lnTo>
                <a:lnTo>
                  <a:pt x="1921" y="4322"/>
                </a:lnTo>
                <a:lnTo>
                  <a:pt x="482" y="4843"/>
                </a:lnTo>
                <a:lnTo>
                  <a:pt x="0" y="5369"/>
                </a:lnTo>
                <a:lnTo>
                  <a:pt x="0" y="94631"/>
                </a:lnTo>
                <a:lnTo>
                  <a:pt x="482" y="95157"/>
                </a:lnTo>
                <a:lnTo>
                  <a:pt x="1921" y="95678"/>
                </a:lnTo>
                <a:lnTo>
                  <a:pt x="4306" y="96189"/>
                </a:lnTo>
                <a:lnTo>
                  <a:pt x="7612" y="96686"/>
                </a:lnTo>
                <a:lnTo>
                  <a:pt x="11808" y="97162"/>
                </a:lnTo>
                <a:lnTo>
                  <a:pt x="16853" y="97614"/>
                </a:lnTo>
                <a:lnTo>
                  <a:pt x="22699" y="98037"/>
                </a:lnTo>
                <a:lnTo>
                  <a:pt x="29289" y="98427"/>
                </a:lnTo>
                <a:lnTo>
                  <a:pt x="36561" y="98781"/>
                </a:lnTo>
                <a:lnTo>
                  <a:pt x="44443" y="99095"/>
                </a:lnTo>
                <a:lnTo>
                  <a:pt x="52860" y="99366"/>
                </a:lnTo>
                <a:lnTo>
                  <a:pt x="61732" y="99591"/>
                </a:lnTo>
                <a:lnTo>
                  <a:pt x="70972" y="99769"/>
                </a:lnTo>
                <a:lnTo>
                  <a:pt x="80491" y="99897"/>
                </a:lnTo>
                <a:lnTo>
                  <a:pt x="90198" y="99974"/>
                </a:lnTo>
                <a:lnTo>
                  <a:pt x="100000" y="100000"/>
                </a:lnTo>
                <a:lnTo>
                  <a:pt x="100000" y="100000"/>
                </a:lnTo>
                <a:lnTo>
                  <a:pt x="95099" y="99974"/>
                </a:lnTo>
                <a:lnTo>
                  <a:pt x="90245" y="99897"/>
                </a:lnTo>
                <a:lnTo>
                  <a:pt x="85486" y="99769"/>
                </a:lnTo>
                <a:lnTo>
                  <a:pt x="80866" y="99591"/>
                </a:lnTo>
                <a:lnTo>
                  <a:pt x="76430" y="99366"/>
                </a:lnTo>
                <a:lnTo>
                  <a:pt x="72221" y="99095"/>
                </a:lnTo>
                <a:lnTo>
                  <a:pt x="68280" y="98781"/>
                </a:lnTo>
                <a:lnTo>
                  <a:pt x="64645" y="98427"/>
                </a:lnTo>
                <a:lnTo>
                  <a:pt x="61349" y="98037"/>
                </a:lnTo>
                <a:lnTo>
                  <a:pt x="58427" y="97614"/>
                </a:lnTo>
                <a:lnTo>
                  <a:pt x="55904" y="97162"/>
                </a:lnTo>
                <a:lnTo>
                  <a:pt x="53806" y="96686"/>
                </a:lnTo>
                <a:lnTo>
                  <a:pt x="52153" y="96189"/>
                </a:lnTo>
                <a:lnTo>
                  <a:pt x="50961" y="95678"/>
                </a:lnTo>
                <a:lnTo>
                  <a:pt x="50241" y="95157"/>
                </a:lnTo>
                <a:lnTo>
                  <a:pt x="50000" y="94631"/>
                </a:lnTo>
                <a:lnTo>
                  <a:pt x="50000" y="5369"/>
                </a:lnTo>
                <a:lnTo>
                  <a:pt x="50241" y="4843"/>
                </a:lnTo>
                <a:lnTo>
                  <a:pt x="50961" y="4322"/>
                </a:lnTo>
                <a:lnTo>
                  <a:pt x="52153" y="3811"/>
                </a:lnTo>
                <a:lnTo>
                  <a:pt x="53806" y="3314"/>
                </a:lnTo>
                <a:lnTo>
                  <a:pt x="55904" y="2838"/>
                </a:lnTo>
                <a:lnTo>
                  <a:pt x="58427" y="2386"/>
                </a:lnTo>
                <a:lnTo>
                  <a:pt x="61349" y="1963"/>
                </a:lnTo>
                <a:lnTo>
                  <a:pt x="64645" y="1573"/>
                </a:lnTo>
                <a:lnTo>
                  <a:pt x="68280" y="1219"/>
                </a:lnTo>
                <a:lnTo>
                  <a:pt x="72221" y="905"/>
                </a:lnTo>
                <a:lnTo>
                  <a:pt x="76430" y="634"/>
                </a:lnTo>
                <a:lnTo>
                  <a:pt x="80866" y="409"/>
                </a:lnTo>
                <a:lnTo>
                  <a:pt x="85486" y="231"/>
                </a:lnTo>
                <a:lnTo>
                  <a:pt x="90245" y="103"/>
                </a:lnTo>
                <a:lnTo>
                  <a:pt x="95099" y="26"/>
                </a:lnTo>
                <a:lnTo>
                  <a:pt x="100000" y="0"/>
                </a:lnTo>
                <a:lnTo>
                  <a:pt x="100000" y="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el-1782912281090-2"/>
          <p:cNvSpPr/>
          <p:nvPr/>
        </p:nvSpPr>
        <p:spPr>
          <a:xfrm>
            <a:off x="0" y="4800600"/>
            <a:ext cx="9144000" cy="3429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8" name="el-1782912281091-4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el-1782912281094-5"/>
          <p:cNvSpPr txBox="1"/>
          <p:nvPr/>
        </p:nvSpPr>
        <p:spPr>
          <a:xfrm>
            <a:off x="400050" y="179308"/>
            <a:ext cx="51488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r>
              <a:rPr sz="6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9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37</a:t>
            </a:r>
            <a:endParaRPr sz="900" b="1" spc="28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el-1782912281104-10"/>
          <p:cNvSpPr txBox="1"/>
          <p:nvPr/>
        </p:nvSpPr>
        <p:spPr>
          <a:xfrm>
            <a:off x="1086386" y="179308"/>
            <a:ext cx="152394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· 五大场景与实验设计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el-1782912281104-11"/>
          <p:cNvSpPr txBox="1"/>
          <p:nvPr/>
        </p:nvSpPr>
        <p:spPr>
          <a:xfrm>
            <a:off x="2610326" y="179308"/>
            <a:ext cx="96619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D0D0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900">
              <a:solidFill>
                <a:srgbClr val="D0D0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el-1782912281104-12"/>
          <p:cNvSpPr txBox="1"/>
          <p:nvPr/>
        </p:nvSpPr>
        <p:spPr>
          <a:xfrm>
            <a:off x="2706946" y="179308"/>
            <a:ext cx="172718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页面切换场景 — 跨 Session 详细对比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el-1782912281103-9"/>
          <p:cNvSpPr txBox="1"/>
          <p:nvPr/>
        </p:nvSpPr>
        <p:spPr>
          <a:xfrm>
            <a:off x="528638" y="750808"/>
            <a:ext cx="4376262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56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▎跨 Session 对比</a:t>
            </a:r>
            <a:endParaRPr sz="900" b="1" spc="56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el-1782912281101-7"/>
          <p:cNvSpPr txBox="1"/>
          <p:nvPr/>
        </p:nvSpPr>
        <p:spPr>
          <a:xfrm>
            <a:off x="400050" y="987981"/>
            <a:ext cx="4554855" cy="2571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80" b="1" spc="-1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Top-5 嫌疑线程 &amp; 图特征对照</a:t>
            </a:r>
            <a:endParaRPr sz="1680" b="1" spc="-1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el-1782912281137-27"/>
          <p:cNvSpPr txBox="1"/>
          <p:nvPr/>
        </p:nvSpPr>
        <p:spPr>
          <a:xfrm>
            <a:off x="478790" y="1409700"/>
            <a:ext cx="60833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 spc="1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</a:t>
            </a:r>
            <a:endParaRPr sz="840" b="1" spc="1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el-1782912281138-29"/>
          <p:cNvSpPr txBox="1"/>
          <p:nvPr/>
        </p:nvSpPr>
        <p:spPr>
          <a:xfrm>
            <a:off x="1403955" y="1418987"/>
            <a:ext cx="61704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 spc="1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 1</a:t>
            </a:r>
            <a:endParaRPr sz="840" b="1" spc="1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el-1782912281140-31"/>
          <p:cNvSpPr txBox="1"/>
          <p:nvPr/>
        </p:nvSpPr>
        <p:spPr>
          <a:xfrm>
            <a:off x="2123946" y="1409462"/>
            <a:ext cx="61704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 spc="1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Score</a:t>
            </a:r>
            <a:endParaRPr sz="840" b="1" spc="1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el-1782912281141-33"/>
          <p:cNvSpPr txBox="1"/>
          <p:nvPr/>
        </p:nvSpPr>
        <p:spPr>
          <a:xfrm>
            <a:off x="2843937" y="1418987"/>
            <a:ext cx="696426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 spc="1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 2</a:t>
            </a:r>
            <a:endParaRPr sz="840" b="1" spc="1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el-1782912281175-84"/>
          <p:cNvSpPr txBox="1"/>
          <p:nvPr/>
        </p:nvSpPr>
        <p:spPr>
          <a:xfrm>
            <a:off x="521335" y="1689735"/>
            <a:ext cx="260350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1</a:t>
            </a:r>
            <a:endParaRPr sz="780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70" name="el-1782912281143-35"/>
          <p:cNvSpPr txBox="1"/>
          <p:nvPr/>
        </p:nvSpPr>
        <p:spPr>
          <a:xfrm>
            <a:off x="1331565" y="1656477"/>
            <a:ext cx="617041" cy="1471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103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el-1782912281178-86"/>
          <p:cNvSpPr txBox="1"/>
          <p:nvPr/>
        </p:nvSpPr>
        <p:spPr>
          <a:xfrm>
            <a:off x="2123946" y="1660922"/>
            <a:ext cx="348526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0.825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el-1782912281178-87"/>
          <p:cNvSpPr txBox="1"/>
          <p:nvPr/>
        </p:nvSpPr>
        <p:spPr>
          <a:xfrm>
            <a:off x="2856230" y="1593215"/>
            <a:ext cx="1252855" cy="2101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16945 emitExt_tracker</a:t>
            </a:r>
            <a:endParaRPr sz="80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el-1782912281179-88"/>
          <p:cNvSpPr txBox="1"/>
          <p:nvPr/>
        </p:nvSpPr>
        <p:spPr>
          <a:xfrm>
            <a:off x="521335" y="1943735"/>
            <a:ext cx="414020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2</a:t>
            </a:r>
            <a:endParaRPr sz="780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74" name="el-1782912281143-36"/>
          <p:cNvSpPr txBox="1"/>
          <p:nvPr/>
        </p:nvSpPr>
        <p:spPr>
          <a:xfrm>
            <a:off x="1331595" y="1915160"/>
            <a:ext cx="782955" cy="147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52 rcuop/4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el-1782912281181-90"/>
          <p:cNvSpPr txBox="1"/>
          <p:nvPr/>
        </p:nvSpPr>
        <p:spPr>
          <a:xfrm>
            <a:off x="2123946" y="1915239"/>
            <a:ext cx="348526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0.567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el-1782912281182-91"/>
          <p:cNvSpPr txBox="1"/>
          <p:nvPr/>
        </p:nvSpPr>
        <p:spPr>
          <a:xfrm>
            <a:off x="2856230" y="1868170"/>
            <a:ext cx="1054100" cy="2241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16689 Thread-17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el-1782912281182-92"/>
          <p:cNvSpPr txBox="1"/>
          <p:nvPr/>
        </p:nvSpPr>
        <p:spPr>
          <a:xfrm>
            <a:off x="521335" y="2198370"/>
            <a:ext cx="414020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3</a:t>
            </a:r>
            <a:endParaRPr sz="780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78" name="el-1782912281144-37"/>
          <p:cNvSpPr txBox="1"/>
          <p:nvPr/>
        </p:nvSpPr>
        <p:spPr>
          <a:xfrm>
            <a:off x="1331595" y="2148205"/>
            <a:ext cx="710565" cy="147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66 rcuop/6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el-1782912281185-94"/>
          <p:cNvSpPr txBox="1"/>
          <p:nvPr/>
        </p:nvSpPr>
        <p:spPr>
          <a:xfrm>
            <a:off x="2123946" y="2169557"/>
            <a:ext cx="348526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0.473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el-1782912281185-95"/>
          <p:cNvSpPr txBox="1"/>
          <p:nvPr/>
        </p:nvSpPr>
        <p:spPr>
          <a:xfrm>
            <a:off x="4140200" y="1661795"/>
            <a:ext cx="363220" cy="1263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lang="en-US" altLang="en-US"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0.856</a:t>
            </a:r>
            <a:endParaRPr lang="en-US" altLang="en-US"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el-1782912281186-96"/>
          <p:cNvSpPr txBox="1"/>
          <p:nvPr/>
        </p:nvSpPr>
        <p:spPr>
          <a:xfrm>
            <a:off x="521335" y="2452370"/>
            <a:ext cx="413385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4</a:t>
            </a:r>
            <a:endParaRPr sz="780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82" name="el-1782912281144-38"/>
          <p:cNvSpPr txBox="1"/>
          <p:nvPr/>
        </p:nvSpPr>
        <p:spPr>
          <a:xfrm>
            <a:off x="1331565" y="2376884"/>
            <a:ext cx="617041" cy="1471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48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el-1782912281145-39"/>
          <p:cNvSpPr txBox="1"/>
          <p:nvPr/>
        </p:nvSpPr>
        <p:spPr>
          <a:xfrm>
            <a:off x="2123946" y="2429589"/>
            <a:ext cx="617041" cy="1471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0.459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el-1782912281145-40"/>
          <p:cNvSpPr txBox="1"/>
          <p:nvPr/>
        </p:nvSpPr>
        <p:spPr>
          <a:xfrm>
            <a:off x="2873782" y="2429589"/>
            <a:ext cx="696426" cy="1471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48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el-1782912281188-98"/>
          <p:cNvSpPr txBox="1"/>
          <p:nvPr/>
        </p:nvSpPr>
        <p:spPr>
          <a:xfrm>
            <a:off x="521335" y="2707005"/>
            <a:ext cx="414655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5</a:t>
            </a:r>
            <a:endParaRPr sz="780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86" name="el-1782912281146-41"/>
          <p:cNvSpPr txBox="1"/>
          <p:nvPr/>
        </p:nvSpPr>
        <p:spPr>
          <a:xfrm>
            <a:off x="1322705" y="2684145"/>
            <a:ext cx="864235" cy="147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 rcuog/4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el-1782912281146-42"/>
          <p:cNvSpPr txBox="1"/>
          <p:nvPr/>
        </p:nvSpPr>
        <p:spPr>
          <a:xfrm>
            <a:off x="2123946" y="2643267"/>
            <a:ext cx="617041" cy="1471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0.306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el-1782912281146-43"/>
          <p:cNvSpPr txBox="1"/>
          <p:nvPr/>
        </p:nvSpPr>
        <p:spPr>
          <a:xfrm>
            <a:off x="2874010" y="2684145"/>
            <a:ext cx="1172210" cy="147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12849 kworker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el-1782912281147-46"/>
          <p:cNvSpPr txBox="1"/>
          <p:nvPr/>
        </p:nvSpPr>
        <p:spPr>
          <a:xfrm>
            <a:off x="4108857" y="2674065"/>
            <a:ext cx="696426" cy="1471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</a:t>
            </a:r>
            <a:r>
              <a:rPr lang="en-US" altLang="en-US" sz="950" b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393</a:t>
            </a:r>
            <a:endParaRPr lang="en-US" altLang="en-US" sz="950" b="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el-1782912281148-49"/>
          <p:cNvSpPr txBox="1"/>
          <p:nvPr/>
        </p:nvSpPr>
        <p:spPr>
          <a:xfrm>
            <a:off x="4197757" y="3192542"/>
            <a:ext cx="696426" cy="1471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el-1782912281201-104"/>
          <p:cNvSpPr txBox="1"/>
          <p:nvPr/>
        </p:nvSpPr>
        <p:spPr>
          <a:xfrm>
            <a:off x="5254943" y="872252"/>
            <a:ext cx="1167467" cy="1943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📊 图特征对比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el-1782912281202-105"/>
          <p:cNvSpPr txBox="1"/>
          <p:nvPr/>
        </p:nvSpPr>
        <p:spPr>
          <a:xfrm>
            <a:off x="6493848" y="909399"/>
            <a:ext cx="503634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关键发现</a:t>
            </a:r>
            <a:endParaRPr sz="73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el-1782912281131-23"/>
          <p:cNvSpPr txBox="1"/>
          <p:nvPr/>
        </p:nvSpPr>
        <p:spPr>
          <a:xfrm>
            <a:off x="5376387" y="1137999"/>
            <a:ext cx="3217545" cy="5786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15"/>
              </a:lnSpc>
            </a:pPr>
            <a:r>
              <a:rPr sz="101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FUTEX_WAIT: Run1=2371 vs Run2=1770
RESOURCE_STALL: Run1=51 vs Run2=13
DECODE: Run1=567 (后台解码) vs Run2=0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el-1782912281133-24"/>
          <p:cNvSpPr txBox="1"/>
          <p:nvPr/>
        </p:nvSpPr>
        <p:spPr>
          <a:xfrm>
            <a:off x="5344160" y="1779905"/>
            <a:ext cx="3308985" cy="3860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indent="1609090" algn="l">
              <a:lnSpc>
                <a:spcPts val="1515"/>
              </a:lnSpc>
            </a:pP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el-1782912281153-54"/>
          <p:cNvSpPr txBox="1"/>
          <p:nvPr/>
        </p:nvSpPr>
        <p:spPr>
          <a:xfrm>
            <a:off x="5269230" y="2523887"/>
            <a:ext cx="3413998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6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📌 Thermal 对比</a:t>
            </a:r>
            <a:endParaRPr sz="106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el-1782912281135-25"/>
          <p:cNvSpPr txBox="1"/>
          <p:nvPr/>
        </p:nvSpPr>
        <p:spPr>
          <a:xfrm>
            <a:off x="5269230" y="2749629"/>
            <a:ext cx="3346132" cy="5786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15"/>
              </a:lnSpc>
            </a:pP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 1: neutral_therm 31.4°C · throttle=0.00
Run 2: VIRTUAL-SKIN 36.8→41.5°C · throttle=0.47
30s 内温升 4.7°C，触发轻度降频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el-1782912281153-55"/>
          <p:cNvSpPr txBox="1"/>
          <p:nvPr/>
        </p:nvSpPr>
        <p:spPr>
          <a:xfrm>
            <a:off x="5247799" y="3678317"/>
            <a:ext cx="3410426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⚡ tid 103 跨场景稳定性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el-1782912281137-26"/>
          <p:cNvSpPr txBox="1"/>
          <p:nvPr/>
        </p:nvSpPr>
        <p:spPr>
          <a:xfrm>
            <a:off x="5247799" y="3921205"/>
            <a:ext cx="3346132" cy="5786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15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tid 103 在三次 session 全部 Top-3
（Run1 #1 · Run2 #3 · Video #1）
是最稳定的跨场景嫌疑线程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el-1782912281106-14"/>
          <p:cNvSpPr txBox="1"/>
          <p:nvPr/>
        </p:nvSpPr>
        <p:spPr>
          <a:xfrm>
            <a:off x="400050" y="4907042"/>
            <a:ext cx="53506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el-1782912281106-15"/>
          <p:cNvSpPr txBox="1"/>
          <p:nvPr/>
        </p:nvSpPr>
        <p:spPr>
          <a:xfrm>
            <a:off x="1056561" y="4907042"/>
            <a:ext cx="7911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el-1782912281106-16"/>
          <p:cNvSpPr txBox="1"/>
          <p:nvPr/>
        </p:nvSpPr>
        <p:spPr>
          <a:xfrm>
            <a:off x="1257121" y="4907042"/>
            <a:ext cx="44103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</a:t>
            </a:r>
            <a:r>
              <a:rPr lang="en-US" altLang="en-US"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lang="en-US" altLang="en-US"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el-1782912281095-6"/>
          <p:cNvSpPr txBox="1"/>
          <p:nvPr/>
        </p:nvSpPr>
        <p:spPr>
          <a:xfrm>
            <a:off x="7460486" y="4907042"/>
            <a:ext cx="1333470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· 五大场景与实验设计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el-1782912281140-31"/>
          <p:cNvSpPr txBox="1"/>
          <p:nvPr/>
        </p:nvSpPr>
        <p:spPr>
          <a:xfrm>
            <a:off x="4140071" y="1418987"/>
            <a:ext cx="61704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 spc="1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Score</a:t>
            </a:r>
            <a:endParaRPr sz="840" b="1" spc="1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el-1782912281144-38"/>
          <p:cNvSpPr txBox="1"/>
          <p:nvPr/>
        </p:nvSpPr>
        <p:spPr>
          <a:xfrm>
            <a:off x="2873980" y="2198449"/>
            <a:ext cx="617041" cy="1471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lang="en-US" altLang="en-US"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103</a:t>
            </a:r>
            <a:endParaRPr lang="en-US" altLang="en-US"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1" name="el-1782912281147-46"/>
          <p:cNvSpPr txBox="1"/>
          <p:nvPr/>
        </p:nvSpPr>
        <p:spPr>
          <a:xfrm>
            <a:off x="4107587" y="2429590"/>
            <a:ext cx="696426" cy="1471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0.4</a:t>
            </a:r>
            <a:r>
              <a:rPr lang="en-US" altLang="en-US" sz="950" b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950" b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el-1782912281147-46"/>
          <p:cNvSpPr txBox="1"/>
          <p:nvPr/>
        </p:nvSpPr>
        <p:spPr>
          <a:xfrm>
            <a:off x="4108222" y="2211785"/>
            <a:ext cx="696426" cy="1471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</a:t>
            </a:r>
            <a:r>
              <a:rPr lang="en-US" altLang="en-US" sz="950" b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455</a:t>
            </a:r>
            <a:endParaRPr lang="en-US" altLang="en-US" sz="950" b="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el-1782912281147-46"/>
          <p:cNvSpPr txBox="1"/>
          <p:nvPr/>
        </p:nvSpPr>
        <p:spPr>
          <a:xfrm>
            <a:off x="4108857" y="1945085"/>
            <a:ext cx="696426" cy="1471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</a:t>
            </a:r>
            <a:r>
              <a:rPr lang="en-US" altLang="en-US" sz="950" b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650</a:t>
            </a:r>
            <a:endParaRPr lang="en-US" altLang="en-US" sz="950" b="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2912282381-1"/>
          <p:cNvSpPr/>
          <p:nvPr/>
        </p:nvSpPr>
        <p:spPr>
          <a:xfrm>
            <a:off x="0" y="0"/>
            <a:ext cx="9144000" cy="4000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2912282382-2"/>
          <p:cNvCxnSpPr/>
          <p:nvPr/>
        </p:nvCxnSpPr>
        <p:spPr>
          <a:xfrm>
            <a:off x="0" y="396478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2912282401-16"/>
          <p:cNvSpPr/>
          <p:nvPr/>
        </p:nvSpPr>
        <p:spPr>
          <a:xfrm>
            <a:off x="400050" y="785812"/>
            <a:ext cx="3506063" cy="435768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630" y="0"/>
                </a:moveTo>
                <a:lnTo>
                  <a:pt x="98370" y="0"/>
                </a:lnTo>
                <a:lnTo>
                  <a:pt x="98530" y="7"/>
                </a:lnTo>
                <a:lnTo>
                  <a:pt x="98688" y="26"/>
                </a:lnTo>
                <a:lnTo>
                  <a:pt x="98842" y="57"/>
                </a:lnTo>
                <a:lnTo>
                  <a:pt x="98995" y="101"/>
                </a:lnTo>
                <a:lnTo>
                  <a:pt x="99139" y="155"/>
                </a:lnTo>
                <a:lnTo>
                  <a:pt x="99274" y="221"/>
                </a:lnTo>
                <a:lnTo>
                  <a:pt x="99405" y="298"/>
                </a:lnTo>
                <a:lnTo>
                  <a:pt x="99522" y="385"/>
                </a:lnTo>
                <a:lnTo>
                  <a:pt x="99630" y="479"/>
                </a:lnTo>
                <a:lnTo>
                  <a:pt x="99726" y="584"/>
                </a:lnTo>
                <a:lnTo>
                  <a:pt x="99807" y="694"/>
                </a:lnTo>
                <a:lnTo>
                  <a:pt x="99875" y="810"/>
                </a:lnTo>
                <a:lnTo>
                  <a:pt x="99929" y="932"/>
                </a:lnTo>
                <a:lnTo>
                  <a:pt x="99967" y="1057"/>
                </a:lnTo>
                <a:lnTo>
                  <a:pt x="99992" y="1184"/>
                </a:lnTo>
                <a:lnTo>
                  <a:pt x="100000" y="1313"/>
                </a:lnTo>
                <a:lnTo>
                  <a:pt x="100000" y="100046"/>
                </a:lnTo>
                <a:lnTo>
                  <a:pt x="0" y="100046"/>
                </a:lnTo>
                <a:lnTo>
                  <a:pt x="0" y="1313"/>
                </a:lnTo>
                <a:lnTo>
                  <a:pt x="8" y="1184"/>
                </a:lnTo>
                <a:lnTo>
                  <a:pt x="33" y="1057"/>
                </a:lnTo>
                <a:lnTo>
                  <a:pt x="71" y="932"/>
                </a:lnTo>
                <a:lnTo>
                  <a:pt x="125" y="810"/>
                </a:lnTo>
                <a:lnTo>
                  <a:pt x="193" y="694"/>
                </a:lnTo>
                <a:lnTo>
                  <a:pt x="274" y="584"/>
                </a:lnTo>
                <a:lnTo>
                  <a:pt x="370" y="479"/>
                </a:lnTo>
                <a:lnTo>
                  <a:pt x="478" y="385"/>
                </a:lnTo>
                <a:lnTo>
                  <a:pt x="595" y="298"/>
                </a:lnTo>
                <a:lnTo>
                  <a:pt x="726" y="221"/>
                </a:lnTo>
                <a:lnTo>
                  <a:pt x="861" y="155"/>
                </a:lnTo>
                <a:lnTo>
                  <a:pt x="1005" y="101"/>
                </a:lnTo>
                <a:lnTo>
                  <a:pt x="1158" y="57"/>
                </a:lnTo>
                <a:lnTo>
                  <a:pt x="1313" y="26"/>
                </a:lnTo>
                <a:lnTo>
                  <a:pt x="1470" y="7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2912282421-30"/>
          <p:cNvCxnSpPr/>
          <p:nvPr/>
        </p:nvCxnSpPr>
        <p:spPr>
          <a:xfrm>
            <a:off x="507206" y="850106"/>
            <a:ext cx="914" cy="154305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2912282468-85"/>
          <p:cNvCxnSpPr/>
          <p:nvPr/>
        </p:nvCxnSpPr>
        <p:spPr>
          <a:xfrm>
            <a:off x="492919" y="1419463"/>
            <a:ext cx="948779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2912282468-86"/>
          <p:cNvCxnSpPr/>
          <p:nvPr/>
        </p:nvCxnSpPr>
        <p:spPr>
          <a:xfrm>
            <a:off x="1484561" y="1419463"/>
            <a:ext cx="423892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l-1782912282469-87"/>
          <p:cNvCxnSpPr/>
          <p:nvPr/>
        </p:nvCxnSpPr>
        <p:spPr>
          <a:xfrm>
            <a:off x="1951315" y="1419463"/>
            <a:ext cx="312003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-1782912282469-88"/>
          <p:cNvCxnSpPr/>
          <p:nvPr/>
        </p:nvCxnSpPr>
        <p:spPr>
          <a:xfrm>
            <a:off x="2306181" y="1419463"/>
            <a:ext cx="427553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2912282470-89"/>
          <p:cNvCxnSpPr/>
          <p:nvPr/>
        </p:nvCxnSpPr>
        <p:spPr>
          <a:xfrm>
            <a:off x="2776597" y="1419463"/>
            <a:ext cx="522923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-1782912282470-90"/>
          <p:cNvCxnSpPr/>
          <p:nvPr/>
        </p:nvCxnSpPr>
        <p:spPr>
          <a:xfrm>
            <a:off x="3342382" y="1419463"/>
            <a:ext cx="470862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2912282505-109"/>
          <p:cNvSpPr/>
          <p:nvPr/>
        </p:nvSpPr>
        <p:spPr>
          <a:xfrm>
            <a:off x="2356187" y="1525905"/>
            <a:ext cx="257443" cy="114300"/>
          </a:xfrm>
          <a:prstGeom prst="roundRect">
            <a:avLst>
              <a:gd name="adj" fmla="val 33333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2912282506-111"/>
          <p:cNvSpPr/>
          <p:nvPr/>
        </p:nvSpPr>
        <p:spPr>
          <a:xfrm>
            <a:off x="2356187" y="1697355"/>
            <a:ext cx="277267" cy="114300"/>
          </a:xfrm>
          <a:prstGeom prst="roundRect">
            <a:avLst>
              <a:gd name="adj" fmla="val 33333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2912282508-113"/>
          <p:cNvSpPr/>
          <p:nvPr/>
        </p:nvSpPr>
        <p:spPr>
          <a:xfrm>
            <a:off x="2356187" y="1868805"/>
            <a:ext cx="172789" cy="114300"/>
          </a:xfrm>
          <a:prstGeom prst="roundRect">
            <a:avLst>
              <a:gd name="adj" fmla="val 33333"/>
            </a:avLst>
          </a:prstGeom>
          <a:solidFill>
            <a:srgbClr val="C0392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2912282511-116"/>
          <p:cNvSpPr/>
          <p:nvPr/>
        </p:nvSpPr>
        <p:spPr>
          <a:xfrm>
            <a:off x="2356187" y="2125980"/>
            <a:ext cx="257443" cy="114300"/>
          </a:xfrm>
          <a:prstGeom prst="roundRect">
            <a:avLst>
              <a:gd name="adj" fmla="val 33333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2912282513-118"/>
          <p:cNvSpPr/>
          <p:nvPr/>
        </p:nvSpPr>
        <p:spPr>
          <a:xfrm>
            <a:off x="2356187" y="2297430"/>
            <a:ext cx="327541" cy="114300"/>
          </a:xfrm>
          <a:prstGeom prst="roundRect">
            <a:avLst>
              <a:gd name="adj" fmla="val 33333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2912282515-120"/>
          <p:cNvSpPr/>
          <p:nvPr/>
        </p:nvSpPr>
        <p:spPr>
          <a:xfrm>
            <a:off x="2356187" y="2554605"/>
            <a:ext cx="257443" cy="114300"/>
          </a:xfrm>
          <a:prstGeom prst="roundRect">
            <a:avLst>
              <a:gd name="adj" fmla="val 33333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2912282517-122"/>
          <p:cNvSpPr/>
          <p:nvPr/>
        </p:nvSpPr>
        <p:spPr>
          <a:xfrm>
            <a:off x="2356187" y="2726055"/>
            <a:ext cx="223064" cy="114300"/>
          </a:xfrm>
          <a:prstGeom prst="roundRect">
            <a:avLst>
              <a:gd name="adj" fmla="val 33333"/>
            </a:avLst>
          </a:prstGeom>
          <a:solidFill>
            <a:srgbClr val="C0392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2912282519-124"/>
          <p:cNvSpPr/>
          <p:nvPr/>
        </p:nvSpPr>
        <p:spPr>
          <a:xfrm>
            <a:off x="2356187" y="2983230"/>
            <a:ext cx="257443" cy="114300"/>
          </a:xfrm>
          <a:prstGeom prst="roundRect">
            <a:avLst>
              <a:gd name="adj" fmla="val 33333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el-1782912282521-126"/>
          <p:cNvSpPr/>
          <p:nvPr/>
        </p:nvSpPr>
        <p:spPr>
          <a:xfrm>
            <a:off x="2356187" y="3154680"/>
            <a:ext cx="226993" cy="114300"/>
          </a:xfrm>
          <a:prstGeom prst="roundRect">
            <a:avLst>
              <a:gd name="adj" fmla="val 33333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2912282403-17"/>
          <p:cNvSpPr/>
          <p:nvPr/>
        </p:nvSpPr>
        <p:spPr>
          <a:xfrm>
            <a:off x="3963263" y="785812"/>
            <a:ext cx="2361724" cy="435768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2419" y="0"/>
                </a:moveTo>
                <a:lnTo>
                  <a:pt x="97581" y="0"/>
                </a:lnTo>
                <a:lnTo>
                  <a:pt x="97819" y="7"/>
                </a:lnTo>
                <a:lnTo>
                  <a:pt x="98052" y="26"/>
                </a:lnTo>
                <a:lnTo>
                  <a:pt x="98282" y="57"/>
                </a:lnTo>
                <a:lnTo>
                  <a:pt x="98508" y="101"/>
                </a:lnTo>
                <a:lnTo>
                  <a:pt x="98722" y="155"/>
                </a:lnTo>
                <a:lnTo>
                  <a:pt x="98923" y="221"/>
                </a:lnTo>
                <a:lnTo>
                  <a:pt x="99117" y="298"/>
                </a:lnTo>
                <a:lnTo>
                  <a:pt x="99290" y="385"/>
                </a:lnTo>
                <a:lnTo>
                  <a:pt x="99452" y="479"/>
                </a:lnTo>
                <a:lnTo>
                  <a:pt x="99593" y="584"/>
                </a:lnTo>
                <a:lnTo>
                  <a:pt x="99714" y="694"/>
                </a:lnTo>
                <a:lnTo>
                  <a:pt x="99815" y="810"/>
                </a:lnTo>
                <a:lnTo>
                  <a:pt x="99895" y="932"/>
                </a:lnTo>
                <a:lnTo>
                  <a:pt x="99952" y="1057"/>
                </a:lnTo>
                <a:lnTo>
                  <a:pt x="99988" y="1184"/>
                </a:lnTo>
                <a:lnTo>
                  <a:pt x="100000" y="1313"/>
                </a:lnTo>
                <a:lnTo>
                  <a:pt x="100000" y="100046"/>
                </a:lnTo>
                <a:lnTo>
                  <a:pt x="0" y="100046"/>
                </a:lnTo>
                <a:lnTo>
                  <a:pt x="0" y="1313"/>
                </a:lnTo>
                <a:lnTo>
                  <a:pt x="12" y="1184"/>
                </a:lnTo>
                <a:lnTo>
                  <a:pt x="48" y="1057"/>
                </a:lnTo>
                <a:lnTo>
                  <a:pt x="105" y="932"/>
                </a:lnTo>
                <a:lnTo>
                  <a:pt x="185" y="810"/>
                </a:lnTo>
                <a:lnTo>
                  <a:pt x="286" y="694"/>
                </a:lnTo>
                <a:lnTo>
                  <a:pt x="407" y="584"/>
                </a:lnTo>
                <a:lnTo>
                  <a:pt x="548" y="479"/>
                </a:lnTo>
                <a:lnTo>
                  <a:pt x="710" y="385"/>
                </a:lnTo>
                <a:lnTo>
                  <a:pt x="883" y="298"/>
                </a:lnTo>
                <a:lnTo>
                  <a:pt x="1077" y="221"/>
                </a:lnTo>
                <a:lnTo>
                  <a:pt x="1278" y="155"/>
                </a:lnTo>
                <a:lnTo>
                  <a:pt x="1492" y="101"/>
                </a:lnTo>
                <a:lnTo>
                  <a:pt x="1718" y="57"/>
                </a:lnTo>
                <a:lnTo>
                  <a:pt x="1948" y="26"/>
                </a:lnTo>
                <a:lnTo>
                  <a:pt x="2181" y="7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23" name="el-1782912282421-31"/>
          <p:cNvCxnSpPr/>
          <p:nvPr/>
        </p:nvCxnSpPr>
        <p:spPr>
          <a:xfrm>
            <a:off x="4070420" y="850106"/>
            <a:ext cx="914" cy="154305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el-1782912282487-95"/>
          <p:cNvSpPr/>
          <p:nvPr/>
        </p:nvSpPr>
        <p:spPr>
          <a:xfrm>
            <a:off x="4056132" y="1061561"/>
            <a:ext cx="1829604" cy="228600"/>
          </a:xfrm>
          <a:prstGeom prst="roundRect">
            <a:avLst>
              <a:gd name="adj" fmla="val 25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el-1782912282489-96"/>
          <p:cNvSpPr/>
          <p:nvPr/>
        </p:nvSpPr>
        <p:spPr>
          <a:xfrm>
            <a:off x="4056132" y="1333024"/>
            <a:ext cx="931902" cy="228600"/>
          </a:xfrm>
          <a:prstGeom prst="roundRect">
            <a:avLst>
              <a:gd name="adj" fmla="val 25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82912282490-97"/>
          <p:cNvSpPr/>
          <p:nvPr/>
        </p:nvSpPr>
        <p:spPr>
          <a:xfrm>
            <a:off x="5073759" y="1333024"/>
            <a:ext cx="968693" cy="228600"/>
          </a:xfrm>
          <a:prstGeom prst="roundRect">
            <a:avLst>
              <a:gd name="adj" fmla="val 25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el-1782912282491-98"/>
          <p:cNvSpPr/>
          <p:nvPr/>
        </p:nvSpPr>
        <p:spPr>
          <a:xfrm>
            <a:off x="4056132" y="1633061"/>
            <a:ext cx="1828889" cy="228600"/>
          </a:xfrm>
          <a:prstGeom prst="roundRect">
            <a:avLst>
              <a:gd name="adj" fmla="val 25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-1782912282493-99"/>
          <p:cNvSpPr/>
          <p:nvPr/>
        </p:nvSpPr>
        <p:spPr>
          <a:xfrm>
            <a:off x="4056132" y="1904524"/>
            <a:ext cx="931902" cy="228600"/>
          </a:xfrm>
          <a:prstGeom prst="roundRect">
            <a:avLst>
              <a:gd name="adj" fmla="val 25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el-1782912282494-100"/>
          <p:cNvSpPr/>
          <p:nvPr/>
        </p:nvSpPr>
        <p:spPr>
          <a:xfrm>
            <a:off x="5073759" y="1904524"/>
            <a:ext cx="889397" cy="228600"/>
          </a:xfrm>
          <a:prstGeom prst="roundRect">
            <a:avLst>
              <a:gd name="adj" fmla="val 25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-1782912282414-22"/>
          <p:cNvSpPr/>
          <p:nvPr/>
        </p:nvSpPr>
        <p:spPr>
          <a:xfrm>
            <a:off x="4064169" y="2716054"/>
            <a:ext cx="2175986" cy="8001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8026" y="0"/>
                </a:lnTo>
                <a:lnTo>
                  <a:pt x="98219" y="24"/>
                </a:lnTo>
                <a:lnTo>
                  <a:pt x="98412" y="107"/>
                </a:lnTo>
                <a:lnTo>
                  <a:pt x="98601" y="226"/>
                </a:lnTo>
                <a:lnTo>
                  <a:pt x="98781" y="405"/>
                </a:lnTo>
                <a:lnTo>
                  <a:pt x="98956" y="631"/>
                </a:lnTo>
                <a:lnTo>
                  <a:pt x="99123" y="905"/>
                </a:lnTo>
                <a:lnTo>
                  <a:pt x="99276" y="1214"/>
                </a:lnTo>
                <a:lnTo>
                  <a:pt x="99421" y="1571"/>
                </a:lnTo>
                <a:lnTo>
                  <a:pt x="99553" y="1964"/>
                </a:lnTo>
                <a:lnTo>
                  <a:pt x="99667" y="2381"/>
                </a:lnTo>
                <a:lnTo>
                  <a:pt x="99768" y="2833"/>
                </a:lnTo>
                <a:lnTo>
                  <a:pt x="99851" y="3310"/>
                </a:lnTo>
                <a:lnTo>
                  <a:pt x="99917" y="3798"/>
                </a:lnTo>
                <a:lnTo>
                  <a:pt x="99961" y="4310"/>
                </a:lnTo>
                <a:lnTo>
                  <a:pt x="99991" y="4833"/>
                </a:lnTo>
                <a:lnTo>
                  <a:pt x="100000" y="5357"/>
                </a:lnTo>
                <a:lnTo>
                  <a:pt x="100000" y="94643"/>
                </a:lnTo>
                <a:lnTo>
                  <a:pt x="99991" y="95167"/>
                </a:lnTo>
                <a:lnTo>
                  <a:pt x="99961" y="95690"/>
                </a:lnTo>
                <a:lnTo>
                  <a:pt x="99917" y="96202"/>
                </a:lnTo>
                <a:lnTo>
                  <a:pt x="99851" y="96690"/>
                </a:lnTo>
                <a:lnTo>
                  <a:pt x="99768" y="97167"/>
                </a:lnTo>
                <a:lnTo>
                  <a:pt x="99667" y="97619"/>
                </a:lnTo>
                <a:lnTo>
                  <a:pt x="99553" y="98036"/>
                </a:lnTo>
                <a:lnTo>
                  <a:pt x="99421" y="98429"/>
                </a:lnTo>
                <a:lnTo>
                  <a:pt x="99276" y="98786"/>
                </a:lnTo>
                <a:lnTo>
                  <a:pt x="99123" y="99095"/>
                </a:lnTo>
                <a:lnTo>
                  <a:pt x="98956" y="99369"/>
                </a:lnTo>
                <a:lnTo>
                  <a:pt x="98781" y="99595"/>
                </a:lnTo>
                <a:lnTo>
                  <a:pt x="98601" y="99774"/>
                </a:lnTo>
                <a:lnTo>
                  <a:pt x="98412" y="99893"/>
                </a:lnTo>
                <a:lnTo>
                  <a:pt x="98219" y="99976"/>
                </a:lnTo>
                <a:lnTo>
                  <a:pt x="98026" y="100000"/>
                </a:lnTo>
                <a:lnTo>
                  <a:pt x="0" y="100000"/>
                </a:lnTo>
                <a:lnTo>
                  <a:pt x="0" y="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el-1782912282417-26"/>
          <p:cNvSpPr/>
          <p:nvPr/>
        </p:nvSpPr>
        <p:spPr>
          <a:xfrm>
            <a:off x="4056132" y="2701766"/>
            <a:ext cx="2175986" cy="8001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0" y="0"/>
                </a:lnTo>
              </a:path>
            </a:pathLst>
          </a:custGeom>
          <a:noFill/>
          <a:ln w="28575" algn="in">
            <a:solidFill>
              <a:srgbClr val="D4A017"/>
            </a:solidFill>
            <a:prstDash val="solid"/>
          </a:ln>
        </p:spPr>
        <p:txBody>
          <a:bodyPr/>
          <a:lstStyle/>
          <a:p/>
        </p:txBody>
      </p:sp>
      <p:sp>
        <p:nvSpPr>
          <p:cNvPr id="34" name="el-1782912282404-18"/>
          <p:cNvSpPr/>
          <p:nvPr/>
        </p:nvSpPr>
        <p:spPr>
          <a:xfrm>
            <a:off x="6382137" y="785812"/>
            <a:ext cx="2361813" cy="435768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2419" y="0"/>
                </a:moveTo>
                <a:lnTo>
                  <a:pt x="97581" y="0"/>
                </a:lnTo>
                <a:lnTo>
                  <a:pt x="97819" y="7"/>
                </a:lnTo>
                <a:lnTo>
                  <a:pt x="98052" y="26"/>
                </a:lnTo>
                <a:lnTo>
                  <a:pt x="98282" y="57"/>
                </a:lnTo>
                <a:lnTo>
                  <a:pt x="98508" y="101"/>
                </a:lnTo>
                <a:lnTo>
                  <a:pt x="98722" y="155"/>
                </a:lnTo>
                <a:lnTo>
                  <a:pt x="98923" y="221"/>
                </a:lnTo>
                <a:lnTo>
                  <a:pt x="99117" y="298"/>
                </a:lnTo>
                <a:lnTo>
                  <a:pt x="99290" y="385"/>
                </a:lnTo>
                <a:lnTo>
                  <a:pt x="99452" y="479"/>
                </a:lnTo>
                <a:lnTo>
                  <a:pt x="99593" y="584"/>
                </a:lnTo>
                <a:lnTo>
                  <a:pt x="99714" y="694"/>
                </a:lnTo>
                <a:lnTo>
                  <a:pt x="99815" y="810"/>
                </a:lnTo>
                <a:lnTo>
                  <a:pt x="99895" y="932"/>
                </a:lnTo>
                <a:lnTo>
                  <a:pt x="99952" y="1057"/>
                </a:lnTo>
                <a:lnTo>
                  <a:pt x="99988" y="1184"/>
                </a:lnTo>
                <a:lnTo>
                  <a:pt x="100000" y="1313"/>
                </a:lnTo>
                <a:lnTo>
                  <a:pt x="100000" y="100046"/>
                </a:lnTo>
                <a:lnTo>
                  <a:pt x="0" y="100046"/>
                </a:lnTo>
                <a:lnTo>
                  <a:pt x="0" y="1313"/>
                </a:lnTo>
                <a:lnTo>
                  <a:pt x="12" y="1184"/>
                </a:lnTo>
                <a:lnTo>
                  <a:pt x="48" y="1057"/>
                </a:lnTo>
                <a:lnTo>
                  <a:pt x="105" y="932"/>
                </a:lnTo>
                <a:lnTo>
                  <a:pt x="185" y="810"/>
                </a:lnTo>
                <a:lnTo>
                  <a:pt x="286" y="694"/>
                </a:lnTo>
                <a:lnTo>
                  <a:pt x="407" y="584"/>
                </a:lnTo>
                <a:lnTo>
                  <a:pt x="548" y="479"/>
                </a:lnTo>
                <a:lnTo>
                  <a:pt x="710" y="385"/>
                </a:lnTo>
                <a:lnTo>
                  <a:pt x="883" y="298"/>
                </a:lnTo>
                <a:lnTo>
                  <a:pt x="1077" y="221"/>
                </a:lnTo>
                <a:lnTo>
                  <a:pt x="1278" y="155"/>
                </a:lnTo>
                <a:lnTo>
                  <a:pt x="1492" y="101"/>
                </a:lnTo>
                <a:lnTo>
                  <a:pt x="1718" y="57"/>
                </a:lnTo>
                <a:lnTo>
                  <a:pt x="1948" y="26"/>
                </a:lnTo>
                <a:lnTo>
                  <a:pt x="2181" y="7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35" name="el-1782912282422-33"/>
          <p:cNvCxnSpPr/>
          <p:nvPr/>
        </p:nvCxnSpPr>
        <p:spPr>
          <a:xfrm>
            <a:off x="6489293" y="850106"/>
            <a:ext cx="914" cy="154305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el-1782912282475-91"/>
          <p:cNvCxnSpPr/>
          <p:nvPr/>
        </p:nvCxnSpPr>
        <p:spPr>
          <a:xfrm>
            <a:off x="6475006" y="1739503"/>
            <a:ext cx="942796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el-1782912282475-92"/>
          <p:cNvCxnSpPr/>
          <p:nvPr/>
        </p:nvCxnSpPr>
        <p:spPr>
          <a:xfrm>
            <a:off x="7460665" y="1739503"/>
            <a:ext cx="518993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el-1782912282476-93"/>
          <p:cNvCxnSpPr/>
          <p:nvPr/>
        </p:nvCxnSpPr>
        <p:spPr>
          <a:xfrm>
            <a:off x="8022521" y="1739503"/>
            <a:ext cx="628561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el-1782912282425-34"/>
          <p:cNvSpPr/>
          <p:nvPr/>
        </p:nvSpPr>
        <p:spPr>
          <a:xfrm>
            <a:off x="6475006" y="3300413"/>
            <a:ext cx="2176076" cy="6286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7368" y="0"/>
                </a:lnTo>
                <a:lnTo>
                  <a:pt x="97627" y="45"/>
                </a:lnTo>
                <a:lnTo>
                  <a:pt x="97882" y="182"/>
                </a:lnTo>
                <a:lnTo>
                  <a:pt x="98132" y="394"/>
                </a:lnTo>
                <a:lnTo>
                  <a:pt x="98377" y="697"/>
                </a:lnTo>
                <a:lnTo>
                  <a:pt x="98610" y="1076"/>
                </a:lnTo>
                <a:lnTo>
                  <a:pt x="98829" y="1530"/>
                </a:lnTo>
                <a:lnTo>
                  <a:pt x="99039" y="2061"/>
                </a:lnTo>
                <a:lnTo>
                  <a:pt x="99228" y="2667"/>
                </a:lnTo>
                <a:lnTo>
                  <a:pt x="99404" y="3318"/>
                </a:lnTo>
                <a:lnTo>
                  <a:pt x="99557" y="4045"/>
                </a:lnTo>
                <a:lnTo>
                  <a:pt x="99689" y="4803"/>
                </a:lnTo>
                <a:lnTo>
                  <a:pt x="99798" y="5606"/>
                </a:lnTo>
                <a:lnTo>
                  <a:pt x="99886" y="6455"/>
                </a:lnTo>
                <a:lnTo>
                  <a:pt x="99947" y="7318"/>
                </a:lnTo>
                <a:lnTo>
                  <a:pt x="99987" y="8197"/>
                </a:lnTo>
                <a:lnTo>
                  <a:pt x="100000" y="9091"/>
                </a:lnTo>
                <a:lnTo>
                  <a:pt x="100000" y="90909"/>
                </a:lnTo>
                <a:lnTo>
                  <a:pt x="99987" y="91803"/>
                </a:lnTo>
                <a:lnTo>
                  <a:pt x="99947" y="92682"/>
                </a:lnTo>
                <a:lnTo>
                  <a:pt x="99886" y="93545"/>
                </a:lnTo>
                <a:lnTo>
                  <a:pt x="99798" y="94394"/>
                </a:lnTo>
                <a:lnTo>
                  <a:pt x="99689" y="95197"/>
                </a:lnTo>
                <a:lnTo>
                  <a:pt x="99557" y="95955"/>
                </a:lnTo>
                <a:lnTo>
                  <a:pt x="99404" y="96682"/>
                </a:lnTo>
                <a:lnTo>
                  <a:pt x="99228" y="97333"/>
                </a:lnTo>
                <a:lnTo>
                  <a:pt x="99039" y="97939"/>
                </a:lnTo>
                <a:lnTo>
                  <a:pt x="98829" y="98470"/>
                </a:lnTo>
                <a:lnTo>
                  <a:pt x="98610" y="98924"/>
                </a:lnTo>
                <a:lnTo>
                  <a:pt x="98377" y="99303"/>
                </a:lnTo>
                <a:lnTo>
                  <a:pt x="98132" y="99606"/>
                </a:lnTo>
                <a:lnTo>
                  <a:pt x="97882" y="99818"/>
                </a:lnTo>
                <a:lnTo>
                  <a:pt x="97627" y="99955"/>
                </a:lnTo>
                <a:lnTo>
                  <a:pt x="97368" y="100000"/>
                </a:lnTo>
                <a:lnTo>
                  <a:pt x="0" y="100000"/>
                </a:lnTo>
                <a:lnTo>
                  <a:pt x="0" y="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el-1782912282427-35"/>
          <p:cNvSpPr/>
          <p:nvPr/>
        </p:nvSpPr>
        <p:spPr>
          <a:xfrm>
            <a:off x="6475006" y="3300413"/>
            <a:ext cx="2176076" cy="6286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0" y="0"/>
                </a:lnTo>
              </a:path>
            </a:pathLst>
          </a:custGeom>
          <a:noFill/>
          <a:ln w="35719" algn="in">
            <a:solidFill>
              <a:srgbClr val="D4A017"/>
            </a:solidFill>
            <a:prstDash val="solid"/>
          </a:ln>
        </p:spPr>
        <p:txBody>
          <a:bodyPr/>
          <a:lstStyle/>
          <a:p/>
        </p:txBody>
      </p:sp>
      <p:sp>
        <p:nvSpPr>
          <p:cNvPr id="41" name="el-1782912282459-78"/>
          <p:cNvSpPr/>
          <p:nvPr/>
        </p:nvSpPr>
        <p:spPr>
          <a:xfrm>
            <a:off x="7087493" y="3358991"/>
            <a:ext cx="1139250" cy="151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el-1782912282462-80"/>
          <p:cNvSpPr/>
          <p:nvPr/>
        </p:nvSpPr>
        <p:spPr>
          <a:xfrm>
            <a:off x="6596450" y="3540443"/>
            <a:ext cx="588556" cy="151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el-1782912282465-82"/>
          <p:cNvSpPr/>
          <p:nvPr/>
        </p:nvSpPr>
        <p:spPr>
          <a:xfrm>
            <a:off x="7256443" y="3540443"/>
            <a:ext cx="625614" cy="151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el-1782912282467-84"/>
          <p:cNvSpPr/>
          <p:nvPr/>
        </p:nvSpPr>
        <p:spPr>
          <a:xfrm>
            <a:off x="6596450" y="3720465"/>
            <a:ext cx="806619" cy="151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45" name="el-1782912282382-3"/>
          <p:cNvCxnSpPr/>
          <p:nvPr/>
        </p:nvCxnSpPr>
        <p:spPr>
          <a:xfrm>
            <a:off x="0" y="6970157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el-1782912282385-4"/>
          <p:cNvSpPr txBox="1"/>
          <p:nvPr/>
        </p:nvSpPr>
        <p:spPr>
          <a:xfrm>
            <a:off x="400050" y="122158"/>
            <a:ext cx="51488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" sz="90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</a:t>
            </a:r>
            <a:r>
              <a:rPr sz="9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37</a:t>
            </a:r>
            <a:endParaRPr sz="900" b="1" spc="28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el-1782912282393-10"/>
          <p:cNvSpPr txBox="1"/>
          <p:nvPr/>
        </p:nvSpPr>
        <p:spPr>
          <a:xfrm>
            <a:off x="1086485" y="121920"/>
            <a:ext cx="1823720" cy="1670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· 五大场景与实验设计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el-1782912282394-11"/>
          <p:cNvSpPr txBox="1"/>
          <p:nvPr/>
        </p:nvSpPr>
        <p:spPr>
          <a:xfrm>
            <a:off x="2776696" y="122158"/>
            <a:ext cx="96619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D0D0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900">
              <a:solidFill>
                <a:srgbClr val="D0D0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el-1782912282394-12"/>
          <p:cNvSpPr txBox="1"/>
          <p:nvPr/>
        </p:nvSpPr>
        <p:spPr>
          <a:xfrm>
            <a:off x="3047365" y="123825"/>
            <a:ext cx="723265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lang="zh-CN" altLang="en-US"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多应用</a:t>
            </a:r>
            <a:r>
              <a:rPr lang="zh-CN" altLang="en-US"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切换</a:t>
            </a:r>
            <a:endParaRPr lang="zh-CN" altLang="en-US"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el-1782912282390-6"/>
          <p:cNvSpPr txBox="1"/>
          <p:nvPr/>
        </p:nvSpPr>
        <p:spPr>
          <a:xfrm>
            <a:off x="400050" y="485775"/>
            <a:ext cx="3866515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50" b="1" spc="-1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多应用切换 · Perfetto 深度分析与 GPU 瓶颈</a:t>
            </a:r>
            <a:endParaRPr sz="1350" b="1" spc="-1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el-1782912282393-9"/>
          <p:cNvSpPr txBox="1"/>
          <p:nvPr/>
        </p:nvSpPr>
        <p:spPr>
          <a:xfrm>
            <a:off x="7418070" y="521335"/>
            <a:ext cx="1376045" cy="147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60s 采集 · 5 应用交替</a:t>
            </a:r>
            <a:endParaRPr sz="78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el-1782912282415-24"/>
          <p:cNvSpPr txBox="1"/>
          <p:nvPr/>
        </p:nvSpPr>
        <p:spPr>
          <a:xfrm>
            <a:off x="578644" y="850106"/>
            <a:ext cx="3298894" cy="1543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🧵 关键线程 CPU 与阻塞状态 (60s)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el-1782912282441-36"/>
          <p:cNvSpPr txBox="1"/>
          <p:nvPr/>
        </p:nvSpPr>
        <p:spPr>
          <a:xfrm>
            <a:off x="535781" y="1090136"/>
            <a:ext cx="963067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线程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el-1782912282442-37"/>
          <p:cNvSpPr txBox="1"/>
          <p:nvPr/>
        </p:nvSpPr>
        <p:spPr>
          <a:xfrm>
            <a:off x="1527423" y="1090136"/>
            <a:ext cx="43818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el-1782912282442-38"/>
          <p:cNvSpPr txBox="1"/>
          <p:nvPr/>
        </p:nvSpPr>
        <p:spPr>
          <a:xfrm>
            <a:off x="1994178" y="1090136"/>
            <a:ext cx="226278" cy="2971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8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切换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el-1782912282442-39"/>
          <p:cNvSpPr txBox="1"/>
          <p:nvPr/>
        </p:nvSpPr>
        <p:spPr>
          <a:xfrm>
            <a:off x="2349044" y="1090136"/>
            <a:ext cx="341828" cy="2971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8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阻塞分布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el-1782912282443-40"/>
          <p:cNvSpPr txBox="1"/>
          <p:nvPr/>
        </p:nvSpPr>
        <p:spPr>
          <a:xfrm>
            <a:off x="2819460" y="1090136"/>
            <a:ext cx="437198" cy="2971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8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avg 阻塞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el-1782912282443-41"/>
          <p:cNvSpPr txBox="1"/>
          <p:nvPr/>
        </p:nvSpPr>
        <p:spPr>
          <a:xfrm>
            <a:off x="3385245" y="1090136"/>
            <a:ext cx="385137" cy="2971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8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max 阻塞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el-1782912282444-42"/>
          <p:cNvSpPr txBox="1"/>
          <p:nvPr/>
        </p:nvSpPr>
        <p:spPr>
          <a:xfrm>
            <a:off x="535781" y="1480185"/>
            <a:ext cx="97021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RenderThread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el-1782912282503-107"/>
          <p:cNvSpPr txBox="1"/>
          <p:nvPr/>
        </p:nvSpPr>
        <p:spPr>
          <a:xfrm>
            <a:off x="1527423" y="1480185"/>
            <a:ext cx="40246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0.13s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el-1782912282444-43"/>
          <p:cNvSpPr txBox="1"/>
          <p:nvPr/>
        </p:nvSpPr>
        <p:spPr>
          <a:xfrm>
            <a:off x="1994178" y="1480185"/>
            <a:ext cx="333435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813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el-1782912282503-108"/>
          <p:cNvSpPr txBox="1"/>
          <p:nvPr/>
        </p:nvSpPr>
        <p:spPr>
          <a:xfrm>
            <a:off x="2384762" y="1525905"/>
            <a:ext cx="271730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S749</a:t>
            </a:r>
            <a:endParaRPr sz="67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el-1782912282505-110"/>
          <p:cNvSpPr txBox="1"/>
          <p:nvPr/>
        </p:nvSpPr>
        <p:spPr>
          <a:xfrm>
            <a:off x="2384762" y="1697355"/>
            <a:ext cx="291554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R+11</a:t>
            </a:r>
            <a:endParaRPr sz="67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el-1782912282507-112"/>
          <p:cNvSpPr txBox="1"/>
          <p:nvPr/>
        </p:nvSpPr>
        <p:spPr>
          <a:xfrm>
            <a:off x="2384762" y="1868805"/>
            <a:ext cx="187077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D2</a:t>
            </a:r>
            <a:endParaRPr sz="67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el-1782912282445-44"/>
          <p:cNvSpPr txBox="1"/>
          <p:nvPr/>
        </p:nvSpPr>
        <p:spPr>
          <a:xfrm>
            <a:off x="2819460" y="1480185"/>
            <a:ext cx="544354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0.14ms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el-1782912282508-114"/>
          <p:cNvSpPr txBox="1"/>
          <p:nvPr/>
        </p:nvSpPr>
        <p:spPr>
          <a:xfrm>
            <a:off x="3385245" y="1480185"/>
            <a:ext cx="44943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3.2ms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el-1782912282445-45"/>
          <p:cNvSpPr txBox="1"/>
          <p:nvPr/>
        </p:nvSpPr>
        <p:spPr>
          <a:xfrm>
            <a:off x="535781" y="2080260"/>
            <a:ext cx="97021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binder:605_2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el-1782912282445-46"/>
          <p:cNvSpPr txBox="1"/>
          <p:nvPr/>
        </p:nvSpPr>
        <p:spPr>
          <a:xfrm>
            <a:off x="1527423" y="2080260"/>
            <a:ext cx="445324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0.07s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el-1782912282446-47"/>
          <p:cNvSpPr txBox="1"/>
          <p:nvPr/>
        </p:nvSpPr>
        <p:spPr>
          <a:xfrm>
            <a:off x="1994178" y="2080260"/>
            <a:ext cx="333435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925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el-1782912282509-115"/>
          <p:cNvSpPr txBox="1"/>
          <p:nvPr/>
        </p:nvSpPr>
        <p:spPr>
          <a:xfrm>
            <a:off x="2384762" y="2125980"/>
            <a:ext cx="271730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S722</a:t>
            </a:r>
            <a:endParaRPr sz="67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el-1782912282511-117"/>
          <p:cNvSpPr txBox="1"/>
          <p:nvPr/>
        </p:nvSpPr>
        <p:spPr>
          <a:xfrm>
            <a:off x="2384762" y="2297430"/>
            <a:ext cx="341828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R+202</a:t>
            </a:r>
            <a:endParaRPr sz="67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el-1782912282446-48"/>
          <p:cNvSpPr txBox="1"/>
          <p:nvPr/>
        </p:nvSpPr>
        <p:spPr>
          <a:xfrm>
            <a:off x="2819460" y="2080260"/>
            <a:ext cx="544354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el-1782912282447-49"/>
          <p:cNvSpPr txBox="1"/>
          <p:nvPr/>
        </p:nvSpPr>
        <p:spPr>
          <a:xfrm>
            <a:off x="3385245" y="2080260"/>
            <a:ext cx="492294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el-1782912282447-50"/>
          <p:cNvSpPr txBox="1"/>
          <p:nvPr/>
        </p:nvSpPr>
        <p:spPr>
          <a:xfrm>
            <a:off x="535781" y="2508885"/>
            <a:ext cx="863054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1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mali-cmar-backe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el-1782912282447-51"/>
          <p:cNvSpPr txBox="1"/>
          <p:nvPr/>
        </p:nvSpPr>
        <p:spPr>
          <a:xfrm>
            <a:off x="1527423" y="2508885"/>
            <a:ext cx="445324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0.04s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el-1782912282448-52"/>
          <p:cNvSpPr txBox="1"/>
          <p:nvPr/>
        </p:nvSpPr>
        <p:spPr>
          <a:xfrm>
            <a:off x="1994178" y="2508885"/>
            <a:ext cx="333435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711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el-1782912282514-119"/>
          <p:cNvSpPr txBox="1"/>
          <p:nvPr/>
        </p:nvSpPr>
        <p:spPr>
          <a:xfrm>
            <a:off x="2384762" y="2554605"/>
            <a:ext cx="271730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S682</a:t>
            </a:r>
            <a:endParaRPr sz="67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el-1782912282516-121"/>
          <p:cNvSpPr txBox="1"/>
          <p:nvPr/>
        </p:nvSpPr>
        <p:spPr>
          <a:xfrm>
            <a:off x="2384762" y="2726055"/>
            <a:ext cx="237351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D27</a:t>
            </a:r>
            <a:endParaRPr sz="67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el-1782912282448-53"/>
          <p:cNvSpPr txBox="1"/>
          <p:nvPr/>
        </p:nvSpPr>
        <p:spPr>
          <a:xfrm>
            <a:off x="2819460" y="2508885"/>
            <a:ext cx="544354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el-1782912282449-54"/>
          <p:cNvSpPr txBox="1"/>
          <p:nvPr/>
        </p:nvSpPr>
        <p:spPr>
          <a:xfrm>
            <a:off x="3385245" y="2508885"/>
            <a:ext cx="492294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el-1782912282449-55"/>
          <p:cNvSpPr txBox="1"/>
          <p:nvPr/>
        </p:nvSpPr>
        <p:spPr>
          <a:xfrm>
            <a:off x="535781" y="2937510"/>
            <a:ext cx="97021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surfaceflinger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el-1782912282449-56"/>
          <p:cNvSpPr txBox="1"/>
          <p:nvPr/>
        </p:nvSpPr>
        <p:spPr>
          <a:xfrm>
            <a:off x="1527423" y="2937510"/>
            <a:ext cx="445324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0.01s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el-1782912282450-57"/>
          <p:cNvSpPr txBox="1"/>
          <p:nvPr/>
        </p:nvSpPr>
        <p:spPr>
          <a:xfrm>
            <a:off x="1994178" y="2937510"/>
            <a:ext cx="333435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177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el-1782912282517-123"/>
          <p:cNvSpPr txBox="1"/>
          <p:nvPr/>
        </p:nvSpPr>
        <p:spPr>
          <a:xfrm>
            <a:off x="2384762" y="2983230"/>
            <a:ext cx="271730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S170</a:t>
            </a:r>
            <a:endParaRPr sz="67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el-1782912282519-125"/>
          <p:cNvSpPr txBox="1"/>
          <p:nvPr/>
        </p:nvSpPr>
        <p:spPr>
          <a:xfrm>
            <a:off x="2384762" y="3154680"/>
            <a:ext cx="241280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R+5</a:t>
            </a:r>
            <a:endParaRPr sz="67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el-1782912282450-58"/>
          <p:cNvSpPr txBox="1"/>
          <p:nvPr/>
        </p:nvSpPr>
        <p:spPr>
          <a:xfrm>
            <a:off x="2819460" y="2937510"/>
            <a:ext cx="544354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el-1782912282450-59"/>
          <p:cNvSpPr txBox="1"/>
          <p:nvPr/>
        </p:nvSpPr>
        <p:spPr>
          <a:xfrm>
            <a:off x="3385245" y="2937510"/>
            <a:ext cx="492294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el-1782912282409-19"/>
          <p:cNvSpPr txBox="1"/>
          <p:nvPr/>
        </p:nvSpPr>
        <p:spPr>
          <a:xfrm>
            <a:off x="492919" y="3366135"/>
            <a:ext cx="3320326" cy="411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15"/>
              </a:lnSpc>
            </a:pPr>
            <a:r>
              <a:rPr sz="101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RenderThread 仅使用 </a:t>
            </a:r>
            <a:r>
              <a:rPr sz="1010" b="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0.22%</a:t>
            </a:r>
            <a:r>
              <a:rPr sz="101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CPU，749 次 S 状态（等 GPU fence），仅 11 次被抢占 (R+)</a:t>
            </a:r>
            <a:endParaRPr sz="101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el-1782912282416-25"/>
          <p:cNvSpPr txBox="1"/>
          <p:nvPr/>
        </p:nvSpPr>
        <p:spPr>
          <a:xfrm>
            <a:off x="4141857" y="850106"/>
            <a:ext cx="2154555" cy="1543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🎮 GPU 渲染瓶颈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el-1782912282524-128"/>
          <p:cNvSpPr txBox="1"/>
          <p:nvPr/>
        </p:nvSpPr>
        <p:spPr>
          <a:xfrm>
            <a:off x="4141857" y="1090136"/>
            <a:ext cx="1270159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OpsTask::onExecute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el-1782912282524-129"/>
          <p:cNvSpPr txBox="1"/>
          <p:nvPr/>
        </p:nvSpPr>
        <p:spPr>
          <a:xfrm>
            <a:off x="5390585" y="1090136"/>
            <a:ext cx="30227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683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el-1782912282500-101"/>
          <p:cNvSpPr txBox="1"/>
          <p:nvPr/>
        </p:nvSpPr>
        <p:spPr>
          <a:xfrm>
            <a:off x="5671423" y="1090136"/>
            <a:ext cx="19288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el-1782912282525-130"/>
          <p:cNvSpPr txBox="1"/>
          <p:nvPr/>
        </p:nvSpPr>
        <p:spPr>
          <a:xfrm>
            <a:off x="4141857" y="1361599"/>
            <a:ext cx="28432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avg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el-1782912282525-131"/>
          <p:cNvSpPr txBox="1"/>
          <p:nvPr/>
        </p:nvSpPr>
        <p:spPr>
          <a:xfrm>
            <a:off x="4404747" y="1361599"/>
            <a:ext cx="33897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0.27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el-1782912282500-102"/>
          <p:cNvSpPr txBox="1"/>
          <p:nvPr/>
        </p:nvSpPr>
        <p:spPr>
          <a:xfrm>
            <a:off x="4722287" y="1361599"/>
            <a:ext cx="244316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el-1782912282525-132"/>
          <p:cNvSpPr txBox="1"/>
          <p:nvPr/>
        </p:nvSpPr>
        <p:spPr>
          <a:xfrm>
            <a:off x="5159484" y="1361599"/>
            <a:ext cx="321112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max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el-1782912282525-133"/>
          <p:cNvSpPr txBox="1"/>
          <p:nvPr/>
        </p:nvSpPr>
        <p:spPr>
          <a:xfrm>
            <a:off x="5459164" y="1361599"/>
            <a:ext cx="33897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45.6</a:t>
            </a:r>
            <a:endParaRPr sz="1010" b="1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el-1782912282500-103"/>
          <p:cNvSpPr txBox="1"/>
          <p:nvPr/>
        </p:nvSpPr>
        <p:spPr>
          <a:xfrm>
            <a:off x="5776704" y="1361599"/>
            <a:ext cx="244316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el-1782912282526-134"/>
          <p:cNvSpPr txBox="1"/>
          <p:nvPr/>
        </p:nvSpPr>
        <p:spPr>
          <a:xfrm>
            <a:off x="4141857" y="1661636"/>
            <a:ext cx="1269444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OpsTask::onPrepare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el-1782912282526-135"/>
          <p:cNvSpPr txBox="1"/>
          <p:nvPr/>
        </p:nvSpPr>
        <p:spPr>
          <a:xfrm>
            <a:off x="5389870" y="1661636"/>
            <a:ext cx="30227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683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el-1782912282500-104"/>
          <p:cNvSpPr txBox="1"/>
          <p:nvPr/>
        </p:nvSpPr>
        <p:spPr>
          <a:xfrm>
            <a:off x="5670709" y="1661636"/>
            <a:ext cx="19288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el-1782912282527-136"/>
          <p:cNvSpPr txBox="1"/>
          <p:nvPr/>
        </p:nvSpPr>
        <p:spPr>
          <a:xfrm>
            <a:off x="4141857" y="1933099"/>
            <a:ext cx="28432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avg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el-1782912282527-137"/>
          <p:cNvSpPr txBox="1"/>
          <p:nvPr/>
        </p:nvSpPr>
        <p:spPr>
          <a:xfrm>
            <a:off x="4404747" y="1933099"/>
            <a:ext cx="33897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0.04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el-1782912282501-105"/>
          <p:cNvSpPr txBox="1"/>
          <p:nvPr/>
        </p:nvSpPr>
        <p:spPr>
          <a:xfrm>
            <a:off x="4722287" y="1933099"/>
            <a:ext cx="244316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el-1782912282527-138"/>
          <p:cNvSpPr txBox="1"/>
          <p:nvPr/>
        </p:nvSpPr>
        <p:spPr>
          <a:xfrm>
            <a:off x="5159484" y="1933099"/>
            <a:ext cx="321112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max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el-1782912282528-139"/>
          <p:cNvSpPr txBox="1"/>
          <p:nvPr/>
        </p:nvSpPr>
        <p:spPr>
          <a:xfrm>
            <a:off x="5459164" y="1933099"/>
            <a:ext cx="259675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1.5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el-1782912282501-106"/>
          <p:cNvSpPr txBox="1"/>
          <p:nvPr/>
        </p:nvSpPr>
        <p:spPr>
          <a:xfrm>
            <a:off x="5697409" y="1933099"/>
            <a:ext cx="244316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el-1782912282410-20"/>
          <p:cNvSpPr txBox="1"/>
          <p:nvPr/>
        </p:nvSpPr>
        <p:spPr>
          <a:xfrm>
            <a:off x="4056132" y="2204561"/>
            <a:ext cx="2175986" cy="411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15"/>
              </a:lnSpc>
            </a:pP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 completion fence signaled 约 </a:t>
            </a:r>
            <a:r>
              <a:rPr sz="101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2,300</a:t>
            </a: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次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el-1782912282412-21"/>
          <p:cNvSpPr txBox="1"/>
          <p:nvPr/>
        </p:nvSpPr>
        <p:spPr>
          <a:xfrm>
            <a:off x="4170432" y="2758916"/>
            <a:ext cx="1975961" cy="685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10"/>
              </a:lnSpc>
            </a:pPr>
            <a:r>
              <a:rPr sz="101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⚠️ </a:t>
            </a:r>
            <a:r>
              <a:rPr sz="101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Skia</a:t>
            </a:r>
            <a:r>
              <a:rPr sz="101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1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OpsTask</a:t>
            </a:r>
            <a:r>
              <a:rPr sz="101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::</a:t>
            </a:r>
            <a:r>
              <a:rPr sz="101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onExecute</a:t>
            </a:r>
            <a:r>
              <a:rPr sz="101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1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最长达</a:t>
            </a:r>
            <a:r>
              <a:rPr sz="101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10" b="1" dirty="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45.6ms</a:t>
            </a:r>
            <a:r>
              <a:rPr sz="101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（约 3 </a:t>
            </a:r>
            <a:r>
              <a:rPr sz="101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帧周期</a:t>
            </a:r>
            <a:r>
              <a:rPr sz="101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 </a:t>
            </a:r>
            <a:r>
              <a:rPr sz="101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这是</a:t>
            </a:r>
            <a:r>
              <a:rPr sz="101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1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RenderThread</a:t>
            </a:r>
            <a:r>
              <a:rPr sz="101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的 </a:t>
            </a:r>
            <a:r>
              <a:rPr sz="1010" b="1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主要阻塞源</a:t>
            </a:r>
            <a:endParaRPr dirty="0"/>
          </a:p>
        </p:txBody>
      </p:sp>
      <p:sp>
        <p:nvSpPr>
          <p:cNvPr id="111" name="el-1782912282417-27"/>
          <p:cNvSpPr txBox="1"/>
          <p:nvPr/>
        </p:nvSpPr>
        <p:spPr>
          <a:xfrm>
            <a:off x="3977640" y="3515995"/>
            <a:ext cx="2327910" cy="14871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15"/>
              </a:lnSpc>
            </a:pPr>
            <a:r>
              <a:rPr sz="60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</a:t>
            </a:r>
            <a:r>
              <a:rPr sz="60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综合分析】RenderThread</a:t>
            </a:r>
            <a:r>
              <a:rPr sz="60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在 60s </a:t>
            </a:r>
            <a:r>
              <a:rPr sz="60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内仅占</a:t>
            </a:r>
            <a:r>
              <a:rPr sz="60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CPU 0.22%，</a:t>
            </a:r>
            <a:r>
              <a:rPr sz="60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却承担了</a:t>
            </a:r>
            <a:r>
              <a:rPr sz="60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813 </a:t>
            </a:r>
            <a:r>
              <a:rPr sz="60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次线程切换，其中</a:t>
            </a:r>
            <a:r>
              <a:rPr sz="60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749 次（92.1%）</a:t>
            </a:r>
            <a:r>
              <a:rPr sz="60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处于</a:t>
            </a:r>
            <a:r>
              <a:rPr sz="60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 </a:t>
            </a:r>
            <a:r>
              <a:rPr sz="60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状态等待</a:t>
            </a:r>
            <a:r>
              <a:rPr sz="60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GPU </a:t>
            </a:r>
            <a:r>
              <a:rPr sz="60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fence。Skia</a:t>
            </a:r>
            <a:r>
              <a:rPr sz="60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60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OpsTask</a:t>
            </a:r>
            <a:r>
              <a:rPr sz="60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::</a:t>
            </a:r>
            <a:r>
              <a:rPr sz="60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onExecute</a:t>
            </a:r>
            <a:r>
              <a:rPr sz="60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60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最长阻塞达</a:t>
            </a:r>
            <a:r>
              <a:rPr sz="60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45.6ms（约 3 </a:t>
            </a:r>
            <a:r>
              <a:rPr sz="60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帧周期</a:t>
            </a:r>
            <a:r>
              <a:rPr sz="60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</a:t>
            </a:r>
            <a:r>
              <a:rPr sz="60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远超</a:t>
            </a:r>
            <a:r>
              <a:rPr sz="60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16.67ms </a:t>
            </a:r>
            <a:r>
              <a:rPr sz="60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的帧刷新间隔。这表明当前场景下</a:t>
            </a:r>
            <a:r>
              <a:rPr sz="60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GPU </a:t>
            </a:r>
            <a:r>
              <a:rPr sz="60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提交（onExecute）是渲染管线的核心瓶颈，RenderThread</a:t>
            </a:r>
            <a:r>
              <a:rPr sz="60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60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因等待</a:t>
            </a:r>
            <a:r>
              <a:rPr sz="60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GPU </a:t>
            </a:r>
            <a:r>
              <a:rPr sz="60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sz="60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fence signal </a:t>
            </a:r>
            <a:r>
              <a:rPr sz="60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而长时间休眠，而非</a:t>
            </a:r>
            <a:r>
              <a:rPr sz="60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CPU </a:t>
            </a:r>
            <a:r>
              <a:rPr sz="60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调度竞争导致。优化方向应聚焦于</a:t>
            </a:r>
            <a:r>
              <a:rPr sz="60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GPU </a:t>
            </a:r>
            <a:r>
              <a:rPr sz="60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操作提交效率或降低单次</a:t>
            </a:r>
            <a:r>
              <a:rPr sz="60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60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onExecute</a:t>
            </a:r>
            <a:r>
              <a:rPr sz="60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60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耗时</a:t>
            </a:r>
            <a:r>
              <a:rPr sz="60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600" dirty="0"/>
          </a:p>
        </p:txBody>
      </p:sp>
      <p:sp>
        <p:nvSpPr>
          <p:cNvPr id="112" name="el-1782912282420-29"/>
          <p:cNvSpPr txBox="1"/>
          <p:nvPr/>
        </p:nvSpPr>
        <p:spPr>
          <a:xfrm>
            <a:off x="6560731" y="850106"/>
            <a:ext cx="2154644" cy="1543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📊 atrace 覆盖不均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el-1782912282415-23"/>
          <p:cNvSpPr txBox="1"/>
          <p:nvPr/>
        </p:nvSpPr>
        <p:spPr>
          <a:xfrm>
            <a:off x="6475006" y="1061561"/>
            <a:ext cx="2176076" cy="411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15"/>
              </a:lnSpc>
            </a:pPr>
            <a:r>
              <a:rPr sz="101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32MB 缓冲区被少数应用占满，部分应用 </a:t>
            </a:r>
            <a:r>
              <a:rPr sz="1010" b="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未被覆盖</a:t>
            </a:r>
            <a:endParaRPr sz="1010" b="1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el-1782912282451-60"/>
          <p:cNvSpPr txBox="1"/>
          <p:nvPr/>
        </p:nvSpPr>
        <p:spPr>
          <a:xfrm>
            <a:off x="6517868" y="1558766"/>
            <a:ext cx="957084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" name="el-1782912282452-61"/>
          <p:cNvSpPr txBox="1"/>
          <p:nvPr/>
        </p:nvSpPr>
        <p:spPr>
          <a:xfrm>
            <a:off x="7503527" y="1558766"/>
            <a:ext cx="533281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slice 数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" name="el-1782912282452-62"/>
          <p:cNvSpPr txBox="1"/>
          <p:nvPr/>
        </p:nvSpPr>
        <p:spPr>
          <a:xfrm>
            <a:off x="8065384" y="1558766"/>
            <a:ext cx="642848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" name="el-1782912282452-63"/>
          <p:cNvSpPr txBox="1"/>
          <p:nvPr/>
        </p:nvSpPr>
        <p:spPr>
          <a:xfrm>
            <a:off x="6517868" y="1800225"/>
            <a:ext cx="964228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小红书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el-1782912282521-127"/>
          <p:cNvSpPr txBox="1"/>
          <p:nvPr/>
        </p:nvSpPr>
        <p:spPr>
          <a:xfrm>
            <a:off x="7503527" y="1800225"/>
            <a:ext cx="497562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24,934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" name="el-1782912282453-64"/>
          <p:cNvSpPr txBox="1"/>
          <p:nvPr/>
        </p:nvSpPr>
        <p:spPr>
          <a:xfrm>
            <a:off x="8065384" y="1800225"/>
            <a:ext cx="542836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10"/>
              </a:lnSpc>
            </a:pPr>
            <a:r>
              <a:rPr sz="1010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缓冲区占满</a:t>
            </a:r>
            <a:endParaRPr sz="1010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0" name="el-1782912282453-65"/>
          <p:cNvSpPr txBox="1"/>
          <p:nvPr/>
        </p:nvSpPr>
        <p:spPr>
          <a:xfrm>
            <a:off x="6517868" y="2228850"/>
            <a:ext cx="964228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QQ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1" name="el-1782912282453-66"/>
          <p:cNvSpPr txBox="1"/>
          <p:nvPr/>
        </p:nvSpPr>
        <p:spPr>
          <a:xfrm>
            <a:off x="7503527" y="2228850"/>
            <a:ext cx="540425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2" name="el-1782912282454-67"/>
          <p:cNvSpPr txBox="1"/>
          <p:nvPr/>
        </p:nvSpPr>
        <p:spPr>
          <a:xfrm>
            <a:off x="8065384" y="2228850"/>
            <a:ext cx="649992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严重不足</a:t>
            </a:r>
            <a:endParaRPr sz="1010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" name="el-1782912282454-68"/>
          <p:cNvSpPr txBox="1"/>
          <p:nvPr/>
        </p:nvSpPr>
        <p:spPr>
          <a:xfrm>
            <a:off x="6517868" y="2486025"/>
            <a:ext cx="964228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微信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" name="el-1782912282454-69"/>
          <p:cNvSpPr txBox="1"/>
          <p:nvPr/>
        </p:nvSpPr>
        <p:spPr>
          <a:xfrm>
            <a:off x="7503527" y="2486025"/>
            <a:ext cx="540425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5" name="el-1782912282455-70"/>
          <p:cNvSpPr txBox="1"/>
          <p:nvPr/>
        </p:nvSpPr>
        <p:spPr>
          <a:xfrm>
            <a:off x="8065384" y="2486025"/>
            <a:ext cx="649992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严重不足</a:t>
            </a:r>
            <a:endParaRPr sz="1010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6" name="el-1782912282455-71"/>
          <p:cNvSpPr txBox="1"/>
          <p:nvPr/>
        </p:nvSpPr>
        <p:spPr>
          <a:xfrm>
            <a:off x="6517868" y="2743200"/>
            <a:ext cx="964228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抖音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7" name="el-1782912282455-72"/>
          <p:cNvSpPr txBox="1"/>
          <p:nvPr/>
        </p:nvSpPr>
        <p:spPr>
          <a:xfrm>
            <a:off x="7503527" y="2743200"/>
            <a:ext cx="540425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8" name="el-1782912282456-73"/>
          <p:cNvSpPr txBox="1"/>
          <p:nvPr/>
        </p:nvSpPr>
        <p:spPr>
          <a:xfrm>
            <a:off x="8065384" y="2743200"/>
            <a:ext cx="649992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未覆盖</a:t>
            </a:r>
            <a:endParaRPr sz="1010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9" name="el-1782912282456-74"/>
          <p:cNvSpPr txBox="1"/>
          <p:nvPr/>
        </p:nvSpPr>
        <p:spPr>
          <a:xfrm>
            <a:off x="6517868" y="3000375"/>
            <a:ext cx="964228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汽水音乐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0" name="el-1782912282456-75"/>
          <p:cNvSpPr txBox="1"/>
          <p:nvPr/>
        </p:nvSpPr>
        <p:spPr>
          <a:xfrm>
            <a:off x="7503527" y="3000375"/>
            <a:ext cx="540425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1" name="el-1782912282457-76"/>
          <p:cNvSpPr txBox="1"/>
          <p:nvPr/>
        </p:nvSpPr>
        <p:spPr>
          <a:xfrm>
            <a:off x="8065384" y="3000375"/>
            <a:ext cx="649992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未覆盖</a:t>
            </a:r>
            <a:endParaRPr sz="1010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2" name="el-1782912282480-94"/>
          <p:cNvSpPr txBox="1"/>
          <p:nvPr/>
        </p:nvSpPr>
        <p:spPr>
          <a:xfrm>
            <a:off x="6596450" y="3357563"/>
            <a:ext cx="476756" cy="1543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🔍 诊断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3" name="el-1782912282457-77"/>
          <p:cNvSpPr txBox="1"/>
          <p:nvPr/>
        </p:nvSpPr>
        <p:spPr>
          <a:xfrm>
            <a:off x="7158930" y="3366135"/>
            <a:ext cx="1117818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小红书 </a:t>
            </a:r>
            <a:r>
              <a:rPr sz="780" b="1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24,934</a:t>
            </a: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条占满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4" name="el-1782912282460-79"/>
          <p:cNvSpPr txBox="1"/>
          <p:nvPr/>
        </p:nvSpPr>
        <p:spPr>
          <a:xfrm>
            <a:off x="6667887" y="3547586"/>
            <a:ext cx="567124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QQ </a:t>
            </a:r>
            <a:r>
              <a:rPr sz="780" b="1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</a:t>
            </a: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条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5" name="el-1782912282463-81"/>
          <p:cNvSpPr txBox="1"/>
          <p:nvPr/>
        </p:nvSpPr>
        <p:spPr>
          <a:xfrm>
            <a:off x="7327880" y="3547586"/>
            <a:ext cx="60418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微信 </a:t>
            </a:r>
            <a:r>
              <a:rPr sz="780" b="1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条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6" name="el-1782912282466-83"/>
          <p:cNvSpPr txBox="1"/>
          <p:nvPr/>
        </p:nvSpPr>
        <p:spPr>
          <a:xfrm>
            <a:off x="6667887" y="3727609"/>
            <a:ext cx="78518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抖音/汽水 </a:t>
            </a:r>
            <a:r>
              <a:rPr sz="780" b="1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条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7" name="el-1782912282396-13"/>
          <p:cNvSpPr txBox="1"/>
          <p:nvPr/>
        </p:nvSpPr>
        <p:spPr>
          <a:xfrm>
            <a:off x="400050" y="7030165"/>
            <a:ext cx="53506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8" name="el-1782912282396-14"/>
          <p:cNvSpPr txBox="1"/>
          <p:nvPr/>
        </p:nvSpPr>
        <p:spPr>
          <a:xfrm>
            <a:off x="1056561" y="7030165"/>
            <a:ext cx="7911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9" name="el-1782912282396-15"/>
          <p:cNvSpPr txBox="1"/>
          <p:nvPr/>
        </p:nvSpPr>
        <p:spPr>
          <a:xfrm>
            <a:off x="1257121" y="7030165"/>
            <a:ext cx="44103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2026.06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0" name="el-1782912282386-5"/>
          <p:cNvSpPr txBox="1"/>
          <p:nvPr/>
        </p:nvSpPr>
        <p:spPr>
          <a:xfrm>
            <a:off x="7460486" y="7030165"/>
            <a:ext cx="1333470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· 五大场景与实验设计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2912282283-1"/>
          <p:cNvSpPr/>
          <p:nvPr/>
        </p:nvSpPr>
        <p:spPr>
          <a:xfrm>
            <a:off x="0" y="0"/>
            <a:ext cx="9144000" cy="3714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2912282285-3"/>
          <p:cNvCxnSpPr/>
          <p:nvPr/>
        </p:nvCxnSpPr>
        <p:spPr>
          <a:xfrm>
            <a:off x="0" y="367903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2912282352-55"/>
          <p:cNvCxnSpPr/>
          <p:nvPr/>
        </p:nvCxnSpPr>
        <p:spPr>
          <a:xfrm>
            <a:off x="478631" y="2003822"/>
            <a:ext cx="17145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l-1782912282353-56"/>
          <p:cNvCxnSpPr/>
          <p:nvPr/>
        </p:nvCxnSpPr>
        <p:spPr>
          <a:xfrm>
            <a:off x="678656" y="2003822"/>
            <a:ext cx="2146965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-1782912282353-57"/>
          <p:cNvCxnSpPr/>
          <p:nvPr/>
        </p:nvCxnSpPr>
        <p:spPr>
          <a:xfrm>
            <a:off x="2854196" y="2003822"/>
            <a:ext cx="1073527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2912282354-58"/>
          <p:cNvCxnSpPr/>
          <p:nvPr/>
        </p:nvCxnSpPr>
        <p:spPr>
          <a:xfrm>
            <a:off x="3956298" y="2003822"/>
            <a:ext cx="1073527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-1782912282354-59"/>
          <p:cNvCxnSpPr/>
          <p:nvPr/>
        </p:nvCxnSpPr>
        <p:spPr>
          <a:xfrm>
            <a:off x="5058400" y="2003822"/>
            <a:ext cx="1789152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-1782912282354-60"/>
          <p:cNvCxnSpPr/>
          <p:nvPr/>
        </p:nvCxnSpPr>
        <p:spPr>
          <a:xfrm>
            <a:off x="6876128" y="2003822"/>
            <a:ext cx="1789242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2912282341-46"/>
          <p:cNvSpPr/>
          <p:nvPr/>
        </p:nvSpPr>
        <p:spPr>
          <a:xfrm>
            <a:off x="678656" y="2051685"/>
            <a:ext cx="828854" cy="97155"/>
          </a:xfrm>
          <a:prstGeom prst="roundRect">
            <a:avLst>
              <a:gd name="adj" fmla="val 29412"/>
            </a:avLst>
          </a:prstGeom>
          <a:solidFill>
            <a:srgbClr val="F0F0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2912282341-46__text"/>
          <p:cNvSpPr txBox="1"/>
          <p:nvPr/>
        </p:nvSpPr>
        <p:spPr>
          <a:xfrm>
            <a:off x="678656" y="2051685"/>
            <a:ext cx="828854" cy="971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670" spc="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single-pool-def</a:t>
            </a:r>
            <a:endParaRPr sz="670" spc="0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16" name="el-1782912282364-63"/>
          <p:cNvSpPr/>
          <p:nvPr/>
        </p:nvSpPr>
        <p:spPr>
          <a:xfrm>
            <a:off x="6876128" y="2028825"/>
            <a:ext cx="371475" cy="114300"/>
          </a:xfrm>
          <a:prstGeom prst="roundRect">
            <a:avLst>
              <a:gd name="adj" fmla="val 33333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2912282345-49"/>
          <p:cNvSpPr/>
          <p:nvPr/>
        </p:nvSpPr>
        <p:spPr>
          <a:xfrm>
            <a:off x="678656" y="2207419"/>
            <a:ext cx="674549" cy="97155"/>
          </a:xfrm>
          <a:prstGeom prst="roundRect">
            <a:avLst>
              <a:gd name="adj" fmla="val 29412"/>
            </a:avLst>
          </a:prstGeom>
          <a:solidFill>
            <a:srgbClr val="F0F0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2912282345-49__text"/>
          <p:cNvSpPr txBox="1"/>
          <p:nvPr/>
        </p:nvSpPr>
        <p:spPr>
          <a:xfrm>
            <a:off x="678656" y="2207419"/>
            <a:ext cx="674549" cy="971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670" spc="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SystemUIBg-5</a:t>
            </a:r>
            <a:endParaRPr sz="670" spc="0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19" name="el-1782912282366-66"/>
          <p:cNvSpPr/>
          <p:nvPr/>
        </p:nvSpPr>
        <p:spPr>
          <a:xfrm>
            <a:off x="6876128" y="2184559"/>
            <a:ext cx="400318" cy="114300"/>
          </a:xfrm>
          <a:prstGeom prst="roundRect">
            <a:avLst>
              <a:gd name="adj" fmla="val 33333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2912282349-52"/>
          <p:cNvSpPr/>
          <p:nvPr/>
        </p:nvSpPr>
        <p:spPr>
          <a:xfrm>
            <a:off x="678656" y="2363153"/>
            <a:ext cx="623114" cy="97155"/>
          </a:xfrm>
          <a:prstGeom prst="roundRect">
            <a:avLst>
              <a:gd name="adj" fmla="val 29412"/>
            </a:avLst>
          </a:prstGeom>
          <a:solidFill>
            <a:srgbClr val="F0F0F3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el-1782912282349-52__text"/>
          <p:cNvSpPr txBox="1"/>
          <p:nvPr/>
        </p:nvSpPr>
        <p:spPr>
          <a:xfrm>
            <a:off x="678656" y="2363153"/>
            <a:ext cx="623114" cy="971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670" spc="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thermal_BIG</a:t>
            </a:r>
            <a:endParaRPr sz="670" spc="0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22" name="el-1782912282367-69"/>
          <p:cNvSpPr/>
          <p:nvPr/>
        </p:nvSpPr>
        <p:spPr>
          <a:xfrm>
            <a:off x="6876128" y="2340293"/>
            <a:ext cx="285750" cy="114300"/>
          </a:xfrm>
          <a:prstGeom prst="roundRect">
            <a:avLst>
              <a:gd name="adj" fmla="val 33333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2912282284-2"/>
          <p:cNvSpPr/>
          <p:nvPr/>
        </p:nvSpPr>
        <p:spPr>
          <a:xfrm>
            <a:off x="0" y="4886325"/>
            <a:ext cx="9144000" cy="2571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5" name="el-1782912282285-4"/>
          <p:cNvCxnSpPr/>
          <p:nvPr/>
        </p:nvCxnSpPr>
        <p:spPr>
          <a:xfrm>
            <a:off x="0" y="4889897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el-1782912282288-5"/>
          <p:cNvSpPr txBox="1"/>
          <p:nvPr/>
        </p:nvSpPr>
        <p:spPr>
          <a:xfrm>
            <a:off x="400050" y="107871"/>
            <a:ext cx="51488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en-US" sz="90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sz="9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37</a:t>
            </a:r>
            <a:endParaRPr sz="900" b="1" spc="28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2912282295-10"/>
          <p:cNvSpPr txBox="1"/>
          <p:nvPr/>
        </p:nvSpPr>
        <p:spPr>
          <a:xfrm>
            <a:off x="1086386" y="107871"/>
            <a:ext cx="152394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· 五大场景与实验设计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2912282295-11"/>
          <p:cNvSpPr txBox="1"/>
          <p:nvPr/>
        </p:nvSpPr>
        <p:spPr>
          <a:xfrm>
            <a:off x="2610326" y="107871"/>
            <a:ext cx="96619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D0D0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900">
              <a:solidFill>
                <a:srgbClr val="D0D0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2912282292-7"/>
          <p:cNvSpPr txBox="1"/>
          <p:nvPr/>
        </p:nvSpPr>
        <p:spPr>
          <a:xfrm>
            <a:off x="400050" y="414655"/>
            <a:ext cx="901065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lang="zh-CN" altLang="en-US" sz="1120" b="1" spc="-1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视频浏览场景</a:t>
            </a:r>
            <a:r>
              <a:rPr sz="1120" b="1" spc="-1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1120" b="1" spc="-1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el-1782912282339-45"/>
          <p:cNvSpPr txBox="1"/>
          <p:nvPr/>
        </p:nvSpPr>
        <p:spPr>
          <a:xfrm>
            <a:off x="478631" y="2028825"/>
            <a:ext cx="214313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67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el-1782912282329-29"/>
          <p:cNvSpPr txBox="1"/>
          <p:nvPr/>
        </p:nvSpPr>
        <p:spPr>
          <a:xfrm>
            <a:off x="678656" y="2028825"/>
            <a:ext cx="2189827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indent="828675"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TID 12649</a:t>
            </a:r>
            <a:endParaRPr sz="67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el-1782912282361-61"/>
          <p:cNvSpPr txBox="1"/>
          <p:nvPr/>
        </p:nvSpPr>
        <p:spPr>
          <a:xfrm>
            <a:off x="2854196" y="2028825"/>
            <a:ext cx="278874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0.369</a:t>
            </a:r>
            <a:endParaRPr sz="67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el-1782912282341-47"/>
          <p:cNvSpPr txBox="1"/>
          <p:nvPr/>
        </p:nvSpPr>
        <p:spPr>
          <a:xfrm>
            <a:off x="3956298" y="2028825"/>
            <a:ext cx="1116390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48 / 220</a:t>
            </a:r>
            <a:endParaRPr sz="67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el-1782912282362-62"/>
          <p:cNvSpPr txBox="1"/>
          <p:nvPr/>
        </p:nvSpPr>
        <p:spPr>
          <a:xfrm>
            <a:off x="6933278" y="2028825"/>
            <a:ext cx="357188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小红书</a:t>
            </a:r>
            <a:endParaRPr sz="67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el-1782912282342-48"/>
          <p:cNvSpPr txBox="1"/>
          <p:nvPr/>
        </p:nvSpPr>
        <p:spPr>
          <a:xfrm>
            <a:off x="478631" y="2184559"/>
            <a:ext cx="214313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67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el-1782912282331-31"/>
          <p:cNvSpPr txBox="1"/>
          <p:nvPr/>
        </p:nvSpPr>
        <p:spPr>
          <a:xfrm>
            <a:off x="678656" y="2184559"/>
            <a:ext cx="2189827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indent="674370"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TID 2035</a:t>
            </a:r>
            <a:endParaRPr sz="67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el-1782912282364-64"/>
          <p:cNvSpPr txBox="1"/>
          <p:nvPr/>
        </p:nvSpPr>
        <p:spPr>
          <a:xfrm>
            <a:off x="2854196" y="2184559"/>
            <a:ext cx="278874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0.294</a:t>
            </a:r>
            <a:endParaRPr sz="67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el-1782912282345-50"/>
          <p:cNvSpPr txBox="1"/>
          <p:nvPr/>
        </p:nvSpPr>
        <p:spPr>
          <a:xfrm>
            <a:off x="3956298" y="2184559"/>
            <a:ext cx="1116390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67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el-1782912282333-32"/>
          <p:cNvSpPr txBox="1"/>
          <p:nvPr/>
        </p:nvSpPr>
        <p:spPr>
          <a:xfrm>
            <a:off x="5058400" y="2184559"/>
            <a:ext cx="1832015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355</a:t>
            </a:r>
            <a:r>
              <a:rPr sz="67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ms</a:t>
            </a:r>
            <a:endParaRPr sz="67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el-1782912282364-65"/>
          <p:cNvSpPr txBox="1"/>
          <p:nvPr/>
        </p:nvSpPr>
        <p:spPr>
          <a:xfrm>
            <a:off x="6933278" y="2184559"/>
            <a:ext cx="386030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 UI</a:t>
            </a:r>
            <a:endParaRPr sz="67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el-1782912282347-51"/>
          <p:cNvSpPr txBox="1"/>
          <p:nvPr/>
        </p:nvSpPr>
        <p:spPr>
          <a:xfrm>
            <a:off x="478631" y="2340293"/>
            <a:ext cx="214313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67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el-1782912282334-33"/>
          <p:cNvSpPr txBox="1"/>
          <p:nvPr/>
        </p:nvSpPr>
        <p:spPr>
          <a:xfrm>
            <a:off x="678656" y="2340293"/>
            <a:ext cx="2189827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indent="622935"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TID 192</a:t>
            </a:r>
            <a:endParaRPr sz="67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el-1782912282366-67"/>
          <p:cNvSpPr txBox="1"/>
          <p:nvPr/>
        </p:nvSpPr>
        <p:spPr>
          <a:xfrm>
            <a:off x="2854196" y="2340293"/>
            <a:ext cx="278874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0.142</a:t>
            </a:r>
            <a:endParaRPr sz="67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el-1782912282350-53"/>
          <p:cNvSpPr txBox="1"/>
          <p:nvPr/>
        </p:nvSpPr>
        <p:spPr>
          <a:xfrm>
            <a:off x="3956298" y="2340293"/>
            <a:ext cx="1116390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178 / 220</a:t>
            </a:r>
            <a:endParaRPr sz="67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el-1782912282350-54"/>
          <p:cNvSpPr txBox="1"/>
          <p:nvPr/>
        </p:nvSpPr>
        <p:spPr>
          <a:xfrm>
            <a:off x="5058400" y="2340293"/>
            <a:ext cx="1832015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67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el-1782912282366-68"/>
          <p:cNvSpPr txBox="1"/>
          <p:nvPr/>
        </p:nvSpPr>
        <p:spPr>
          <a:xfrm>
            <a:off x="6933278" y="2340293"/>
            <a:ext cx="271463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内核</a:t>
            </a:r>
            <a:endParaRPr sz="67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el-1782912282297-13"/>
          <p:cNvSpPr txBox="1"/>
          <p:nvPr/>
        </p:nvSpPr>
        <p:spPr>
          <a:xfrm>
            <a:off x="400050" y="4949905"/>
            <a:ext cx="53506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el-1782912282297-14"/>
          <p:cNvSpPr txBox="1"/>
          <p:nvPr/>
        </p:nvSpPr>
        <p:spPr>
          <a:xfrm>
            <a:off x="1056561" y="4949905"/>
            <a:ext cx="7911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el-1782912282298-15"/>
          <p:cNvSpPr txBox="1"/>
          <p:nvPr/>
        </p:nvSpPr>
        <p:spPr>
          <a:xfrm>
            <a:off x="1257121" y="4949905"/>
            <a:ext cx="44103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</a:t>
            </a:r>
            <a:r>
              <a:rPr lang="en-US" altLang="en-US"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altLang="en-US"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el-1782912282288-6"/>
          <p:cNvSpPr txBox="1"/>
          <p:nvPr/>
        </p:nvSpPr>
        <p:spPr>
          <a:xfrm>
            <a:off x="7460486" y="4949905"/>
            <a:ext cx="1333470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· 五大场景与实验设计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4" name="图片 7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" y="771525"/>
            <a:ext cx="4171315" cy="3592830"/>
          </a:xfrm>
          <a:prstGeom prst="rect">
            <a:avLst/>
          </a:prstGeom>
        </p:spPr>
      </p:pic>
      <p:pic>
        <p:nvPicPr>
          <p:cNvPr id="75" name="图片 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370" y="771525"/>
            <a:ext cx="4132580" cy="35979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2912281223-1"/>
          <p:cNvSpPr/>
          <p:nvPr/>
        </p:nvSpPr>
        <p:spPr>
          <a:xfrm>
            <a:off x="0" y="0"/>
            <a:ext cx="9144000" cy="5143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2912281224-3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2912281259-28"/>
          <p:cNvSpPr/>
          <p:nvPr/>
        </p:nvSpPr>
        <p:spPr>
          <a:xfrm>
            <a:off x="400050" y="948690"/>
            <a:ext cx="2686050" cy="3346132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5" name="el-1782912281274-38"/>
          <p:cNvCxnSpPr/>
          <p:nvPr/>
        </p:nvCxnSpPr>
        <p:spPr>
          <a:xfrm>
            <a:off x="535781" y="1055846"/>
            <a:ext cx="914" cy="171450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2912281261-29"/>
          <p:cNvSpPr/>
          <p:nvPr/>
        </p:nvSpPr>
        <p:spPr>
          <a:xfrm>
            <a:off x="3228975" y="948690"/>
            <a:ext cx="2686050" cy="3346132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2912281274-39"/>
          <p:cNvCxnSpPr/>
          <p:nvPr/>
        </p:nvCxnSpPr>
        <p:spPr>
          <a:xfrm>
            <a:off x="3364706" y="1055846"/>
            <a:ext cx="914" cy="171450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2912281273-35"/>
          <p:cNvCxnSpPr/>
          <p:nvPr/>
        </p:nvCxnSpPr>
        <p:spPr>
          <a:xfrm>
            <a:off x="3350419" y="2549604"/>
            <a:ext cx="2443163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2912281262-30"/>
          <p:cNvSpPr/>
          <p:nvPr/>
        </p:nvSpPr>
        <p:spPr>
          <a:xfrm>
            <a:off x="6057900" y="948690"/>
            <a:ext cx="2686050" cy="3346132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2912281275-40"/>
          <p:cNvCxnSpPr/>
          <p:nvPr/>
        </p:nvCxnSpPr>
        <p:spPr>
          <a:xfrm>
            <a:off x="6193631" y="1055846"/>
            <a:ext cx="914" cy="171450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2912281273-37"/>
          <p:cNvCxnSpPr/>
          <p:nvPr/>
        </p:nvCxnSpPr>
        <p:spPr>
          <a:xfrm>
            <a:off x="6179344" y="2873931"/>
            <a:ext cx="2443163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2912281231-7"/>
          <p:cNvSpPr/>
          <p:nvPr/>
        </p:nvSpPr>
        <p:spPr>
          <a:xfrm>
            <a:off x="400050" y="4394835"/>
            <a:ext cx="8343900" cy="36290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9315" y="0"/>
                </a:lnTo>
                <a:lnTo>
                  <a:pt x="99382" y="79"/>
                </a:lnTo>
                <a:lnTo>
                  <a:pt x="99449" y="316"/>
                </a:lnTo>
                <a:lnTo>
                  <a:pt x="99514" y="684"/>
                </a:lnTo>
                <a:lnTo>
                  <a:pt x="99578" y="1211"/>
                </a:lnTo>
                <a:lnTo>
                  <a:pt x="99638" y="1868"/>
                </a:lnTo>
                <a:lnTo>
                  <a:pt x="99695" y="2658"/>
                </a:lnTo>
                <a:lnTo>
                  <a:pt x="99750" y="3579"/>
                </a:lnTo>
                <a:lnTo>
                  <a:pt x="99799" y="4632"/>
                </a:lnTo>
                <a:lnTo>
                  <a:pt x="99845" y="5763"/>
                </a:lnTo>
                <a:lnTo>
                  <a:pt x="99885" y="7026"/>
                </a:lnTo>
                <a:lnTo>
                  <a:pt x="99919" y="8342"/>
                </a:lnTo>
                <a:lnTo>
                  <a:pt x="99947" y="9737"/>
                </a:lnTo>
                <a:lnTo>
                  <a:pt x="99970" y="11211"/>
                </a:lnTo>
                <a:lnTo>
                  <a:pt x="99986" y="12711"/>
                </a:lnTo>
                <a:lnTo>
                  <a:pt x="99997" y="14237"/>
                </a:lnTo>
                <a:lnTo>
                  <a:pt x="100000" y="15789"/>
                </a:lnTo>
                <a:lnTo>
                  <a:pt x="100000" y="84211"/>
                </a:lnTo>
                <a:lnTo>
                  <a:pt x="99997" y="85763"/>
                </a:lnTo>
                <a:lnTo>
                  <a:pt x="99986" y="87289"/>
                </a:lnTo>
                <a:lnTo>
                  <a:pt x="99970" y="88789"/>
                </a:lnTo>
                <a:lnTo>
                  <a:pt x="99947" y="90263"/>
                </a:lnTo>
                <a:lnTo>
                  <a:pt x="99919" y="91658"/>
                </a:lnTo>
                <a:lnTo>
                  <a:pt x="99885" y="92974"/>
                </a:lnTo>
                <a:lnTo>
                  <a:pt x="99845" y="94237"/>
                </a:lnTo>
                <a:lnTo>
                  <a:pt x="99799" y="95368"/>
                </a:lnTo>
                <a:lnTo>
                  <a:pt x="99750" y="96421"/>
                </a:lnTo>
                <a:lnTo>
                  <a:pt x="99695" y="97342"/>
                </a:lnTo>
                <a:lnTo>
                  <a:pt x="99638" y="98132"/>
                </a:lnTo>
                <a:lnTo>
                  <a:pt x="99578" y="98789"/>
                </a:lnTo>
                <a:lnTo>
                  <a:pt x="99514" y="99316"/>
                </a:lnTo>
                <a:lnTo>
                  <a:pt x="99449" y="99684"/>
                </a:lnTo>
                <a:lnTo>
                  <a:pt x="99382" y="99921"/>
                </a:lnTo>
                <a:lnTo>
                  <a:pt x="99315" y="100000"/>
                </a:lnTo>
                <a:lnTo>
                  <a:pt x="0" y="100000"/>
                </a:lnTo>
                <a:lnTo>
                  <a:pt x="0" y="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2912281232-8"/>
          <p:cNvSpPr/>
          <p:nvPr/>
        </p:nvSpPr>
        <p:spPr>
          <a:xfrm>
            <a:off x="400050" y="4394835"/>
            <a:ext cx="8343900" cy="36290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0" y="0"/>
                </a:lnTo>
              </a:path>
            </a:pathLst>
          </a:custGeom>
          <a:noFill/>
          <a:ln w="28575" algn="in">
            <a:solidFill>
              <a:srgbClr val="D4A017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2912281239-12"/>
          <p:cNvSpPr/>
          <p:nvPr/>
        </p:nvSpPr>
        <p:spPr>
          <a:xfrm>
            <a:off x="1999178" y="4466273"/>
            <a:ext cx="1000839" cy="2200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2912281241-14"/>
          <p:cNvSpPr/>
          <p:nvPr/>
        </p:nvSpPr>
        <p:spPr>
          <a:xfrm>
            <a:off x="3100030" y="4466273"/>
            <a:ext cx="1000839" cy="2200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el-1782912281244-16"/>
          <p:cNvSpPr/>
          <p:nvPr/>
        </p:nvSpPr>
        <p:spPr>
          <a:xfrm>
            <a:off x="4200882" y="4466273"/>
            <a:ext cx="1000839" cy="2200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el-1782912281247-18"/>
          <p:cNvSpPr/>
          <p:nvPr/>
        </p:nvSpPr>
        <p:spPr>
          <a:xfrm>
            <a:off x="5301734" y="4466273"/>
            <a:ext cx="1000839" cy="2200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el-1782912281249-20"/>
          <p:cNvSpPr/>
          <p:nvPr/>
        </p:nvSpPr>
        <p:spPr>
          <a:xfrm>
            <a:off x="6402586" y="4466273"/>
            <a:ext cx="1000839" cy="2200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el-1782912281223-2"/>
          <p:cNvSpPr/>
          <p:nvPr/>
        </p:nvSpPr>
        <p:spPr>
          <a:xfrm>
            <a:off x="0" y="4800600"/>
            <a:ext cx="9144000" cy="3429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0" name="el-1782912281224-4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2912281228-5"/>
          <p:cNvSpPr txBox="1"/>
          <p:nvPr/>
        </p:nvSpPr>
        <p:spPr>
          <a:xfrm>
            <a:off x="400050" y="179308"/>
            <a:ext cx="51488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en-US" sz="90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sz="6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9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37</a:t>
            </a:r>
            <a:endParaRPr sz="900" b="1" spc="28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2912281249-21"/>
          <p:cNvSpPr txBox="1"/>
          <p:nvPr/>
        </p:nvSpPr>
        <p:spPr>
          <a:xfrm>
            <a:off x="1086485" y="179070"/>
            <a:ext cx="1949450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· 五大场景与实验设计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2912281250-22"/>
          <p:cNvSpPr txBox="1"/>
          <p:nvPr/>
        </p:nvSpPr>
        <p:spPr>
          <a:xfrm>
            <a:off x="2697480" y="190500"/>
            <a:ext cx="147320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D0D0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900">
              <a:solidFill>
                <a:srgbClr val="D0D0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2912281250-23"/>
          <p:cNvSpPr txBox="1"/>
          <p:nvPr/>
        </p:nvSpPr>
        <p:spPr>
          <a:xfrm>
            <a:off x="2771716" y="190738"/>
            <a:ext cx="1848892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信息流滚动 — 数据规模与调度指标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2912281236-9"/>
          <p:cNvSpPr txBox="1"/>
          <p:nvPr/>
        </p:nvSpPr>
        <p:spPr>
          <a:xfrm>
            <a:off x="400050" y="585788"/>
            <a:ext cx="3608487" cy="2628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-1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信息流滚动场景 — </a:t>
            </a:r>
            <a:r>
              <a:rPr sz="1570" b="1" spc="-1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数据规模与调度指标</a:t>
            </a:r>
            <a:endParaRPr sz="1570" b="1" spc="-1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2912281236-10"/>
          <p:cNvSpPr txBox="1"/>
          <p:nvPr/>
        </p:nvSpPr>
        <p:spPr>
          <a:xfrm>
            <a:off x="4008755" y="627380"/>
            <a:ext cx="2327910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Chrome 信息流 · 30 次连续滚动</a:t>
            </a:r>
            <a:endParaRPr sz="101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2912281272-33"/>
          <p:cNvSpPr txBox="1"/>
          <p:nvPr/>
        </p:nvSpPr>
        <p:spPr>
          <a:xfrm>
            <a:off x="635794" y="1055846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原始事件规模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2912281292-52"/>
          <p:cNvSpPr txBox="1"/>
          <p:nvPr/>
        </p:nvSpPr>
        <p:spPr>
          <a:xfrm>
            <a:off x="521494" y="1341596"/>
            <a:ext cx="1239441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采集时长</a:t>
            </a:r>
            <a:endParaRPr sz="95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2912281282-41"/>
          <p:cNvSpPr txBox="1"/>
          <p:nvPr/>
        </p:nvSpPr>
        <p:spPr>
          <a:xfrm>
            <a:off x="1725216" y="1341596"/>
            <a:ext cx="1239441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34.232</a:t>
            </a: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2912281292-53"/>
          <p:cNvSpPr txBox="1"/>
          <p:nvPr/>
        </p:nvSpPr>
        <p:spPr>
          <a:xfrm>
            <a:off x="521494" y="1637347"/>
            <a:ext cx="1239441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事件总数</a:t>
            </a:r>
            <a:endParaRPr sz="95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2912281283-42"/>
          <p:cNvSpPr txBox="1"/>
          <p:nvPr/>
        </p:nvSpPr>
        <p:spPr>
          <a:xfrm>
            <a:off x="1725216" y="1637347"/>
            <a:ext cx="1239441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2,614,133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82912281293-54"/>
          <p:cNvSpPr txBox="1"/>
          <p:nvPr/>
        </p:nvSpPr>
        <p:spPr>
          <a:xfrm>
            <a:off x="521494" y="1933099"/>
            <a:ext cx="1239441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sched_switch</a:t>
            </a:r>
            <a:endParaRPr sz="95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82912281293-55"/>
          <p:cNvSpPr txBox="1"/>
          <p:nvPr/>
        </p:nvSpPr>
        <p:spPr>
          <a:xfrm>
            <a:off x="1725216" y="1933099"/>
            <a:ext cx="1239441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1,274,776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2912281294-56"/>
          <p:cNvSpPr txBox="1"/>
          <p:nvPr/>
        </p:nvSpPr>
        <p:spPr>
          <a:xfrm>
            <a:off x="521494" y="2228850"/>
            <a:ext cx="1239441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sched_waking</a:t>
            </a:r>
            <a:endParaRPr sz="95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82912281294-57"/>
          <p:cNvSpPr txBox="1"/>
          <p:nvPr/>
        </p:nvSpPr>
        <p:spPr>
          <a:xfrm>
            <a:off x="1725216" y="2228850"/>
            <a:ext cx="1239441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654,062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82912281294-58"/>
          <p:cNvSpPr txBox="1"/>
          <p:nvPr/>
        </p:nvSpPr>
        <p:spPr>
          <a:xfrm>
            <a:off x="521494" y="2524601"/>
            <a:ext cx="1239441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sched_wakeup</a:t>
            </a:r>
            <a:endParaRPr sz="95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l-1782912281295-59"/>
          <p:cNvSpPr txBox="1"/>
          <p:nvPr/>
        </p:nvSpPr>
        <p:spPr>
          <a:xfrm>
            <a:off x="1725216" y="2524601"/>
            <a:ext cx="1239441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654,056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el-1782912281295-60"/>
          <p:cNvSpPr txBox="1"/>
          <p:nvPr/>
        </p:nvSpPr>
        <p:spPr>
          <a:xfrm>
            <a:off x="521494" y="2820353"/>
            <a:ext cx="1239441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cpu_frequency</a:t>
            </a:r>
            <a:endParaRPr sz="95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el-1782912281295-61"/>
          <p:cNvSpPr txBox="1"/>
          <p:nvPr/>
        </p:nvSpPr>
        <p:spPr>
          <a:xfrm>
            <a:off x="1725216" y="2820353"/>
            <a:ext cx="1239441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31,239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l-1782912281314-71"/>
          <p:cNvSpPr txBox="1"/>
          <p:nvPr/>
        </p:nvSpPr>
        <p:spPr>
          <a:xfrm>
            <a:off x="521494" y="3123248"/>
            <a:ext cx="771525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sched_switch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el-1782912281314-72"/>
          <p:cNvSpPr txBox="1"/>
          <p:nvPr/>
        </p:nvSpPr>
        <p:spPr>
          <a:xfrm>
            <a:off x="2336006" y="3123248"/>
            <a:ext cx="62865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48.7%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el-1782912281315-73"/>
          <p:cNvSpPr txBox="1"/>
          <p:nvPr/>
        </p:nvSpPr>
        <p:spPr>
          <a:xfrm>
            <a:off x="521494" y="3314700"/>
            <a:ext cx="81662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sched_waking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el-1782912281315-74"/>
          <p:cNvSpPr txBox="1"/>
          <p:nvPr/>
        </p:nvSpPr>
        <p:spPr>
          <a:xfrm>
            <a:off x="2336006" y="3314700"/>
            <a:ext cx="62865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25.0%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l-1782912281315-75"/>
          <p:cNvSpPr txBox="1"/>
          <p:nvPr/>
        </p:nvSpPr>
        <p:spPr>
          <a:xfrm>
            <a:off x="521494" y="3506153"/>
            <a:ext cx="848499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sched_wakeup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el-1782912281315-76"/>
          <p:cNvSpPr txBox="1"/>
          <p:nvPr/>
        </p:nvSpPr>
        <p:spPr>
          <a:xfrm>
            <a:off x="2336006" y="3506153"/>
            <a:ext cx="62865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25.0%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el-1782912281316-77"/>
          <p:cNvSpPr txBox="1"/>
          <p:nvPr/>
        </p:nvSpPr>
        <p:spPr>
          <a:xfrm>
            <a:off x="521494" y="3697605"/>
            <a:ext cx="852339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cpu_frequency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el-1782912281316-78"/>
          <p:cNvSpPr txBox="1"/>
          <p:nvPr/>
        </p:nvSpPr>
        <p:spPr>
          <a:xfrm>
            <a:off x="2336006" y="3697605"/>
            <a:ext cx="62865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1.2%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el-1782912281272-34"/>
          <p:cNvSpPr txBox="1"/>
          <p:nvPr/>
        </p:nvSpPr>
        <p:spPr>
          <a:xfrm>
            <a:off x="3464719" y="1055846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Chrome 线程 &amp; 压缩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el-1782912281296-62"/>
          <p:cNvSpPr txBox="1"/>
          <p:nvPr/>
        </p:nvSpPr>
        <p:spPr>
          <a:xfrm>
            <a:off x="3350419" y="1341596"/>
            <a:ext cx="1239441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Chrome 相关线程</a:t>
            </a:r>
            <a:endParaRPr sz="95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el-1782912281285-43"/>
          <p:cNvSpPr txBox="1"/>
          <p:nvPr/>
        </p:nvSpPr>
        <p:spPr>
          <a:xfrm>
            <a:off x="4554141" y="1341596"/>
            <a:ext cx="1239441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</a:t>
            </a: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个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el-1782912281296-63"/>
          <p:cNvSpPr txBox="1"/>
          <p:nvPr/>
        </p:nvSpPr>
        <p:spPr>
          <a:xfrm>
            <a:off x="3350419" y="1637347"/>
            <a:ext cx="1239441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on-CPU 总时间</a:t>
            </a:r>
            <a:endParaRPr sz="95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el-1782912281285-44"/>
          <p:cNvSpPr txBox="1"/>
          <p:nvPr/>
        </p:nvSpPr>
        <p:spPr>
          <a:xfrm>
            <a:off x="4554141" y="1637347"/>
            <a:ext cx="1239441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5,331.07</a:t>
            </a: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ms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el-1782912281297-64"/>
          <p:cNvSpPr txBox="1"/>
          <p:nvPr/>
        </p:nvSpPr>
        <p:spPr>
          <a:xfrm>
            <a:off x="3350419" y="1933099"/>
            <a:ext cx="1239441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秒级窗口</a:t>
            </a:r>
            <a:endParaRPr sz="95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el-1782912281286-45"/>
          <p:cNvSpPr txBox="1"/>
          <p:nvPr/>
        </p:nvSpPr>
        <p:spPr>
          <a:xfrm>
            <a:off x="4554141" y="1933099"/>
            <a:ext cx="1239441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35</a:t>
            </a: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个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el-1782912281298-65"/>
          <p:cNvSpPr txBox="1"/>
          <p:nvPr/>
        </p:nvSpPr>
        <p:spPr>
          <a:xfrm>
            <a:off x="3350419" y="2228850"/>
            <a:ext cx="1239441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线程级摘要</a:t>
            </a:r>
            <a:endParaRPr sz="95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el-1782912281287-46"/>
          <p:cNvSpPr txBox="1"/>
          <p:nvPr/>
        </p:nvSpPr>
        <p:spPr>
          <a:xfrm>
            <a:off x="4554141" y="2228850"/>
            <a:ext cx="1239441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</a:t>
            </a: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条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el-1782912281270-31"/>
          <p:cNvSpPr txBox="1"/>
          <p:nvPr/>
        </p:nvSpPr>
        <p:spPr>
          <a:xfrm>
            <a:off x="3350419" y="2596039"/>
            <a:ext cx="2443163" cy="3643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25"/>
              </a:lnSpc>
            </a:pPr>
            <a:r>
              <a:rPr sz="95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压缩效果</a:t>
            </a: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：约 261 万条原始事件 → 35 个秒级窗口 + 34 条线程级摘要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el-1782912281273-36"/>
          <p:cNvSpPr txBox="1"/>
          <p:nvPr/>
        </p:nvSpPr>
        <p:spPr>
          <a:xfrm>
            <a:off x="6293644" y="1055846"/>
            <a:ext cx="240030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事件量最高窗口 Top5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el-1782912281299-66"/>
          <p:cNvSpPr txBox="1"/>
          <p:nvPr/>
        </p:nvSpPr>
        <p:spPr>
          <a:xfrm>
            <a:off x="6179344" y="1341596"/>
            <a:ext cx="1225153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sec29</a:t>
            </a:r>
            <a:endParaRPr sz="95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el-1782912281288-47"/>
          <p:cNvSpPr txBox="1"/>
          <p:nvPr/>
        </p:nvSpPr>
        <p:spPr>
          <a:xfrm>
            <a:off x="7397353" y="1341596"/>
            <a:ext cx="1225153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150,462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el-1782912281299-67"/>
          <p:cNvSpPr txBox="1"/>
          <p:nvPr/>
        </p:nvSpPr>
        <p:spPr>
          <a:xfrm>
            <a:off x="6179344" y="1644491"/>
            <a:ext cx="1225153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sec22</a:t>
            </a:r>
            <a:endParaRPr sz="95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el-1782912281288-48"/>
          <p:cNvSpPr txBox="1"/>
          <p:nvPr/>
        </p:nvSpPr>
        <p:spPr>
          <a:xfrm>
            <a:off x="7397353" y="1644491"/>
            <a:ext cx="1225153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145,799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el-1782912281300-68"/>
          <p:cNvSpPr txBox="1"/>
          <p:nvPr/>
        </p:nvSpPr>
        <p:spPr>
          <a:xfrm>
            <a:off x="6179344" y="1947386"/>
            <a:ext cx="1225153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sec27</a:t>
            </a:r>
            <a:endParaRPr sz="95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el-1782912281289-49"/>
          <p:cNvSpPr txBox="1"/>
          <p:nvPr/>
        </p:nvSpPr>
        <p:spPr>
          <a:xfrm>
            <a:off x="7397353" y="1947386"/>
            <a:ext cx="1225153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145,036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el-1782912281300-69"/>
          <p:cNvSpPr txBox="1"/>
          <p:nvPr/>
        </p:nvSpPr>
        <p:spPr>
          <a:xfrm>
            <a:off x="6179344" y="2250281"/>
            <a:ext cx="1225153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sec21</a:t>
            </a:r>
            <a:endParaRPr sz="95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el-1782912281290-50"/>
          <p:cNvSpPr txBox="1"/>
          <p:nvPr/>
        </p:nvSpPr>
        <p:spPr>
          <a:xfrm>
            <a:off x="7397353" y="2250281"/>
            <a:ext cx="1225153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144,473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el-1782912281301-70"/>
          <p:cNvSpPr txBox="1"/>
          <p:nvPr/>
        </p:nvSpPr>
        <p:spPr>
          <a:xfrm>
            <a:off x="6179344" y="2553176"/>
            <a:ext cx="1225153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sec30</a:t>
            </a:r>
            <a:endParaRPr sz="95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el-1782912281291-51"/>
          <p:cNvSpPr txBox="1"/>
          <p:nvPr/>
        </p:nvSpPr>
        <p:spPr>
          <a:xfrm>
            <a:off x="7397353" y="2553176"/>
            <a:ext cx="1225153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143,551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el-1782912281272-32"/>
          <p:cNvSpPr txBox="1"/>
          <p:nvPr/>
        </p:nvSpPr>
        <p:spPr>
          <a:xfrm>
            <a:off x="6179344" y="2920365"/>
            <a:ext cx="2443163" cy="3643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25"/>
              </a:lnSpc>
            </a:pP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集中在采集</a:t>
            </a:r>
            <a:r>
              <a:rPr sz="95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后半段</a:t>
            </a: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，滚动持续操作时线程切换和唤醒事件保持高位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el-1782912281251-24"/>
          <p:cNvSpPr txBox="1"/>
          <p:nvPr/>
        </p:nvSpPr>
        <p:spPr>
          <a:xfrm>
            <a:off x="557213" y="4490562"/>
            <a:ext cx="1406247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🏆 最高事件窗口 Top5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el-1782912281237-11"/>
          <p:cNvSpPr txBox="1"/>
          <p:nvPr/>
        </p:nvSpPr>
        <p:spPr>
          <a:xfrm>
            <a:off x="2106335" y="4501991"/>
            <a:ext cx="950833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sec29</a:t>
            </a: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150,462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el-1782912281240-13"/>
          <p:cNvSpPr txBox="1"/>
          <p:nvPr/>
        </p:nvSpPr>
        <p:spPr>
          <a:xfrm>
            <a:off x="3207187" y="4501991"/>
            <a:ext cx="950833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sec22</a:t>
            </a: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145,799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el-1782912281242-15"/>
          <p:cNvSpPr txBox="1"/>
          <p:nvPr/>
        </p:nvSpPr>
        <p:spPr>
          <a:xfrm>
            <a:off x="4308038" y="4501991"/>
            <a:ext cx="950833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sec27</a:t>
            </a: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145,036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el-1782912281245-17"/>
          <p:cNvSpPr txBox="1"/>
          <p:nvPr/>
        </p:nvSpPr>
        <p:spPr>
          <a:xfrm>
            <a:off x="5408890" y="4501991"/>
            <a:ext cx="950833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sec21</a:t>
            </a: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144,473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el-1782912281247-19"/>
          <p:cNvSpPr txBox="1"/>
          <p:nvPr/>
        </p:nvSpPr>
        <p:spPr>
          <a:xfrm>
            <a:off x="6509742" y="4501991"/>
            <a:ext cx="950833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sec30</a:t>
            </a: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143,551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el-1782912281254-25"/>
          <p:cNvSpPr txBox="1"/>
          <p:nvPr/>
        </p:nvSpPr>
        <p:spPr>
          <a:xfrm>
            <a:off x="400050" y="4907042"/>
            <a:ext cx="53506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el-1782912281254-26"/>
          <p:cNvSpPr txBox="1"/>
          <p:nvPr/>
        </p:nvSpPr>
        <p:spPr>
          <a:xfrm>
            <a:off x="1056561" y="4907042"/>
            <a:ext cx="7911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el-1782912281254-27"/>
          <p:cNvSpPr txBox="1"/>
          <p:nvPr/>
        </p:nvSpPr>
        <p:spPr>
          <a:xfrm>
            <a:off x="1257121" y="4907042"/>
            <a:ext cx="44103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</a:t>
            </a:r>
            <a:r>
              <a:rPr lang="en-US" altLang="en-US"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altLang="en-US"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el-1782912281229-6"/>
          <p:cNvSpPr txBox="1"/>
          <p:nvPr/>
        </p:nvSpPr>
        <p:spPr>
          <a:xfrm>
            <a:off x="7292975" y="4907280"/>
            <a:ext cx="1501140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· 五大场景与实验设计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el-1782912281321-79"/>
          <p:cNvSpPr/>
          <p:nvPr/>
        </p:nvSpPr>
        <p:spPr>
          <a:xfrm>
            <a:off x="1307306" y="3161824"/>
            <a:ext cx="1014413" cy="7143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3738" y="0"/>
                </a:moveTo>
                <a:lnTo>
                  <a:pt x="96262" y="0"/>
                </a:lnTo>
                <a:lnTo>
                  <a:pt x="96626" y="250"/>
                </a:lnTo>
                <a:lnTo>
                  <a:pt x="96991" y="1000"/>
                </a:lnTo>
                <a:lnTo>
                  <a:pt x="97346" y="2125"/>
                </a:lnTo>
                <a:lnTo>
                  <a:pt x="97692" y="3750"/>
                </a:lnTo>
                <a:lnTo>
                  <a:pt x="98028" y="5875"/>
                </a:lnTo>
                <a:lnTo>
                  <a:pt x="98336" y="8375"/>
                </a:lnTo>
                <a:lnTo>
                  <a:pt x="98636" y="11375"/>
                </a:lnTo>
                <a:lnTo>
                  <a:pt x="98907" y="14625"/>
                </a:lnTo>
                <a:lnTo>
                  <a:pt x="99150" y="18250"/>
                </a:lnTo>
                <a:lnTo>
                  <a:pt x="99374" y="22250"/>
                </a:lnTo>
                <a:lnTo>
                  <a:pt x="99561" y="26375"/>
                </a:lnTo>
                <a:lnTo>
                  <a:pt x="99720" y="30875"/>
                </a:lnTo>
                <a:lnTo>
                  <a:pt x="99841" y="35500"/>
                </a:lnTo>
                <a:lnTo>
                  <a:pt x="99925" y="40250"/>
                </a:lnTo>
                <a:lnTo>
                  <a:pt x="99981" y="45125"/>
                </a:lnTo>
                <a:lnTo>
                  <a:pt x="100000" y="50000"/>
                </a:lnTo>
                <a:lnTo>
                  <a:pt x="100000" y="50000"/>
                </a:lnTo>
                <a:lnTo>
                  <a:pt x="99981" y="54875"/>
                </a:lnTo>
                <a:lnTo>
                  <a:pt x="99925" y="59750"/>
                </a:lnTo>
                <a:lnTo>
                  <a:pt x="99841" y="64500"/>
                </a:lnTo>
                <a:lnTo>
                  <a:pt x="99720" y="69125"/>
                </a:lnTo>
                <a:lnTo>
                  <a:pt x="99561" y="73625"/>
                </a:lnTo>
                <a:lnTo>
                  <a:pt x="99374" y="77750"/>
                </a:lnTo>
                <a:lnTo>
                  <a:pt x="99150" y="81750"/>
                </a:lnTo>
                <a:lnTo>
                  <a:pt x="98907" y="85375"/>
                </a:lnTo>
                <a:lnTo>
                  <a:pt x="98636" y="88625"/>
                </a:lnTo>
                <a:lnTo>
                  <a:pt x="98336" y="91625"/>
                </a:lnTo>
                <a:lnTo>
                  <a:pt x="98028" y="94125"/>
                </a:lnTo>
                <a:lnTo>
                  <a:pt x="97692" y="96250"/>
                </a:lnTo>
                <a:lnTo>
                  <a:pt x="97346" y="97875"/>
                </a:lnTo>
                <a:lnTo>
                  <a:pt x="96991" y="99000"/>
                </a:lnTo>
                <a:lnTo>
                  <a:pt x="96626" y="99750"/>
                </a:lnTo>
                <a:lnTo>
                  <a:pt x="96262" y="100000"/>
                </a:lnTo>
                <a:lnTo>
                  <a:pt x="3738" y="100000"/>
                </a:lnTo>
                <a:lnTo>
                  <a:pt x="3374" y="99750"/>
                </a:lnTo>
                <a:lnTo>
                  <a:pt x="3009" y="99000"/>
                </a:lnTo>
                <a:lnTo>
                  <a:pt x="2654" y="97875"/>
                </a:lnTo>
                <a:lnTo>
                  <a:pt x="2308" y="96250"/>
                </a:lnTo>
                <a:lnTo>
                  <a:pt x="1972" y="94125"/>
                </a:lnTo>
                <a:lnTo>
                  <a:pt x="1664" y="91625"/>
                </a:lnTo>
                <a:lnTo>
                  <a:pt x="1364" y="88625"/>
                </a:lnTo>
                <a:lnTo>
                  <a:pt x="1093" y="85375"/>
                </a:lnTo>
                <a:lnTo>
                  <a:pt x="850" y="81750"/>
                </a:lnTo>
                <a:lnTo>
                  <a:pt x="626" y="77750"/>
                </a:lnTo>
                <a:lnTo>
                  <a:pt x="439" y="73625"/>
                </a:lnTo>
                <a:lnTo>
                  <a:pt x="280" y="69125"/>
                </a:lnTo>
                <a:lnTo>
                  <a:pt x="159" y="64500"/>
                </a:lnTo>
                <a:lnTo>
                  <a:pt x="75" y="59750"/>
                </a:lnTo>
                <a:lnTo>
                  <a:pt x="19" y="54875"/>
                </a:lnTo>
                <a:lnTo>
                  <a:pt x="0" y="50000"/>
                </a:lnTo>
                <a:lnTo>
                  <a:pt x="0" y="50000"/>
                </a:lnTo>
                <a:lnTo>
                  <a:pt x="19" y="45125"/>
                </a:lnTo>
                <a:lnTo>
                  <a:pt x="75" y="40250"/>
                </a:lnTo>
                <a:lnTo>
                  <a:pt x="159" y="35500"/>
                </a:lnTo>
                <a:lnTo>
                  <a:pt x="280" y="30875"/>
                </a:lnTo>
                <a:lnTo>
                  <a:pt x="439" y="26375"/>
                </a:lnTo>
                <a:lnTo>
                  <a:pt x="626" y="22250"/>
                </a:lnTo>
                <a:lnTo>
                  <a:pt x="850" y="18250"/>
                </a:lnTo>
                <a:lnTo>
                  <a:pt x="1093" y="14625"/>
                </a:lnTo>
                <a:lnTo>
                  <a:pt x="1364" y="11375"/>
                </a:lnTo>
                <a:lnTo>
                  <a:pt x="1664" y="8375"/>
                </a:lnTo>
                <a:lnTo>
                  <a:pt x="1972" y="5875"/>
                </a:lnTo>
                <a:lnTo>
                  <a:pt x="2308" y="3750"/>
                </a:lnTo>
                <a:lnTo>
                  <a:pt x="2654" y="2125"/>
                </a:lnTo>
                <a:lnTo>
                  <a:pt x="3009" y="1000"/>
                </a:lnTo>
                <a:lnTo>
                  <a:pt x="3374" y="250"/>
                </a:lnTo>
                <a:lnTo>
                  <a:pt x="3738" y="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el-1782912281333-83"/>
          <p:cNvSpPr/>
          <p:nvPr/>
        </p:nvSpPr>
        <p:spPr>
          <a:xfrm>
            <a:off x="1307306" y="3161824"/>
            <a:ext cx="493990" cy="7143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7692" y="0"/>
                </a:moveTo>
                <a:lnTo>
                  <a:pt x="92308" y="0"/>
                </a:lnTo>
                <a:lnTo>
                  <a:pt x="93058" y="250"/>
                </a:lnTo>
                <a:lnTo>
                  <a:pt x="93808" y="1000"/>
                </a:lnTo>
                <a:lnTo>
                  <a:pt x="94538" y="2125"/>
                </a:lnTo>
                <a:lnTo>
                  <a:pt x="95250" y="3750"/>
                </a:lnTo>
                <a:lnTo>
                  <a:pt x="95942" y="5875"/>
                </a:lnTo>
                <a:lnTo>
                  <a:pt x="96577" y="8375"/>
                </a:lnTo>
                <a:lnTo>
                  <a:pt x="97192" y="11375"/>
                </a:lnTo>
                <a:lnTo>
                  <a:pt x="97750" y="14625"/>
                </a:lnTo>
                <a:lnTo>
                  <a:pt x="98250" y="18250"/>
                </a:lnTo>
                <a:lnTo>
                  <a:pt x="98712" y="22250"/>
                </a:lnTo>
                <a:lnTo>
                  <a:pt x="99096" y="26375"/>
                </a:lnTo>
                <a:lnTo>
                  <a:pt x="99423" y="30875"/>
                </a:lnTo>
                <a:lnTo>
                  <a:pt x="99673" y="35500"/>
                </a:lnTo>
                <a:lnTo>
                  <a:pt x="99846" y="40250"/>
                </a:lnTo>
                <a:lnTo>
                  <a:pt x="99962" y="45125"/>
                </a:lnTo>
                <a:lnTo>
                  <a:pt x="100000" y="50000"/>
                </a:lnTo>
                <a:lnTo>
                  <a:pt x="99962" y="54875"/>
                </a:lnTo>
                <a:lnTo>
                  <a:pt x="99846" y="59750"/>
                </a:lnTo>
                <a:lnTo>
                  <a:pt x="99673" y="64500"/>
                </a:lnTo>
                <a:lnTo>
                  <a:pt x="99423" y="69125"/>
                </a:lnTo>
                <a:lnTo>
                  <a:pt x="99096" y="73625"/>
                </a:lnTo>
                <a:lnTo>
                  <a:pt x="98712" y="77750"/>
                </a:lnTo>
                <a:lnTo>
                  <a:pt x="98250" y="81750"/>
                </a:lnTo>
                <a:lnTo>
                  <a:pt x="97750" y="85375"/>
                </a:lnTo>
                <a:lnTo>
                  <a:pt x="97192" y="88625"/>
                </a:lnTo>
                <a:lnTo>
                  <a:pt x="96577" y="91625"/>
                </a:lnTo>
                <a:lnTo>
                  <a:pt x="95942" y="94125"/>
                </a:lnTo>
                <a:lnTo>
                  <a:pt x="95250" y="96250"/>
                </a:lnTo>
                <a:lnTo>
                  <a:pt x="94538" y="97875"/>
                </a:lnTo>
                <a:lnTo>
                  <a:pt x="93808" y="99000"/>
                </a:lnTo>
                <a:lnTo>
                  <a:pt x="93058" y="99750"/>
                </a:lnTo>
                <a:lnTo>
                  <a:pt x="92308" y="100000"/>
                </a:lnTo>
                <a:lnTo>
                  <a:pt x="7692" y="100000"/>
                </a:lnTo>
                <a:lnTo>
                  <a:pt x="6942" y="99750"/>
                </a:lnTo>
                <a:lnTo>
                  <a:pt x="6192" y="99000"/>
                </a:lnTo>
                <a:lnTo>
                  <a:pt x="5462" y="97875"/>
                </a:lnTo>
                <a:lnTo>
                  <a:pt x="4750" y="96250"/>
                </a:lnTo>
                <a:lnTo>
                  <a:pt x="4058" y="94125"/>
                </a:lnTo>
                <a:lnTo>
                  <a:pt x="3423" y="91625"/>
                </a:lnTo>
                <a:lnTo>
                  <a:pt x="2808" y="88625"/>
                </a:lnTo>
                <a:lnTo>
                  <a:pt x="2250" y="85375"/>
                </a:lnTo>
                <a:lnTo>
                  <a:pt x="1750" y="81750"/>
                </a:lnTo>
                <a:lnTo>
                  <a:pt x="1288" y="77750"/>
                </a:lnTo>
                <a:lnTo>
                  <a:pt x="904" y="73625"/>
                </a:lnTo>
                <a:lnTo>
                  <a:pt x="577" y="69125"/>
                </a:lnTo>
                <a:lnTo>
                  <a:pt x="327" y="64500"/>
                </a:lnTo>
                <a:lnTo>
                  <a:pt x="154" y="59750"/>
                </a:lnTo>
                <a:lnTo>
                  <a:pt x="115" y="58125"/>
                </a:lnTo>
                <a:lnTo>
                  <a:pt x="0" y="50000"/>
                </a:lnTo>
                <a:lnTo>
                  <a:pt x="115" y="41875"/>
                </a:lnTo>
                <a:lnTo>
                  <a:pt x="154" y="40250"/>
                </a:lnTo>
                <a:lnTo>
                  <a:pt x="327" y="35500"/>
                </a:lnTo>
                <a:lnTo>
                  <a:pt x="577" y="30875"/>
                </a:lnTo>
                <a:lnTo>
                  <a:pt x="904" y="26375"/>
                </a:lnTo>
                <a:lnTo>
                  <a:pt x="1288" y="22250"/>
                </a:lnTo>
                <a:lnTo>
                  <a:pt x="1750" y="18250"/>
                </a:lnTo>
                <a:lnTo>
                  <a:pt x="2250" y="14625"/>
                </a:lnTo>
                <a:lnTo>
                  <a:pt x="2808" y="11375"/>
                </a:lnTo>
                <a:lnTo>
                  <a:pt x="3423" y="8375"/>
                </a:lnTo>
                <a:lnTo>
                  <a:pt x="4058" y="5875"/>
                </a:lnTo>
                <a:lnTo>
                  <a:pt x="4750" y="3750"/>
                </a:lnTo>
                <a:lnTo>
                  <a:pt x="5462" y="2125"/>
                </a:lnTo>
                <a:lnTo>
                  <a:pt x="6192" y="1000"/>
                </a:lnTo>
                <a:lnTo>
                  <a:pt x="6942" y="250"/>
                </a:lnTo>
                <a:close/>
              </a:path>
            </a:pathLst>
          </a:custGeom>
          <a:solidFill>
            <a:srgbClr val="D4A017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el-1782912281323-80"/>
          <p:cNvSpPr/>
          <p:nvPr/>
        </p:nvSpPr>
        <p:spPr>
          <a:xfrm>
            <a:off x="1352401" y="3353276"/>
            <a:ext cx="969318" cy="7143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3922" y="0"/>
                </a:moveTo>
                <a:lnTo>
                  <a:pt x="96078" y="0"/>
                </a:lnTo>
                <a:lnTo>
                  <a:pt x="96461" y="250"/>
                </a:lnTo>
                <a:lnTo>
                  <a:pt x="96843" y="1000"/>
                </a:lnTo>
                <a:lnTo>
                  <a:pt x="97216" y="2125"/>
                </a:lnTo>
                <a:lnTo>
                  <a:pt x="97578" y="3750"/>
                </a:lnTo>
                <a:lnTo>
                  <a:pt x="97931" y="5875"/>
                </a:lnTo>
                <a:lnTo>
                  <a:pt x="98255" y="8375"/>
                </a:lnTo>
                <a:lnTo>
                  <a:pt x="98569" y="11375"/>
                </a:lnTo>
                <a:lnTo>
                  <a:pt x="98853" y="14625"/>
                </a:lnTo>
                <a:lnTo>
                  <a:pt x="99108" y="18250"/>
                </a:lnTo>
                <a:lnTo>
                  <a:pt x="99343" y="22250"/>
                </a:lnTo>
                <a:lnTo>
                  <a:pt x="99539" y="26375"/>
                </a:lnTo>
                <a:lnTo>
                  <a:pt x="99706" y="30875"/>
                </a:lnTo>
                <a:lnTo>
                  <a:pt x="99833" y="35500"/>
                </a:lnTo>
                <a:lnTo>
                  <a:pt x="99922" y="40250"/>
                </a:lnTo>
                <a:lnTo>
                  <a:pt x="99980" y="45125"/>
                </a:lnTo>
                <a:lnTo>
                  <a:pt x="100000" y="50000"/>
                </a:lnTo>
                <a:lnTo>
                  <a:pt x="100000" y="50000"/>
                </a:lnTo>
                <a:lnTo>
                  <a:pt x="99980" y="54875"/>
                </a:lnTo>
                <a:lnTo>
                  <a:pt x="99922" y="59750"/>
                </a:lnTo>
                <a:lnTo>
                  <a:pt x="99833" y="64500"/>
                </a:lnTo>
                <a:lnTo>
                  <a:pt x="99706" y="69125"/>
                </a:lnTo>
                <a:lnTo>
                  <a:pt x="99539" y="73625"/>
                </a:lnTo>
                <a:lnTo>
                  <a:pt x="99343" y="77750"/>
                </a:lnTo>
                <a:lnTo>
                  <a:pt x="99108" y="81750"/>
                </a:lnTo>
                <a:lnTo>
                  <a:pt x="98853" y="85375"/>
                </a:lnTo>
                <a:lnTo>
                  <a:pt x="98569" y="88625"/>
                </a:lnTo>
                <a:lnTo>
                  <a:pt x="98255" y="91625"/>
                </a:lnTo>
                <a:lnTo>
                  <a:pt x="97931" y="94125"/>
                </a:lnTo>
                <a:lnTo>
                  <a:pt x="97578" y="96250"/>
                </a:lnTo>
                <a:lnTo>
                  <a:pt x="97216" y="97875"/>
                </a:lnTo>
                <a:lnTo>
                  <a:pt x="96843" y="99000"/>
                </a:lnTo>
                <a:lnTo>
                  <a:pt x="96461" y="99750"/>
                </a:lnTo>
                <a:lnTo>
                  <a:pt x="96078" y="100000"/>
                </a:lnTo>
                <a:lnTo>
                  <a:pt x="3922" y="100000"/>
                </a:lnTo>
                <a:lnTo>
                  <a:pt x="3539" y="99750"/>
                </a:lnTo>
                <a:lnTo>
                  <a:pt x="3157" y="99000"/>
                </a:lnTo>
                <a:lnTo>
                  <a:pt x="2784" y="97875"/>
                </a:lnTo>
                <a:lnTo>
                  <a:pt x="2422" y="96250"/>
                </a:lnTo>
                <a:lnTo>
                  <a:pt x="2069" y="94125"/>
                </a:lnTo>
                <a:lnTo>
                  <a:pt x="1745" y="91625"/>
                </a:lnTo>
                <a:lnTo>
                  <a:pt x="1431" y="88625"/>
                </a:lnTo>
                <a:lnTo>
                  <a:pt x="1147" y="85375"/>
                </a:lnTo>
                <a:lnTo>
                  <a:pt x="892" y="81750"/>
                </a:lnTo>
                <a:lnTo>
                  <a:pt x="657" y="77750"/>
                </a:lnTo>
                <a:lnTo>
                  <a:pt x="461" y="73625"/>
                </a:lnTo>
                <a:lnTo>
                  <a:pt x="294" y="69125"/>
                </a:lnTo>
                <a:lnTo>
                  <a:pt x="167" y="64500"/>
                </a:lnTo>
                <a:lnTo>
                  <a:pt x="78" y="59750"/>
                </a:lnTo>
                <a:lnTo>
                  <a:pt x="20" y="54875"/>
                </a:lnTo>
                <a:lnTo>
                  <a:pt x="0" y="50000"/>
                </a:lnTo>
                <a:lnTo>
                  <a:pt x="0" y="50000"/>
                </a:lnTo>
                <a:lnTo>
                  <a:pt x="20" y="45125"/>
                </a:lnTo>
                <a:lnTo>
                  <a:pt x="78" y="40250"/>
                </a:lnTo>
                <a:lnTo>
                  <a:pt x="167" y="35500"/>
                </a:lnTo>
                <a:lnTo>
                  <a:pt x="294" y="30875"/>
                </a:lnTo>
                <a:lnTo>
                  <a:pt x="461" y="26375"/>
                </a:lnTo>
                <a:lnTo>
                  <a:pt x="657" y="22250"/>
                </a:lnTo>
                <a:lnTo>
                  <a:pt x="892" y="18250"/>
                </a:lnTo>
                <a:lnTo>
                  <a:pt x="1147" y="14625"/>
                </a:lnTo>
                <a:lnTo>
                  <a:pt x="1431" y="11375"/>
                </a:lnTo>
                <a:lnTo>
                  <a:pt x="1745" y="8375"/>
                </a:lnTo>
                <a:lnTo>
                  <a:pt x="2069" y="5875"/>
                </a:lnTo>
                <a:lnTo>
                  <a:pt x="2422" y="3750"/>
                </a:lnTo>
                <a:lnTo>
                  <a:pt x="2784" y="2125"/>
                </a:lnTo>
                <a:lnTo>
                  <a:pt x="3157" y="1000"/>
                </a:lnTo>
                <a:lnTo>
                  <a:pt x="3539" y="250"/>
                </a:lnTo>
                <a:lnTo>
                  <a:pt x="3922" y="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el-1782912281334-84"/>
          <p:cNvSpPr/>
          <p:nvPr/>
        </p:nvSpPr>
        <p:spPr>
          <a:xfrm>
            <a:off x="1352401" y="3353276"/>
            <a:ext cx="242262" cy="7143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6000" y="0"/>
                </a:moveTo>
                <a:lnTo>
                  <a:pt x="84000" y="0"/>
                </a:lnTo>
                <a:lnTo>
                  <a:pt x="85560" y="250"/>
                </a:lnTo>
                <a:lnTo>
                  <a:pt x="87120" y="1000"/>
                </a:lnTo>
                <a:lnTo>
                  <a:pt x="88640" y="2125"/>
                </a:lnTo>
                <a:lnTo>
                  <a:pt x="90120" y="3750"/>
                </a:lnTo>
                <a:lnTo>
                  <a:pt x="91560" y="5875"/>
                </a:lnTo>
                <a:lnTo>
                  <a:pt x="92880" y="8375"/>
                </a:lnTo>
                <a:lnTo>
                  <a:pt x="94160" y="11375"/>
                </a:lnTo>
                <a:lnTo>
                  <a:pt x="95320" y="14625"/>
                </a:lnTo>
                <a:lnTo>
                  <a:pt x="96360" y="18250"/>
                </a:lnTo>
                <a:lnTo>
                  <a:pt x="97320" y="22250"/>
                </a:lnTo>
                <a:lnTo>
                  <a:pt x="98120" y="26375"/>
                </a:lnTo>
                <a:lnTo>
                  <a:pt x="98800" y="30875"/>
                </a:lnTo>
                <a:lnTo>
                  <a:pt x="99320" y="35500"/>
                </a:lnTo>
                <a:lnTo>
                  <a:pt x="99680" y="40250"/>
                </a:lnTo>
                <a:lnTo>
                  <a:pt x="99920" y="45125"/>
                </a:lnTo>
                <a:lnTo>
                  <a:pt x="100000" y="50000"/>
                </a:lnTo>
                <a:lnTo>
                  <a:pt x="99920" y="54875"/>
                </a:lnTo>
                <a:lnTo>
                  <a:pt x="99680" y="59750"/>
                </a:lnTo>
                <a:lnTo>
                  <a:pt x="99320" y="64500"/>
                </a:lnTo>
                <a:lnTo>
                  <a:pt x="98800" y="69125"/>
                </a:lnTo>
                <a:lnTo>
                  <a:pt x="98120" y="73625"/>
                </a:lnTo>
                <a:lnTo>
                  <a:pt x="97320" y="77750"/>
                </a:lnTo>
                <a:lnTo>
                  <a:pt x="96360" y="81750"/>
                </a:lnTo>
                <a:lnTo>
                  <a:pt x="95320" y="85375"/>
                </a:lnTo>
                <a:lnTo>
                  <a:pt x="94160" y="88625"/>
                </a:lnTo>
                <a:lnTo>
                  <a:pt x="92880" y="91625"/>
                </a:lnTo>
                <a:lnTo>
                  <a:pt x="91560" y="94125"/>
                </a:lnTo>
                <a:lnTo>
                  <a:pt x="90120" y="96250"/>
                </a:lnTo>
                <a:lnTo>
                  <a:pt x="88640" y="97875"/>
                </a:lnTo>
                <a:lnTo>
                  <a:pt x="87120" y="99000"/>
                </a:lnTo>
                <a:lnTo>
                  <a:pt x="85560" y="99750"/>
                </a:lnTo>
                <a:lnTo>
                  <a:pt x="84000" y="100000"/>
                </a:lnTo>
                <a:lnTo>
                  <a:pt x="16000" y="100000"/>
                </a:lnTo>
                <a:lnTo>
                  <a:pt x="14440" y="99750"/>
                </a:lnTo>
                <a:lnTo>
                  <a:pt x="12880" y="99000"/>
                </a:lnTo>
                <a:lnTo>
                  <a:pt x="11360" y="97875"/>
                </a:lnTo>
                <a:lnTo>
                  <a:pt x="9880" y="96250"/>
                </a:lnTo>
                <a:lnTo>
                  <a:pt x="8440" y="94125"/>
                </a:lnTo>
                <a:lnTo>
                  <a:pt x="7120" y="91625"/>
                </a:lnTo>
                <a:lnTo>
                  <a:pt x="5840" y="88625"/>
                </a:lnTo>
                <a:lnTo>
                  <a:pt x="4680" y="85375"/>
                </a:lnTo>
                <a:lnTo>
                  <a:pt x="3640" y="81750"/>
                </a:lnTo>
                <a:lnTo>
                  <a:pt x="2680" y="77750"/>
                </a:lnTo>
                <a:lnTo>
                  <a:pt x="1880" y="73625"/>
                </a:lnTo>
                <a:lnTo>
                  <a:pt x="1200" y="69125"/>
                </a:lnTo>
                <a:lnTo>
                  <a:pt x="680" y="64500"/>
                </a:lnTo>
                <a:lnTo>
                  <a:pt x="320" y="59750"/>
                </a:lnTo>
                <a:lnTo>
                  <a:pt x="240" y="57875"/>
                </a:lnTo>
                <a:lnTo>
                  <a:pt x="0" y="50000"/>
                </a:lnTo>
                <a:lnTo>
                  <a:pt x="240" y="42125"/>
                </a:lnTo>
                <a:lnTo>
                  <a:pt x="320" y="40250"/>
                </a:lnTo>
                <a:lnTo>
                  <a:pt x="680" y="35500"/>
                </a:lnTo>
                <a:lnTo>
                  <a:pt x="1200" y="30875"/>
                </a:lnTo>
                <a:lnTo>
                  <a:pt x="1880" y="26375"/>
                </a:lnTo>
                <a:lnTo>
                  <a:pt x="2680" y="22250"/>
                </a:lnTo>
                <a:lnTo>
                  <a:pt x="3640" y="18250"/>
                </a:lnTo>
                <a:lnTo>
                  <a:pt x="4680" y="14625"/>
                </a:lnTo>
                <a:lnTo>
                  <a:pt x="5840" y="11375"/>
                </a:lnTo>
                <a:lnTo>
                  <a:pt x="7120" y="8375"/>
                </a:lnTo>
                <a:lnTo>
                  <a:pt x="8440" y="5875"/>
                </a:lnTo>
                <a:lnTo>
                  <a:pt x="9880" y="3750"/>
                </a:lnTo>
                <a:lnTo>
                  <a:pt x="11360" y="2125"/>
                </a:lnTo>
                <a:lnTo>
                  <a:pt x="12880" y="1000"/>
                </a:lnTo>
                <a:lnTo>
                  <a:pt x="14440" y="25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el-1782912281325-81"/>
          <p:cNvSpPr/>
          <p:nvPr/>
        </p:nvSpPr>
        <p:spPr>
          <a:xfrm>
            <a:off x="1384280" y="3544729"/>
            <a:ext cx="937439" cy="7143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082" y="0"/>
                </a:moveTo>
                <a:lnTo>
                  <a:pt x="95918" y="0"/>
                </a:lnTo>
                <a:lnTo>
                  <a:pt x="96316" y="250"/>
                </a:lnTo>
                <a:lnTo>
                  <a:pt x="96714" y="1000"/>
                </a:lnTo>
                <a:lnTo>
                  <a:pt x="97102" y="2125"/>
                </a:lnTo>
                <a:lnTo>
                  <a:pt x="97480" y="3750"/>
                </a:lnTo>
                <a:lnTo>
                  <a:pt x="97847" y="5875"/>
                </a:lnTo>
                <a:lnTo>
                  <a:pt x="98184" y="8375"/>
                </a:lnTo>
                <a:lnTo>
                  <a:pt x="98510" y="11375"/>
                </a:lnTo>
                <a:lnTo>
                  <a:pt x="98806" y="14625"/>
                </a:lnTo>
                <a:lnTo>
                  <a:pt x="99071" y="18250"/>
                </a:lnTo>
                <a:lnTo>
                  <a:pt x="99316" y="22250"/>
                </a:lnTo>
                <a:lnTo>
                  <a:pt x="99520" y="26375"/>
                </a:lnTo>
                <a:lnTo>
                  <a:pt x="99694" y="30875"/>
                </a:lnTo>
                <a:lnTo>
                  <a:pt x="99827" y="35500"/>
                </a:lnTo>
                <a:lnTo>
                  <a:pt x="99918" y="40250"/>
                </a:lnTo>
                <a:lnTo>
                  <a:pt x="99980" y="45125"/>
                </a:lnTo>
                <a:lnTo>
                  <a:pt x="100000" y="50000"/>
                </a:lnTo>
                <a:lnTo>
                  <a:pt x="100000" y="50000"/>
                </a:lnTo>
                <a:lnTo>
                  <a:pt x="99980" y="54875"/>
                </a:lnTo>
                <a:lnTo>
                  <a:pt x="99918" y="59750"/>
                </a:lnTo>
                <a:lnTo>
                  <a:pt x="99827" y="64500"/>
                </a:lnTo>
                <a:lnTo>
                  <a:pt x="99694" y="69125"/>
                </a:lnTo>
                <a:lnTo>
                  <a:pt x="99520" y="73625"/>
                </a:lnTo>
                <a:lnTo>
                  <a:pt x="99316" y="77750"/>
                </a:lnTo>
                <a:lnTo>
                  <a:pt x="99071" y="81750"/>
                </a:lnTo>
                <a:lnTo>
                  <a:pt x="98806" y="85375"/>
                </a:lnTo>
                <a:lnTo>
                  <a:pt x="98510" y="88625"/>
                </a:lnTo>
                <a:lnTo>
                  <a:pt x="98184" y="91625"/>
                </a:lnTo>
                <a:lnTo>
                  <a:pt x="97847" y="94125"/>
                </a:lnTo>
                <a:lnTo>
                  <a:pt x="97480" y="96250"/>
                </a:lnTo>
                <a:lnTo>
                  <a:pt x="97102" y="97875"/>
                </a:lnTo>
                <a:lnTo>
                  <a:pt x="96714" y="99000"/>
                </a:lnTo>
                <a:lnTo>
                  <a:pt x="96316" y="99750"/>
                </a:lnTo>
                <a:lnTo>
                  <a:pt x="95918" y="100000"/>
                </a:lnTo>
                <a:lnTo>
                  <a:pt x="4082" y="100000"/>
                </a:lnTo>
                <a:lnTo>
                  <a:pt x="3684" y="99750"/>
                </a:lnTo>
                <a:lnTo>
                  <a:pt x="3286" y="99000"/>
                </a:lnTo>
                <a:lnTo>
                  <a:pt x="2898" y="97875"/>
                </a:lnTo>
                <a:lnTo>
                  <a:pt x="2520" y="96250"/>
                </a:lnTo>
                <a:lnTo>
                  <a:pt x="2153" y="94125"/>
                </a:lnTo>
                <a:lnTo>
                  <a:pt x="1816" y="91625"/>
                </a:lnTo>
                <a:lnTo>
                  <a:pt x="1490" y="88625"/>
                </a:lnTo>
                <a:lnTo>
                  <a:pt x="1194" y="85375"/>
                </a:lnTo>
                <a:lnTo>
                  <a:pt x="929" y="81750"/>
                </a:lnTo>
                <a:lnTo>
                  <a:pt x="684" y="77750"/>
                </a:lnTo>
                <a:lnTo>
                  <a:pt x="480" y="73625"/>
                </a:lnTo>
                <a:lnTo>
                  <a:pt x="306" y="69125"/>
                </a:lnTo>
                <a:lnTo>
                  <a:pt x="173" y="64500"/>
                </a:lnTo>
                <a:lnTo>
                  <a:pt x="82" y="59750"/>
                </a:lnTo>
                <a:lnTo>
                  <a:pt x="20" y="54875"/>
                </a:lnTo>
                <a:lnTo>
                  <a:pt x="0" y="50000"/>
                </a:lnTo>
                <a:lnTo>
                  <a:pt x="0" y="50000"/>
                </a:lnTo>
                <a:lnTo>
                  <a:pt x="20" y="45125"/>
                </a:lnTo>
                <a:lnTo>
                  <a:pt x="82" y="40250"/>
                </a:lnTo>
                <a:lnTo>
                  <a:pt x="173" y="35500"/>
                </a:lnTo>
                <a:lnTo>
                  <a:pt x="306" y="30875"/>
                </a:lnTo>
                <a:lnTo>
                  <a:pt x="480" y="26375"/>
                </a:lnTo>
                <a:lnTo>
                  <a:pt x="684" y="22250"/>
                </a:lnTo>
                <a:lnTo>
                  <a:pt x="929" y="18250"/>
                </a:lnTo>
                <a:lnTo>
                  <a:pt x="1194" y="14625"/>
                </a:lnTo>
                <a:lnTo>
                  <a:pt x="1490" y="11375"/>
                </a:lnTo>
                <a:lnTo>
                  <a:pt x="1816" y="8375"/>
                </a:lnTo>
                <a:lnTo>
                  <a:pt x="2153" y="5875"/>
                </a:lnTo>
                <a:lnTo>
                  <a:pt x="2520" y="3750"/>
                </a:lnTo>
                <a:lnTo>
                  <a:pt x="2898" y="2125"/>
                </a:lnTo>
                <a:lnTo>
                  <a:pt x="3286" y="1000"/>
                </a:lnTo>
                <a:lnTo>
                  <a:pt x="3684" y="250"/>
                </a:lnTo>
                <a:lnTo>
                  <a:pt x="4082" y="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el-1782912281336-85"/>
          <p:cNvSpPr/>
          <p:nvPr/>
        </p:nvSpPr>
        <p:spPr>
          <a:xfrm>
            <a:off x="1384280" y="3544729"/>
            <a:ext cx="234315" cy="7143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6000" y="0"/>
                </a:moveTo>
                <a:lnTo>
                  <a:pt x="84000" y="0"/>
                </a:lnTo>
                <a:lnTo>
                  <a:pt x="85560" y="250"/>
                </a:lnTo>
                <a:lnTo>
                  <a:pt x="87120" y="1000"/>
                </a:lnTo>
                <a:lnTo>
                  <a:pt x="88640" y="2125"/>
                </a:lnTo>
                <a:lnTo>
                  <a:pt x="90120" y="3750"/>
                </a:lnTo>
                <a:lnTo>
                  <a:pt x="91560" y="5875"/>
                </a:lnTo>
                <a:lnTo>
                  <a:pt x="92880" y="8375"/>
                </a:lnTo>
                <a:lnTo>
                  <a:pt x="94160" y="11375"/>
                </a:lnTo>
                <a:lnTo>
                  <a:pt x="95320" y="14625"/>
                </a:lnTo>
                <a:lnTo>
                  <a:pt x="96360" y="18250"/>
                </a:lnTo>
                <a:lnTo>
                  <a:pt x="97320" y="22250"/>
                </a:lnTo>
                <a:lnTo>
                  <a:pt x="98120" y="26375"/>
                </a:lnTo>
                <a:lnTo>
                  <a:pt x="98800" y="30875"/>
                </a:lnTo>
                <a:lnTo>
                  <a:pt x="99320" y="35500"/>
                </a:lnTo>
                <a:lnTo>
                  <a:pt x="99680" y="40250"/>
                </a:lnTo>
                <a:lnTo>
                  <a:pt x="99920" y="45125"/>
                </a:lnTo>
                <a:lnTo>
                  <a:pt x="100000" y="50000"/>
                </a:lnTo>
                <a:lnTo>
                  <a:pt x="99920" y="54875"/>
                </a:lnTo>
                <a:lnTo>
                  <a:pt x="99680" y="59750"/>
                </a:lnTo>
                <a:lnTo>
                  <a:pt x="99320" y="64500"/>
                </a:lnTo>
                <a:lnTo>
                  <a:pt x="98800" y="69125"/>
                </a:lnTo>
                <a:lnTo>
                  <a:pt x="98120" y="73625"/>
                </a:lnTo>
                <a:lnTo>
                  <a:pt x="97320" y="77750"/>
                </a:lnTo>
                <a:lnTo>
                  <a:pt x="96360" y="81750"/>
                </a:lnTo>
                <a:lnTo>
                  <a:pt x="95320" y="85375"/>
                </a:lnTo>
                <a:lnTo>
                  <a:pt x="94160" y="88625"/>
                </a:lnTo>
                <a:lnTo>
                  <a:pt x="92880" y="91625"/>
                </a:lnTo>
                <a:lnTo>
                  <a:pt x="91560" y="94125"/>
                </a:lnTo>
                <a:lnTo>
                  <a:pt x="90120" y="96250"/>
                </a:lnTo>
                <a:lnTo>
                  <a:pt x="88640" y="97875"/>
                </a:lnTo>
                <a:lnTo>
                  <a:pt x="87120" y="99000"/>
                </a:lnTo>
                <a:lnTo>
                  <a:pt x="85560" y="99750"/>
                </a:lnTo>
                <a:lnTo>
                  <a:pt x="84000" y="100000"/>
                </a:lnTo>
                <a:lnTo>
                  <a:pt x="16000" y="100000"/>
                </a:lnTo>
                <a:lnTo>
                  <a:pt x="14440" y="99750"/>
                </a:lnTo>
                <a:lnTo>
                  <a:pt x="12880" y="99000"/>
                </a:lnTo>
                <a:lnTo>
                  <a:pt x="11360" y="97875"/>
                </a:lnTo>
                <a:lnTo>
                  <a:pt x="9880" y="96250"/>
                </a:lnTo>
                <a:lnTo>
                  <a:pt x="8440" y="94125"/>
                </a:lnTo>
                <a:lnTo>
                  <a:pt x="7120" y="91625"/>
                </a:lnTo>
                <a:lnTo>
                  <a:pt x="5840" y="88625"/>
                </a:lnTo>
                <a:lnTo>
                  <a:pt x="4680" y="85375"/>
                </a:lnTo>
                <a:lnTo>
                  <a:pt x="3640" y="81750"/>
                </a:lnTo>
                <a:lnTo>
                  <a:pt x="2680" y="77750"/>
                </a:lnTo>
                <a:lnTo>
                  <a:pt x="1880" y="73625"/>
                </a:lnTo>
                <a:lnTo>
                  <a:pt x="1200" y="69125"/>
                </a:lnTo>
                <a:lnTo>
                  <a:pt x="680" y="64500"/>
                </a:lnTo>
                <a:lnTo>
                  <a:pt x="320" y="59750"/>
                </a:lnTo>
                <a:lnTo>
                  <a:pt x="240" y="58375"/>
                </a:lnTo>
                <a:lnTo>
                  <a:pt x="0" y="50000"/>
                </a:lnTo>
                <a:lnTo>
                  <a:pt x="240" y="41625"/>
                </a:lnTo>
                <a:lnTo>
                  <a:pt x="320" y="40250"/>
                </a:lnTo>
                <a:lnTo>
                  <a:pt x="680" y="35500"/>
                </a:lnTo>
                <a:lnTo>
                  <a:pt x="1200" y="30875"/>
                </a:lnTo>
                <a:lnTo>
                  <a:pt x="1880" y="26375"/>
                </a:lnTo>
                <a:lnTo>
                  <a:pt x="2680" y="22250"/>
                </a:lnTo>
                <a:lnTo>
                  <a:pt x="3640" y="18250"/>
                </a:lnTo>
                <a:lnTo>
                  <a:pt x="4680" y="14625"/>
                </a:lnTo>
                <a:lnTo>
                  <a:pt x="5840" y="11375"/>
                </a:lnTo>
                <a:lnTo>
                  <a:pt x="7120" y="8375"/>
                </a:lnTo>
                <a:lnTo>
                  <a:pt x="8440" y="5875"/>
                </a:lnTo>
                <a:lnTo>
                  <a:pt x="9880" y="3750"/>
                </a:lnTo>
                <a:lnTo>
                  <a:pt x="11360" y="2125"/>
                </a:lnTo>
                <a:lnTo>
                  <a:pt x="12880" y="1000"/>
                </a:lnTo>
                <a:lnTo>
                  <a:pt x="14440" y="250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el-1782912281328-82"/>
          <p:cNvSpPr/>
          <p:nvPr/>
        </p:nvSpPr>
        <p:spPr>
          <a:xfrm>
            <a:off x="1388120" y="3736181"/>
            <a:ext cx="933599" cy="7143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082" y="0"/>
                </a:moveTo>
                <a:lnTo>
                  <a:pt x="95918" y="0"/>
                </a:lnTo>
                <a:lnTo>
                  <a:pt x="96316" y="250"/>
                </a:lnTo>
                <a:lnTo>
                  <a:pt x="96714" y="1000"/>
                </a:lnTo>
                <a:lnTo>
                  <a:pt x="97102" y="2125"/>
                </a:lnTo>
                <a:lnTo>
                  <a:pt x="97480" y="3750"/>
                </a:lnTo>
                <a:lnTo>
                  <a:pt x="97847" y="5875"/>
                </a:lnTo>
                <a:lnTo>
                  <a:pt x="98184" y="8375"/>
                </a:lnTo>
                <a:lnTo>
                  <a:pt x="98510" y="11375"/>
                </a:lnTo>
                <a:lnTo>
                  <a:pt x="98806" y="14625"/>
                </a:lnTo>
                <a:lnTo>
                  <a:pt x="99071" y="18250"/>
                </a:lnTo>
                <a:lnTo>
                  <a:pt x="99316" y="22250"/>
                </a:lnTo>
                <a:lnTo>
                  <a:pt x="99520" y="26375"/>
                </a:lnTo>
                <a:lnTo>
                  <a:pt x="99694" y="30875"/>
                </a:lnTo>
                <a:lnTo>
                  <a:pt x="99827" y="35500"/>
                </a:lnTo>
                <a:lnTo>
                  <a:pt x="99918" y="40250"/>
                </a:lnTo>
                <a:lnTo>
                  <a:pt x="99980" y="45125"/>
                </a:lnTo>
                <a:lnTo>
                  <a:pt x="100000" y="50000"/>
                </a:lnTo>
                <a:lnTo>
                  <a:pt x="100000" y="50000"/>
                </a:lnTo>
                <a:lnTo>
                  <a:pt x="99980" y="54875"/>
                </a:lnTo>
                <a:lnTo>
                  <a:pt x="99918" y="59750"/>
                </a:lnTo>
                <a:lnTo>
                  <a:pt x="99827" y="64500"/>
                </a:lnTo>
                <a:lnTo>
                  <a:pt x="99694" y="69125"/>
                </a:lnTo>
                <a:lnTo>
                  <a:pt x="99520" y="73625"/>
                </a:lnTo>
                <a:lnTo>
                  <a:pt x="99316" y="77750"/>
                </a:lnTo>
                <a:lnTo>
                  <a:pt x="99071" y="81750"/>
                </a:lnTo>
                <a:lnTo>
                  <a:pt x="98806" y="85375"/>
                </a:lnTo>
                <a:lnTo>
                  <a:pt x="98510" y="88625"/>
                </a:lnTo>
                <a:lnTo>
                  <a:pt x="98184" y="91625"/>
                </a:lnTo>
                <a:lnTo>
                  <a:pt x="97847" y="94125"/>
                </a:lnTo>
                <a:lnTo>
                  <a:pt x="97480" y="96250"/>
                </a:lnTo>
                <a:lnTo>
                  <a:pt x="97102" y="97875"/>
                </a:lnTo>
                <a:lnTo>
                  <a:pt x="96714" y="99000"/>
                </a:lnTo>
                <a:lnTo>
                  <a:pt x="96316" y="99750"/>
                </a:lnTo>
                <a:lnTo>
                  <a:pt x="95918" y="100000"/>
                </a:lnTo>
                <a:lnTo>
                  <a:pt x="4082" y="100000"/>
                </a:lnTo>
                <a:lnTo>
                  <a:pt x="3684" y="99750"/>
                </a:lnTo>
                <a:lnTo>
                  <a:pt x="3286" y="99000"/>
                </a:lnTo>
                <a:lnTo>
                  <a:pt x="2898" y="97875"/>
                </a:lnTo>
                <a:lnTo>
                  <a:pt x="2520" y="96250"/>
                </a:lnTo>
                <a:lnTo>
                  <a:pt x="2153" y="94125"/>
                </a:lnTo>
                <a:lnTo>
                  <a:pt x="1816" y="91625"/>
                </a:lnTo>
                <a:lnTo>
                  <a:pt x="1490" y="88625"/>
                </a:lnTo>
                <a:lnTo>
                  <a:pt x="1194" y="85375"/>
                </a:lnTo>
                <a:lnTo>
                  <a:pt x="929" y="81750"/>
                </a:lnTo>
                <a:lnTo>
                  <a:pt x="684" y="77750"/>
                </a:lnTo>
                <a:lnTo>
                  <a:pt x="480" y="73625"/>
                </a:lnTo>
                <a:lnTo>
                  <a:pt x="306" y="69125"/>
                </a:lnTo>
                <a:lnTo>
                  <a:pt x="173" y="64500"/>
                </a:lnTo>
                <a:lnTo>
                  <a:pt x="82" y="59750"/>
                </a:lnTo>
                <a:lnTo>
                  <a:pt x="20" y="54875"/>
                </a:lnTo>
                <a:lnTo>
                  <a:pt x="0" y="50000"/>
                </a:lnTo>
                <a:lnTo>
                  <a:pt x="0" y="50000"/>
                </a:lnTo>
                <a:lnTo>
                  <a:pt x="20" y="45125"/>
                </a:lnTo>
                <a:lnTo>
                  <a:pt x="82" y="40250"/>
                </a:lnTo>
                <a:lnTo>
                  <a:pt x="173" y="35500"/>
                </a:lnTo>
                <a:lnTo>
                  <a:pt x="306" y="30875"/>
                </a:lnTo>
                <a:lnTo>
                  <a:pt x="480" y="26375"/>
                </a:lnTo>
                <a:lnTo>
                  <a:pt x="684" y="22250"/>
                </a:lnTo>
                <a:lnTo>
                  <a:pt x="929" y="18250"/>
                </a:lnTo>
                <a:lnTo>
                  <a:pt x="1194" y="14625"/>
                </a:lnTo>
                <a:lnTo>
                  <a:pt x="1490" y="11375"/>
                </a:lnTo>
                <a:lnTo>
                  <a:pt x="1816" y="8375"/>
                </a:lnTo>
                <a:lnTo>
                  <a:pt x="2153" y="5875"/>
                </a:lnTo>
                <a:lnTo>
                  <a:pt x="2520" y="3750"/>
                </a:lnTo>
                <a:lnTo>
                  <a:pt x="2898" y="2125"/>
                </a:lnTo>
                <a:lnTo>
                  <a:pt x="3286" y="1000"/>
                </a:lnTo>
                <a:lnTo>
                  <a:pt x="3684" y="250"/>
                </a:lnTo>
                <a:lnTo>
                  <a:pt x="4082" y="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87" name="el-1782912281338-86"/>
          <p:cNvSpPr/>
          <p:nvPr/>
        </p:nvSpPr>
        <p:spPr>
          <a:xfrm>
            <a:off x="1388120" y="3746068"/>
            <a:ext cx="11162" cy="5166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24000" y="22667"/>
                </a:moveTo>
                <a:lnTo>
                  <a:pt x="54000" y="11167"/>
                </a:lnTo>
                <a:lnTo>
                  <a:pt x="94000" y="1000"/>
                </a:lnTo>
                <a:lnTo>
                  <a:pt x="100000" y="0"/>
                </a:lnTo>
                <a:lnTo>
                  <a:pt x="100000" y="96500"/>
                </a:lnTo>
                <a:lnTo>
                  <a:pt x="94000" y="95333"/>
                </a:lnTo>
                <a:lnTo>
                  <a:pt x="54000" y="85333"/>
                </a:lnTo>
                <a:lnTo>
                  <a:pt x="24000" y="73667"/>
                </a:lnTo>
                <a:lnTo>
                  <a:pt x="6000" y="61167"/>
                </a:lnTo>
                <a:lnTo>
                  <a:pt x="0" y="48167"/>
                </a:lnTo>
                <a:lnTo>
                  <a:pt x="6000" y="35167"/>
                </a:lnTo>
                <a:close/>
              </a:path>
            </a:pathLst>
          </a:cu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2912281606-1"/>
          <p:cNvSpPr/>
          <p:nvPr/>
        </p:nvSpPr>
        <p:spPr>
          <a:xfrm>
            <a:off x="0" y="0"/>
            <a:ext cx="9144000" cy="1557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2912281608-3"/>
          <p:cNvCxnSpPr/>
          <p:nvPr/>
        </p:nvCxnSpPr>
        <p:spPr>
          <a:xfrm>
            <a:off x="0" y="152162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2912281621-11"/>
          <p:cNvSpPr/>
          <p:nvPr/>
        </p:nvSpPr>
        <p:spPr>
          <a:xfrm>
            <a:off x="35501" y="224155"/>
            <a:ext cx="1228189" cy="180023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2912281632-20"/>
          <p:cNvSpPr/>
          <p:nvPr/>
        </p:nvSpPr>
        <p:spPr>
          <a:xfrm>
            <a:off x="342900" y="1787525"/>
            <a:ext cx="2686050" cy="255016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2912281643-29"/>
          <p:cNvCxnSpPr/>
          <p:nvPr/>
        </p:nvCxnSpPr>
        <p:spPr>
          <a:xfrm>
            <a:off x="539591" y="1558608"/>
            <a:ext cx="914" cy="167164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2912281670-68"/>
          <p:cNvCxnSpPr/>
          <p:nvPr/>
        </p:nvCxnSpPr>
        <p:spPr>
          <a:xfrm>
            <a:off x="464344" y="2107009"/>
            <a:ext cx="944582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2912281671-69"/>
          <p:cNvCxnSpPr/>
          <p:nvPr/>
        </p:nvCxnSpPr>
        <p:spPr>
          <a:xfrm>
            <a:off x="1523226" y="2106374"/>
            <a:ext cx="427196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l-1782912281671-70"/>
          <p:cNvCxnSpPr/>
          <p:nvPr/>
        </p:nvCxnSpPr>
        <p:spPr>
          <a:xfrm>
            <a:off x="1999952" y="2105739"/>
            <a:ext cx="423446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-1782912281672-71"/>
          <p:cNvCxnSpPr/>
          <p:nvPr/>
        </p:nvCxnSpPr>
        <p:spPr>
          <a:xfrm>
            <a:off x="2511028" y="2105104"/>
            <a:ext cx="476488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2912281634-21"/>
          <p:cNvSpPr/>
          <p:nvPr/>
        </p:nvSpPr>
        <p:spPr>
          <a:xfrm>
            <a:off x="3275965" y="619601"/>
            <a:ext cx="2686050" cy="1925241"/>
          </a:xfrm>
          <a:prstGeom prst="roundRect">
            <a:avLst>
              <a:gd name="adj" fmla="val 3958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2912281644-30"/>
          <p:cNvCxnSpPr/>
          <p:nvPr/>
        </p:nvCxnSpPr>
        <p:spPr>
          <a:xfrm>
            <a:off x="3364706" y="671513"/>
            <a:ext cx="914" cy="167164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2912281690-77"/>
          <p:cNvSpPr/>
          <p:nvPr/>
        </p:nvSpPr>
        <p:spPr>
          <a:xfrm>
            <a:off x="3350419" y="895826"/>
            <a:ext cx="1193006" cy="605790"/>
          </a:xfrm>
          <a:prstGeom prst="roundRect">
            <a:avLst>
              <a:gd name="adj" fmla="val 9434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2912281692-78"/>
          <p:cNvSpPr/>
          <p:nvPr/>
        </p:nvSpPr>
        <p:spPr>
          <a:xfrm>
            <a:off x="4600575" y="895826"/>
            <a:ext cx="1193006" cy="605790"/>
          </a:xfrm>
          <a:prstGeom prst="roundRect">
            <a:avLst>
              <a:gd name="adj" fmla="val 9434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2912281694-79"/>
          <p:cNvSpPr/>
          <p:nvPr/>
        </p:nvSpPr>
        <p:spPr>
          <a:xfrm>
            <a:off x="3350419" y="1558766"/>
            <a:ext cx="1193006" cy="605790"/>
          </a:xfrm>
          <a:prstGeom prst="roundRect">
            <a:avLst>
              <a:gd name="adj" fmla="val 9434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2912281696-80"/>
          <p:cNvSpPr/>
          <p:nvPr/>
        </p:nvSpPr>
        <p:spPr>
          <a:xfrm>
            <a:off x="4600575" y="1558766"/>
            <a:ext cx="1193006" cy="605790"/>
          </a:xfrm>
          <a:prstGeom prst="roundRect">
            <a:avLst>
              <a:gd name="adj" fmla="val 9434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2912281635-22"/>
          <p:cNvSpPr/>
          <p:nvPr/>
        </p:nvSpPr>
        <p:spPr>
          <a:xfrm>
            <a:off x="6057900" y="564356"/>
            <a:ext cx="2686050" cy="2956798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8" name="el-1782912281644-31"/>
          <p:cNvCxnSpPr/>
          <p:nvPr/>
        </p:nvCxnSpPr>
        <p:spPr>
          <a:xfrm>
            <a:off x="6193631" y="671513"/>
            <a:ext cx="914" cy="167164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l-1782912281647-32"/>
          <p:cNvSpPr/>
          <p:nvPr/>
        </p:nvSpPr>
        <p:spPr>
          <a:xfrm>
            <a:off x="6179344" y="895826"/>
            <a:ext cx="2443163" cy="49149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751" y="0"/>
                </a:moveTo>
                <a:lnTo>
                  <a:pt x="98249" y="0"/>
                </a:lnTo>
                <a:lnTo>
                  <a:pt x="98420" y="38"/>
                </a:lnTo>
                <a:lnTo>
                  <a:pt x="98591" y="173"/>
                </a:lnTo>
                <a:lnTo>
                  <a:pt x="98759" y="365"/>
                </a:lnTo>
                <a:lnTo>
                  <a:pt x="98918" y="654"/>
                </a:lnTo>
                <a:lnTo>
                  <a:pt x="99074" y="1019"/>
                </a:lnTo>
                <a:lnTo>
                  <a:pt x="99222" y="1462"/>
                </a:lnTo>
                <a:lnTo>
                  <a:pt x="99358" y="1962"/>
                </a:lnTo>
                <a:lnTo>
                  <a:pt x="99486" y="2538"/>
                </a:lnTo>
                <a:lnTo>
                  <a:pt x="99603" y="3173"/>
                </a:lnTo>
                <a:lnTo>
                  <a:pt x="99704" y="3846"/>
                </a:lnTo>
                <a:lnTo>
                  <a:pt x="99794" y="4577"/>
                </a:lnTo>
                <a:lnTo>
                  <a:pt x="99868" y="5346"/>
                </a:lnTo>
                <a:lnTo>
                  <a:pt x="99926" y="6135"/>
                </a:lnTo>
                <a:lnTo>
                  <a:pt x="99965" y="6962"/>
                </a:lnTo>
                <a:lnTo>
                  <a:pt x="99992" y="7808"/>
                </a:lnTo>
                <a:lnTo>
                  <a:pt x="100000" y="8654"/>
                </a:lnTo>
                <a:lnTo>
                  <a:pt x="100000" y="91346"/>
                </a:lnTo>
                <a:lnTo>
                  <a:pt x="99992" y="92192"/>
                </a:lnTo>
                <a:lnTo>
                  <a:pt x="99965" y="93038"/>
                </a:lnTo>
                <a:lnTo>
                  <a:pt x="99926" y="93865"/>
                </a:lnTo>
                <a:lnTo>
                  <a:pt x="99868" y="94654"/>
                </a:lnTo>
                <a:lnTo>
                  <a:pt x="99794" y="95423"/>
                </a:lnTo>
                <a:lnTo>
                  <a:pt x="99704" y="96154"/>
                </a:lnTo>
                <a:lnTo>
                  <a:pt x="99603" y="96827"/>
                </a:lnTo>
                <a:lnTo>
                  <a:pt x="99486" y="97462"/>
                </a:lnTo>
                <a:lnTo>
                  <a:pt x="99358" y="98038"/>
                </a:lnTo>
                <a:lnTo>
                  <a:pt x="99222" y="98538"/>
                </a:lnTo>
                <a:lnTo>
                  <a:pt x="99074" y="98981"/>
                </a:lnTo>
                <a:lnTo>
                  <a:pt x="98918" y="99346"/>
                </a:lnTo>
                <a:lnTo>
                  <a:pt x="98759" y="99635"/>
                </a:lnTo>
                <a:lnTo>
                  <a:pt x="98591" y="99827"/>
                </a:lnTo>
                <a:lnTo>
                  <a:pt x="98420" y="99962"/>
                </a:lnTo>
                <a:lnTo>
                  <a:pt x="98249" y="100000"/>
                </a:lnTo>
                <a:lnTo>
                  <a:pt x="1751" y="100000"/>
                </a:lnTo>
                <a:lnTo>
                  <a:pt x="1580" y="99962"/>
                </a:lnTo>
                <a:lnTo>
                  <a:pt x="1409" y="99827"/>
                </a:lnTo>
                <a:lnTo>
                  <a:pt x="1241" y="99635"/>
                </a:lnTo>
                <a:lnTo>
                  <a:pt x="1082" y="99346"/>
                </a:lnTo>
                <a:lnTo>
                  <a:pt x="926" y="98981"/>
                </a:lnTo>
                <a:lnTo>
                  <a:pt x="778" y="98538"/>
                </a:lnTo>
                <a:lnTo>
                  <a:pt x="642" y="98038"/>
                </a:lnTo>
                <a:lnTo>
                  <a:pt x="514" y="97462"/>
                </a:lnTo>
                <a:lnTo>
                  <a:pt x="397" y="96827"/>
                </a:lnTo>
                <a:lnTo>
                  <a:pt x="296" y="96154"/>
                </a:lnTo>
                <a:lnTo>
                  <a:pt x="206" y="95423"/>
                </a:lnTo>
                <a:lnTo>
                  <a:pt x="132" y="94654"/>
                </a:lnTo>
                <a:lnTo>
                  <a:pt x="74" y="93865"/>
                </a:lnTo>
                <a:lnTo>
                  <a:pt x="35" y="93038"/>
                </a:lnTo>
                <a:lnTo>
                  <a:pt x="8" y="92192"/>
                </a:lnTo>
                <a:lnTo>
                  <a:pt x="0" y="91346"/>
                </a:lnTo>
                <a:lnTo>
                  <a:pt x="0" y="8654"/>
                </a:lnTo>
                <a:lnTo>
                  <a:pt x="8" y="7808"/>
                </a:lnTo>
                <a:lnTo>
                  <a:pt x="35" y="6962"/>
                </a:lnTo>
                <a:lnTo>
                  <a:pt x="74" y="6135"/>
                </a:lnTo>
                <a:lnTo>
                  <a:pt x="132" y="5346"/>
                </a:lnTo>
                <a:lnTo>
                  <a:pt x="206" y="4577"/>
                </a:lnTo>
                <a:lnTo>
                  <a:pt x="296" y="3846"/>
                </a:lnTo>
                <a:lnTo>
                  <a:pt x="397" y="3173"/>
                </a:lnTo>
                <a:lnTo>
                  <a:pt x="514" y="2538"/>
                </a:lnTo>
                <a:lnTo>
                  <a:pt x="642" y="1962"/>
                </a:lnTo>
                <a:lnTo>
                  <a:pt x="778" y="1462"/>
                </a:lnTo>
                <a:lnTo>
                  <a:pt x="926" y="1019"/>
                </a:lnTo>
                <a:lnTo>
                  <a:pt x="1082" y="654"/>
                </a:lnTo>
                <a:lnTo>
                  <a:pt x="1241" y="365"/>
                </a:lnTo>
                <a:lnTo>
                  <a:pt x="1409" y="173"/>
                </a:lnTo>
                <a:lnTo>
                  <a:pt x="1580" y="38"/>
                </a:lnTo>
                <a:lnTo>
                  <a:pt x="1751" y="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2912281649-33"/>
          <p:cNvSpPr/>
          <p:nvPr/>
        </p:nvSpPr>
        <p:spPr>
          <a:xfrm>
            <a:off x="6179344" y="895826"/>
            <a:ext cx="42863" cy="49149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0"/>
                </a:moveTo>
                <a:lnTo>
                  <a:pt x="90198" y="42"/>
                </a:lnTo>
                <a:lnTo>
                  <a:pt x="80491" y="168"/>
                </a:lnTo>
                <a:lnTo>
                  <a:pt x="70972" y="376"/>
                </a:lnTo>
                <a:lnTo>
                  <a:pt x="61732" y="664"/>
                </a:lnTo>
                <a:lnTo>
                  <a:pt x="52860" y="1030"/>
                </a:lnTo>
                <a:lnTo>
                  <a:pt x="44443" y="1470"/>
                </a:lnTo>
                <a:lnTo>
                  <a:pt x="36561" y="1980"/>
                </a:lnTo>
                <a:lnTo>
                  <a:pt x="29289" y="2554"/>
                </a:lnTo>
                <a:lnTo>
                  <a:pt x="22699" y="3188"/>
                </a:lnTo>
                <a:lnTo>
                  <a:pt x="16853" y="3876"/>
                </a:lnTo>
                <a:lnTo>
                  <a:pt x="11808" y="4610"/>
                </a:lnTo>
                <a:lnTo>
                  <a:pt x="7612" y="5384"/>
                </a:lnTo>
                <a:lnTo>
                  <a:pt x="4306" y="6189"/>
                </a:lnTo>
                <a:lnTo>
                  <a:pt x="1921" y="7020"/>
                </a:lnTo>
                <a:lnTo>
                  <a:pt x="482" y="7866"/>
                </a:lnTo>
                <a:lnTo>
                  <a:pt x="0" y="8721"/>
                </a:lnTo>
                <a:lnTo>
                  <a:pt x="0" y="91279"/>
                </a:lnTo>
                <a:lnTo>
                  <a:pt x="482" y="92134"/>
                </a:lnTo>
                <a:lnTo>
                  <a:pt x="1921" y="92980"/>
                </a:lnTo>
                <a:lnTo>
                  <a:pt x="4306" y="93811"/>
                </a:lnTo>
                <a:lnTo>
                  <a:pt x="7612" y="94616"/>
                </a:lnTo>
                <a:lnTo>
                  <a:pt x="11808" y="95390"/>
                </a:lnTo>
                <a:lnTo>
                  <a:pt x="16853" y="96124"/>
                </a:lnTo>
                <a:lnTo>
                  <a:pt x="22699" y="96812"/>
                </a:lnTo>
                <a:lnTo>
                  <a:pt x="29289" y="97446"/>
                </a:lnTo>
                <a:lnTo>
                  <a:pt x="36561" y="98020"/>
                </a:lnTo>
                <a:lnTo>
                  <a:pt x="44443" y="98530"/>
                </a:lnTo>
                <a:lnTo>
                  <a:pt x="52860" y="98970"/>
                </a:lnTo>
                <a:lnTo>
                  <a:pt x="61732" y="99336"/>
                </a:lnTo>
                <a:lnTo>
                  <a:pt x="70972" y="99624"/>
                </a:lnTo>
                <a:lnTo>
                  <a:pt x="80491" y="99832"/>
                </a:lnTo>
                <a:lnTo>
                  <a:pt x="90198" y="99958"/>
                </a:lnTo>
                <a:lnTo>
                  <a:pt x="100000" y="100000"/>
                </a:lnTo>
                <a:lnTo>
                  <a:pt x="100000" y="100000"/>
                </a:lnTo>
                <a:lnTo>
                  <a:pt x="96733" y="99958"/>
                </a:lnTo>
                <a:lnTo>
                  <a:pt x="93497" y="99832"/>
                </a:lnTo>
                <a:lnTo>
                  <a:pt x="90324" y="99624"/>
                </a:lnTo>
                <a:lnTo>
                  <a:pt x="87244" y="99336"/>
                </a:lnTo>
                <a:lnTo>
                  <a:pt x="84287" y="98970"/>
                </a:lnTo>
                <a:lnTo>
                  <a:pt x="81481" y="98530"/>
                </a:lnTo>
                <a:lnTo>
                  <a:pt x="78854" y="98020"/>
                </a:lnTo>
                <a:lnTo>
                  <a:pt x="76430" y="97446"/>
                </a:lnTo>
                <a:lnTo>
                  <a:pt x="74233" y="96812"/>
                </a:lnTo>
                <a:lnTo>
                  <a:pt x="72284" y="96124"/>
                </a:lnTo>
                <a:lnTo>
                  <a:pt x="70603" y="95390"/>
                </a:lnTo>
                <a:lnTo>
                  <a:pt x="69204" y="94616"/>
                </a:lnTo>
                <a:lnTo>
                  <a:pt x="68102" y="93811"/>
                </a:lnTo>
                <a:lnTo>
                  <a:pt x="67307" y="92980"/>
                </a:lnTo>
                <a:lnTo>
                  <a:pt x="66827" y="92134"/>
                </a:lnTo>
                <a:lnTo>
                  <a:pt x="66667" y="91279"/>
                </a:lnTo>
                <a:lnTo>
                  <a:pt x="66667" y="8721"/>
                </a:lnTo>
                <a:lnTo>
                  <a:pt x="66827" y="7866"/>
                </a:lnTo>
                <a:lnTo>
                  <a:pt x="67307" y="7020"/>
                </a:lnTo>
                <a:lnTo>
                  <a:pt x="68102" y="6189"/>
                </a:lnTo>
                <a:lnTo>
                  <a:pt x="69204" y="5384"/>
                </a:lnTo>
                <a:lnTo>
                  <a:pt x="70603" y="4610"/>
                </a:lnTo>
                <a:lnTo>
                  <a:pt x="72284" y="3876"/>
                </a:lnTo>
                <a:lnTo>
                  <a:pt x="74233" y="3188"/>
                </a:lnTo>
                <a:lnTo>
                  <a:pt x="76430" y="2554"/>
                </a:lnTo>
                <a:lnTo>
                  <a:pt x="78854" y="1980"/>
                </a:lnTo>
                <a:lnTo>
                  <a:pt x="81481" y="1470"/>
                </a:lnTo>
                <a:lnTo>
                  <a:pt x="84287" y="1030"/>
                </a:lnTo>
                <a:lnTo>
                  <a:pt x="87244" y="664"/>
                </a:lnTo>
                <a:lnTo>
                  <a:pt x="90324" y="376"/>
                </a:lnTo>
                <a:lnTo>
                  <a:pt x="93497" y="168"/>
                </a:lnTo>
                <a:lnTo>
                  <a:pt x="96733" y="42"/>
                </a:lnTo>
                <a:lnTo>
                  <a:pt x="100000" y="0"/>
                </a:lnTo>
                <a:lnTo>
                  <a:pt x="100000" y="0"/>
                </a:lnTo>
                <a:close/>
              </a:path>
            </a:pathLst>
          </a:custGeom>
          <a:solidFill>
            <a:srgbClr val="D4A017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1" name="el-1782912281679-75"/>
          <p:cNvCxnSpPr/>
          <p:nvPr/>
        </p:nvCxnSpPr>
        <p:spPr>
          <a:xfrm>
            <a:off x="6179344" y="1692354"/>
            <a:ext cx="1556087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-1782912281680-76"/>
          <p:cNvCxnSpPr/>
          <p:nvPr/>
        </p:nvCxnSpPr>
        <p:spPr>
          <a:xfrm>
            <a:off x="7792582" y="1692354"/>
            <a:ext cx="829925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l-1782912281615-7"/>
          <p:cNvSpPr/>
          <p:nvPr/>
        </p:nvSpPr>
        <p:spPr>
          <a:xfrm>
            <a:off x="400050" y="4515168"/>
            <a:ext cx="8343900" cy="29718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9315" y="0"/>
                </a:lnTo>
                <a:lnTo>
                  <a:pt x="99382" y="97"/>
                </a:lnTo>
                <a:lnTo>
                  <a:pt x="99449" y="387"/>
                </a:lnTo>
                <a:lnTo>
                  <a:pt x="99514" y="839"/>
                </a:lnTo>
                <a:lnTo>
                  <a:pt x="99578" y="1484"/>
                </a:lnTo>
                <a:lnTo>
                  <a:pt x="99638" y="2290"/>
                </a:lnTo>
                <a:lnTo>
                  <a:pt x="99695" y="3258"/>
                </a:lnTo>
                <a:lnTo>
                  <a:pt x="99750" y="4387"/>
                </a:lnTo>
                <a:lnTo>
                  <a:pt x="99799" y="5677"/>
                </a:lnTo>
                <a:lnTo>
                  <a:pt x="99845" y="7065"/>
                </a:lnTo>
                <a:lnTo>
                  <a:pt x="99885" y="8613"/>
                </a:lnTo>
                <a:lnTo>
                  <a:pt x="99919" y="10226"/>
                </a:lnTo>
                <a:lnTo>
                  <a:pt x="99947" y="11935"/>
                </a:lnTo>
                <a:lnTo>
                  <a:pt x="99970" y="13742"/>
                </a:lnTo>
                <a:lnTo>
                  <a:pt x="99986" y="15581"/>
                </a:lnTo>
                <a:lnTo>
                  <a:pt x="99997" y="17452"/>
                </a:lnTo>
                <a:lnTo>
                  <a:pt x="100000" y="19355"/>
                </a:lnTo>
                <a:lnTo>
                  <a:pt x="100000" y="80645"/>
                </a:lnTo>
                <a:lnTo>
                  <a:pt x="99997" y="82548"/>
                </a:lnTo>
                <a:lnTo>
                  <a:pt x="99986" y="84419"/>
                </a:lnTo>
                <a:lnTo>
                  <a:pt x="99970" y="86258"/>
                </a:lnTo>
                <a:lnTo>
                  <a:pt x="99947" y="88065"/>
                </a:lnTo>
                <a:lnTo>
                  <a:pt x="99919" y="89774"/>
                </a:lnTo>
                <a:lnTo>
                  <a:pt x="99885" y="91387"/>
                </a:lnTo>
                <a:lnTo>
                  <a:pt x="99845" y="92935"/>
                </a:lnTo>
                <a:lnTo>
                  <a:pt x="99799" y="94323"/>
                </a:lnTo>
                <a:lnTo>
                  <a:pt x="99750" y="95613"/>
                </a:lnTo>
                <a:lnTo>
                  <a:pt x="99695" y="96742"/>
                </a:lnTo>
                <a:lnTo>
                  <a:pt x="99638" y="97710"/>
                </a:lnTo>
                <a:lnTo>
                  <a:pt x="99578" y="98516"/>
                </a:lnTo>
                <a:lnTo>
                  <a:pt x="99514" y="99161"/>
                </a:lnTo>
                <a:lnTo>
                  <a:pt x="99449" y="99613"/>
                </a:lnTo>
                <a:lnTo>
                  <a:pt x="99382" y="99903"/>
                </a:lnTo>
                <a:lnTo>
                  <a:pt x="99315" y="100000"/>
                </a:lnTo>
                <a:lnTo>
                  <a:pt x="0" y="100000"/>
                </a:lnTo>
                <a:lnTo>
                  <a:pt x="0" y="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2912281616-8"/>
          <p:cNvSpPr/>
          <p:nvPr/>
        </p:nvSpPr>
        <p:spPr>
          <a:xfrm>
            <a:off x="395605" y="4515168"/>
            <a:ext cx="8343900" cy="29718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0" y="0"/>
                </a:lnTo>
              </a:path>
            </a:pathLst>
          </a:custGeom>
          <a:noFill/>
          <a:ln w="35719" algn="in">
            <a:solidFill>
              <a:srgbClr val="D4A017"/>
            </a:solidFill>
            <a:prstDash val="solid"/>
          </a:ln>
        </p:spPr>
        <p:txBody>
          <a:bodyPr/>
          <a:lstStyle/>
          <a:p/>
        </p:txBody>
      </p:sp>
      <p:sp>
        <p:nvSpPr>
          <p:cNvPr id="25" name="el-1782912281607-2"/>
          <p:cNvSpPr/>
          <p:nvPr/>
        </p:nvSpPr>
        <p:spPr>
          <a:xfrm>
            <a:off x="0" y="4779963"/>
            <a:ext cx="9144000" cy="14430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6" name="el-1782912281608-4"/>
          <p:cNvCxnSpPr/>
          <p:nvPr/>
        </p:nvCxnSpPr>
        <p:spPr>
          <a:xfrm>
            <a:off x="-36830" y="4875610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el-1782912281611-5"/>
          <p:cNvSpPr txBox="1"/>
          <p:nvPr/>
        </p:nvSpPr>
        <p:spPr>
          <a:xfrm>
            <a:off x="400050" y="0"/>
            <a:ext cx="51488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en-US" sz="90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sz="6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9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37</a:t>
            </a:r>
            <a:endParaRPr sz="900" b="1" spc="28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2912281622-12"/>
          <p:cNvSpPr txBox="1"/>
          <p:nvPr/>
        </p:nvSpPr>
        <p:spPr>
          <a:xfrm>
            <a:off x="1086485" y="0"/>
            <a:ext cx="1895475" cy="167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· 五大场景与实验设计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2912281622-13"/>
          <p:cNvSpPr txBox="1"/>
          <p:nvPr/>
        </p:nvSpPr>
        <p:spPr>
          <a:xfrm>
            <a:off x="2771616" y="0"/>
            <a:ext cx="96619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D0D0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900">
              <a:solidFill>
                <a:srgbClr val="D0D0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2912281623-14"/>
          <p:cNvSpPr txBox="1"/>
          <p:nvPr/>
        </p:nvSpPr>
        <p:spPr>
          <a:xfrm>
            <a:off x="2907606" y="6985"/>
            <a:ext cx="1963192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信息流滚动 — 线程级指标与调度延迟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2912281618-9"/>
          <p:cNvSpPr txBox="1"/>
          <p:nvPr/>
        </p:nvSpPr>
        <p:spPr>
          <a:xfrm>
            <a:off x="35560" y="699135"/>
            <a:ext cx="3107055" cy="463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60" b="1" spc="-1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信息流滚动 · 线程级指标与调度延迟</a:t>
            </a:r>
            <a:endParaRPr sz="1460" b="1" spc="-1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82912281619-10"/>
          <p:cNvSpPr txBox="1"/>
          <p:nvPr/>
        </p:nvSpPr>
        <p:spPr>
          <a:xfrm>
            <a:off x="99636" y="267176"/>
            <a:ext cx="1163895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Chrome · 信息流滚动</a:t>
            </a:r>
            <a:endParaRPr sz="78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82912281640-24"/>
          <p:cNvSpPr txBox="1"/>
          <p:nvPr/>
        </p:nvSpPr>
        <p:spPr>
          <a:xfrm>
            <a:off x="611346" y="1558608"/>
            <a:ext cx="2407444" cy="16716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🔥 on-CPU Top 5 线程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2912281657-36"/>
          <p:cNvSpPr txBox="1"/>
          <p:nvPr/>
        </p:nvSpPr>
        <p:spPr>
          <a:xfrm>
            <a:off x="536575" y="1906905"/>
            <a:ext cx="535305" cy="167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线程</a:t>
            </a:r>
            <a:endParaRPr sz="78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82912281658-37"/>
          <p:cNvSpPr txBox="1"/>
          <p:nvPr/>
        </p:nvSpPr>
        <p:spPr>
          <a:xfrm>
            <a:off x="1516241" y="1904206"/>
            <a:ext cx="477202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on-CPU</a:t>
            </a:r>
            <a:endParaRPr sz="78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82912281658-38"/>
          <p:cNvSpPr txBox="1"/>
          <p:nvPr/>
        </p:nvSpPr>
        <p:spPr>
          <a:xfrm>
            <a:off x="2037080" y="1903730"/>
            <a:ext cx="450215" cy="1257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迁移</a:t>
            </a:r>
            <a:endParaRPr sz="78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l-1782912281659-39"/>
          <p:cNvSpPr txBox="1"/>
          <p:nvPr/>
        </p:nvSpPr>
        <p:spPr>
          <a:xfrm>
            <a:off x="2456815" y="1851660"/>
            <a:ext cx="534670" cy="2514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15"/>
              </a:lnSpc>
            </a:pPr>
            <a:r>
              <a:rPr sz="78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wakeup-to-run P95</a:t>
            </a:r>
            <a:endParaRPr sz="78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el-1782912281659-40"/>
          <p:cNvSpPr txBox="1"/>
          <p:nvPr/>
        </p:nvSpPr>
        <p:spPr>
          <a:xfrm>
            <a:off x="400209" y="2222024"/>
            <a:ext cx="99816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CompositorGpuTh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el-1782912281655-34"/>
          <p:cNvSpPr txBox="1"/>
          <p:nvPr/>
        </p:nvSpPr>
        <p:spPr>
          <a:xfrm>
            <a:off x="1516241" y="2139474"/>
            <a:ext cx="427196" cy="2786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9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1109.56</a:t>
            </a: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ms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l-1782912281660-41"/>
          <p:cNvSpPr txBox="1"/>
          <p:nvPr/>
        </p:nvSpPr>
        <p:spPr>
          <a:xfrm>
            <a:off x="1979632" y="2160429"/>
            <a:ext cx="47702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2,519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el-1782912281660-42"/>
          <p:cNvSpPr txBox="1"/>
          <p:nvPr/>
        </p:nvSpPr>
        <p:spPr>
          <a:xfrm>
            <a:off x="2488168" y="2211864"/>
            <a:ext cx="530066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0.047 ms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el-1782912281661-43"/>
          <p:cNvSpPr txBox="1"/>
          <p:nvPr/>
        </p:nvSpPr>
        <p:spPr>
          <a:xfrm>
            <a:off x="521335" y="2545080"/>
            <a:ext cx="686435" cy="165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Compositor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el-1782912281656-35"/>
          <p:cNvSpPr txBox="1"/>
          <p:nvPr/>
        </p:nvSpPr>
        <p:spPr>
          <a:xfrm>
            <a:off x="1516241" y="2457768"/>
            <a:ext cx="427196" cy="2786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9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955.98</a:t>
            </a: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ms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l-1782912281662-44"/>
          <p:cNvSpPr txBox="1"/>
          <p:nvPr/>
        </p:nvSpPr>
        <p:spPr>
          <a:xfrm>
            <a:off x="1999952" y="2499043"/>
            <a:ext cx="47702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3,206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el-1782912281662-45"/>
          <p:cNvSpPr txBox="1"/>
          <p:nvPr/>
        </p:nvSpPr>
        <p:spPr>
          <a:xfrm>
            <a:off x="2488168" y="2489518"/>
            <a:ext cx="530066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0.168 ms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el-1782912281662-46"/>
          <p:cNvSpPr txBox="1"/>
          <p:nvPr/>
        </p:nvSpPr>
        <p:spPr>
          <a:xfrm>
            <a:off x="464185" y="2884170"/>
            <a:ext cx="889635" cy="1289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VizCompositorTh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el-1782912281663-47"/>
          <p:cNvSpPr txBox="1"/>
          <p:nvPr/>
        </p:nvSpPr>
        <p:spPr>
          <a:xfrm>
            <a:off x="1516241" y="2813526"/>
            <a:ext cx="427196" cy="2786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9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800.06 ms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el-1782912281663-48"/>
          <p:cNvSpPr txBox="1"/>
          <p:nvPr/>
        </p:nvSpPr>
        <p:spPr>
          <a:xfrm>
            <a:off x="1979632" y="2838926"/>
            <a:ext cx="47702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2,360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el-1782912281663-49"/>
          <p:cNvSpPr txBox="1"/>
          <p:nvPr/>
        </p:nvSpPr>
        <p:spPr>
          <a:xfrm>
            <a:off x="2457053" y="2884011"/>
            <a:ext cx="530066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0.133 ms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el-1782912281664-50"/>
          <p:cNvSpPr txBox="1"/>
          <p:nvPr/>
        </p:nvSpPr>
        <p:spPr>
          <a:xfrm>
            <a:off x="468154" y="3219450"/>
            <a:ext cx="99816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.android.chrome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el-1782912281664-51"/>
          <p:cNvSpPr txBox="1"/>
          <p:nvPr/>
        </p:nvSpPr>
        <p:spPr>
          <a:xfrm>
            <a:off x="1516241" y="3155950"/>
            <a:ext cx="427196" cy="2786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9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762.78 ms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el-1782912281664-52"/>
          <p:cNvSpPr txBox="1"/>
          <p:nvPr/>
        </p:nvSpPr>
        <p:spPr>
          <a:xfrm>
            <a:off x="1979632" y="3219450"/>
            <a:ext cx="47702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1,503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el-1782912281665-53"/>
          <p:cNvSpPr txBox="1"/>
          <p:nvPr/>
        </p:nvSpPr>
        <p:spPr>
          <a:xfrm>
            <a:off x="2481183" y="3219450"/>
            <a:ext cx="530066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0.200 ms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el-1782912281665-54"/>
          <p:cNvSpPr txBox="1"/>
          <p:nvPr/>
        </p:nvSpPr>
        <p:spPr>
          <a:xfrm>
            <a:off x="464344" y="3521234"/>
            <a:ext cx="99816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CrRendererMain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el-1782912281665-55"/>
          <p:cNvSpPr txBox="1"/>
          <p:nvPr/>
        </p:nvSpPr>
        <p:spPr>
          <a:xfrm>
            <a:off x="1523226" y="3507899"/>
            <a:ext cx="427196" cy="2786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9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594.37 ms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el-1782912281666-56"/>
          <p:cNvSpPr txBox="1"/>
          <p:nvPr/>
        </p:nvSpPr>
        <p:spPr>
          <a:xfrm>
            <a:off x="2007870" y="3546475"/>
            <a:ext cx="351155" cy="1174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1,350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el-1782912281666-57"/>
          <p:cNvSpPr txBox="1"/>
          <p:nvPr/>
        </p:nvSpPr>
        <p:spPr>
          <a:xfrm>
            <a:off x="2481183" y="3507899"/>
            <a:ext cx="530066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0.231 ms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el-1782912281640-25"/>
          <p:cNvSpPr txBox="1"/>
          <p:nvPr/>
        </p:nvSpPr>
        <p:spPr>
          <a:xfrm>
            <a:off x="464344" y="3939540"/>
            <a:ext cx="2443163" cy="32146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60"/>
              </a:lnSpc>
            </a:pPr>
            <a:r>
              <a:rPr sz="84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集中在 Chrome 渲染/合成/GPU/Renderer 链路，符合信息流滚动场景预期</a:t>
            </a:r>
            <a:endParaRPr sz="84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el-1782912281641-26"/>
          <p:cNvSpPr txBox="1"/>
          <p:nvPr/>
        </p:nvSpPr>
        <p:spPr>
          <a:xfrm>
            <a:off x="3450431" y="671513"/>
            <a:ext cx="2407444" cy="16716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⏱ 调度延迟指标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el-1782912281704-87"/>
          <p:cNvSpPr txBox="1"/>
          <p:nvPr/>
        </p:nvSpPr>
        <p:spPr>
          <a:xfrm>
            <a:off x="3436144" y="952976"/>
            <a:ext cx="107156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wakeup-to-run · P95</a:t>
            </a:r>
            <a:endParaRPr sz="78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el-1782912281700-81"/>
          <p:cNvSpPr txBox="1"/>
          <p:nvPr/>
        </p:nvSpPr>
        <p:spPr>
          <a:xfrm>
            <a:off x="3436144" y="1104424"/>
            <a:ext cx="1100138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0.152</a:t>
            </a:r>
            <a:r>
              <a:rPr sz="123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ms</a:t>
            </a:r>
            <a:endParaRPr sz="123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el-1782912281705-88"/>
          <p:cNvSpPr txBox="1"/>
          <p:nvPr/>
        </p:nvSpPr>
        <p:spPr>
          <a:xfrm>
            <a:off x="3436144" y="1307306"/>
            <a:ext cx="107156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24,025 样本</a:t>
            </a:r>
            <a:endParaRPr sz="78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el-1782912281705-89"/>
          <p:cNvSpPr txBox="1"/>
          <p:nvPr/>
        </p:nvSpPr>
        <p:spPr>
          <a:xfrm>
            <a:off x="4686300" y="952976"/>
            <a:ext cx="107156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wakeup-to-run · P99</a:t>
            </a:r>
            <a:endParaRPr sz="78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el-1782912281701-82"/>
          <p:cNvSpPr txBox="1"/>
          <p:nvPr/>
        </p:nvSpPr>
        <p:spPr>
          <a:xfrm>
            <a:off x="4686300" y="1104424"/>
            <a:ext cx="1100138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0.371</a:t>
            </a:r>
            <a:r>
              <a:rPr sz="123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ms</a:t>
            </a:r>
            <a:endParaRPr sz="123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el-1782912281705-90"/>
          <p:cNvSpPr txBox="1"/>
          <p:nvPr/>
        </p:nvSpPr>
        <p:spPr>
          <a:xfrm>
            <a:off x="4686300" y="1307306"/>
            <a:ext cx="107156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24,025 样本</a:t>
            </a:r>
            <a:endParaRPr sz="78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el-1782912281706-91"/>
          <p:cNvSpPr txBox="1"/>
          <p:nvPr/>
        </p:nvSpPr>
        <p:spPr>
          <a:xfrm>
            <a:off x="3436144" y="1615916"/>
            <a:ext cx="107156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runnable delay · P95</a:t>
            </a:r>
            <a:endParaRPr sz="78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el-1782912281702-83"/>
          <p:cNvSpPr txBox="1"/>
          <p:nvPr/>
        </p:nvSpPr>
        <p:spPr>
          <a:xfrm>
            <a:off x="3436144" y="1767364"/>
            <a:ext cx="1100138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0.104</a:t>
            </a:r>
            <a:r>
              <a:rPr sz="123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ms</a:t>
            </a:r>
            <a:endParaRPr sz="123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el-1782912281706-92"/>
          <p:cNvSpPr txBox="1"/>
          <p:nvPr/>
        </p:nvSpPr>
        <p:spPr>
          <a:xfrm>
            <a:off x="3436144" y="1970246"/>
            <a:ext cx="107156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1,201 样本</a:t>
            </a:r>
            <a:endParaRPr sz="78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el-1782912281706-93"/>
          <p:cNvSpPr txBox="1"/>
          <p:nvPr/>
        </p:nvSpPr>
        <p:spPr>
          <a:xfrm>
            <a:off x="4686300" y="1615916"/>
            <a:ext cx="107156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runnable delay · P99</a:t>
            </a:r>
            <a:endParaRPr sz="78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el-1782912281703-84"/>
          <p:cNvSpPr txBox="1"/>
          <p:nvPr/>
        </p:nvSpPr>
        <p:spPr>
          <a:xfrm>
            <a:off x="4686300" y="1767364"/>
            <a:ext cx="1100138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0.246</a:t>
            </a:r>
            <a:r>
              <a:rPr sz="123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ms</a:t>
            </a:r>
            <a:endParaRPr sz="123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el-1782912281707-94"/>
          <p:cNvSpPr txBox="1"/>
          <p:nvPr/>
        </p:nvSpPr>
        <p:spPr>
          <a:xfrm>
            <a:off x="4686300" y="1970246"/>
            <a:ext cx="107156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1,201 样本</a:t>
            </a:r>
            <a:endParaRPr sz="78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el-1782912281639-23"/>
          <p:cNvSpPr txBox="1"/>
          <p:nvPr/>
        </p:nvSpPr>
        <p:spPr>
          <a:xfrm>
            <a:off x="3420110" y="2303145"/>
            <a:ext cx="1675130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本次样本中 </a:t>
            </a:r>
            <a:r>
              <a:rPr sz="840" b="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没有明显调度排队尖峰</a:t>
            </a:r>
            <a:endParaRPr sz="840" b="1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el-1782912281641-27"/>
          <p:cNvSpPr txBox="1"/>
          <p:nvPr/>
        </p:nvSpPr>
        <p:spPr>
          <a:xfrm>
            <a:off x="6279356" y="671513"/>
            <a:ext cx="2407444" cy="16716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🔄 CPU 迁移分析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el-1782912281677-72"/>
          <p:cNvSpPr txBox="1"/>
          <p:nvPr/>
        </p:nvSpPr>
        <p:spPr>
          <a:xfrm>
            <a:off x="6307931" y="967264"/>
            <a:ext cx="1407408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Chrome 相关线程共发生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el-1782912281678-73"/>
          <p:cNvSpPr txBox="1"/>
          <p:nvPr/>
        </p:nvSpPr>
        <p:spPr>
          <a:xfrm>
            <a:off x="7740343" y="967264"/>
            <a:ext cx="469969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14,250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el-1782912281679-74"/>
          <p:cNvSpPr txBox="1"/>
          <p:nvPr/>
        </p:nvSpPr>
        <p:spPr>
          <a:xfrm>
            <a:off x="6307931" y="1155859"/>
            <a:ext cx="743218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 CPU 迁移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el-1782912281666-58"/>
          <p:cNvSpPr txBox="1"/>
          <p:nvPr/>
        </p:nvSpPr>
        <p:spPr>
          <a:xfrm>
            <a:off x="6179344" y="1501616"/>
            <a:ext cx="1606094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线程</a:t>
            </a:r>
            <a:endParaRPr sz="78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el-1782912281667-59"/>
          <p:cNvSpPr txBox="1"/>
          <p:nvPr/>
        </p:nvSpPr>
        <p:spPr>
          <a:xfrm>
            <a:off x="7792582" y="1501616"/>
            <a:ext cx="879931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迁移次数</a:t>
            </a:r>
            <a:endParaRPr sz="78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el-1782912281667-60"/>
          <p:cNvSpPr txBox="1"/>
          <p:nvPr/>
        </p:nvSpPr>
        <p:spPr>
          <a:xfrm>
            <a:off x="6179344" y="1767364"/>
            <a:ext cx="1609665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Compositor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el-1782912281703-85"/>
          <p:cNvSpPr txBox="1"/>
          <p:nvPr/>
        </p:nvSpPr>
        <p:spPr>
          <a:xfrm>
            <a:off x="7792582" y="1761649"/>
            <a:ext cx="348526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3,206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el-1782912281668-61"/>
          <p:cNvSpPr txBox="1"/>
          <p:nvPr/>
        </p:nvSpPr>
        <p:spPr>
          <a:xfrm>
            <a:off x="6179344" y="2035254"/>
            <a:ext cx="1609665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CompositorGpuTh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el-1782912281703-86"/>
          <p:cNvSpPr txBox="1"/>
          <p:nvPr/>
        </p:nvSpPr>
        <p:spPr>
          <a:xfrm>
            <a:off x="7792582" y="2029539"/>
            <a:ext cx="348526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2,519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el-1782912281668-62"/>
          <p:cNvSpPr txBox="1"/>
          <p:nvPr/>
        </p:nvSpPr>
        <p:spPr>
          <a:xfrm>
            <a:off x="6179344" y="2303145"/>
            <a:ext cx="1609665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VizCompositorTh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el-1782912281669-63"/>
          <p:cNvSpPr txBox="1"/>
          <p:nvPr/>
        </p:nvSpPr>
        <p:spPr>
          <a:xfrm>
            <a:off x="7792582" y="2303145"/>
            <a:ext cx="883503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2,360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el-1782912281669-64"/>
          <p:cNvSpPr txBox="1"/>
          <p:nvPr/>
        </p:nvSpPr>
        <p:spPr>
          <a:xfrm>
            <a:off x="6179344" y="2571036"/>
            <a:ext cx="1609665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.android.chrome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el-1782912281669-65"/>
          <p:cNvSpPr txBox="1"/>
          <p:nvPr/>
        </p:nvSpPr>
        <p:spPr>
          <a:xfrm>
            <a:off x="7792582" y="2571036"/>
            <a:ext cx="883503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1,503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el-1782912281670-66"/>
          <p:cNvSpPr txBox="1"/>
          <p:nvPr/>
        </p:nvSpPr>
        <p:spPr>
          <a:xfrm>
            <a:off x="6179344" y="2838926"/>
            <a:ext cx="1609665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CrRendererMain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el-1782912281670-67"/>
          <p:cNvSpPr txBox="1"/>
          <p:nvPr/>
        </p:nvSpPr>
        <p:spPr>
          <a:xfrm>
            <a:off x="7792582" y="2838926"/>
            <a:ext cx="883503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1,350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el-1782912281642-28"/>
          <p:cNvSpPr txBox="1"/>
          <p:nvPr/>
        </p:nvSpPr>
        <p:spPr>
          <a:xfrm>
            <a:off x="6179344" y="3092529"/>
            <a:ext cx="2443163" cy="32146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60"/>
              </a:lnSpc>
            </a:pPr>
            <a:r>
              <a:rPr sz="84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Compositor 和 CompositorGpuTh 迁移最频繁，与渲染合成负载相关</a:t>
            </a:r>
            <a:endParaRPr sz="84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el-1782912281623-15"/>
          <p:cNvSpPr txBox="1"/>
          <p:nvPr/>
        </p:nvSpPr>
        <p:spPr>
          <a:xfrm>
            <a:off x="521176" y="4586605"/>
            <a:ext cx="476756" cy="1543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📊 总结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el-1782912281624-16"/>
          <p:cNvSpPr txBox="1"/>
          <p:nvPr/>
        </p:nvSpPr>
        <p:spPr>
          <a:xfrm>
            <a:off x="1086197" y="4592003"/>
            <a:ext cx="5758131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线程集中在渲染/合成/GPU 链路，调度延迟 P95 &lt; 0.4 ms，无显著排队尖峰，Compositor 迁移 3,206 次最频繁</a:t>
            </a:r>
            <a:endParaRPr sz="90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el-1782912281624-17"/>
          <p:cNvSpPr txBox="1"/>
          <p:nvPr/>
        </p:nvSpPr>
        <p:spPr>
          <a:xfrm>
            <a:off x="107315" y="4924267"/>
            <a:ext cx="53506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el-1782912281624-18"/>
          <p:cNvSpPr txBox="1"/>
          <p:nvPr/>
        </p:nvSpPr>
        <p:spPr>
          <a:xfrm>
            <a:off x="611426" y="4924267"/>
            <a:ext cx="7911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el-1782912281625-19"/>
          <p:cNvSpPr txBox="1"/>
          <p:nvPr/>
        </p:nvSpPr>
        <p:spPr>
          <a:xfrm>
            <a:off x="690066" y="4924267"/>
            <a:ext cx="44103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</a:t>
            </a:r>
            <a:r>
              <a:rPr lang="en-US" altLang="en-US"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altLang="en-US"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el-1782912281613-6"/>
          <p:cNvSpPr txBox="1"/>
          <p:nvPr/>
        </p:nvSpPr>
        <p:spPr>
          <a:xfrm>
            <a:off x="7524750" y="4924425"/>
            <a:ext cx="1524000" cy="1606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· 五大场景与实验设计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2912281726-1"/>
          <p:cNvSpPr/>
          <p:nvPr/>
        </p:nvSpPr>
        <p:spPr>
          <a:xfrm>
            <a:off x="0" y="0"/>
            <a:ext cx="9144000" cy="5143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2912281728-3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2912281745-16"/>
          <p:cNvSpPr/>
          <p:nvPr/>
        </p:nvSpPr>
        <p:spPr>
          <a:xfrm>
            <a:off x="400050" y="1080135"/>
            <a:ext cx="2695516" cy="3720465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el-1782912281796-44"/>
          <p:cNvSpPr/>
          <p:nvPr/>
        </p:nvSpPr>
        <p:spPr>
          <a:xfrm>
            <a:off x="2471470" y="1210151"/>
            <a:ext cx="502652" cy="142875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2912281747-17"/>
          <p:cNvSpPr/>
          <p:nvPr/>
        </p:nvSpPr>
        <p:spPr>
          <a:xfrm>
            <a:off x="3224153" y="1080135"/>
            <a:ext cx="2695605" cy="3720465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2912281803-54"/>
          <p:cNvSpPr/>
          <p:nvPr/>
        </p:nvSpPr>
        <p:spPr>
          <a:xfrm>
            <a:off x="5068312" y="1304449"/>
            <a:ext cx="730002" cy="142875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2912281820-75"/>
          <p:cNvCxnSpPr/>
          <p:nvPr/>
        </p:nvCxnSpPr>
        <p:spPr>
          <a:xfrm>
            <a:off x="3345597" y="1868091"/>
            <a:ext cx="876895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-1782912281821-76"/>
          <p:cNvCxnSpPr/>
          <p:nvPr/>
        </p:nvCxnSpPr>
        <p:spPr>
          <a:xfrm>
            <a:off x="4279642" y="1868091"/>
            <a:ext cx="730716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2912281821-77"/>
          <p:cNvCxnSpPr/>
          <p:nvPr/>
        </p:nvCxnSpPr>
        <p:spPr>
          <a:xfrm>
            <a:off x="5067508" y="1868091"/>
            <a:ext cx="730806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2912281749-18"/>
          <p:cNvSpPr/>
          <p:nvPr/>
        </p:nvSpPr>
        <p:spPr>
          <a:xfrm>
            <a:off x="6048345" y="1080135"/>
            <a:ext cx="2695605" cy="3720465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2912281813-69"/>
          <p:cNvSpPr/>
          <p:nvPr/>
        </p:nvSpPr>
        <p:spPr>
          <a:xfrm>
            <a:off x="7543532" y="1304449"/>
            <a:ext cx="1078974" cy="142875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2912281763-20"/>
          <p:cNvCxnSpPr/>
          <p:nvPr/>
        </p:nvCxnSpPr>
        <p:spPr>
          <a:xfrm>
            <a:off x="6169789" y="3111103"/>
            <a:ext cx="2452717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2912281727-2"/>
          <p:cNvSpPr/>
          <p:nvPr/>
        </p:nvSpPr>
        <p:spPr>
          <a:xfrm>
            <a:off x="0" y="4800600"/>
            <a:ext cx="9144000" cy="3429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6" name="el-1782912281728-4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2912281731-5"/>
          <p:cNvSpPr txBox="1"/>
          <p:nvPr/>
        </p:nvSpPr>
        <p:spPr>
          <a:xfrm>
            <a:off x="400050" y="179308"/>
            <a:ext cx="51488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en-US" sz="90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sz="6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9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37</a:t>
            </a:r>
            <a:endParaRPr sz="900" b="1" spc="28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2912281738-9"/>
          <p:cNvSpPr txBox="1"/>
          <p:nvPr/>
        </p:nvSpPr>
        <p:spPr>
          <a:xfrm>
            <a:off x="1086485" y="179070"/>
            <a:ext cx="1930400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· 五大场景与实验设计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2912281738-10"/>
          <p:cNvSpPr txBox="1"/>
          <p:nvPr/>
        </p:nvSpPr>
        <p:spPr>
          <a:xfrm>
            <a:off x="2771775" y="179705"/>
            <a:ext cx="221615" cy="187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D0D0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900">
              <a:solidFill>
                <a:srgbClr val="D0D0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2912281738-11"/>
          <p:cNvSpPr txBox="1"/>
          <p:nvPr/>
        </p:nvSpPr>
        <p:spPr>
          <a:xfrm>
            <a:off x="2993331" y="219313"/>
            <a:ext cx="2428875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信息流滚动 — 补充采集与帧级 Ground Truth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2912281736-7"/>
          <p:cNvSpPr txBox="1"/>
          <p:nvPr/>
        </p:nvSpPr>
        <p:spPr>
          <a:xfrm>
            <a:off x="400050" y="694373"/>
            <a:ext cx="8451056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80" b="1" spc="-17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信息流滚动 · </a:t>
            </a:r>
            <a:r>
              <a:rPr sz="1680" b="1" spc="-17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补充采集与帧级 Ground Truth</a:t>
            </a:r>
            <a:endParaRPr sz="1680" b="1" spc="-17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2912281794-42"/>
          <p:cNvSpPr txBox="1"/>
          <p:nvPr/>
        </p:nvSpPr>
        <p:spPr>
          <a:xfrm>
            <a:off x="521494" y="1187291"/>
            <a:ext cx="1626543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补充采集 (2026-05-20)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2912281794-43"/>
          <p:cNvSpPr txBox="1"/>
          <p:nvPr/>
        </p:nvSpPr>
        <p:spPr>
          <a:xfrm>
            <a:off x="2557195" y="1224439"/>
            <a:ext cx="45979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39.664s</a:t>
            </a:r>
            <a:endParaRPr sz="67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2912281797-45"/>
          <p:cNvSpPr txBox="1"/>
          <p:nvPr/>
        </p:nvSpPr>
        <p:spPr>
          <a:xfrm>
            <a:off x="521494" y="1490186"/>
            <a:ext cx="1251317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eBPF 原始事件</a:t>
            </a:r>
            <a:endParaRPr sz="95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2912281772-21"/>
          <p:cNvSpPr txBox="1"/>
          <p:nvPr/>
        </p:nvSpPr>
        <p:spPr>
          <a:xfrm>
            <a:off x="1722805" y="1490186"/>
            <a:ext cx="1251317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1,204,411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2912281797-46"/>
          <p:cNvSpPr txBox="1"/>
          <p:nvPr/>
        </p:nvSpPr>
        <p:spPr>
          <a:xfrm>
            <a:off x="521494" y="1778794"/>
            <a:ext cx="1251317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sched_switch</a:t>
            </a:r>
            <a:endParaRPr sz="95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2912281773-22"/>
          <p:cNvSpPr txBox="1"/>
          <p:nvPr/>
        </p:nvSpPr>
        <p:spPr>
          <a:xfrm>
            <a:off x="1722805" y="1778794"/>
            <a:ext cx="1251317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572,666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2912281798-47"/>
          <p:cNvSpPr txBox="1"/>
          <p:nvPr/>
        </p:nvSpPr>
        <p:spPr>
          <a:xfrm>
            <a:off x="521494" y="2067401"/>
            <a:ext cx="1251317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wakeup-to-run P95</a:t>
            </a:r>
            <a:endParaRPr sz="95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2912281774-23"/>
          <p:cNvSpPr txBox="1"/>
          <p:nvPr/>
        </p:nvSpPr>
        <p:spPr>
          <a:xfrm>
            <a:off x="1722805" y="2067401"/>
            <a:ext cx="1251317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0.390</a:t>
            </a:r>
            <a:r>
              <a:rPr sz="3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78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</a:t>
            </a:r>
            <a:endParaRPr sz="78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2912281799-48"/>
          <p:cNvSpPr txBox="1"/>
          <p:nvPr/>
        </p:nvSpPr>
        <p:spPr>
          <a:xfrm>
            <a:off x="521494" y="2356009"/>
            <a:ext cx="1251317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wakeup-to-run P99</a:t>
            </a:r>
            <a:endParaRPr sz="95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82912281776-24"/>
          <p:cNvSpPr txBox="1"/>
          <p:nvPr/>
        </p:nvSpPr>
        <p:spPr>
          <a:xfrm>
            <a:off x="1722805" y="2356009"/>
            <a:ext cx="1251317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0.669</a:t>
            </a:r>
            <a:r>
              <a:rPr sz="3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78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</a:t>
            </a:r>
            <a:endParaRPr sz="78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82912281799-49"/>
          <p:cNvSpPr txBox="1"/>
          <p:nvPr/>
        </p:nvSpPr>
        <p:spPr>
          <a:xfrm>
            <a:off x="521494" y="2644616"/>
            <a:ext cx="1251317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runnable delay P95</a:t>
            </a:r>
            <a:endParaRPr sz="95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2912281777-25"/>
          <p:cNvSpPr txBox="1"/>
          <p:nvPr/>
        </p:nvSpPr>
        <p:spPr>
          <a:xfrm>
            <a:off x="1722805" y="2644616"/>
            <a:ext cx="1251317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0.373</a:t>
            </a:r>
            <a:r>
              <a:rPr sz="3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78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</a:t>
            </a:r>
            <a:endParaRPr sz="78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82912281800-50"/>
          <p:cNvSpPr txBox="1"/>
          <p:nvPr/>
        </p:nvSpPr>
        <p:spPr>
          <a:xfrm>
            <a:off x="521494" y="2933224"/>
            <a:ext cx="1251317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runnable delay P99</a:t>
            </a:r>
            <a:endParaRPr sz="95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82912281779-26"/>
          <p:cNvSpPr txBox="1"/>
          <p:nvPr/>
        </p:nvSpPr>
        <p:spPr>
          <a:xfrm>
            <a:off x="1722805" y="2933224"/>
            <a:ext cx="1251317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1.229</a:t>
            </a:r>
            <a:r>
              <a:rPr sz="3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78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</a:t>
            </a:r>
            <a:endParaRPr sz="78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l-1782912281801-51"/>
          <p:cNvSpPr txBox="1"/>
          <p:nvPr/>
        </p:nvSpPr>
        <p:spPr>
          <a:xfrm>
            <a:off x="521494" y="3221831"/>
            <a:ext cx="1251317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 migration</a:t>
            </a:r>
            <a:endParaRPr sz="95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el-1782912281780-27"/>
          <p:cNvSpPr txBox="1"/>
          <p:nvPr/>
        </p:nvSpPr>
        <p:spPr>
          <a:xfrm>
            <a:off x="1722805" y="3221831"/>
            <a:ext cx="1251317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9,263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el-1782912281801-52"/>
          <p:cNvSpPr txBox="1"/>
          <p:nvPr/>
        </p:nvSpPr>
        <p:spPr>
          <a:xfrm>
            <a:off x="3345597" y="1187291"/>
            <a:ext cx="1665565" cy="3771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45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帧级 Ground Truth (gfxinfo)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l-1782912281802-53"/>
          <p:cNvSpPr txBox="1"/>
          <p:nvPr/>
        </p:nvSpPr>
        <p:spPr>
          <a:xfrm>
            <a:off x="5154037" y="1318736"/>
            <a:ext cx="687139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5,507 frames</a:t>
            </a:r>
            <a:endParaRPr sz="67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el-1782912281804-55"/>
          <p:cNvSpPr txBox="1"/>
          <p:nvPr/>
        </p:nvSpPr>
        <p:spPr>
          <a:xfrm>
            <a:off x="3345597" y="1678781"/>
            <a:ext cx="930473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</a:t>
            </a:r>
            <a:endParaRPr sz="84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el-1782912281804-56"/>
          <p:cNvSpPr txBox="1"/>
          <p:nvPr/>
        </p:nvSpPr>
        <p:spPr>
          <a:xfrm>
            <a:off x="4279642" y="1678781"/>
            <a:ext cx="78429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数值</a:t>
            </a:r>
            <a:endParaRPr sz="84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el-1782912281804-57"/>
          <p:cNvSpPr txBox="1"/>
          <p:nvPr/>
        </p:nvSpPr>
        <p:spPr>
          <a:xfrm>
            <a:off x="5067508" y="1678781"/>
            <a:ext cx="78438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分位</a:t>
            </a:r>
            <a:endParaRPr sz="84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l-1782912281805-58"/>
          <p:cNvSpPr txBox="1"/>
          <p:nvPr/>
        </p:nvSpPr>
        <p:spPr>
          <a:xfrm>
            <a:off x="3345597" y="1957388"/>
            <a:ext cx="934045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Total frames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el-1782912281780-28"/>
          <p:cNvSpPr txBox="1"/>
          <p:nvPr/>
        </p:nvSpPr>
        <p:spPr>
          <a:xfrm>
            <a:off x="4279642" y="1957388"/>
            <a:ext cx="78786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5,507</a:t>
            </a:r>
            <a:endParaRPr sz="90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el-1782912281805-59"/>
          <p:cNvSpPr txBox="1"/>
          <p:nvPr/>
        </p:nvSpPr>
        <p:spPr>
          <a:xfrm>
            <a:off x="5067508" y="1957388"/>
            <a:ext cx="78795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el-1782912281805-60"/>
          <p:cNvSpPr txBox="1"/>
          <p:nvPr/>
        </p:nvSpPr>
        <p:spPr>
          <a:xfrm>
            <a:off x="3345597" y="2234565"/>
            <a:ext cx="934045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Janky frames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el-1782912281781-29"/>
          <p:cNvSpPr txBox="1"/>
          <p:nvPr/>
        </p:nvSpPr>
        <p:spPr>
          <a:xfrm>
            <a:off x="4279642" y="2234565"/>
            <a:ext cx="78786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90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el-1782912281782-30"/>
          <p:cNvSpPr txBox="1"/>
          <p:nvPr/>
        </p:nvSpPr>
        <p:spPr>
          <a:xfrm>
            <a:off x="5067508" y="2234565"/>
            <a:ext cx="730806" cy="2971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8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Jank rate </a:t>
            </a: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0.02%</a:t>
            </a:r>
            <a:endParaRPr sz="90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el-1782912281806-61"/>
          <p:cNvSpPr txBox="1"/>
          <p:nvPr/>
        </p:nvSpPr>
        <p:spPr>
          <a:xfrm>
            <a:off x="3345597" y="2660332"/>
            <a:ext cx="934045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Frame time P50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el-1782912281783-31"/>
          <p:cNvSpPr txBox="1"/>
          <p:nvPr/>
        </p:nvSpPr>
        <p:spPr>
          <a:xfrm>
            <a:off x="4279642" y="2660332"/>
            <a:ext cx="78786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28</a:t>
            </a: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el-1782912281785-32"/>
          <p:cNvSpPr txBox="1"/>
          <p:nvPr/>
        </p:nvSpPr>
        <p:spPr>
          <a:xfrm>
            <a:off x="5067508" y="2660332"/>
            <a:ext cx="78795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P90 </a:t>
            </a: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el-1782912281807-62"/>
          <p:cNvSpPr txBox="1"/>
          <p:nvPr/>
        </p:nvSpPr>
        <p:spPr>
          <a:xfrm>
            <a:off x="3345597" y="2937510"/>
            <a:ext cx="934045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Frame time P95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el-1782912281786-33"/>
          <p:cNvSpPr txBox="1"/>
          <p:nvPr/>
        </p:nvSpPr>
        <p:spPr>
          <a:xfrm>
            <a:off x="4279642" y="2937510"/>
            <a:ext cx="78786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</a:t>
            </a: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el-1782912281787-34"/>
          <p:cNvSpPr txBox="1"/>
          <p:nvPr/>
        </p:nvSpPr>
        <p:spPr>
          <a:xfrm>
            <a:off x="5067508" y="2937510"/>
            <a:ext cx="78795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P99 </a:t>
            </a: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</a:t>
            </a: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el-1782912281808-63"/>
          <p:cNvSpPr txBox="1"/>
          <p:nvPr/>
        </p:nvSpPr>
        <p:spPr>
          <a:xfrm>
            <a:off x="3345597" y="3214688"/>
            <a:ext cx="934045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Missed Vsync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el-1782912281787-35"/>
          <p:cNvSpPr txBox="1"/>
          <p:nvPr/>
        </p:nvSpPr>
        <p:spPr>
          <a:xfrm>
            <a:off x="4279642" y="3214688"/>
            <a:ext cx="78786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90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el-1782912281809-64"/>
          <p:cNvSpPr txBox="1"/>
          <p:nvPr/>
        </p:nvSpPr>
        <p:spPr>
          <a:xfrm>
            <a:off x="5067508" y="3214688"/>
            <a:ext cx="78795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el-1782912281810-65"/>
          <p:cNvSpPr txBox="1"/>
          <p:nvPr/>
        </p:nvSpPr>
        <p:spPr>
          <a:xfrm>
            <a:off x="3345597" y="3491865"/>
            <a:ext cx="876895" cy="2971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8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Deadline missed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el-1782912281788-36"/>
          <p:cNvSpPr txBox="1"/>
          <p:nvPr/>
        </p:nvSpPr>
        <p:spPr>
          <a:xfrm>
            <a:off x="4279642" y="3491865"/>
            <a:ext cx="78786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90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el-1782912281810-66"/>
          <p:cNvSpPr txBox="1"/>
          <p:nvPr/>
        </p:nvSpPr>
        <p:spPr>
          <a:xfrm>
            <a:off x="5067508" y="3491865"/>
            <a:ext cx="78795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el-1782912281811-67"/>
          <p:cNvSpPr txBox="1"/>
          <p:nvPr/>
        </p:nvSpPr>
        <p:spPr>
          <a:xfrm>
            <a:off x="6169789" y="1187291"/>
            <a:ext cx="1316593" cy="3771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45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Binder / 系统依赖证据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el-1782912281811-68"/>
          <p:cNvSpPr txBox="1"/>
          <p:nvPr/>
        </p:nvSpPr>
        <p:spPr>
          <a:xfrm>
            <a:off x="7629257" y="1318736"/>
            <a:ext cx="1036112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同窗口 ftrace 1,818 条</a:t>
            </a:r>
            <a:endParaRPr sz="67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el-1782912281814-70"/>
          <p:cNvSpPr txBox="1"/>
          <p:nvPr/>
        </p:nvSpPr>
        <p:spPr>
          <a:xfrm>
            <a:off x="6169789" y="1678781"/>
            <a:ext cx="158118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binder_wait_for_work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el-1782912281789-37"/>
          <p:cNvSpPr txBox="1"/>
          <p:nvPr/>
        </p:nvSpPr>
        <p:spPr>
          <a:xfrm>
            <a:off x="7708106" y="1678781"/>
            <a:ext cx="91440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799</a:t>
            </a:r>
            <a:endParaRPr sz="90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el-1782912281814-71"/>
          <p:cNvSpPr txBox="1"/>
          <p:nvPr/>
        </p:nvSpPr>
        <p:spPr>
          <a:xfrm>
            <a:off x="6169789" y="1955959"/>
            <a:ext cx="158118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binder_transaction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el-1782912281790-38"/>
          <p:cNvSpPr txBox="1"/>
          <p:nvPr/>
        </p:nvSpPr>
        <p:spPr>
          <a:xfrm>
            <a:off x="7708106" y="1955959"/>
            <a:ext cx="91440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425</a:t>
            </a:r>
            <a:endParaRPr sz="90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el-1782912281815-72"/>
          <p:cNvSpPr txBox="1"/>
          <p:nvPr/>
        </p:nvSpPr>
        <p:spPr>
          <a:xfrm>
            <a:off x="6169789" y="2233136"/>
            <a:ext cx="158118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binder_transaction_received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el-1782912281790-39"/>
          <p:cNvSpPr txBox="1"/>
          <p:nvPr/>
        </p:nvSpPr>
        <p:spPr>
          <a:xfrm>
            <a:off x="7708106" y="2233136"/>
            <a:ext cx="91440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335</a:t>
            </a:r>
            <a:endParaRPr sz="90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el-1782912281816-73"/>
          <p:cNvSpPr txBox="1"/>
          <p:nvPr/>
        </p:nvSpPr>
        <p:spPr>
          <a:xfrm>
            <a:off x="6169789" y="2510314"/>
            <a:ext cx="158118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dma_fence_wait_start/end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el-1782912281792-40"/>
          <p:cNvSpPr txBox="1"/>
          <p:nvPr/>
        </p:nvSpPr>
        <p:spPr>
          <a:xfrm>
            <a:off x="7708106" y="2510314"/>
            <a:ext cx="91440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103</a:t>
            </a: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104</a:t>
            </a:r>
            <a:endParaRPr sz="90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el-1782912281817-74"/>
          <p:cNvSpPr txBox="1"/>
          <p:nvPr/>
        </p:nvSpPr>
        <p:spPr>
          <a:xfrm>
            <a:off x="6169789" y="2787491"/>
            <a:ext cx="158118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block_rq_issue/complete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el-1782912281793-41"/>
          <p:cNvSpPr txBox="1"/>
          <p:nvPr/>
        </p:nvSpPr>
        <p:spPr>
          <a:xfrm>
            <a:off x="7708106" y="2787491"/>
            <a:ext cx="91440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90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el-1782912281763-19"/>
          <p:cNvSpPr txBox="1"/>
          <p:nvPr/>
        </p:nvSpPr>
        <p:spPr>
          <a:xfrm>
            <a:off x="6169660" y="3200400"/>
            <a:ext cx="2527935" cy="10007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80"/>
              </a:lnSpc>
            </a:pPr>
            <a:r>
              <a:rPr sz="90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 comm:</a:t>
            </a:r>
            <a:r>
              <a:rPr sz="9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90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080"/>
              </a:lnSpc>
            </a:pPr>
            <a:r>
              <a:rPr lang="en-US" altLang="" sz="9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en-US" altLang="" sz="9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9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android.chro</a:t>
            </a:r>
            <a:r>
              <a:rPr lang="en-US" altLang="" sz="9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</a:t>
            </a:r>
            <a:endParaRPr lang="en-US" altLang="" sz="90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080"/>
              </a:lnSpc>
            </a:pPr>
            <a:r>
              <a:rPr lang="en-US" altLang="" sz="9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HwBinder:604_2</a:t>
            </a:r>
            <a:endParaRPr sz="90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080"/>
              </a:lnSpc>
            </a:pPr>
            <a:r>
              <a:rPr sz="9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surfaceflinger</a:t>
            </a:r>
            <a:endParaRPr sz="90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080"/>
              </a:lnSpc>
            </a:pPr>
            <a:r>
              <a:rPr sz="9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binder:600_1 </a:t>
            </a:r>
            <a:endParaRPr sz="90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080"/>
              </a:lnSpc>
            </a:pPr>
            <a:r>
              <a:rPr sz="9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RenderThread</a:t>
            </a:r>
            <a:endParaRPr sz="90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el-1782912281740-13"/>
          <p:cNvSpPr txBox="1"/>
          <p:nvPr/>
        </p:nvSpPr>
        <p:spPr>
          <a:xfrm>
            <a:off x="400050" y="4907042"/>
            <a:ext cx="53506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el-1782912281740-14"/>
          <p:cNvSpPr txBox="1"/>
          <p:nvPr/>
        </p:nvSpPr>
        <p:spPr>
          <a:xfrm>
            <a:off x="1056561" y="4907042"/>
            <a:ext cx="7911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el-1782912281740-15"/>
          <p:cNvSpPr txBox="1"/>
          <p:nvPr/>
        </p:nvSpPr>
        <p:spPr>
          <a:xfrm>
            <a:off x="1257121" y="4907042"/>
            <a:ext cx="44103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</a:t>
            </a:r>
            <a:r>
              <a:rPr lang="en-US" altLang="en-US"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altLang="en-US"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el-1782912281732-6"/>
          <p:cNvSpPr txBox="1"/>
          <p:nvPr/>
        </p:nvSpPr>
        <p:spPr>
          <a:xfrm>
            <a:off x="7128510" y="4855210"/>
            <a:ext cx="1665605" cy="1892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· 五大场景与实验设计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2912281844-1"/>
          <p:cNvSpPr/>
          <p:nvPr/>
        </p:nvSpPr>
        <p:spPr>
          <a:xfrm>
            <a:off x="0" y="0"/>
            <a:ext cx="9144000" cy="5143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2912281845-3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2912281864-16"/>
          <p:cNvSpPr/>
          <p:nvPr/>
        </p:nvSpPr>
        <p:spPr>
          <a:xfrm>
            <a:off x="400050" y="1018342"/>
            <a:ext cx="3665012" cy="2344579"/>
          </a:xfrm>
          <a:prstGeom prst="roundRect">
            <a:avLst>
              <a:gd name="adj" fmla="val 3250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el-1782912281913-42"/>
          <p:cNvSpPr/>
          <p:nvPr/>
        </p:nvSpPr>
        <p:spPr>
          <a:xfrm>
            <a:off x="3365689" y="1145500"/>
            <a:ext cx="563642" cy="14859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2912281876-21"/>
          <p:cNvSpPr/>
          <p:nvPr/>
        </p:nvSpPr>
        <p:spPr>
          <a:xfrm>
            <a:off x="535781" y="1371243"/>
            <a:ext cx="3393549" cy="105370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8736" y="0"/>
                </a:lnTo>
                <a:lnTo>
                  <a:pt x="98860" y="18"/>
                </a:lnTo>
                <a:lnTo>
                  <a:pt x="98983" y="81"/>
                </a:lnTo>
                <a:lnTo>
                  <a:pt x="99104" y="171"/>
                </a:lnTo>
                <a:lnTo>
                  <a:pt x="99219" y="306"/>
                </a:lnTo>
                <a:lnTo>
                  <a:pt x="99331" y="477"/>
                </a:lnTo>
                <a:lnTo>
                  <a:pt x="99438" y="685"/>
                </a:lnTo>
                <a:lnTo>
                  <a:pt x="99537" y="919"/>
                </a:lnTo>
                <a:lnTo>
                  <a:pt x="99629" y="1189"/>
                </a:lnTo>
                <a:lnTo>
                  <a:pt x="99713" y="1486"/>
                </a:lnTo>
                <a:lnTo>
                  <a:pt x="99787" y="1802"/>
                </a:lnTo>
                <a:lnTo>
                  <a:pt x="99851" y="2144"/>
                </a:lnTo>
                <a:lnTo>
                  <a:pt x="99904" y="2505"/>
                </a:lnTo>
                <a:lnTo>
                  <a:pt x="99947" y="2874"/>
                </a:lnTo>
                <a:lnTo>
                  <a:pt x="99975" y="3261"/>
                </a:lnTo>
                <a:lnTo>
                  <a:pt x="99994" y="3658"/>
                </a:lnTo>
                <a:lnTo>
                  <a:pt x="100000" y="4054"/>
                </a:lnTo>
                <a:lnTo>
                  <a:pt x="100000" y="95946"/>
                </a:lnTo>
                <a:lnTo>
                  <a:pt x="99994" y="96342"/>
                </a:lnTo>
                <a:lnTo>
                  <a:pt x="99975" y="96739"/>
                </a:lnTo>
                <a:lnTo>
                  <a:pt x="99947" y="97126"/>
                </a:lnTo>
                <a:lnTo>
                  <a:pt x="99904" y="97495"/>
                </a:lnTo>
                <a:lnTo>
                  <a:pt x="99851" y="97856"/>
                </a:lnTo>
                <a:lnTo>
                  <a:pt x="99787" y="98198"/>
                </a:lnTo>
                <a:lnTo>
                  <a:pt x="99713" y="98514"/>
                </a:lnTo>
                <a:lnTo>
                  <a:pt x="99629" y="98811"/>
                </a:lnTo>
                <a:lnTo>
                  <a:pt x="99537" y="99081"/>
                </a:lnTo>
                <a:lnTo>
                  <a:pt x="99438" y="99315"/>
                </a:lnTo>
                <a:lnTo>
                  <a:pt x="99331" y="99523"/>
                </a:lnTo>
                <a:lnTo>
                  <a:pt x="99219" y="99694"/>
                </a:lnTo>
                <a:lnTo>
                  <a:pt x="99104" y="99829"/>
                </a:lnTo>
                <a:lnTo>
                  <a:pt x="98983" y="99919"/>
                </a:lnTo>
                <a:lnTo>
                  <a:pt x="98860" y="99982"/>
                </a:lnTo>
                <a:lnTo>
                  <a:pt x="98736" y="100000"/>
                </a:lnTo>
                <a:lnTo>
                  <a:pt x="0" y="100000"/>
                </a:lnTo>
                <a:lnTo>
                  <a:pt x="0" y="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2912281891-24"/>
          <p:cNvSpPr/>
          <p:nvPr/>
        </p:nvSpPr>
        <p:spPr>
          <a:xfrm>
            <a:off x="535781" y="1371243"/>
            <a:ext cx="3393549" cy="105370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0" y="0"/>
                </a:lnTo>
              </a:path>
            </a:pathLst>
          </a:custGeom>
          <a:noFill/>
          <a:ln w="28575" algn="in">
            <a:solidFill>
              <a:srgbClr val="D4A017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2912281865-17"/>
          <p:cNvSpPr/>
          <p:nvPr/>
        </p:nvSpPr>
        <p:spPr>
          <a:xfrm>
            <a:off x="4207937" y="1018342"/>
            <a:ext cx="4536014" cy="2344579"/>
          </a:xfrm>
          <a:prstGeom prst="roundRect">
            <a:avLst>
              <a:gd name="adj" fmla="val 3250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2912281916-45"/>
          <p:cNvSpPr/>
          <p:nvPr/>
        </p:nvSpPr>
        <p:spPr>
          <a:xfrm>
            <a:off x="7991356" y="1145500"/>
            <a:ext cx="616863" cy="148590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1" name="el-1782912281932-73"/>
          <p:cNvCxnSpPr/>
          <p:nvPr/>
        </p:nvCxnSpPr>
        <p:spPr>
          <a:xfrm>
            <a:off x="4343668" y="1631990"/>
            <a:ext cx="200025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-1782912281933-74"/>
          <p:cNvCxnSpPr/>
          <p:nvPr/>
        </p:nvCxnSpPr>
        <p:spPr>
          <a:xfrm>
            <a:off x="4586556" y="1631990"/>
            <a:ext cx="1339632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-1782912281933-75"/>
          <p:cNvCxnSpPr/>
          <p:nvPr/>
        </p:nvCxnSpPr>
        <p:spPr>
          <a:xfrm>
            <a:off x="5969050" y="1631990"/>
            <a:ext cx="455593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2912281934-76"/>
          <p:cNvCxnSpPr/>
          <p:nvPr/>
        </p:nvCxnSpPr>
        <p:spPr>
          <a:xfrm>
            <a:off x="6467505" y="1631990"/>
            <a:ext cx="685979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-1782912281935-77"/>
          <p:cNvCxnSpPr/>
          <p:nvPr/>
        </p:nvCxnSpPr>
        <p:spPr>
          <a:xfrm>
            <a:off x="7196346" y="1631990"/>
            <a:ext cx="653117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-1782912281935-78"/>
          <p:cNvCxnSpPr/>
          <p:nvPr/>
        </p:nvCxnSpPr>
        <p:spPr>
          <a:xfrm>
            <a:off x="7892326" y="1631990"/>
            <a:ext cx="715893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2912281866-18"/>
          <p:cNvSpPr/>
          <p:nvPr/>
        </p:nvSpPr>
        <p:spPr>
          <a:xfrm>
            <a:off x="400050" y="3462933"/>
            <a:ext cx="4100513" cy="1385173"/>
          </a:xfrm>
          <a:prstGeom prst="roundRect">
            <a:avLst>
              <a:gd name="adj" fmla="val 5501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8" name="el-1782912281893-27"/>
          <p:cNvCxnSpPr/>
          <p:nvPr/>
        </p:nvCxnSpPr>
        <p:spPr>
          <a:xfrm>
            <a:off x="550069" y="3570089"/>
            <a:ext cx="914" cy="188595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-1782912281945-79"/>
          <p:cNvCxnSpPr/>
          <p:nvPr/>
        </p:nvCxnSpPr>
        <p:spPr>
          <a:xfrm>
            <a:off x="535781" y="4015859"/>
            <a:ext cx="3829050" cy="914"/>
          </a:xfrm>
          <a:prstGeom prst="line">
            <a:avLst/>
          </a:prstGeom>
          <a:ln w="7144" cap="flat">
            <a:solidFill>
              <a:srgbClr val="EDEDF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2912281946-80"/>
          <p:cNvCxnSpPr/>
          <p:nvPr/>
        </p:nvCxnSpPr>
        <p:spPr>
          <a:xfrm>
            <a:off x="535781" y="4262319"/>
            <a:ext cx="3829050" cy="914"/>
          </a:xfrm>
          <a:prstGeom prst="line">
            <a:avLst/>
          </a:prstGeom>
          <a:ln w="7144" cap="flat">
            <a:solidFill>
              <a:srgbClr val="EDEDF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-1782912281947-81"/>
          <p:cNvCxnSpPr/>
          <p:nvPr/>
        </p:nvCxnSpPr>
        <p:spPr>
          <a:xfrm>
            <a:off x="535781" y="4508778"/>
            <a:ext cx="3829050" cy="914"/>
          </a:xfrm>
          <a:prstGeom prst="line">
            <a:avLst/>
          </a:prstGeom>
          <a:ln w="7144" cap="flat">
            <a:solidFill>
              <a:srgbClr val="EDEDF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l-1782912281868-19"/>
          <p:cNvSpPr/>
          <p:nvPr/>
        </p:nvSpPr>
        <p:spPr>
          <a:xfrm>
            <a:off x="4643438" y="3462933"/>
            <a:ext cx="4100513" cy="1385173"/>
          </a:xfrm>
          <a:prstGeom prst="roundRect">
            <a:avLst>
              <a:gd name="adj" fmla="val 5501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23" name="el-1782912281894-28"/>
          <p:cNvCxnSpPr/>
          <p:nvPr/>
        </p:nvCxnSpPr>
        <p:spPr>
          <a:xfrm>
            <a:off x="4793456" y="3570089"/>
            <a:ext cx="914" cy="188595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-1782912281947-82"/>
          <p:cNvCxnSpPr/>
          <p:nvPr/>
        </p:nvCxnSpPr>
        <p:spPr>
          <a:xfrm>
            <a:off x="4779169" y="4015859"/>
            <a:ext cx="3829050" cy="914"/>
          </a:xfrm>
          <a:prstGeom prst="line">
            <a:avLst/>
          </a:prstGeom>
          <a:ln w="7144" cap="flat">
            <a:solidFill>
              <a:srgbClr val="EDEDF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el-1782912281948-83"/>
          <p:cNvCxnSpPr/>
          <p:nvPr/>
        </p:nvCxnSpPr>
        <p:spPr>
          <a:xfrm>
            <a:off x="4779169" y="4262319"/>
            <a:ext cx="3829050" cy="914"/>
          </a:xfrm>
          <a:prstGeom prst="line">
            <a:avLst/>
          </a:prstGeom>
          <a:ln w="7144" cap="flat">
            <a:solidFill>
              <a:srgbClr val="EDEDF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l-1782912281948-84"/>
          <p:cNvCxnSpPr/>
          <p:nvPr/>
        </p:nvCxnSpPr>
        <p:spPr>
          <a:xfrm>
            <a:off x="4779169" y="4508778"/>
            <a:ext cx="3829050" cy="914"/>
          </a:xfrm>
          <a:prstGeom prst="line">
            <a:avLst/>
          </a:prstGeom>
          <a:ln w="7144" cap="flat">
            <a:solidFill>
              <a:srgbClr val="EDEDF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el-1782912281845-2"/>
          <p:cNvSpPr/>
          <p:nvPr/>
        </p:nvSpPr>
        <p:spPr>
          <a:xfrm>
            <a:off x="0" y="4800600"/>
            <a:ext cx="9144000" cy="3429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8" name="el-1782912281846-4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-1782912281849-5"/>
          <p:cNvSpPr txBox="1"/>
          <p:nvPr/>
        </p:nvSpPr>
        <p:spPr>
          <a:xfrm>
            <a:off x="400050" y="179308"/>
            <a:ext cx="51488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en-US" sz="90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sz="6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9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37</a:t>
            </a:r>
            <a:endParaRPr sz="900" b="1" spc="28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2912281856-9"/>
          <p:cNvSpPr txBox="1"/>
          <p:nvPr/>
        </p:nvSpPr>
        <p:spPr>
          <a:xfrm>
            <a:off x="1086485" y="179070"/>
            <a:ext cx="1831975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· 五大场景与实验设计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2912281857-10"/>
          <p:cNvSpPr txBox="1"/>
          <p:nvPr/>
        </p:nvSpPr>
        <p:spPr>
          <a:xfrm>
            <a:off x="3059906" y="179308"/>
            <a:ext cx="96619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D0D0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900">
              <a:solidFill>
                <a:srgbClr val="D0D0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82912281857-11"/>
          <p:cNvSpPr txBox="1"/>
          <p:nvPr/>
        </p:nvSpPr>
        <p:spPr>
          <a:xfrm>
            <a:off x="3347661" y="179308"/>
            <a:ext cx="2257068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信息流滚动 — CriticalScore 关键线程评分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2912281855-7"/>
          <p:cNvSpPr txBox="1"/>
          <p:nvPr/>
        </p:nvSpPr>
        <p:spPr>
          <a:xfrm>
            <a:off x="400050" y="632579"/>
            <a:ext cx="8451056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80" b="1" spc="-17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信息流滚动 · </a:t>
            </a:r>
            <a:r>
              <a:rPr sz="1680" b="1" spc="-17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CriticalScore</a:t>
            </a:r>
            <a:r>
              <a:rPr sz="1680" b="1" spc="-17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关键线程评分</a:t>
            </a:r>
            <a:endParaRPr sz="1680" b="1" spc="-17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82912281911-40"/>
          <p:cNvSpPr txBox="1"/>
          <p:nvPr/>
        </p:nvSpPr>
        <p:spPr>
          <a:xfrm>
            <a:off x="535781" y="1125498"/>
            <a:ext cx="642938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评分公式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82912281911-41"/>
          <p:cNvSpPr txBox="1"/>
          <p:nvPr/>
        </p:nvSpPr>
        <p:spPr>
          <a:xfrm>
            <a:off x="3465701" y="1159788"/>
            <a:ext cx="510064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 项加权</a:t>
            </a:r>
            <a:endParaRPr sz="73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l-1782912281874-20"/>
          <p:cNvSpPr txBox="1"/>
          <p:nvPr/>
        </p:nvSpPr>
        <p:spPr>
          <a:xfrm>
            <a:off x="664369" y="1442680"/>
            <a:ext cx="3164949" cy="9108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25"/>
              </a:lnSpc>
            </a:pPr>
            <a:r>
              <a:rPr sz="950" spc="11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score =</a:t>
            </a:r>
            <a:r>
              <a:rPr sz="950" b="1" spc="11">
                <a:solidFill>
                  <a:srgbClr val="D4A017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render_path_role</a:t>
            </a:r>
            <a:r>
              <a:rPr sz="950" spc="11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+</a:t>
            </a:r>
            <a:r>
              <a:rPr sz="950" b="1" spc="11">
                <a:solidFill>
                  <a:srgbClr val="D4A017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wakeup_to_run_p95</a:t>
            </a:r>
            <a:r>
              <a:rPr sz="950" spc="11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+</a:t>
            </a:r>
            <a:r>
              <a:rPr sz="950" b="1" spc="11">
                <a:solidFill>
                  <a:srgbClr val="D4A017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runnable_delay_p95</a:t>
            </a:r>
            <a:endParaRPr sz="950" b="1" spc="11">
              <a:solidFill>
                <a:srgbClr val="D4A017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  <a:p>
            <a:pPr algn="l">
              <a:lnSpc>
                <a:spcPts val="1425"/>
              </a:lnSpc>
            </a:pPr>
            <a:r>
              <a:rPr sz="950" spc="11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+ log(on_cpu_ms) + log(migration_count) + log(wakeup_count)−</a:t>
            </a:r>
            <a:r>
              <a:rPr sz="950" b="1" spc="11">
                <a:solidFill>
                  <a:srgbClr val="D4A017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background_penalty</a:t>
            </a:r>
            <a:endParaRPr sz="950" b="1" spc="11">
              <a:solidFill>
                <a:srgbClr val="D4A017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38" name="el-1782912281879-22"/>
          <p:cNvSpPr txBox="1"/>
          <p:nvPr/>
        </p:nvSpPr>
        <p:spPr>
          <a:xfrm>
            <a:off x="535781" y="2482096"/>
            <a:ext cx="3405694" cy="5464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25"/>
              </a:lnSpc>
            </a:pP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三维度直觉：</a:t>
            </a: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位置权重 (α=0.4)</a:t>
            </a: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越靠近渲染末端越关键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425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延迟占比 (β=0.4)</a:t>
            </a: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谁占的帧延迟份额大更可疑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425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连接度 (γ=0.2)</a:t>
            </a: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出度+入度，影响大量其他线程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el-1782912281914-43"/>
          <p:cNvSpPr txBox="1"/>
          <p:nvPr/>
        </p:nvSpPr>
        <p:spPr>
          <a:xfrm>
            <a:off x="4343668" y="1125498"/>
            <a:ext cx="1206222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 Critical 线程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l-1782912281914-44"/>
          <p:cNvSpPr txBox="1"/>
          <p:nvPr/>
        </p:nvSpPr>
        <p:spPr>
          <a:xfrm>
            <a:off x="8091369" y="1159788"/>
            <a:ext cx="563285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Rank 1-5</a:t>
            </a:r>
            <a:endParaRPr sz="73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el-1782912281916-46"/>
          <p:cNvSpPr txBox="1"/>
          <p:nvPr/>
        </p:nvSpPr>
        <p:spPr>
          <a:xfrm>
            <a:off x="4343668" y="1428393"/>
            <a:ext cx="253603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Rank</a:t>
            </a:r>
            <a:endParaRPr sz="84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el-1782912281916-47"/>
          <p:cNvSpPr txBox="1"/>
          <p:nvPr/>
        </p:nvSpPr>
        <p:spPr>
          <a:xfrm>
            <a:off x="4586556" y="1428393"/>
            <a:ext cx="139321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线程 (TID)</a:t>
            </a:r>
            <a:endParaRPr sz="84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el-1782912281917-48"/>
          <p:cNvSpPr txBox="1"/>
          <p:nvPr/>
        </p:nvSpPr>
        <p:spPr>
          <a:xfrm>
            <a:off x="5969050" y="1428393"/>
            <a:ext cx="509171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Score</a:t>
            </a:r>
            <a:endParaRPr sz="84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l-1782912281917-49"/>
          <p:cNvSpPr txBox="1"/>
          <p:nvPr/>
        </p:nvSpPr>
        <p:spPr>
          <a:xfrm>
            <a:off x="6467505" y="1428393"/>
            <a:ext cx="739557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on-CPU (ms)</a:t>
            </a:r>
            <a:endParaRPr sz="84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el-1782912281918-50"/>
          <p:cNvSpPr txBox="1"/>
          <p:nvPr/>
        </p:nvSpPr>
        <p:spPr>
          <a:xfrm>
            <a:off x="7196346" y="1428393"/>
            <a:ext cx="70669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wakeup P95</a:t>
            </a:r>
            <a:endParaRPr sz="84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el-1782912281918-51"/>
          <p:cNvSpPr txBox="1"/>
          <p:nvPr/>
        </p:nvSpPr>
        <p:spPr>
          <a:xfrm>
            <a:off x="7892326" y="1428393"/>
            <a:ext cx="769471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runnable P95</a:t>
            </a:r>
            <a:endParaRPr sz="84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el-1782912281902-29"/>
          <p:cNvSpPr txBox="1"/>
          <p:nvPr/>
        </p:nvSpPr>
        <p:spPr>
          <a:xfrm>
            <a:off x="4343668" y="1721287"/>
            <a:ext cx="257175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90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el-1782912281919-52"/>
          <p:cNvSpPr txBox="1"/>
          <p:nvPr/>
        </p:nvSpPr>
        <p:spPr>
          <a:xfrm>
            <a:off x="4586556" y="1721287"/>
            <a:ext cx="1396782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RenderThread (25167)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el-1782912281903-30"/>
          <p:cNvSpPr txBox="1"/>
          <p:nvPr/>
        </p:nvSpPr>
        <p:spPr>
          <a:xfrm>
            <a:off x="5969050" y="1721287"/>
            <a:ext cx="512743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100.736</a:t>
            </a:r>
            <a:endParaRPr sz="90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el-1782912281919-53"/>
          <p:cNvSpPr txBox="1"/>
          <p:nvPr/>
        </p:nvSpPr>
        <p:spPr>
          <a:xfrm>
            <a:off x="6467505" y="1721287"/>
            <a:ext cx="743129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11,078.226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el-1782912281920-54"/>
          <p:cNvSpPr txBox="1"/>
          <p:nvPr/>
        </p:nvSpPr>
        <p:spPr>
          <a:xfrm>
            <a:off x="7196346" y="1721287"/>
            <a:ext cx="710267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0.454ms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el-1782912281920-55"/>
          <p:cNvSpPr txBox="1"/>
          <p:nvPr/>
        </p:nvSpPr>
        <p:spPr>
          <a:xfrm>
            <a:off x="7892326" y="1721287"/>
            <a:ext cx="773043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0.263ms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el-1782912281904-31"/>
          <p:cNvSpPr txBox="1"/>
          <p:nvPr/>
        </p:nvSpPr>
        <p:spPr>
          <a:xfrm>
            <a:off x="4343668" y="1998464"/>
            <a:ext cx="257175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90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el-1782912281921-56"/>
          <p:cNvSpPr txBox="1"/>
          <p:nvPr/>
        </p:nvSpPr>
        <p:spPr>
          <a:xfrm>
            <a:off x="4586556" y="1998464"/>
            <a:ext cx="1396782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RenderEngine (649)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el-1782912281905-32"/>
          <p:cNvSpPr txBox="1"/>
          <p:nvPr/>
        </p:nvSpPr>
        <p:spPr>
          <a:xfrm>
            <a:off x="5969050" y="1998464"/>
            <a:ext cx="512743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93.999</a:t>
            </a:r>
            <a:endParaRPr sz="90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el-1782912281922-57"/>
          <p:cNvSpPr txBox="1"/>
          <p:nvPr/>
        </p:nvSpPr>
        <p:spPr>
          <a:xfrm>
            <a:off x="6467505" y="1998464"/>
            <a:ext cx="743129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1,417.180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el-1782912281922-58"/>
          <p:cNvSpPr txBox="1"/>
          <p:nvPr/>
        </p:nvSpPr>
        <p:spPr>
          <a:xfrm>
            <a:off x="7196346" y="1998464"/>
            <a:ext cx="710267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el-1782912281905-33"/>
          <p:cNvSpPr txBox="1"/>
          <p:nvPr/>
        </p:nvSpPr>
        <p:spPr>
          <a:xfrm>
            <a:off x="7892326" y="1998464"/>
            <a:ext cx="773043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0.998ms</a:t>
            </a:r>
            <a:endParaRPr sz="90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el-1782912281906-34"/>
          <p:cNvSpPr txBox="1"/>
          <p:nvPr/>
        </p:nvSpPr>
        <p:spPr>
          <a:xfrm>
            <a:off x="4343668" y="2275642"/>
            <a:ext cx="257175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90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el-1782912281923-59"/>
          <p:cNvSpPr txBox="1"/>
          <p:nvPr/>
        </p:nvSpPr>
        <p:spPr>
          <a:xfrm>
            <a:off x="4586556" y="2275642"/>
            <a:ext cx="1396782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.android.chrome (25132)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el-1782912281907-35"/>
          <p:cNvSpPr txBox="1"/>
          <p:nvPr/>
        </p:nvSpPr>
        <p:spPr>
          <a:xfrm>
            <a:off x="5969050" y="2275642"/>
            <a:ext cx="512743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89.972</a:t>
            </a:r>
            <a:endParaRPr sz="90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el-1782912281924-60"/>
          <p:cNvSpPr txBox="1"/>
          <p:nvPr/>
        </p:nvSpPr>
        <p:spPr>
          <a:xfrm>
            <a:off x="6467505" y="2275642"/>
            <a:ext cx="743129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5,031.003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el-1782912281924-61"/>
          <p:cNvSpPr txBox="1"/>
          <p:nvPr/>
        </p:nvSpPr>
        <p:spPr>
          <a:xfrm>
            <a:off x="7196346" y="2275642"/>
            <a:ext cx="710267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0.573ms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el-1782912281925-62"/>
          <p:cNvSpPr txBox="1"/>
          <p:nvPr/>
        </p:nvSpPr>
        <p:spPr>
          <a:xfrm>
            <a:off x="7892326" y="2275642"/>
            <a:ext cx="773043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el-1782912281907-36"/>
          <p:cNvSpPr txBox="1"/>
          <p:nvPr/>
        </p:nvSpPr>
        <p:spPr>
          <a:xfrm>
            <a:off x="4343668" y="2552819"/>
            <a:ext cx="257175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90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el-1782912281925-63"/>
          <p:cNvSpPr txBox="1"/>
          <p:nvPr/>
        </p:nvSpPr>
        <p:spPr>
          <a:xfrm>
            <a:off x="4586556" y="2552819"/>
            <a:ext cx="1396782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surfaceflinger (600)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el-1782912281908-37"/>
          <p:cNvSpPr txBox="1"/>
          <p:nvPr/>
        </p:nvSpPr>
        <p:spPr>
          <a:xfrm>
            <a:off x="5969050" y="2552819"/>
            <a:ext cx="512743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79.927</a:t>
            </a:r>
            <a:endParaRPr sz="90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el-1782912281926-64"/>
          <p:cNvSpPr txBox="1"/>
          <p:nvPr/>
        </p:nvSpPr>
        <p:spPr>
          <a:xfrm>
            <a:off x="6467505" y="2552819"/>
            <a:ext cx="743129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6,250.098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el-1782912281927-65"/>
          <p:cNvSpPr txBox="1"/>
          <p:nvPr/>
        </p:nvSpPr>
        <p:spPr>
          <a:xfrm>
            <a:off x="7196346" y="2552819"/>
            <a:ext cx="710267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el-1782912281927-66"/>
          <p:cNvSpPr txBox="1"/>
          <p:nvPr/>
        </p:nvSpPr>
        <p:spPr>
          <a:xfrm>
            <a:off x="7892326" y="2552819"/>
            <a:ext cx="773043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el-1782912281909-38"/>
          <p:cNvSpPr txBox="1"/>
          <p:nvPr/>
        </p:nvSpPr>
        <p:spPr>
          <a:xfrm>
            <a:off x="4343668" y="2829997"/>
            <a:ext cx="257175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90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el-1782912281928-67"/>
          <p:cNvSpPr txBox="1"/>
          <p:nvPr/>
        </p:nvSpPr>
        <p:spPr>
          <a:xfrm>
            <a:off x="4586556" y="2829997"/>
            <a:ext cx="1396782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RenderThread (2067)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el-1782912281910-39"/>
          <p:cNvSpPr txBox="1"/>
          <p:nvPr/>
        </p:nvSpPr>
        <p:spPr>
          <a:xfrm>
            <a:off x="5969050" y="2829997"/>
            <a:ext cx="512743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77.240</a:t>
            </a:r>
            <a:endParaRPr sz="90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el-1782912281929-68"/>
          <p:cNvSpPr txBox="1"/>
          <p:nvPr/>
        </p:nvSpPr>
        <p:spPr>
          <a:xfrm>
            <a:off x="6467505" y="2829997"/>
            <a:ext cx="743129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el-1782912281929-69"/>
          <p:cNvSpPr txBox="1"/>
          <p:nvPr/>
        </p:nvSpPr>
        <p:spPr>
          <a:xfrm>
            <a:off x="7196346" y="2829997"/>
            <a:ext cx="710267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el-1782912281930-70"/>
          <p:cNvSpPr txBox="1"/>
          <p:nvPr/>
        </p:nvSpPr>
        <p:spPr>
          <a:xfrm>
            <a:off x="7892326" y="2829997"/>
            <a:ext cx="773043" cy="1485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el-1782912281890-23"/>
          <p:cNvSpPr txBox="1"/>
          <p:nvPr/>
        </p:nvSpPr>
        <p:spPr>
          <a:xfrm>
            <a:off x="4343668" y="3107174"/>
            <a:ext cx="4321701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关键线程 </a:t>
            </a:r>
            <a:r>
              <a:rPr sz="900" b="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个 · 非关键线程 </a:t>
            </a:r>
            <a:r>
              <a:rPr sz="900" b="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个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el-1782912281892-25"/>
          <p:cNvSpPr txBox="1"/>
          <p:nvPr/>
        </p:nvSpPr>
        <p:spPr>
          <a:xfrm>
            <a:off x="650081" y="3570089"/>
            <a:ext cx="3786188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关键线程 (9)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el-1782912281952-85"/>
          <p:cNvSpPr txBox="1"/>
          <p:nvPr/>
        </p:nvSpPr>
        <p:spPr>
          <a:xfrm>
            <a:off x="535781" y="3815834"/>
            <a:ext cx="790367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on-CPU 总和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el-1782912281952-86"/>
          <p:cNvSpPr txBox="1"/>
          <p:nvPr/>
        </p:nvSpPr>
        <p:spPr>
          <a:xfrm>
            <a:off x="3480882" y="3815834"/>
            <a:ext cx="944672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23,961.696 ms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el-1782912281953-87"/>
          <p:cNvSpPr txBox="1"/>
          <p:nvPr/>
        </p:nvSpPr>
        <p:spPr>
          <a:xfrm>
            <a:off x="535781" y="4062294"/>
            <a:ext cx="790367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 on-CPU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el-1782912281953-88"/>
          <p:cNvSpPr txBox="1"/>
          <p:nvPr/>
        </p:nvSpPr>
        <p:spPr>
          <a:xfrm>
            <a:off x="3555802" y="4062294"/>
            <a:ext cx="869752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2,662.411 ms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el-1782912281953-89"/>
          <p:cNvSpPr txBox="1"/>
          <p:nvPr/>
        </p:nvSpPr>
        <p:spPr>
          <a:xfrm>
            <a:off x="535781" y="4308753"/>
            <a:ext cx="789384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承担调度负载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el-1782912281954-90"/>
          <p:cNvSpPr txBox="1"/>
          <p:nvPr/>
        </p:nvSpPr>
        <p:spPr>
          <a:xfrm>
            <a:off x="3863608" y="4308753"/>
            <a:ext cx="561945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≈ 99.8%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el-1782912281930-71"/>
          <p:cNvSpPr txBox="1"/>
          <p:nvPr/>
        </p:nvSpPr>
        <p:spPr>
          <a:xfrm>
            <a:off x="535781" y="4569500"/>
            <a:ext cx="388620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RenderThread / RenderEngine / surfaceflinger 占据绝对主导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el-1782912281892-26"/>
          <p:cNvSpPr txBox="1"/>
          <p:nvPr/>
        </p:nvSpPr>
        <p:spPr>
          <a:xfrm>
            <a:off x="4893469" y="3570089"/>
            <a:ext cx="3786188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非关键线程 (8)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el-1782912281954-91"/>
          <p:cNvSpPr txBox="1"/>
          <p:nvPr/>
        </p:nvSpPr>
        <p:spPr>
          <a:xfrm>
            <a:off x="4779169" y="3815834"/>
            <a:ext cx="790367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on-CPU 总和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el-1782912281954-92"/>
          <p:cNvSpPr txBox="1"/>
          <p:nvPr/>
        </p:nvSpPr>
        <p:spPr>
          <a:xfrm>
            <a:off x="7983677" y="3815834"/>
            <a:ext cx="685264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49.602 ms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el-1782912281955-93"/>
          <p:cNvSpPr txBox="1"/>
          <p:nvPr/>
        </p:nvSpPr>
        <p:spPr>
          <a:xfrm>
            <a:off x="4779169" y="4062294"/>
            <a:ext cx="790367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 on-CPU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el-1782912281955-94"/>
          <p:cNvSpPr txBox="1"/>
          <p:nvPr/>
        </p:nvSpPr>
        <p:spPr>
          <a:xfrm>
            <a:off x="8058508" y="4062294"/>
            <a:ext cx="610433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6.200 ms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el-1782912281955-95"/>
          <p:cNvSpPr txBox="1"/>
          <p:nvPr/>
        </p:nvSpPr>
        <p:spPr>
          <a:xfrm>
            <a:off x="4779169" y="4308753"/>
            <a:ext cx="667941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占调度负载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el-1782912281955-96"/>
          <p:cNvSpPr txBox="1"/>
          <p:nvPr/>
        </p:nvSpPr>
        <p:spPr>
          <a:xfrm>
            <a:off x="8181916" y="4308753"/>
            <a:ext cx="487025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≈ 0.2%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el-1782912281930-72"/>
          <p:cNvSpPr txBox="1"/>
          <p:nvPr/>
        </p:nvSpPr>
        <p:spPr>
          <a:xfrm>
            <a:off x="4779169" y="4569500"/>
            <a:ext cx="388620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背景线程，几乎不贡献帧内调度压力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el-1782912281858-13"/>
          <p:cNvSpPr txBox="1"/>
          <p:nvPr/>
        </p:nvSpPr>
        <p:spPr>
          <a:xfrm>
            <a:off x="400050" y="4907042"/>
            <a:ext cx="53506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el-1782912281859-14"/>
          <p:cNvSpPr txBox="1"/>
          <p:nvPr/>
        </p:nvSpPr>
        <p:spPr>
          <a:xfrm>
            <a:off x="1056561" y="4907042"/>
            <a:ext cx="7911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el-1782912281859-15"/>
          <p:cNvSpPr txBox="1"/>
          <p:nvPr/>
        </p:nvSpPr>
        <p:spPr>
          <a:xfrm>
            <a:off x="1257121" y="4907042"/>
            <a:ext cx="44103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</a:t>
            </a:r>
            <a:r>
              <a:rPr lang="en-US" altLang="en-US"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altLang="en-US"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el-1782912281850-6"/>
          <p:cNvSpPr txBox="1"/>
          <p:nvPr/>
        </p:nvSpPr>
        <p:spPr>
          <a:xfrm>
            <a:off x="7308215" y="4876165"/>
            <a:ext cx="1700530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· 五大场景与实验设计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2912282184-1"/>
          <p:cNvSpPr/>
          <p:nvPr/>
        </p:nvSpPr>
        <p:spPr>
          <a:xfrm>
            <a:off x="0" y="0"/>
            <a:ext cx="9144000" cy="18224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2912282185-3"/>
          <p:cNvCxnSpPr/>
          <p:nvPr/>
        </p:nvCxnSpPr>
        <p:spPr>
          <a:xfrm>
            <a:off x="0" y="211852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2912282199-14"/>
          <p:cNvCxnSpPr/>
          <p:nvPr/>
        </p:nvCxnSpPr>
        <p:spPr>
          <a:xfrm>
            <a:off x="414338" y="310039"/>
            <a:ext cx="914" cy="137160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2912282205-18"/>
          <p:cNvSpPr/>
          <p:nvPr/>
        </p:nvSpPr>
        <p:spPr>
          <a:xfrm>
            <a:off x="400050" y="590074"/>
            <a:ext cx="2695516" cy="4040505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2912282224-27"/>
          <p:cNvCxnSpPr/>
          <p:nvPr/>
        </p:nvCxnSpPr>
        <p:spPr>
          <a:xfrm>
            <a:off x="521494" y="926544"/>
            <a:ext cx="2452628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2912282243-43"/>
          <p:cNvSpPr/>
          <p:nvPr/>
        </p:nvSpPr>
        <p:spPr>
          <a:xfrm>
            <a:off x="2471470" y="724376"/>
            <a:ext cx="502652" cy="128588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2912282222-26"/>
          <p:cNvCxnSpPr/>
          <p:nvPr/>
        </p:nvCxnSpPr>
        <p:spPr>
          <a:xfrm>
            <a:off x="521494" y="4162663"/>
            <a:ext cx="2452628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2912282206-19"/>
          <p:cNvSpPr/>
          <p:nvPr/>
        </p:nvSpPr>
        <p:spPr>
          <a:xfrm>
            <a:off x="3224153" y="590074"/>
            <a:ext cx="2695605" cy="4040505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2912282224-28"/>
          <p:cNvCxnSpPr/>
          <p:nvPr/>
        </p:nvCxnSpPr>
        <p:spPr>
          <a:xfrm>
            <a:off x="3345597" y="926544"/>
            <a:ext cx="2452717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2912282249-52"/>
          <p:cNvSpPr/>
          <p:nvPr/>
        </p:nvSpPr>
        <p:spPr>
          <a:xfrm>
            <a:off x="5066973" y="724376"/>
            <a:ext cx="731341" cy="128588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3" name="el-1782912282262-71"/>
          <p:cNvCxnSpPr/>
          <p:nvPr/>
        </p:nvCxnSpPr>
        <p:spPr>
          <a:xfrm>
            <a:off x="3345597" y="1262301"/>
            <a:ext cx="1215956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2912282262-72"/>
          <p:cNvCxnSpPr/>
          <p:nvPr/>
        </p:nvCxnSpPr>
        <p:spPr>
          <a:xfrm>
            <a:off x="4618703" y="1262301"/>
            <a:ext cx="561231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-1782912282263-73"/>
          <p:cNvCxnSpPr/>
          <p:nvPr/>
        </p:nvCxnSpPr>
        <p:spPr>
          <a:xfrm>
            <a:off x="5237083" y="1262301"/>
            <a:ext cx="561231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-1782912282221-24"/>
          <p:cNvCxnSpPr/>
          <p:nvPr/>
        </p:nvCxnSpPr>
        <p:spPr>
          <a:xfrm>
            <a:off x="3345597" y="4012644"/>
            <a:ext cx="2452717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2912282208-20"/>
          <p:cNvSpPr/>
          <p:nvPr/>
        </p:nvSpPr>
        <p:spPr>
          <a:xfrm>
            <a:off x="6048345" y="590074"/>
            <a:ext cx="2695605" cy="4040505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8" name="el-1782912282225-29"/>
          <p:cNvCxnSpPr/>
          <p:nvPr/>
        </p:nvCxnSpPr>
        <p:spPr>
          <a:xfrm>
            <a:off x="6169789" y="926544"/>
            <a:ext cx="2452717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l-1782912282256-65"/>
          <p:cNvSpPr/>
          <p:nvPr/>
        </p:nvSpPr>
        <p:spPr>
          <a:xfrm>
            <a:off x="8115479" y="724376"/>
            <a:ext cx="507028" cy="128588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0" name="el-1782912282265-74"/>
          <p:cNvCxnSpPr/>
          <p:nvPr/>
        </p:nvCxnSpPr>
        <p:spPr>
          <a:xfrm>
            <a:off x="6169789" y="1262301"/>
            <a:ext cx="1026646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-1782912282266-75"/>
          <p:cNvCxnSpPr/>
          <p:nvPr/>
        </p:nvCxnSpPr>
        <p:spPr>
          <a:xfrm>
            <a:off x="7253585" y="1262301"/>
            <a:ext cx="1368921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-1782912282222-25"/>
          <p:cNvCxnSpPr/>
          <p:nvPr/>
        </p:nvCxnSpPr>
        <p:spPr>
          <a:xfrm>
            <a:off x="6169789" y="4012644"/>
            <a:ext cx="2452717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l-1782912282184-2"/>
          <p:cNvSpPr/>
          <p:nvPr/>
        </p:nvSpPr>
        <p:spPr>
          <a:xfrm>
            <a:off x="0" y="4948079"/>
            <a:ext cx="9144000" cy="14430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4" name="el-1782912282186-4"/>
          <p:cNvCxnSpPr/>
          <p:nvPr/>
        </p:nvCxnSpPr>
        <p:spPr>
          <a:xfrm>
            <a:off x="-36195" y="4939586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l-1782912282188-5"/>
          <p:cNvSpPr txBox="1"/>
          <p:nvPr/>
        </p:nvSpPr>
        <p:spPr>
          <a:xfrm>
            <a:off x="400050" y="0"/>
            <a:ext cx="51488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en-US" sz="90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r>
              <a:rPr sz="6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9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37</a:t>
            </a:r>
            <a:endParaRPr sz="900" b="1" spc="28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2912282198-11"/>
          <p:cNvSpPr txBox="1"/>
          <p:nvPr/>
        </p:nvSpPr>
        <p:spPr>
          <a:xfrm>
            <a:off x="1043940" y="36195"/>
            <a:ext cx="1627505" cy="91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· 五大场景与实验设计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2912282199-12"/>
          <p:cNvSpPr txBox="1"/>
          <p:nvPr/>
        </p:nvSpPr>
        <p:spPr>
          <a:xfrm>
            <a:off x="2771616" y="6985"/>
            <a:ext cx="96619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D0D0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900">
              <a:solidFill>
                <a:srgbClr val="D0D0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2912282199-13"/>
          <p:cNvSpPr txBox="1"/>
          <p:nvPr/>
        </p:nvSpPr>
        <p:spPr>
          <a:xfrm>
            <a:off x="2915861" y="6985"/>
            <a:ext cx="265354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信息流滚动 — Step 2 Binder 依赖图与启发式对比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2912282197-9"/>
          <p:cNvSpPr txBox="1"/>
          <p:nvPr/>
        </p:nvSpPr>
        <p:spPr>
          <a:xfrm>
            <a:off x="528638" y="310039"/>
            <a:ext cx="81947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56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▎Step 2 分析</a:t>
            </a:r>
            <a:endParaRPr sz="900" b="1" spc="56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2912282197-10"/>
          <p:cNvSpPr txBox="1"/>
          <p:nvPr/>
        </p:nvSpPr>
        <p:spPr>
          <a:xfrm>
            <a:off x="1419552" y="267494"/>
            <a:ext cx="2695158" cy="2628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-1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Binder 依赖图 &amp; 启发式对比</a:t>
            </a:r>
            <a:endParaRPr sz="1570" b="1" spc="-1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82912282241-41"/>
          <p:cNvSpPr txBox="1"/>
          <p:nvPr/>
        </p:nvSpPr>
        <p:spPr>
          <a:xfrm>
            <a:off x="521494" y="697230"/>
            <a:ext cx="1109067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6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📊 同步采集数据</a:t>
            </a:r>
            <a:endParaRPr sz="106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82912282241-42"/>
          <p:cNvSpPr txBox="1"/>
          <p:nvPr/>
        </p:nvSpPr>
        <p:spPr>
          <a:xfrm>
            <a:off x="2557195" y="731520"/>
            <a:ext cx="459790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39.353s</a:t>
            </a:r>
            <a:endParaRPr sz="67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2912282243-44"/>
          <p:cNvSpPr txBox="1"/>
          <p:nvPr/>
        </p:nvSpPr>
        <p:spPr>
          <a:xfrm>
            <a:off x="521494" y="1058704"/>
            <a:ext cx="1572429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eBPF 原始事件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82912282232-30"/>
          <p:cNvSpPr txBox="1"/>
          <p:nvPr/>
        </p:nvSpPr>
        <p:spPr>
          <a:xfrm>
            <a:off x="2051060" y="1058704"/>
            <a:ext cx="923062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4,328,470</a:t>
            </a:r>
            <a:endParaRPr sz="90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82912282244-45"/>
          <p:cNvSpPr txBox="1"/>
          <p:nvPr/>
        </p:nvSpPr>
        <p:spPr>
          <a:xfrm>
            <a:off x="521494" y="1350169"/>
            <a:ext cx="1572429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sched_switch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l-1782912282233-31"/>
          <p:cNvSpPr txBox="1"/>
          <p:nvPr/>
        </p:nvSpPr>
        <p:spPr>
          <a:xfrm>
            <a:off x="2051060" y="1350169"/>
            <a:ext cx="923062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2,106,384</a:t>
            </a:r>
            <a:endParaRPr sz="90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el-1782912282245-46"/>
          <p:cNvSpPr txBox="1"/>
          <p:nvPr/>
        </p:nvSpPr>
        <p:spPr>
          <a:xfrm>
            <a:off x="521494" y="1641634"/>
            <a:ext cx="1572429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wakeup-to-run P95 / P99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el-1782912282234-32"/>
          <p:cNvSpPr txBox="1"/>
          <p:nvPr/>
        </p:nvSpPr>
        <p:spPr>
          <a:xfrm>
            <a:off x="2108210" y="1641634"/>
            <a:ext cx="865912" cy="2971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r">
              <a:lnSpc>
                <a:spcPts val="108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0.197 / </a:t>
            </a: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0.442</a:t>
            </a: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ms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l-1782912282246-47"/>
          <p:cNvSpPr txBox="1"/>
          <p:nvPr/>
        </p:nvSpPr>
        <p:spPr>
          <a:xfrm>
            <a:off x="521494" y="2081689"/>
            <a:ext cx="1572429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runnable delay P95 / P99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el-1782912282235-33"/>
          <p:cNvSpPr txBox="1"/>
          <p:nvPr/>
        </p:nvSpPr>
        <p:spPr>
          <a:xfrm>
            <a:off x="2108210" y="2081689"/>
            <a:ext cx="865912" cy="2971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r">
              <a:lnSpc>
                <a:spcPts val="108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0.150 / </a:t>
            </a: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0.297</a:t>
            </a: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ms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el-1782912282246-48"/>
          <p:cNvSpPr txBox="1"/>
          <p:nvPr/>
        </p:nvSpPr>
        <p:spPr>
          <a:xfrm>
            <a:off x="521494" y="2521744"/>
            <a:ext cx="1572429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 migration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el-1782912282236-34"/>
          <p:cNvSpPr txBox="1"/>
          <p:nvPr/>
        </p:nvSpPr>
        <p:spPr>
          <a:xfrm>
            <a:off x="2051060" y="2521744"/>
            <a:ext cx="923062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30,134</a:t>
            </a:r>
            <a:endParaRPr sz="90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l-1782912282247-49"/>
          <p:cNvSpPr txBox="1"/>
          <p:nvPr/>
        </p:nvSpPr>
        <p:spPr>
          <a:xfrm>
            <a:off x="521494" y="2813209"/>
            <a:ext cx="1572429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相关线程 (关键 / 非关键)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el-1782912282236-35"/>
          <p:cNvSpPr txBox="1"/>
          <p:nvPr/>
        </p:nvSpPr>
        <p:spPr>
          <a:xfrm>
            <a:off x="2051060" y="2813209"/>
            <a:ext cx="923062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53</a:t>
            </a: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(20 / 33)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el-1782912282221-23"/>
          <p:cNvSpPr txBox="1"/>
          <p:nvPr/>
        </p:nvSpPr>
        <p:spPr>
          <a:xfrm>
            <a:off x="521494" y="4223385"/>
            <a:ext cx="2452628" cy="300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75"/>
              </a:lnSpc>
            </a:pPr>
            <a:r>
              <a:rPr sz="84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合成层帧窗口：ChromeChildSurface · 刷新周期 16.667ms · 保留间隔 126 个</a:t>
            </a:r>
            <a:endParaRPr sz="84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el-1782912282248-50"/>
          <p:cNvSpPr txBox="1"/>
          <p:nvPr/>
        </p:nvSpPr>
        <p:spPr>
          <a:xfrm>
            <a:off x="3345597" y="697230"/>
            <a:ext cx="1189970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6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🔗 Binder 依赖边</a:t>
            </a:r>
            <a:endParaRPr sz="106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el-1782912282248-51"/>
          <p:cNvSpPr txBox="1"/>
          <p:nvPr/>
        </p:nvSpPr>
        <p:spPr>
          <a:xfrm>
            <a:off x="5152698" y="731520"/>
            <a:ext cx="688479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 条可观测边</a:t>
            </a:r>
            <a:endParaRPr sz="67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el-1782912282250-53"/>
          <p:cNvSpPr txBox="1"/>
          <p:nvPr/>
        </p:nvSpPr>
        <p:spPr>
          <a:xfrm>
            <a:off x="3345597" y="1058704"/>
            <a:ext cx="126953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依赖路径</a:t>
            </a:r>
            <a:endParaRPr sz="84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el-1782912282250-54"/>
          <p:cNvSpPr txBox="1"/>
          <p:nvPr/>
        </p:nvSpPr>
        <p:spPr>
          <a:xfrm>
            <a:off x="4618703" y="1058704"/>
            <a:ext cx="614809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次数</a:t>
            </a:r>
            <a:endParaRPr sz="84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el-1782912282251-55"/>
          <p:cNvSpPr txBox="1"/>
          <p:nvPr/>
        </p:nvSpPr>
        <p:spPr>
          <a:xfrm>
            <a:off x="5237083" y="1058704"/>
            <a:ext cx="614809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P95</a:t>
            </a:r>
            <a:endParaRPr sz="84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el-1782912282251-56"/>
          <p:cNvSpPr txBox="1"/>
          <p:nvPr/>
        </p:nvSpPr>
        <p:spPr>
          <a:xfrm>
            <a:off x="3345597" y="1351597"/>
            <a:ext cx="1215956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1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VizCompositorTh → surfaceflinger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el-1782912282237-36"/>
          <p:cNvSpPr txBox="1"/>
          <p:nvPr/>
        </p:nvSpPr>
        <p:spPr>
          <a:xfrm>
            <a:off x="4618703" y="1351597"/>
            <a:ext cx="614809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112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el-1782912282252-57"/>
          <p:cNvSpPr txBox="1"/>
          <p:nvPr/>
        </p:nvSpPr>
        <p:spPr>
          <a:xfrm>
            <a:off x="5237083" y="1351597"/>
            <a:ext cx="614809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el-1782912282252-58"/>
          <p:cNvSpPr txBox="1"/>
          <p:nvPr/>
        </p:nvSpPr>
        <p:spPr>
          <a:xfrm>
            <a:off x="3345597" y="1765935"/>
            <a:ext cx="1215956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1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CompositorGpuTh → surfaceflinger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el-1782912282238-37"/>
          <p:cNvSpPr txBox="1"/>
          <p:nvPr/>
        </p:nvSpPr>
        <p:spPr>
          <a:xfrm>
            <a:off x="4618703" y="1765935"/>
            <a:ext cx="614809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98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el-1782912282253-59"/>
          <p:cNvSpPr txBox="1"/>
          <p:nvPr/>
        </p:nvSpPr>
        <p:spPr>
          <a:xfrm>
            <a:off x="5237083" y="1765935"/>
            <a:ext cx="614809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el-1782912282253-60"/>
          <p:cNvSpPr txBox="1"/>
          <p:nvPr/>
        </p:nvSpPr>
        <p:spPr>
          <a:xfrm>
            <a:off x="3345597" y="2180273"/>
            <a:ext cx="126953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其他边 (30条)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el-1782912282254-61"/>
          <p:cNvSpPr txBox="1"/>
          <p:nvPr/>
        </p:nvSpPr>
        <p:spPr>
          <a:xfrm>
            <a:off x="4618703" y="2180273"/>
            <a:ext cx="614809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el-1782912282254-62"/>
          <p:cNvSpPr txBox="1"/>
          <p:nvPr/>
        </p:nvSpPr>
        <p:spPr>
          <a:xfrm>
            <a:off x="5237083" y="2180273"/>
            <a:ext cx="614809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el-1782912282217-21"/>
          <p:cNvSpPr txBox="1"/>
          <p:nvPr/>
        </p:nvSpPr>
        <p:spPr>
          <a:xfrm>
            <a:off x="3345597" y="4073366"/>
            <a:ext cx="2452717" cy="4500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75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滚动合成依赖路径</a:t>
            </a:r>
            <a:r>
              <a:rPr sz="84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：VizCompositorTh / CompositorGpuTh → surfaceflinger → display composition</a:t>
            </a:r>
            <a:endParaRPr sz="84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el-1782912282254-63"/>
          <p:cNvSpPr txBox="1"/>
          <p:nvPr/>
        </p:nvSpPr>
        <p:spPr>
          <a:xfrm>
            <a:off x="6169789" y="697230"/>
            <a:ext cx="973336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6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⚖️ 启发式对比</a:t>
            </a:r>
            <a:endParaRPr sz="106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el-1782912282254-64"/>
          <p:cNvSpPr txBox="1"/>
          <p:nvPr/>
        </p:nvSpPr>
        <p:spPr>
          <a:xfrm>
            <a:off x="8201204" y="731520"/>
            <a:ext cx="464165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种策略</a:t>
            </a:r>
            <a:endParaRPr sz="67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el-1782912282256-66"/>
          <p:cNvSpPr txBox="1"/>
          <p:nvPr/>
        </p:nvSpPr>
        <p:spPr>
          <a:xfrm>
            <a:off x="6169789" y="1058704"/>
            <a:ext cx="108022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</a:t>
            </a:r>
            <a:endParaRPr sz="84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el-1782912282257-67"/>
          <p:cNvSpPr txBox="1"/>
          <p:nvPr/>
        </p:nvSpPr>
        <p:spPr>
          <a:xfrm>
            <a:off x="7253585" y="1058704"/>
            <a:ext cx="1422499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选出的线程</a:t>
            </a:r>
            <a:endParaRPr sz="84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el-1782912282257-68"/>
          <p:cNvSpPr txBox="1"/>
          <p:nvPr/>
        </p:nvSpPr>
        <p:spPr>
          <a:xfrm>
            <a:off x="6169789" y="1365885"/>
            <a:ext cx="108379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 only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el-1782912282239-38"/>
          <p:cNvSpPr txBox="1"/>
          <p:nvPr/>
        </p:nvSpPr>
        <p:spPr>
          <a:xfrm>
            <a:off x="7253585" y="1365885"/>
            <a:ext cx="1368921" cy="8915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8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CompositorGpuTh / Compositor / VizCompositorTh / .android.chrome / CrRendererMain </a:t>
            </a: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 个 pipeline 角色)</a:t>
            </a:r>
            <a:endParaRPr sz="90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el-1782912282257-69"/>
          <p:cNvSpPr txBox="1"/>
          <p:nvPr/>
        </p:nvSpPr>
        <p:spPr>
          <a:xfrm>
            <a:off x="6169789" y="2400300"/>
            <a:ext cx="108379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Latency only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el-1782912282240-39"/>
          <p:cNvSpPr txBox="1"/>
          <p:nvPr/>
        </p:nvSpPr>
        <p:spPr>
          <a:xfrm>
            <a:off x="7253585" y="2400300"/>
            <a:ext cx="1368921" cy="4457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8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CronetInit / VizWebView / Chrome_ProcessL 等 </a:t>
            </a:r>
            <a:r>
              <a:rPr sz="900">
                <a:solidFill>
                  <a:srgbClr val="A0A0B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(0 个 pipeline 角色)</a:t>
            </a:r>
            <a:endParaRPr sz="900">
              <a:solidFill>
                <a:srgbClr val="A0A0B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el-1782912282258-70"/>
          <p:cNvSpPr txBox="1"/>
          <p:nvPr/>
        </p:nvSpPr>
        <p:spPr>
          <a:xfrm>
            <a:off x="6169789" y="2988945"/>
            <a:ext cx="1026646" cy="2971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8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Pipeline CriticalScore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el-1782912282241-40"/>
          <p:cNvSpPr txBox="1"/>
          <p:nvPr/>
        </p:nvSpPr>
        <p:spPr>
          <a:xfrm>
            <a:off x="7253585" y="2988945"/>
            <a:ext cx="1368921" cy="8915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8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CrRendererMain / .android.chrome / Compositor / VizCompositorTh / CompositorGpuTh </a:t>
            </a: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 个 pipeline 角色)</a:t>
            </a:r>
            <a:endParaRPr sz="90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el-1782912282220-22"/>
          <p:cNvSpPr txBox="1"/>
          <p:nvPr/>
        </p:nvSpPr>
        <p:spPr>
          <a:xfrm>
            <a:off x="6169789" y="4073366"/>
            <a:ext cx="2452717" cy="4500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75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 only</a:t>
            </a:r>
            <a:r>
              <a:rPr sz="84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与 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Pipeline CriticalScore</a:t>
            </a:r>
            <a:r>
              <a:rPr sz="84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均选出 5 个渲染管线角色；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Latency only</a:t>
            </a:r>
            <a:r>
              <a:rPr sz="84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选出 0 个 pipeline 角色，效果最差。</a:t>
            </a:r>
            <a:endParaRPr sz="84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el-1782912282200-15"/>
          <p:cNvSpPr txBox="1"/>
          <p:nvPr/>
        </p:nvSpPr>
        <p:spPr>
          <a:xfrm>
            <a:off x="251460" y="4947603"/>
            <a:ext cx="53506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el-1782912282200-16"/>
          <p:cNvSpPr txBox="1"/>
          <p:nvPr/>
        </p:nvSpPr>
        <p:spPr>
          <a:xfrm>
            <a:off x="786765" y="4940300"/>
            <a:ext cx="96520" cy="1447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el-1782912282201-17"/>
          <p:cNvSpPr txBox="1"/>
          <p:nvPr/>
        </p:nvSpPr>
        <p:spPr>
          <a:xfrm>
            <a:off x="906601" y="4939983"/>
            <a:ext cx="44103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</a:t>
            </a:r>
            <a:r>
              <a:rPr lang="en-US" altLang="en-US"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altLang="en-US"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el-1782912282189-6"/>
          <p:cNvSpPr txBox="1"/>
          <p:nvPr/>
        </p:nvSpPr>
        <p:spPr>
          <a:xfrm>
            <a:off x="7452360" y="4947920"/>
            <a:ext cx="152400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· 五大场景与实验设计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2912282750-1"/>
          <p:cNvSpPr/>
          <p:nvPr/>
        </p:nvSpPr>
        <p:spPr>
          <a:xfrm>
            <a:off x="0" y="0"/>
            <a:ext cx="9144000" cy="5143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2912282751-3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2912282767-14"/>
          <p:cNvCxnSpPr/>
          <p:nvPr/>
        </p:nvCxnSpPr>
        <p:spPr>
          <a:xfrm>
            <a:off x="414338" y="628650"/>
            <a:ext cx="914" cy="137160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2912282765-10"/>
          <p:cNvSpPr/>
          <p:nvPr/>
        </p:nvSpPr>
        <p:spPr>
          <a:xfrm>
            <a:off x="7436734" y="612934"/>
            <a:ext cx="1307217" cy="180023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2912282775-18"/>
          <p:cNvSpPr/>
          <p:nvPr/>
        </p:nvSpPr>
        <p:spPr>
          <a:xfrm>
            <a:off x="400050" y="1285161"/>
            <a:ext cx="3898434" cy="1707356"/>
          </a:xfrm>
          <a:prstGeom prst="roundRect">
            <a:avLst>
              <a:gd name="adj" fmla="val 4463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2912282798-29"/>
          <p:cNvCxnSpPr/>
          <p:nvPr/>
        </p:nvCxnSpPr>
        <p:spPr>
          <a:xfrm>
            <a:off x="550069" y="1392317"/>
            <a:ext cx="914" cy="194310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2912282815-42"/>
          <p:cNvSpPr/>
          <p:nvPr/>
        </p:nvSpPr>
        <p:spPr>
          <a:xfrm>
            <a:off x="3341221" y="1429464"/>
            <a:ext cx="821531" cy="120015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2912282867-97"/>
          <p:cNvCxnSpPr/>
          <p:nvPr/>
        </p:nvCxnSpPr>
        <p:spPr>
          <a:xfrm>
            <a:off x="535781" y="1818799"/>
            <a:ext cx="870466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-1782912282868-98"/>
          <p:cNvCxnSpPr/>
          <p:nvPr/>
        </p:nvCxnSpPr>
        <p:spPr>
          <a:xfrm>
            <a:off x="1463397" y="1818799"/>
            <a:ext cx="1046202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2912282869-99"/>
          <p:cNvCxnSpPr/>
          <p:nvPr/>
        </p:nvCxnSpPr>
        <p:spPr>
          <a:xfrm>
            <a:off x="2566750" y="1818799"/>
            <a:ext cx="1596003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2912282777-19"/>
          <p:cNvSpPr/>
          <p:nvPr/>
        </p:nvSpPr>
        <p:spPr>
          <a:xfrm>
            <a:off x="400050" y="3092529"/>
            <a:ext cx="3898434" cy="1337310"/>
          </a:xfrm>
          <a:prstGeom prst="roundRect">
            <a:avLst>
              <a:gd name="adj" fmla="val 5698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2912282799-30"/>
          <p:cNvCxnSpPr/>
          <p:nvPr/>
        </p:nvCxnSpPr>
        <p:spPr>
          <a:xfrm>
            <a:off x="550069" y="3199686"/>
            <a:ext cx="914" cy="194310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2912282823-57"/>
          <p:cNvSpPr/>
          <p:nvPr/>
        </p:nvSpPr>
        <p:spPr>
          <a:xfrm>
            <a:off x="3617506" y="3236833"/>
            <a:ext cx="545247" cy="120015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2912282779-20"/>
          <p:cNvSpPr/>
          <p:nvPr/>
        </p:nvSpPr>
        <p:spPr>
          <a:xfrm>
            <a:off x="4455646" y="1273731"/>
            <a:ext cx="4288304" cy="1655921"/>
          </a:xfrm>
          <a:prstGeom prst="roundRect">
            <a:avLst>
              <a:gd name="adj" fmla="val 4602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2912282799-31"/>
          <p:cNvCxnSpPr/>
          <p:nvPr/>
        </p:nvCxnSpPr>
        <p:spPr>
          <a:xfrm>
            <a:off x="4605665" y="1380887"/>
            <a:ext cx="914" cy="194310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2912282828-63"/>
          <p:cNvSpPr/>
          <p:nvPr/>
        </p:nvSpPr>
        <p:spPr>
          <a:xfrm>
            <a:off x="7972425" y="1418034"/>
            <a:ext cx="635794" cy="120015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2912282831-65"/>
          <p:cNvSpPr/>
          <p:nvPr/>
        </p:nvSpPr>
        <p:spPr>
          <a:xfrm>
            <a:off x="4591378" y="1889522"/>
            <a:ext cx="486847" cy="180023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 w="7144" algn="in">
            <a:solidFill>
              <a:srgbClr val="D4A017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el-1782912282833-67"/>
          <p:cNvSpPr/>
          <p:nvPr/>
        </p:nvSpPr>
        <p:spPr>
          <a:xfrm>
            <a:off x="5135374" y="1889522"/>
            <a:ext cx="515600" cy="180023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 w="7144" algn="in">
            <a:solidFill>
              <a:srgbClr val="D4A017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el-1782912282835-69"/>
          <p:cNvSpPr/>
          <p:nvPr/>
        </p:nvSpPr>
        <p:spPr>
          <a:xfrm>
            <a:off x="5708124" y="1889522"/>
            <a:ext cx="464076" cy="180023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 w="7144" algn="in">
            <a:solidFill>
              <a:srgbClr val="D4A017"/>
            </a:solidFill>
            <a:prstDash val="solid"/>
          </a:ln>
        </p:spPr>
        <p:txBody>
          <a:bodyPr/>
          <a:lstStyle/>
          <a:p/>
        </p:txBody>
      </p:sp>
      <p:sp>
        <p:nvSpPr>
          <p:cNvPr id="21" name="el-1782912282838-71"/>
          <p:cNvSpPr/>
          <p:nvPr/>
        </p:nvSpPr>
        <p:spPr>
          <a:xfrm>
            <a:off x="6229350" y="1889522"/>
            <a:ext cx="360938" cy="18002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22" name="el-1782912282840-73"/>
          <p:cNvSpPr/>
          <p:nvPr/>
        </p:nvSpPr>
        <p:spPr>
          <a:xfrm>
            <a:off x="6647438" y="1889522"/>
            <a:ext cx="554176" cy="18002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el-1782912282842-75"/>
          <p:cNvSpPr/>
          <p:nvPr/>
        </p:nvSpPr>
        <p:spPr>
          <a:xfrm>
            <a:off x="7258765" y="1889522"/>
            <a:ext cx="1170503" cy="18002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el-1782912282845-77"/>
          <p:cNvSpPr/>
          <p:nvPr/>
        </p:nvSpPr>
        <p:spPr>
          <a:xfrm>
            <a:off x="4591378" y="2426732"/>
            <a:ext cx="531763" cy="180023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 w="7144" algn="in">
            <a:solidFill>
              <a:srgbClr val="D4A017"/>
            </a:solidFill>
            <a:prstDash val="solid"/>
          </a:ln>
        </p:spPr>
        <p:txBody>
          <a:bodyPr/>
          <a:lstStyle/>
          <a:p/>
        </p:txBody>
      </p:sp>
      <p:sp>
        <p:nvSpPr>
          <p:cNvPr id="25" name="el-1782912282847-79"/>
          <p:cNvSpPr/>
          <p:nvPr/>
        </p:nvSpPr>
        <p:spPr>
          <a:xfrm>
            <a:off x="5180290" y="2426732"/>
            <a:ext cx="578733" cy="180023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 w="7144" algn="in">
            <a:solidFill>
              <a:srgbClr val="D4A017"/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el-1782912282850-81"/>
          <p:cNvSpPr/>
          <p:nvPr/>
        </p:nvSpPr>
        <p:spPr>
          <a:xfrm>
            <a:off x="5816174" y="2426732"/>
            <a:ext cx="510957" cy="180023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 w="7144" algn="in">
            <a:solidFill>
              <a:srgbClr val="D4A017"/>
            </a:solidFill>
            <a:prstDash val="solid"/>
          </a:ln>
        </p:spPr>
        <p:txBody>
          <a:bodyPr/>
          <a:lstStyle/>
          <a:p/>
        </p:txBody>
      </p:sp>
      <p:sp>
        <p:nvSpPr>
          <p:cNvPr id="27" name="el-1782912282853-83"/>
          <p:cNvSpPr/>
          <p:nvPr/>
        </p:nvSpPr>
        <p:spPr>
          <a:xfrm>
            <a:off x="6384280" y="2426732"/>
            <a:ext cx="388531" cy="18002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28" name="el-1782912282855-85"/>
          <p:cNvSpPr/>
          <p:nvPr/>
        </p:nvSpPr>
        <p:spPr>
          <a:xfrm>
            <a:off x="6829961" y="2426732"/>
            <a:ext cx="660172" cy="18002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29" name="el-1782912282858-87"/>
          <p:cNvSpPr/>
          <p:nvPr/>
        </p:nvSpPr>
        <p:spPr>
          <a:xfrm>
            <a:off x="7547283" y="2426732"/>
            <a:ext cx="396032" cy="18002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30" name="el-1782912282860-89"/>
          <p:cNvSpPr/>
          <p:nvPr/>
        </p:nvSpPr>
        <p:spPr>
          <a:xfrm>
            <a:off x="8000465" y="2426732"/>
            <a:ext cx="583823" cy="18002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31" name="el-1782912282863-91"/>
          <p:cNvSpPr/>
          <p:nvPr/>
        </p:nvSpPr>
        <p:spPr>
          <a:xfrm>
            <a:off x="4591378" y="2642473"/>
            <a:ext cx="360938" cy="18002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32" name="el-1782912282865-93"/>
          <p:cNvSpPr/>
          <p:nvPr/>
        </p:nvSpPr>
        <p:spPr>
          <a:xfrm>
            <a:off x="5009465" y="2642473"/>
            <a:ext cx="436215" cy="18002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33" name="el-1782912282780-21"/>
          <p:cNvSpPr/>
          <p:nvPr/>
        </p:nvSpPr>
        <p:spPr>
          <a:xfrm>
            <a:off x="4455646" y="3029664"/>
            <a:ext cx="4288304" cy="141160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8667" y="0"/>
                </a:lnTo>
                <a:lnTo>
                  <a:pt x="98798" y="20"/>
                </a:lnTo>
                <a:lnTo>
                  <a:pt x="98927" y="81"/>
                </a:lnTo>
                <a:lnTo>
                  <a:pt x="99053" y="176"/>
                </a:lnTo>
                <a:lnTo>
                  <a:pt x="99178" y="311"/>
                </a:lnTo>
                <a:lnTo>
                  <a:pt x="99296" y="480"/>
                </a:lnTo>
                <a:lnTo>
                  <a:pt x="99407" y="682"/>
                </a:lnTo>
                <a:lnTo>
                  <a:pt x="99513" y="919"/>
                </a:lnTo>
                <a:lnTo>
                  <a:pt x="99609" y="1189"/>
                </a:lnTo>
                <a:lnTo>
                  <a:pt x="99698" y="1480"/>
                </a:lnTo>
                <a:lnTo>
                  <a:pt x="99776" y="1804"/>
                </a:lnTo>
                <a:lnTo>
                  <a:pt x="99842" y="2142"/>
                </a:lnTo>
                <a:lnTo>
                  <a:pt x="99898" y="2500"/>
                </a:lnTo>
                <a:lnTo>
                  <a:pt x="99942" y="2878"/>
                </a:lnTo>
                <a:lnTo>
                  <a:pt x="99973" y="3264"/>
                </a:lnTo>
                <a:lnTo>
                  <a:pt x="99993" y="3655"/>
                </a:lnTo>
                <a:lnTo>
                  <a:pt x="100000" y="4054"/>
                </a:lnTo>
                <a:lnTo>
                  <a:pt x="100000" y="95946"/>
                </a:lnTo>
                <a:lnTo>
                  <a:pt x="99993" y="96345"/>
                </a:lnTo>
                <a:lnTo>
                  <a:pt x="99973" y="96736"/>
                </a:lnTo>
                <a:lnTo>
                  <a:pt x="99942" y="97122"/>
                </a:lnTo>
                <a:lnTo>
                  <a:pt x="99898" y="97500"/>
                </a:lnTo>
                <a:lnTo>
                  <a:pt x="99842" y="97858"/>
                </a:lnTo>
                <a:lnTo>
                  <a:pt x="99776" y="98196"/>
                </a:lnTo>
                <a:lnTo>
                  <a:pt x="99698" y="98520"/>
                </a:lnTo>
                <a:lnTo>
                  <a:pt x="99609" y="98811"/>
                </a:lnTo>
                <a:lnTo>
                  <a:pt x="99513" y="99081"/>
                </a:lnTo>
                <a:lnTo>
                  <a:pt x="99407" y="99318"/>
                </a:lnTo>
                <a:lnTo>
                  <a:pt x="99296" y="99520"/>
                </a:lnTo>
                <a:lnTo>
                  <a:pt x="99178" y="99689"/>
                </a:lnTo>
                <a:lnTo>
                  <a:pt x="99053" y="99824"/>
                </a:lnTo>
                <a:lnTo>
                  <a:pt x="98927" y="99919"/>
                </a:lnTo>
                <a:lnTo>
                  <a:pt x="98798" y="99980"/>
                </a:lnTo>
                <a:lnTo>
                  <a:pt x="98667" y="100000"/>
                </a:lnTo>
                <a:lnTo>
                  <a:pt x="0" y="100000"/>
                </a:lnTo>
                <a:lnTo>
                  <a:pt x="0" y="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el-1782912282783-22"/>
          <p:cNvSpPr/>
          <p:nvPr/>
        </p:nvSpPr>
        <p:spPr>
          <a:xfrm>
            <a:off x="4455646" y="3029664"/>
            <a:ext cx="4288304" cy="141160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0" y="0"/>
                </a:lnTo>
              </a:path>
            </a:pathLst>
          </a:custGeom>
          <a:noFill/>
          <a:ln w="35719" algn="in">
            <a:solidFill>
              <a:srgbClr val="D4A017"/>
            </a:solidFill>
            <a:prstDash val="solid"/>
          </a:ln>
        </p:spPr>
        <p:txBody>
          <a:bodyPr/>
          <a:lstStyle/>
          <a:p/>
        </p:txBody>
      </p:sp>
      <p:sp>
        <p:nvSpPr>
          <p:cNvPr id="35" name="el-1782912282750-2"/>
          <p:cNvSpPr/>
          <p:nvPr/>
        </p:nvSpPr>
        <p:spPr>
          <a:xfrm>
            <a:off x="0" y="4800600"/>
            <a:ext cx="9144000" cy="3429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6" name="el-1782912282752-4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el-1782912282755-5"/>
          <p:cNvSpPr txBox="1"/>
          <p:nvPr/>
        </p:nvSpPr>
        <p:spPr>
          <a:xfrm>
            <a:off x="400050" y="179308"/>
            <a:ext cx="51488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sz="6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9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37</a:t>
            </a:r>
            <a:endParaRPr sz="900" b="1" spc="28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el-1782912282765-11"/>
          <p:cNvSpPr txBox="1"/>
          <p:nvPr/>
        </p:nvSpPr>
        <p:spPr>
          <a:xfrm>
            <a:off x="1086485" y="161925"/>
            <a:ext cx="1946275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· 五大场景与实验设计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el-1782912282766-12"/>
          <p:cNvSpPr txBox="1"/>
          <p:nvPr/>
        </p:nvSpPr>
        <p:spPr>
          <a:xfrm>
            <a:off x="2771616" y="162163"/>
            <a:ext cx="96619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D0D0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900">
              <a:solidFill>
                <a:srgbClr val="D0D0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l-1782912282766-13"/>
          <p:cNvSpPr txBox="1"/>
          <p:nvPr/>
        </p:nvSpPr>
        <p:spPr>
          <a:xfrm>
            <a:off x="3063181" y="162163"/>
            <a:ext cx="1946315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相机场景 — 13 探针全自动 Pipeline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el-1782912282762-7"/>
          <p:cNvSpPr txBox="1"/>
          <p:nvPr/>
        </p:nvSpPr>
        <p:spPr>
          <a:xfrm>
            <a:off x="535732" y="555625"/>
            <a:ext cx="359786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80" b="1" spc="-17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相机场景 — </a:t>
            </a:r>
            <a:r>
              <a:rPr sz="1680" b="1" spc="-17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探针全自动 Pipeline</a:t>
            </a:r>
            <a:endParaRPr sz="1680" b="1" spc="-17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el-1782912282763-9"/>
          <p:cNvSpPr txBox="1"/>
          <p:nvPr/>
        </p:nvSpPr>
        <p:spPr>
          <a:xfrm>
            <a:off x="7565321" y="634365"/>
            <a:ext cx="1228636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 Camera · 30s</a:t>
            </a:r>
            <a:endParaRPr sz="78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l-1782912282801-32"/>
          <p:cNvSpPr txBox="1"/>
          <p:nvPr/>
        </p:nvSpPr>
        <p:spPr>
          <a:xfrm>
            <a:off x="635794" y="1398032"/>
            <a:ext cx="1469559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📷 Camera 模块特点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el-1782912282813-41"/>
          <p:cNvSpPr txBox="1"/>
          <p:nvPr/>
        </p:nvSpPr>
        <p:spPr>
          <a:xfrm>
            <a:off x="3426946" y="1429464"/>
            <a:ext cx="782241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最精细延迟归因</a:t>
            </a:r>
            <a:endParaRPr sz="73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el-1782912282815-43"/>
          <p:cNvSpPr txBox="1"/>
          <p:nvPr/>
        </p:nvSpPr>
        <p:spPr>
          <a:xfrm>
            <a:off x="535781" y="1643777"/>
            <a:ext cx="92404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特性</a:t>
            </a:r>
            <a:endParaRPr sz="84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el-1782912282816-44"/>
          <p:cNvSpPr txBox="1"/>
          <p:nvPr/>
        </p:nvSpPr>
        <p:spPr>
          <a:xfrm>
            <a:off x="1463397" y="1643777"/>
            <a:ext cx="109978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</a:t>
            </a:r>
            <a:endParaRPr sz="84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el-1782912282816-45"/>
          <p:cNvSpPr txBox="1"/>
          <p:nvPr/>
        </p:nvSpPr>
        <p:spPr>
          <a:xfrm>
            <a:off x="2566750" y="1643777"/>
            <a:ext cx="164958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endParaRPr sz="84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el-1782912282816-46"/>
          <p:cNvSpPr txBox="1"/>
          <p:nvPr/>
        </p:nvSpPr>
        <p:spPr>
          <a:xfrm>
            <a:off x="535781" y="1850946"/>
            <a:ext cx="92761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探针总数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el-1782912282808-35"/>
          <p:cNvSpPr txBox="1"/>
          <p:nvPr/>
        </p:nvSpPr>
        <p:spPr>
          <a:xfrm>
            <a:off x="1463397" y="1850946"/>
            <a:ext cx="1103352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90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el-1782912282817-47"/>
          <p:cNvSpPr txBox="1"/>
          <p:nvPr/>
        </p:nvSpPr>
        <p:spPr>
          <a:xfrm>
            <a:off x="2566750" y="1850946"/>
            <a:ext cx="1653153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比基础版多 7 个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el-1782912282818-48"/>
          <p:cNvSpPr txBox="1"/>
          <p:nvPr/>
        </p:nvSpPr>
        <p:spPr>
          <a:xfrm>
            <a:off x="535781" y="2042398"/>
            <a:ext cx="92761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Ringbuf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el-1782912282809-36"/>
          <p:cNvSpPr txBox="1"/>
          <p:nvPr/>
        </p:nvSpPr>
        <p:spPr>
          <a:xfrm>
            <a:off x="1463397" y="2042398"/>
            <a:ext cx="1103352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 MB</a:t>
            </a:r>
            <a:endParaRPr sz="90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el-1782912282818-49"/>
          <p:cNvSpPr txBox="1"/>
          <p:nvPr/>
        </p:nvSpPr>
        <p:spPr>
          <a:xfrm>
            <a:off x="2566750" y="2042398"/>
            <a:ext cx="1653153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容纳高频事件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el-1782912282819-50"/>
          <p:cNvSpPr txBox="1"/>
          <p:nvPr/>
        </p:nvSpPr>
        <p:spPr>
          <a:xfrm>
            <a:off x="535781" y="2233851"/>
            <a:ext cx="92761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覆盖范围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el-1782912282819-51"/>
          <p:cNvSpPr txBox="1"/>
          <p:nvPr/>
        </p:nvSpPr>
        <p:spPr>
          <a:xfrm>
            <a:off x="1463397" y="2233851"/>
            <a:ext cx="1103352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sched/binder/futex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el-1782912282819-52"/>
          <p:cNvSpPr txBox="1"/>
          <p:nvPr/>
        </p:nvSpPr>
        <p:spPr>
          <a:xfrm>
            <a:off x="2512695" y="2233930"/>
            <a:ext cx="164973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8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+cpu/thermal/irq/softirq/mem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el-1782912282820-53"/>
          <p:cNvSpPr txBox="1"/>
          <p:nvPr/>
        </p:nvSpPr>
        <p:spPr>
          <a:xfrm>
            <a:off x="535781" y="2573893"/>
            <a:ext cx="92761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内核内延迟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el-1782912282820-54"/>
          <p:cNvSpPr txBox="1"/>
          <p:nvPr/>
        </p:nvSpPr>
        <p:spPr>
          <a:xfrm>
            <a:off x="1282065" y="2573655"/>
            <a:ext cx="122809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8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wakeup→switch 配对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el-1782912282821-55"/>
          <p:cNvSpPr txBox="1"/>
          <p:nvPr/>
        </p:nvSpPr>
        <p:spPr>
          <a:xfrm>
            <a:off x="2566750" y="2573893"/>
            <a:ext cx="1653153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BPF 内完成，事件量减半</a:t>
            </a:r>
            <a:endParaRPr sz="9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el-1782912282802-33"/>
          <p:cNvSpPr txBox="1"/>
          <p:nvPr/>
        </p:nvSpPr>
        <p:spPr>
          <a:xfrm>
            <a:off x="635794" y="3205401"/>
            <a:ext cx="881717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📊 实测结果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el-1782912282821-56"/>
          <p:cNvSpPr txBox="1"/>
          <p:nvPr/>
        </p:nvSpPr>
        <p:spPr>
          <a:xfrm>
            <a:off x="3703231" y="3236833"/>
            <a:ext cx="505956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30s 采集</a:t>
            </a:r>
            <a:endParaRPr sz="73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el-1782912282823-58"/>
          <p:cNvSpPr txBox="1"/>
          <p:nvPr/>
        </p:nvSpPr>
        <p:spPr>
          <a:xfrm>
            <a:off x="535781" y="3451146"/>
            <a:ext cx="206677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eBPF 事件量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el-1782912282810-37"/>
          <p:cNvSpPr txBox="1"/>
          <p:nvPr/>
        </p:nvSpPr>
        <p:spPr>
          <a:xfrm>
            <a:off x="2559695" y="3451146"/>
            <a:ext cx="1603058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~470 万</a:t>
            </a:r>
            <a:endParaRPr sz="90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el-1782912282824-59"/>
          <p:cNvSpPr txBox="1"/>
          <p:nvPr/>
        </p:nvSpPr>
        <p:spPr>
          <a:xfrm>
            <a:off x="535781" y="3614023"/>
            <a:ext cx="206677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Jank 帧数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el-1782912282810-38"/>
          <p:cNvSpPr txBox="1"/>
          <p:nvPr/>
        </p:nvSpPr>
        <p:spPr>
          <a:xfrm>
            <a:off x="2559695" y="3614023"/>
            <a:ext cx="1603058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90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el-1782912282825-60"/>
          <p:cNvSpPr txBox="1"/>
          <p:nvPr/>
        </p:nvSpPr>
        <p:spPr>
          <a:xfrm>
            <a:off x="535781" y="3776901"/>
            <a:ext cx="206677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线程评分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el-1782912282811-39"/>
          <p:cNvSpPr txBox="1"/>
          <p:nvPr/>
        </p:nvSpPr>
        <p:spPr>
          <a:xfrm>
            <a:off x="2559695" y="3776901"/>
            <a:ext cx="1603058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631</a:t>
            </a:r>
            <a:endParaRPr sz="90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el-1782912282825-61"/>
          <p:cNvSpPr txBox="1"/>
          <p:nvPr/>
        </p:nvSpPr>
        <p:spPr>
          <a:xfrm>
            <a:off x="535781" y="3939778"/>
            <a:ext cx="206677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根因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el-1782912282812-40"/>
          <p:cNvSpPr txBox="1"/>
          <p:nvPr/>
        </p:nvSpPr>
        <p:spPr>
          <a:xfrm>
            <a:off x="2559695" y="3939778"/>
            <a:ext cx="1603058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100% CPU Scheduling</a:t>
            </a:r>
            <a:endParaRPr sz="90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el-1782912282793-25"/>
          <p:cNvSpPr txBox="1"/>
          <p:nvPr/>
        </p:nvSpPr>
        <p:spPr>
          <a:xfrm>
            <a:off x="535781" y="4174093"/>
            <a:ext cx="3684121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IRQ 仅 2-5% · Binder 0ns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el-1782912282803-34"/>
          <p:cNvSpPr txBox="1"/>
          <p:nvPr/>
        </p:nvSpPr>
        <p:spPr>
          <a:xfrm>
            <a:off x="4691390" y="1386602"/>
            <a:ext cx="1588859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🧠 根因归因 · 9 维分类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el-1782912282826-62"/>
          <p:cNvSpPr txBox="1"/>
          <p:nvPr/>
        </p:nvSpPr>
        <p:spPr>
          <a:xfrm>
            <a:off x="8058150" y="1418034"/>
            <a:ext cx="596503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多信号融合</a:t>
            </a:r>
            <a:endParaRPr sz="73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el-1782912282794-26"/>
          <p:cNvSpPr txBox="1"/>
          <p:nvPr/>
        </p:nvSpPr>
        <p:spPr>
          <a:xfrm>
            <a:off x="4591378" y="1632347"/>
            <a:ext cx="4081135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信号根因归因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el-1782912282828-64"/>
          <p:cNvSpPr txBox="1"/>
          <p:nvPr/>
        </p:nvSpPr>
        <p:spPr>
          <a:xfrm>
            <a:off x="4684246" y="1910953"/>
            <a:ext cx="443984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Sched</a:t>
            </a:r>
            <a:endParaRPr sz="78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el-1782912282831-66"/>
          <p:cNvSpPr txBox="1"/>
          <p:nvPr/>
        </p:nvSpPr>
        <p:spPr>
          <a:xfrm>
            <a:off x="5228243" y="1910953"/>
            <a:ext cx="472738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Binder</a:t>
            </a:r>
            <a:endParaRPr sz="78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el-1782912282833-68"/>
          <p:cNvSpPr txBox="1"/>
          <p:nvPr/>
        </p:nvSpPr>
        <p:spPr>
          <a:xfrm>
            <a:off x="5800993" y="1910953"/>
            <a:ext cx="42121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Futex</a:t>
            </a:r>
            <a:endParaRPr sz="78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el-1782912282836-70"/>
          <p:cNvSpPr txBox="1"/>
          <p:nvPr/>
        </p:nvSpPr>
        <p:spPr>
          <a:xfrm>
            <a:off x="6322219" y="1910953"/>
            <a:ext cx="318075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IRQ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el-1782912282838-72"/>
          <p:cNvSpPr txBox="1"/>
          <p:nvPr/>
        </p:nvSpPr>
        <p:spPr>
          <a:xfrm>
            <a:off x="6740307" y="1910953"/>
            <a:ext cx="511314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SoftIRQ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el-1782912282840-74"/>
          <p:cNvSpPr txBox="1"/>
          <p:nvPr/>
        </p:nvSpPr>
        <p:spPr>
          <a:xfrm>
            <a:off x="7351633" y="1910953"/>
            <a:ext cx="1127641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 (CPU/温度/内存)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el-1782912282794-27"/>
          <p:cNvSpPr txBox="1"/>
          <p:nvPr/>
        </p:nvSpPr>
        <p:spPr>
          <a:xfrm>
            <a:off x="4591378" y="2169557"/>
            <a:ext cx="4081135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维卡顿分类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el-1782912282843-76"/>
          <p:cNvSpPr txBox="1"/>
          <p:nvPr/>
        </p:nvSpPr>
        <p:spPr>
          <a:xfrm>
            <a:off x="4684246" y="2448163"/>
            <a:ext cx="488900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SCHED</a:t>
            </a:r>
            <a:endParaRPr sz="78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el-1782912282845-78"/>
          <p:cNvSpPr txBox="1"/>
          <p:nvPr/>
        </p:nvSpPr>
        <p:spPr>
          <a:xfrm>
            <a:off x="5273159" y="2448163"/>
            <a:ext cx="535871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BINDER</a:t>
            </a:r>
            <a:endParaRPr sz="78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el-1782912282848-80"/>
          <p:cNvSpPr txBox="1"/>
          <p:nvPr/>
        </p:nvSpPr>
        <p:spPr>
          <a:xfrm>
            <a:off x="5909042" y="2448163"/>
            <a:ext cx="468094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FUTEX</a:t>
            </a:r>
            <a:endParaRPr sz="78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el-1782912282850-82"/>
          <p:cNvSpPr txBox="1"/>
          <p:nvPr/>
        </p:nvSpPr>
        <p:spPr>
          <a:xfrm>
            <a:off x="6477149" y="2448163"/>
            <a:ext cx="345668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el-1782912282853-84"/>
          <p:cNvSpPr txBox="1"/>
          <p:nvPr/>
        </p:nvSpPr>
        <p:spPr>
          <a:xfrm>
            <a:off x="6922830" y="2448163"/>
            <a:ext cx="617309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THERMAL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el-1782912282856-86"/>
          <p:cNvSpPr txBox="1"/>
          <p:nvPr/>
        </p:nvSpPr>
        <p:spPr>
          <a:xfrm>
            <a:off x="7640152" y="2448163"/>
            <a:ext cx="353169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el-1782912282858-88"/>
          <p:cNvSpPr txBox="1"/>
          <p:nvPr/>
        </p:nvSpPr>
        <p:spPr>
          <a:xfrm>
            <a:off x="8093333" y="2448163"/>
            <a:ext cx="540960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RENDER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el-1782912282860-90"/>
          <p:cNvSpPr txBox="1"/>
          <p:nvPr/>
        </p:nvSpPr>
        <p:spPr>
          <a:xfrm>
            <a:off x="4684246" y="2663904"/>
            <a:ext cx="318075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IRQ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el-1782912282863-92"/>
          <p:cNvSpPr txBox="1"/>
          <p:nvPr/>
        </p:nvSpPr>
        <p:spPr>
          <a:xfrm>
            <a:off x="5102334" y="2663904"/>
            <a:ext cx="39335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el-1782912282794-28"/>
          <p:cNvSpPr txBox="1"/>
          <p:nvPr/>
        </p:nvSpPr>
        <p:spPr>
          <a:xfrm>
            <a:off x="4605665" y="3115389"/>
            <a:ext cx="4088279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⚙️ 线程角色 · 全自动 Pipeline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el-1782912282791-23"/>
          <p:cNvSpPr txBox="1"/>
          <p:nvPr/>
        </p:nvSpPr>
        <p:spPr>
          <a:xfrm>
            <a:off x="4605665" y="3329702"/>
            <a:ext cx="4023985" cy="3643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25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 种</a:t>
            </a: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Google Camera 特有线程模式： GcamTasks · smzanalysis · sabre · YUV 等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el-1782912282792-24"/>
          <p:cNvSpPr txBox="1"/>
          <p:nvPr/>
        </p:nvSpPr>
        <p:spPr>
          <a:xfrm>
            <a:off x="4605665" y="3765471"/>
            <a:ext cx="4023985" cy="3643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25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auto_run.py</a:t>
            </a: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一键完成：编译 → 部署 → 采集 → 拉取 → 9 步分析 → 报告生成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el-1782912282865-94"/>
          <p:cNvSpPr txBox="1"/>
          <p:nvPr/>
        </p:nvSpPr>
        <p:spPr>
          <a:xfrm>
            <a:off x="4605665" y="4201240"/>
            <a:ext cx="1563767" cy="1543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📄 ~750 行 Markdown 报告</a:t>
            </a:r>
            <a:endParaRPr sz="90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el-1782912282865-95"/>
          <p:cNvSpPr txBox="1"/>
          <p:nvPr/>
        </p:nvSpPr>
        <p:spPr>
          <a:xfrm>
            <a:off x="6183719" y="4201240"/>
            <a:ext cx="84743" cy="1543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endParaRPr sz="90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el-1782912282866-96"/>
          <p:cNvSpPr txBox="1"/>
          <p:nvPr/>
        </p:nvSpPr>
        <p:spPr>
          <a:xfrm>
            <a:off x="6282750" y="4201240"/>
            <a:ext cx="933777" cy="1543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⏱ 端到端自动化</a:t>
            </a:r>
            <a:endParaRPr sz="90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el-1782912282767-15"/>
          <p:cNvSpPr txBox="1"/>
          <p:nvPr/>
        </p:nvSpPr>
        <p:spPr>
          <a:xfrm>
            <a:off x="400050" y="4907042"/>
            <a:ext cx="53506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el-1782912282768-16"/>
          <p:cNvSpPr txBox="1"/>
          <p:nvPr/>
        </p:nvSpPr>
        <p:spPr>
          <a:xfrm>
            <a:off x="1056561" y="4907042"/>
            <a:ext cx="7911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el-1782912282768-17"/>
          <p:cNvSpPr txBox="1"/>
          <p:nvPr/>
        </p:nvSpPr>
        <p:spPr>
          <a:xfrm>
            <a:off x="1257121" y="4907042"/>
            <a:ext cx="44103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</a:t>
            </a:r>
            <a:r>
              <a:rPr lang="en-US" altLang="en-US"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altLang="en-US"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el-1782912282756-6"/>
          <p:cNvSpPr txBox="1"/>
          <p:nvPr/>
        </p:nvSpPr>
        <p:spPr>
          <a:xfrm>
            <a:off x="7201535" y="4872990"/>
            <a:ext cx="159258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· 五大场景与实验设计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2912282908-1"/>
          <p:cNvSpPr/>
          <p:nvPr/>
        </p:nvSpPr>
        <p:spPr>
          <a:xfrm>
            <a:off x="0" y="0"/>
            <a:ext cx="9144000" cy="4000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2912282909-3"/>
          <p:cNvCxnSpPr/>
          <p:nvPr/>
        </p:nvCxnSpPr>
        <p:spPr>
          <a:xfrm>
            <a:off x="0" y="396478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2912282935-20"/>
          <p:cNvCxnSpPr/>
          <p:nvPr/>
        </p:nvCxnSpPr>
        <p:spPr>
          <a:xfrm>
            <a:off x="342583" y="270193"/>
            <a:ext cx="15240" cy="452755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2912282952-28"/>
          <p:cNvSpPr/>
          <p:nvPr/>
        </p:nvSpPr>
        <p:spPr>
          <a:xfrm>
            <a:off x="6849427" y="507206"/>
            <a:ext cx="893683" cy="162878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2912282954-30"/>
          <p:cNvSpPr/>
          <p:nvPr/>
        </p:nvSpPr>
        <p:spPr>
          <a:xfrm>
            <a:off x="7814548" y="507206"/>
            <a:ext cx="986552" cy="162878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2912282944-25"/>
          <p:cNvSpPr/>
          <p:nvPr/>
        </p:nvSpPr>
        <p:spPr>
          <a:xfrm>
            <a:off x="342900" y="728663"/>
            <a:ext cx="4200525" cy="3328988"/>
          </a:xfrm>
          <a:prstGeom prst="roundRect">
            <a:avLst>
              <a:gd name="adj" fmla="val 2289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2912282987-47"/>
          <p:cNvSpPr/>
          <p:nvPr/>
        </p:nvSpPr>
        <p:spPr>
          <a:xfrm>
            <a:off x="3445609" y="811530"/>
            <a:ext cx="1004947" cy="134303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2912283003-74"/>
          <p:cNvCxnSpPr/>
          <p:nvPr/>
        </p:nvCxnSpPr>
        <p:spPr>
          <a:xfrm>
            <a:off x="435769" y="1228011"/>
            <a:ext cx="1935956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-1782912283004-75"/>
          <p:cNvCxnSpPr/>
          <p:nvPr/>
        </p:nvCxnSpPr>
        <p:spPr>
          <a:xfrm>
            <a:off x="2443163" y="1228011"/>
            <a:ext cx="967978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2912283004-76"/>
          <p:cNvCxnSpPr/>
          <p:nvPr/>
        </p:nvCxnSpPr>
        <p:spPr>
          <a:xfrm>
            <a:off x="3482578" y="1228011"/>
            <a:ext cx="967978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-1782912282966-33"/>
          <p:cNvCxnSpPr/>
          <p:nvPr/>
        </p:nvCxnSpPr>
        <p:spPr>
          <a:xfrm>
            <a:off x="435769" y="3604022"/>
            <a:ext cx="4014788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2912282945-26"/>
          <p:cNvSpPr/>
          <p:nvPr/>
        </p:nvSpPr>
        <p:spPr>
          <a:xfrm>
            <a:off x="4600575" y="728663"/>
            <a:ext cx="4200525" cy="3328988"/>
          </a:xfrm>
          <a:prstGeom prst="roundRect">
            <a:avLst>
              <a:gd name="adj" fmla="val 2289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2912282998-65"/>
          <p:cNvSpPr/>
          <p:nvPr/>
        </p:nvSpPr>
        <p:spPr>
          <a:xfrm>
            <a:off x="8136731" y="811530"/>
            <a:ext cx="571500" cy="134303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2912283008-77"/>
          <p:cNvCxnSpPr/>
          <p:nvPr/>
        </p:nvCxnSpPr>
        <p:spPr>
          <a:xfrm>
            <a:off x="4693444" y="1228011"/>
            <a:ext cx="1935956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-1782912283008-78"/>
          <p:cNvCxnSpPr/>
          <p:nvPr/>
        </p:nvCxnSpPr>
        <p:spPr>
          <a:xfrm>
            <a:off x="6700838" y="1228011"/>
            <a:ext cx="967978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-1782912283008-79"/>
          <p:cNvCxnSpPr/>
          <p:nvPr/>
        </p:nvCxnSpPr>
        <p:spPr>
          <a:xfrm>
            <a:off x="7740253" y="1228011"/>
            <a:ext cx="967978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-1782912282966-34"/>
          <p:cNvCxnSpPr/>
          <p:nvPr/>
        </p:nvCxnSpPr>
        <p:spPr>
          <a:xfrm>
            <a:off x="4693444" y="2050971"/>
            <a:ext cx="4014788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l-1782912282918-7"/>
          <p:cNvSpPr/>
          <p:nvPr/>
        </p:nvSpPr>
        <p:spPr>
          <a:xfrm>
            <a:off x="342900" y="4114800"/>
            <a:ext cx="8458200" cy="7429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9324" y="0"/>
                </a:lnTo>
                <a:lnTo>
                  <a:pt x="99391" y="38"/>
                </a:lnTo>
                <a:lnTo>
                  <a:pt x="99456" y="154"/>
                </a:lnTo>
                <a:lnTo>
                  <a:pt x="99520" y="333"/>
                </a:lnTo>
                <a:lnTo>
                  <a:pt x="99583" y="590"/>
                </a:lnTo>
                <a:lnTo>
                  <a:pt x="99643" y="910"/>
                </a:lnTo>
                <a:lnTo>
                  <a:pt x="99699" y="1295"/>
                </a:lnTo>
                <a:lnTo>
                  <a:pt x="99753" y="1744"/>
                </a:lnTo>
                <a:lnTo>
                  <a:pt x="99802" y="2256"/>
                </a:lnTo>
                <a:lnTo>
                  <a:pt x="99847" y="2808"/>
                </a:lnTo>
                <a:lnTo>
                  <a:pt x="99886" y="3423"/>
                </a:lnTo>
                <a:lnTo>
                  <a:pt x="99920" y="4064"/>
                </a:lnTo>
                <a:lnTo>
                  <a:pt x="99948" y="4744"/>
                </a:lnTo>
                <a:lnTo>
                  <a:pt x="99971" y="5462"/>
                </a:lnTo>
                <a:lnTo>
                  <a:pt x="99986" y="6192"/>
                </a:lnTo>
                <a:lnTo>
                  <a:pt x="99997" y="6936"/>
                </a:lnTo>
                <a:lnTo>
                  <a:pt x="100000" y="7692"/>
                </a:lnTo>
                <a:lnTo>
                  <a:pt x="100000" y="92308"/>
                </a:lnTo>
                <a:lnTo>
                  <a:pt x="99997" y="93064"/>
                </a:lnTo>
                <a:lnTo>
                  <a:pt x="99986" y="93808"/>
                </a:lnTo>
                <a:lnTo>
                  <a:pt x="99971" y="94538"/>
                </a:lnTo>
                <a:lnTo>
                  <a:pt x="99948" y="95256"/>
                </a:lnTo>
                <a:lnTo>
                  <a:pt x="99920" y="95936"/>
                </a:lnTo>
                <a:lnTo>
                  <a:pt x="99886" y="96577"/>
                </a:lnTo>
                <a:lnTo>
                  <a:pt x="99847" y="97192"/>
                </a:lnTo>
                <a:lnTo>
                  <a:pt x="99802" y="97744"/>
                </a:lnTo>
                <a:lnTo>
                  <a:pt x="99753" y="98256"/>
                </a:lnTo>
                <a:lnTo>
                  <a:pt x="99699" y="98705"/>
                </a:lnTo>
                <a:lnTo>
                  <a:pt x="99643" y="99090"/>
                </a:lnTo>
                <a:lnTo>
                  <a:pt x="99583" y="99410"/>
                </a:lnTo>
                <a:lnTo>
                  <a:pt x="99520" y="99667"/>
                </a:lnTo>
                <a:lnTo>
                  <a:pt x="99456" y="99846"/>
                </a:lnTo>
                <a:lnTo>
                  <a:pt x="99391" y="99962"/>
                </a:lnTo>
                <a:lnTo>
                  <a:pt x="99324" y="100000"/>
                </a:lnTo>
                <a:lnTo>
                  <a:pt x="0" y="100000"/>
                </a:lnTo>
                <a:lnTo>
                  <a:pt x="0" y="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2912282919-8"/>
          <p:cNvSpPr/>
          <p:nvPr/>
        </p:nvSpPr>
        <p:spPr>
          <a:xfrm>
            <a:off x="342900" y="4114800"/>
            <a:ext cx="8458200" cy="7429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0" y="0"/>
                </a:lnTo>
              </a:path>
            </a:pathLst>
          </a:custGeom>
          <a:noFill/>
          <a:ln w="35719" algn="in">
            <a:solidFill>
              <a:srgbClr val="D4A017"/>
            </a:solidFill>
            <a:prstDash val="solid"/>
          </a:ln>
        </p:spPr>
        <p:txBody>
          <a:bodyPr/>
          <a:lstStyle/>
          <a:p/>
        </p:txBody>
      </p:sp>
      <p:sp>
        <p:nvSpPr>
          <p:cNvPr id="21" name="el-1782912282926-12"/>
          <p:cNvSpPr/>
          <p:nvPr/>
        </p:nvSpPr>
        <p:spPr>
          <a:xfrm>
            <a:off x="3243263" y="4157663"/>
            <a:ext cx="2693194" cy="35718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22" name="el-1782912282929-14"/>
          <p:cNvSpPr/>
          <p:nvPr/>
        </p:nvSpPr>
        <p:spPr>
          <a:xfrm>
            <a:off x="6022181" y="4229100"/>
            <a:ext cx="2693194" cy="214313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el-1782912282933-16"/>
          <p:cNvSpPr/>
          <p:nvPr/>
        </p:nvSpPr>
        <p:spPr>
          <a:xfrm>
            <a:off x="464344" y="4600575"/>
            <a:ext cx="2693194" cy="214313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el-1782912282908-2"/>
          <p:cNvSpPr/>
          <p:nvPr/>
        </p:nvSpPr>
        <p:spPr>
          <a:xfrm>
            <a:off x="0" y="4886325"/>
            <a:ext cx="9144000" cy="2571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5" name="el-1782912282910-4"/>
          <p:cNvCxnSpPr/>
          <p:nvPr/>
        </p:nvCxnSpPr>
        <p:spPr>
          <a:xfrm>
            <a:off x="0" y="4889897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el-1782912282914-5"/>
          <p:cNvSpPr txBox="1"/>
          <p:nvPr/>
        </p:nvSpPr>
        <p:spPr>
          <a:xfrm>
            <a:off x="342900" y="122158"/>
            <a:ext cx="51488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r>
              <a:rPr sz="6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9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37</a:t>
            </a:r>
            <a:endParaRPr sz="900" b="1" spc="28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2912282934-17"/>
          <p:cNvSpPr txBox="1"/>
          <p:nvPr/>
        </p:nvSpPr>
        <p:spPr>
          <a:xfrm>
            <a:off x="1029335" y="121920"/>
            <a:ext cx="1729105" cy="1720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· 五大场景与实验设计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2912282935-18"/>
          <p:cNvSpPr txBox="1"/>
          <p:nvPr/>
        </p:nvSpPr>
        <p:spPr>
          <a:xfrm>
            <a:off x="2661761" y="122158"/>
            <a:ext cx="96619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D0D0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900">
              <a:solidFill>
                <a:srgbClr val="D0D0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2912282935-19"/>
          <p:cNvSpPr txBox="1"/>
          <p:nvPr/>
        </p:nvSpPr>
        <p:spPr>
          <a:xfrm>
            <a:off x="2843471" y="145653"/>
            <a:ext cx="216661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游戏场景(王者荣耀) — 全局调度指标对比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2912282923-10"/>
          <p:cNvSpPr txBox="1"/>
          <p:nvPr/>
        </p:nvSpPr>
        <p:spPr>
          <a:xfrm>
            <a:off x="467360" y="420370"/>
            <a:ext cx="291211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50" b="1" spc="-1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王者荣耀 · 全局调度指标对比</a:t>
            </a:r>
            <a:endParaRPr sz="1350" b="1" spc="-1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82912282950-27"/>
          <p:cNvSpPr txBox="1"/>
          <p:nvPr/>
        </p:nvSpPr>
        <p:spPr>
          <a:xfrm>
            <a:off x="6963727" y="528638"/>
            <a:ext cx="825817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短窗口 24.792s</a:t>
            </a:r>
            <a:endParaRPr sz="73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82912282952-29"/>
          <p:cNvSpPr txBox="1"/>
          <p:nvPr/>
        </p:nvSpPr>
        <p:spPr>
          <a:xfrm>
            <a:off x="7928848" y="528638"/>
            <a:ext cx="918686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对局窗口 59.178s</a:t>
            </a:r>
            <a:endParaRPr sz="73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2912282985-45"/>
          <p:cNvSpPr txBox="1"/>
          <p:nvPr/>
        </p:nvSpPr>
        <p:spPr>
          <a:xfrm>
            <a:off x="435769" y="792956"/>
            <a:ext cx="1050756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📊 全局调度对比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82912282985-46"/>
          <p:cNvSpPr txBox="1"/>
          <p:nvPr/>
        </p:nvSpPr>
        <p:spPr>
          <a:xfrm>
            <a:off x="3545622" y="818674"/>
            <a:ext cx="951369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短窗口 vs 对局窗口</a:t>
            </a:r>
            <a:endParaRPr sz="73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82912282987-48"/>
          <p:cNvSpPr txBox="1"/>
          <p:nvPr/>
        </p:nvSpPr>
        <p:spPr>
          <a:xfrm>
            <a:off x="435769" y="1035844"/>
            <a:ext cx="1996678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</a:t>
            </a:r>
            <a:endParaRPr sz="95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l-1782912282988-49"/>
          <p:cNvSpPr txBox="1"/>
          <p:nvPr/>
        </p:nvSpPr>
        <p:spPr>
          <a:xfrm>
            <a:off x="2443163" y="1035844"/>
            <a:ext cx="1028700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短窗口</a:t>
            </a:r>
            <a:endParaRPr sz="95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el-1782912282988-50"/>
          <p:cNvSpPr txBox="1"/>
          <p:nvPr/>
        </p:nvSpPr>
        <p:spPr>
          <a:xfrm>
            <a:off x="3482578" y="1035844"/>
            <a:ext cx="1028700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对局窗口</a:t>
            </a:r>
            <a:endParaRPr sz="95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el-1782912282989-51"/>
          <p:cNvSpPr txBox="1"/>
          <p:nvPr/>
        </p:nvSpPr>
        <p:spPr>
          <a:xfrm>
            <a:off x="435769" y="1295876"/>
            <a:ext cx="1996678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目标线程 on-CPU / 秒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l-1782912282989-52"/>
          <p:cNvSpPr txBox="1"/>
          <p:nvPr/>
        </p:nvSpPr>
        <p:spPr>
          <a:xfrm>
            <a:off x="2443163" y="1295876"/>
            <a:ext cx="1028700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379.9 ms/s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el-1782912282975-35"/>
          <p:cNvSpPr txBox="1"/>
          <p:nvPr/>
        </p:nvSpPr>
        <p:spPr>
          <a:xfrm>
            <a:off x="3482578" y="1295876"/>
            <a:ext cx="967978" cy="320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2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670.3</a:t>
            </a: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ms/s </a:t>
            </a:r>
            <a:r>
              <a:rPr sz="3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78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(1.76×)</a:t>
            </a:r>
            <a:endParaRPr sz="78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el-1782912282990-53"/>
          <p:cNvSpPr txBox="1"/>
          <p:nvPr/>
        </p:nvSpPr>
        <p:spPr>
          <a:xfrm>
            <a:off x="435769" y="1694497"/>
            <a:ext cx="1996678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wakeup-to-run p95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el-1782912282991-54"/>
          <p:cNvSpPr txBox="1"/>
          <p:nvPr/>
        </p:nvSpPr>
        <p:spPr>
          <a:xfrm>
            <a:off x="2443163" y="1694497"/>
            <a:ext cx="1028700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0.105 ms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l-1782912282976-36"/>
          <p:cNvSpPr txBox="1"/>
          <p:nvPr/>
        </p:nvSpPr>
        <p:spPr>
          <a:xfrm>
            <a:off x="3482578" y="1694497"/>
            <a:ext cx="1028700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0.153</a:t>
            </a: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ms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el-1782912282992-55"/>
          <p:cNvSpPr txBox="1"/>
          <p:nvPr/>
        </p:nvSpPr>
        <p:spPr>
          <a:xfrm>
            <a:off x="435769" y="1933099"/>
            <a:ext cx="1996678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runnable delay p95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el-1782912282992-56"/>
          <p:cNvSpPr txBox="1"/>
          <p:nvPr/>
        </p:nvSpPr>
        <p:spPr>
          <a:xfrm>
            <a:off x="2443163" y="1933099"/>
            <a:ext cx="1028700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0.304 ms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el-1782912282977-37"/>
          <p:cNvSpPr txBox="1"/>
          <p:nvPr/>
        </p:nvSpPr>
        <p:spPr>
          <a:xfrm>
            <a:off x="3482578" y="1933099"/>
            <a:ext cx="1028700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0.664</a:t>
            </a: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ms </a:t>
            </a:r>
            <a:r>
              <a:rPr sz="3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78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(2.18×)</a:t>
            </a:r>
            <a:endParaRPr sz="78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el-1782912282993-57"/>
          <p:cNvSpPr txBox="1"/>
          <p:nvPr/>
        </p:nvSpPr>
        <p:spPr>
          <a:xfrm>
            <a:off x="435769" y="2171700"/>
            <a:ext cx="1996678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runnable delay p99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el-1782912282993-58"/>
          <p:cNvSpPr txBox="1"/>
          <p:nvPr/>
        </p:nvSpPr>
        <p:spPr>
          <a:xfrm>
            <a:off x="2443163" y="2171700"/>
            <a:ext cx="1028700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0.816 ms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el-1782912282978-38"/>
          <p:cNvSpPr txBox="1"/>
          <p:nvPr/>
        </p:nvSpPr>
        <p:spPr>
          <a:xfrm>
            <a:off x="3482578" y="2171700"/>
            <a:ext cx="1028700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1.995</a:t>
            </a: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ms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el-1782912282994-59"/>
          <p:cNvSpPr txBox="1"/>
          <p:nvPr/>
        </p:nvSpPr>
        <p:spPr>
          <a:xfrm>
            <a:off x="435769" y="2410301"/>
            <a:ext cx="1996678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migration count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el-1782912282994-60"/>
          <p:cNvSpPr txBox="1"/>
          <p:nvPr/>
        </p:nvSpPr>
        <p:spPr>
          <a:xfrm>
            <a:off x="2443163" y="2410301"/>
            <a:ext cx="1028700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6,416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el-1782912282979-39"/>
          <p:cNvSpPr txBox="1"/>
          <p:nvPr/>
        </p:nvSpPr>
        <p:spPr>
          <a:xfrm>
            <a:off x="3482578" y="2410301"/>
            <a:ext cx="1028700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20,098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el-1782912282995-61"/>
          <p:cNvSpPr txBox="1"/>
          <p:nvPr/>
        </p:nvSpPr>
        <p:spPr>
          <a:xfrm>
            <a:off x="435769" y="2648903"/>
            <a:ext cx="1996678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migration / 秒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el-1782912282995-62"/>
          <p:cNvSpPr txBox="1"/>
          <p:nvPr/>
        </p:nvSpPr>
        <p:spPr>
          <a:xfrm>
            <a:off x="2443163" y="2648903"/>
            <a:ext cx="1028700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258.8 /s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el-1782912282980-40"/>
          <p:cNvSpPr txBox="1"/>
          <p:nvPr/>
        </p:nvSpPr>
        <p:spPr>
          <a:xfrm>
            <a:off x="3482578" y="2648903"/>
            <a:ext cx="1028700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339.6</a:t>
            </a: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/s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el-1782912282960-31"/>
          <p:cNvSpPr txBox="1"/>
          <p:nvPr/>
        </p:nvSpPr>
        <p:spPr>
          <a:xfrm>
            <a:off x="435769" y="3650456"/>
            <a:ext cx="4014788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50"/>
              </a:lnSpc>
            </a:pPr>
            <a:r>
              <a:rPr sz="9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对局内样本相较短窗口表现出 </a:t>
            </a: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更高的 CPU 使用</a:t>
            </a:r>
            <a:r>
              <a:rPr sz="9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更高的 runnable delay</a:t>
            </a:r>
            <a:r>
              <a:rPr sz="9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和 </a:t>
            </a: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更密集的线程迁移</a:t>
            </a:r>
            <a:r>
              <a:rPr sz="9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，60 秒样本更适合代表真实游戏负载。</a:t>
            </a:r>
            <a:endParaRPr sz="90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el-1782912282995-63"/>
          <p:cNvSpPr txBox="1"/>
          <p:nvPr/>
        </p:nvSpPr>
        <p:spPr>
          <a:xfrm>
            <a:off x="4693444" y="792956"/>
            <a:ext cx="136526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🏆 对局窗口 Top 线程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el-1782912282995-64"/>
          <p:cNvSpPr txBox="1"/>
          <p:nvPr/>
        </p:nvSpPr>
        <p:spPr>
          <a:xfrm>
            <a:off x="8236744" y="818674"/>
            <a:ext cx="517922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关键角色</a:t>
            </a:r>
            <a:endParaRPr sz="73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el-1782912282998-66"/>
          <p:cNvSpPr txBox="1"/>
          <p:nvPr/>
        </p:nvSpPr>
        <p:spPr>
          <a:xfrm>
            <a:off x="4693444" y="1035844"/>
            <a:ext cx="1996678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线程</a:t>
            </a:r>
            <a:endParaRPr sz="95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el-1782912282998-67"/>
          <p:cNvSpPr txBox="1"/>
          <p:nvPr/>
        </p:nvSpPr>
        <p:spPr>
          <a:xfrm>
            <a:off x="6700838" y="1035844"/>
            <a:ext cx="1028700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on-CPU</a:t>
            </a:r>
            <a:endParaRPr sz="95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el-1782912282999-68"/>
          <p:cNvSpPr txBox="1"/>
          <p:nvPr/>
        </p:nvSpPr>
        <p:spPr>
          <a:xfrm>
            <a:off x="7740253" y="1035844"/>
            <a:ext cx="1028700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runnable p95</a:t>
            </a:r>
            <a:endParaRPr sz="95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el-1782912282999-69"/>
          <p:cNvSpPr txBox="1"/>
          <p:nvPr/>
        </p:nvSpPr>
        <p:spPr>
          <a:xfrm>
            <a:off x="4693444" y="1295876"/>
            <a:ext cx="1996678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UnityMain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el-1782912282981-41"/>
          <p:cNvSpPr txBox="1"/>
          <p:nvPr/>
        </p:nvSpPr>
        <p:spPr>
          <a:xfrm>
            <a:off x="6700838" y="1295876"/>
            <a:ext cx="1028700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22,042.67</a:t>
            </a: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ms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el-1782912283000-70"/>
          <p:cNvSpPr txBox="1"/>
          <p:nvPr/>
        </p:nvSpPr>
        <p:spPr>
          <a:xfrm>
            <a:off x="7740253" y="1295876"/>
            <a:ext cx="1028700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0.572 ms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el-1782912283000-71"/>
          <p:cNvSpPr txBox="1"/>
          <p:nvPr/>
        </p:nvSpPr>
        <p:spPr>
          <a:xfrm>
            <a:off x="4693444" y="1534478"/>
            <a:ext cx="1996678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UnityGfxDeviceW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el-1782912282982-42"/>
          <p:cNvSpPr txBox="1"/>
          <p:nvPr/>
        </p:nvSpPr>
        <p:spPr>
          <a:xfrm>
            <a:off x="6700838" y="1534478"/>
            <a:ext cx="1028700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10,231.31</a:t>
            </a: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ms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el-1782912282983-43"/>
          <p:cNvSpPr txBox="1"/>
          <p:nvPr/>
        </p:nvSpPr>
        <p:spPr>
          <a:xfrm>
            <a:off x="7740253" y="1534478"/>
            <a:ext cx="1028700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1.584</a:t>
            </a: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ms </a:t>
            </a:r>
            <a:r>
              <a:rPr sz="3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78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(5.3×)</a:t>
            </a:r>
            <a:endParaRPr sz="78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el-1782912283001-72"/>
          <p:cNvSpPr txBox="1"/>
          <p:nvPr/>
        </p:nvSpPr>
        <p:spPr>
          <a:xfrm>
            <a:off x="4693444" y="1773079"/>
            <a:ext cx="1996678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surfaceflinger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el-1782912282984-44"/>
          <p:cNvSpPr txBox="1"/>
          <p:nvPr/>
        </p:nvSpPr>
        <p:spPr>
          <a:xfrm>
            <a:off x="6700838" y="1773079"/>
            <a:ext cx="1028700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4,527.55</a:t>
            </a: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ms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el-1782912283002-73"/>
          <p:cNvSpPr txBox="1"/>
          <p:nvPr/>
        </p:nvSpPr>
        <p:spPr>
          <a:xfrm>
            <a:off x="7740253" y="1773079"/>
            <a:ext cx="1028700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el-1782912282964-32"/>
          <p:cNvSpPr txBox="1"/>
          <p:nvPr/>
        </p:nvSpPr>
        <p:spPr>
          <a:xfrm>
            <a:off x="4693444" y="2097405"/>
            <a:ext cx="4014788" cy="5143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5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UnityGfxDeviceW</a:t>
            </a:r>
            <a:r>
              <a:rPr lang="en-US" altLang=""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runnable p95 从短窗口 0.299ms 增至</a:t>
            </a: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1.584ms (5.3×)</a:t>
            </a:r>
            <a:r>
              <a:rPr sz="9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，GPU 渲染线程调度延迟显著增加。</a:t>
            </a:r>
            <a:endParaRPr sz="90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350"/>
              </a:lnSpc>
            </a:pP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UnityMain</a:t>
            </a:r>
            <a:r>
              <a:rPr sz="9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on-CPU 高达 22,042ms，主导游戏主线程负载。</a:t>
            </a:r>
            <a:endParaRPr sz="90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el-1782912282936-21"/>
          <p:cNvSpPr txBox="1"/>
          <p:nvPr/>
        </p:nvSpPr>
        <p:spPr>
          <a:xfrm>
            <a:off x="464344" y="4259104"/>
            <a:ext cx="2750344" cy="1543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🔍 核心结论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el-1782912282924-11"/>
          <p:cNvSpPr txBox="1"/>
          <p:nvPr/>
        </p:nvSpPr>
        <p:spPr>
          <a:xfrm>
            <a:off x="3364706" y="4193381"/>
            <a:ext cx="2450306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1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对局窗口 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 负载 +76%</a:t>
            </a: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runnable delay +118%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el-1782912282928-13"/>
          <p:cNvSpPr txBox="1"/>
          <p:nvPr/>
        </p:nvSpPr>
        <p:spPr>
          <a:xfrm>
            <a:off x="6143625" y="4264819"/>
            <a:ext cx="2625328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UnityGfxDeviceW 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runnable p95 5.3×</a:t>
            </a: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恶化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el-1782912282931-15"/>
          <p:cNvSpPr txBox="1"/>
          <p:nvPr/>
        </p:nvSpPr>
        <p:spPr>
          <a:xfrm>
            <a:off x="585788" y="4636294"/>
            <a:ext cx="2625328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迁移密度 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+31%</a:t>
            </a: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，调度竞争显著加剧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el-1782912282939-22"/>
          <p:cNvSpPr txBox="1"/>
          <p:nvPr/>
        </p:nvSpPr>
        <p:spPr>
          <a:xfrm>
            <a:off x="342900" y="4961334"/>
            <a:ext cx="461665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</a:t>
            </a:r>
            <a:endParaRPr sz="67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el-1782912282939-23"/>
          <p:cNvSpPr txBox="1"/>
          <p:nvPr/>
        </p:nvSpPr>
        <p:spPr>
          <a:xfrm>
            <a:off x="933152" y="4961334"/>
            <a:ext cx="68134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67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el-1782912282940-24"/>
          <p:cNvSpPr txBox="1"/>
          <p:nvPr/>
        </p:nvSpPr>
        <p:spPr>
          <a:xfrm>
            <a:off x="1129873" y="4961334"/>
            <a:ext cx="380137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</a:t>
            </a:r>
            <a:r>
              <a:rPr lang="en-US" altLang="en-US" sz="67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altLang="en-US" sz="67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el-1782912282915-6"/>
          <p:cNvSpPr txBox="1"/>
          <p:nvPr/>
        </p:nvSpPr>
        <p:spPr>
          <a:xfrm>
            <a:off x="7700963" y="4961334"/>
            <a:ext cx="1143000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· 五大场景与实验设计</a:t>
            </a:r>
            <a:endParaRPr sz="67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2912283028-1"/>
          <p:cNvSpPr/>
          <p:nvPr/>
        </p:nvSpPr>
        <p:spPr>
          <a:xfrm>
            <a:off x="0" y="0"/>
            <a:ext cx="9144000" cy="4000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9952" y="0"/>
                </a:lnTo>
                <a:lnTo>
                  <a:pt x="99952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2912283029-3"/>
          <p:cNvCxnSpPr/>
          <p:nvPr/>
        </p:nvCxnSpPr>
        <p:spPr>
          <a:xfrm>
            <a:off x="0" y="396478"/>
            <a:ext cx="9300895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2912283050-20"/>
          <p:cNvCxnSpPr/>
          <p:nvPr/>
        </p:nvCxnSpPr>
        <p:spPr>
          <a:xfrm>
            <a:off x="414338" y="474345"/>
            <a:ext cx="914" cy="154305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2912283043-12"/>
          <p:cNvSpPr/>
          <p:nvPr/>
        </p:nvSpPr>
        <p:spPr>
          <a:xfrm>
            <a:off x="7510403" y="451485"/>
            <a:ext cx="1390442" cy="200025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2912283063-29"/>
          <p:cNvSpPr/>
          <p:nvPr/>
        </p:nvSpPr>
        <p:spPr>
          <a:xfrm>
            <a:off x="400050" y="745808"/>
            <a:ext cx="3800832" cy="3624739"/>
          </a:xfrm>
          <a:prstGeom prst="roundRect">
            <a:avLst>
              <a:gd name="adj" fmla="val 2102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2912283086-38"/>
          <p:cNvCxnSpPr/>
          <p:nvPr/>
        </p:nvCxnSpPr>
        <p:spPr>
          <a:xfrm>
            <a:off x="492919" y="1027986"/>
            <a:ext cx="3615095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2912283108-57"/>
          <p:cNvSpPr/>
          <p:nvPr/>
        </p:nvSpPr>
        <p:spPr>
          <a:xfrm>
            <a:off x="3531959" y="810101"/>
            <a:ext cx="576054" cy="185738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2912283126-89"/>
          <p:cNvCxnSpPr/>
          <p:nvPr/>
        </p:nvCxnSpPr>
        <p:spPr>
          <a:xfrm>
            <a:off x="492919" y="1292304"/>
            <a:ext cx="17145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-1782912283126-90"/>
          <p:cNvCxnSpPr/>
          <p:nvPr/>
        </p:nvCxnSpPr>
        <p:spPr>
          <a:xfrm>
            <a:off x="692944" y="1292304"/>
            <a:ext cx="1573947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2912283127-91"/>
          <p:cNvCxnSpPr/>
          <p:nvPr/>
        </p:nvCxnSpPr>
        <p:spPr>
          <a:xfrm>
            <a:off x="2295466" y="1292304"/>
            <a:ext cx="512564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-1782912283127-92"/>
          <p:cNvCxnSpPr/>
          <p:nvPr/>
        </p:nvCxnSpPr>
        <p:spPr>
          <a:xfrm>
            <a:off x="2836605" y="1463754"/>
            <a:ext cx="665172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-1782912283128-93"/>
          <p:cNvCxnSpPr/>
          <p:nvPr/>
        </p:nvCxnSpPr>
        <p:spPr>
          <a:xfrm>
            <a:off x="3530352" y="1463754"/>
            <a:ext cx="577662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2912283083-34"/>
          <p:cNvCxnSpPr/>
          <p:nvPr/>
        </p:nvCxnSpPr>
        <p:spPr>
          <a:xfrm>
            <a:off x="492919" y="3899773"/>
            <a:ext cx="3615095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2912283065-30"/>
          <p:cNvSpPr/>
          <p:nvPr/>
        </p:nvSpPr>
        <p:spPr>
          <a:xfrm>
            <a:off x="4258032" y="745808"/>
            <a:ext cx="2292787" cy="3624739"/>
          </a:xfrm>
          <a:prstGeom prst="roundRect">
            <a:avLst>
              <a:gd name="adj" fmla="val 3323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2912283087-39"/>
          <p:cNvCxnSpPr/>
          <p:nvPr/>
        </p:nvCxnSpPr>
        <p:spPr>
          <a:xfrm>
            <a:off x="4350901" y="1185148"/>
            <a:ext cx="2107049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2912283119-77"/>
          <p:cNvSpPr/>
          <p:nvPr/>
        </p:nvSpPr>
        <p:spPr>
          <a:xfrm>
            <a:off x="5313521" y="888683"/>
            <a:ext cx="1144429" cy="185738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8" name="el-1782912283131-94"/>
          <p:cNvCxnSpPr/>
          <p:nvPr/>
        </p:nvCxnSpPr>
        <p:spPr>
          <a:xfrm>
            <a:off x="4350901" y="1449467"/>
            <a:ext cx="1397585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-1782912283132-95"/>
          <p:cNvCxnSpPr/>
          <p:nvPr/>
        </p:nvCxnSpPr>
        <p:spPr>
          <a:xfrm>
            <a:off x="5805636" y="1449467"/>
            <a:ext cx="652314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2912283084-35"/>
          <p:cNvCxnSpPr/>
          <p:nvPr/>
        </p:nvCxnSpPr>
        <p:spPr>
          <a:xfrm>
            <a:off x="4350901" y="3899773"/>
            <a:ext cx="2107049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2912283067-31"/>
          <p:cNvSpPr/>
          <p:nvPr/>
        </p:nvSpPr>
        <p:spPr>
          <a:xfrm>
            <a:off x="6607969" y="745808"/>
            <a:ext cx="2292876" cy="3624739"/>
          </a:xfrm>
          <a:prstGeom prst="roundRect">
            <a:avLst>
              <a:gd name="adj" fmla="val 3323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22" name="el-1782912283087-40"/>
          <p:cNvCxnSpPr/>
          <p:nvPr/>
        </p:nvCxnSpPr>
        <p:spPr>
          <a:xfrm>
            <a:off x="6700838" y="1356598"/>
            <a:ext cx="2107138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l-1782912283125-88"/>
          <p:cNvSpPr/>
          <p:nvPr/>
        </p:nvSpPr>
        <p:spPr>
          <a:xfrm>
            <a:off x="7408962" y="974408"/>
            <a:ext cx="1399014" cy="185738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4" name="el-1782912283138-96"/>
          <p:cNvCxnSpPr/>
          <p:nvPr/>
        </p:nvCxnSpPr>
        <p:spPr>
          <a:xfrm>
            <a:off x="6700838" y="1670923"/>
            <a:ext cx="2107138" cy="914"/>
          </a:xfrm>
          <a:prstGeom prst="line">
            <a:avLst/>
          </a:prstGeom>
          <a:ln w="7144" cap="flat">
            <a:solidFill>
              <a:srgbClr val="EDEDF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el-1782912283138-97"/>
          <p:cNvCxnSpPr/>
          <p:nvPr/>
        </p:nvCxnSpPr>
        <p:spPr>
          <a:xfrm>
            <a:off x="6700838" y="1970961"/>
            <a:ext cx="2107138" cy="914"/>
          </a:xfrm>
          <a:prstGeom prst="line">
            <a:avLst/>
          </a:prstGeom>
          <a:ln w="7144" cap="flat">
            <a:solidFill>
              <a:srgbClr val="EDEDF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l-1782912283138-98"/>
          <p:cNvCxnSpPr/>
          <p:nvPr/>
        </p:nvCxnSpPr>
        <p:spPr>
          <a:xfrm>
            <a:off x="6700838" y="2270998"/>
            <a:ext cx="2107138" cy="914"/>
          </a:xfrm>
          <a:prstGeom prst="line">
            <a:avLst/>
          </a:prstGeom>
          <a:ln w="7144" cap="flat">
            <a:solidFill>
              <a:srgbClr val="EDEDF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-1782912283138-99"/>
          <p:cNvCxnSpPr/>
          <p:nvPr/>
        </p:nvCxnSpPr>
        <p:spPr>
          <a:xfrm>
            <a:off x="6700838" y="2763917"/>
            <a:ext cx="2107138" cy="914"/>
          </a:xfrm>
          <a:prstGeom prst="line">
            <a:avLst/>
          </a:prstGeom>
          <a:ln w="7144" cap="flat">
            <a:solidFill>
              <a:srgbClr val="EDEDF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l-1782912283085-37"/>
          <p:cNvCxnSpPr/>
          <p:nvPr/>
        </p:nvCxnSpPr>
        <p:spPr>
          <a:xfrm>
            <a:off x="6700838" y="3719751"/>
            <a:ext cx="2107138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-1782912283036-7"/>
          <p:cNvSpPr/>
          <p:nvPr/>
        </p:nvSpPr>
        <p:spPr>
          <a:xfrm>
            <a:off x="400050" y="3846830"/>
            <a:ext cx="8500745" cy="10255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9327" y="0"/>
                </a:lnTo>
                <a:lnTo>
                  <a:pt x="99393" y="17"/>
                </a:lnTo>
                <a:lnTo>
                  <a:pt x="99459" y="69"/>
                </a:lnTo>
                <a:lnTo>
                  <a:pt x="99522" y="149"/>
                </a:lnTo>
                <a:lnTo>
                  <a:pt x="99585" y="264"/>
                </a:lnTo>
                <a:lnTo>
                  <a:pt x="99645" y="408"/>
                </a:lnTo>
                <a:lnTo>
                  <a:pt x="99701" y="580"/>
                </a:lnTo>
                <a:lnTo>
                  <a:pt x="99754" y="782"/>
                </a:lnTo>
                <a:lnTo>
                  <a:pt x="99803" y="1011"/>
                </a:lnTo>
                <a:lnTo>
                  <a:pt x="99848" y="1259"/>
                </a:lnTo>
                <a:lnTo>
                  <a:pt x="99887" y="1534"/>
                </a:lnTo>
                <a:lnTo>
                  <a:pt x="99920" y="1822"/>
                </a:lnTo>
                <a:lnTo>
                  <a:pt x="99948" y="2126"/>
                </a:lnTo>
                <a:lnTo>
                  <a:pt x="99971" y="2448"/>
                </a:lnTo>
                <a:lnTo>
                  <a:pt x="99987" y="2776"/>
                </a:lnTo>
                <a:lnTo>
                  <a:pt x="99997" y="3109"/>
                </a:lnTo>
                <a:lnTo>
                  <a:pt x="100000" y="3448"/>
                </a:lnTo>
                <a:lnTo>
                  <a:pt x="100000" y="96552"/>
                </a:lnTo>
                <a:lnTo>
                  <a:pt x="99997" y="96891"/>
                </a:lnTo>
                <a:lnTo>
                  <a:pt x="99987" y="97224"/>
                </a:lnTo>
                <a:lnTo>
                  <a:pt x="99971" y="97552"/>
                </a:lnTo>
                <a:lnTo>
                  <a:pt x="99948" y="97874"/>
                </a:lnTo>
                <a:lnTo>
                  <a:pt x="99920" y="98178"/>
                </a:lnTo>
                <a:lnTo>
                  <a:pt x="99887" y="98466"/>
                </a:lnTo>
                <a:lnTo>
                  <a:pt x="99848" y="98741"/>
                </a:lnTo>
                <a:lnTo>
                  <a:pt x="99803" y="98989"/>
                </a:lnTo>
                <a:lnTo>
                  <a:pt x="99754" y="99218"/>
                </a:lnTo>
                <a:lnTo>
                  <a:pt x="99701" y="99420"/>
                </a:lnTo>
                <a:lnTo>
                  <a:pt x="99645" y="99592"/>
                </a:lnTo>
                <a:lnTo>
                  <a:pt x="99585" y="99736"/>
                </a:lnTo>
                <a:lnTo>
                  <a:pt x="99522" y="99851"/>
                </a:lnTo>
                <a:lnTo>
                  <a:pt x="99459" y="99931"/>
                </a:lnTo>
                <a:lnTo>
                  <a:pt x="99393" y="99983"/>
                </a:lnTo>
                <a:lnTo>
                  <a:pt x="99327" y="100000"/>
                </a:lnTo>
                <a:lnTo>
                  <a:pt x="0" y="100000"/>
                </a:lnTo>
                <a:lnTo>
                  <a:pt x="0" y="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-1782912283037-8"/>
          <p:cNvSpPr/>
          <p:nvPr/>
        </p:nvSpPr>
        <p:spPr>
          <a:xfrm>
            <a:off x="396240" y="3847465"/>
            <a:ext cx="8504555" cy="102489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0" y="0"/>
                </a:lnTo>
              </a:path>
            </a:pathLst>
          </a:custGeom>
          <a:noFill/>
          <a:ln w="35719" algn="in">
            <a:solidFill>
              <a:srgbClr val="D4A017"/>
            </a:solidFill>
            <a:prstDash val="solid"/>
          </a:ln>
        </p:spPr>
        <p:txBody>
          <a:bodyPr/>
          <a:lstStyle/>
          <a:p/>
        </p:txBody>
      </p:sp>
      <p:sp>
        <p:nvSpPr>
          <p:cNvPr id="31" name="el-1782912283045-14"/>
          <p:cNvSpPr/>
          <p:nvPr/>
        </p:nvSpPr>
        <p:spPr>
          <a:xfrm>
            <a:off x="2339915" y="4011771"/>
            <a:ext cx="2216616" cy="21431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32" name="el-1782912283048-16"/>
          <p:cNvSpPr/>
          <p:nvPr/>
        </p:nvSpPr>
        <p:spPr>
          <a:xfrm>
            <a:off x="3060154" y="4515326"/>
            <a:ext cx="1142911" cy="21431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34" name="el-1782912283056-25"/>
          <p:cNvSpPr/>
          <p:nvPr/>
        </p:nvSpPr>
        <p:spPr>
          <a:xfrm>
            <a:off x="4726871" y="4299426"/>
            <a:ext cx="2015609" cy="21431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35" name="el-1782912283028-2"/>
          <p:cNvSpPr/>
          <p:nvPr/>
        </p:nvSpPr>
        <p:spPr>
          <a:xfrm>
            <a:off x="0" y="4886325"/>
            <a:ext cx="9144000" cy="2571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9952" y="0"/>
                </a:lnTo>
                <a:lnTo>
                  <a:pt x="99952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6" name="el-1782912283029-4"/>
          <p:cNvCxnSpPr/>
          <p:nvPr/>
        </p:nvCxnSpPr>
        <p:spPr>
          <a:xfrm>
            <a:off x="0" y="4889897"/>
            <a:ext cx="9300895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el-1782912283032-5"/>
          <p:cNvSpPr txBox="1"/>
          <p:nvPr/>
        </p:nvSpPr>
        <p:spPr>
          <a:xfrm>
            <a:off x="400050" y="110728"/>
            <a:ext cx="572572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r>
              <a:rPr sz="6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101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37</a:t>
            </a:r>
            <a:endParaRPr sz="1010" b="1" spc="28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el-1782912283048-17"/>
          <p:cNvSpPr txBox="1"/>
          <p:nvPr/>
        </p:nvSpPr>
        <p:spPr>
          <a:xfrm>
            <a:off x="1136650" y="110490"/>
            <a:ext cx="2092325" cy="1854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· 五大场景与实验设计</a:t>
            </a:r>
            <a:endParaRPr sz="101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el-1782912283049-18"/>
          <p:cNvSpPr txBox="1"/>
          <p:nvPr/>
        </p:nvSpPr>
        <p:spPr>
          <a:xfrm>
            <a:off x="2987705" y="110728"/>
            <a:ext cx="108674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D0D0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1010">
              <a:solidFill>
                <a:srgbClr val="D0D0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l-1782912283049-19"/>
          <p:cNvSpPr txBox="1"/>
          <p:nvPr/>
        </p:nvSpPr>
        <p:spPr>
          <a:xfrm>
            <a:off x="3131780" y="124698"/>
            <a:ext cx="264926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游戏场景 — Step 1/2 分析与 Binder 依赖图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el-1782912283041-10"/>
          <p:cNvSpPr txBox="1"/>
          <p:nvPr/>
        </p:nvSpPr>
        <p:spPr>
          <a:xfrm>
            <a:off x="539998" y="428625"/>
            <a:ext cx="2739628" cy="24574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60" b="1" spc="-1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1/2 分析与 Binder 依赖图</a:t>
            </a:r>
            <a:endParaRPr sz="1460" b="1" spc="-1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el-1782912283041-11"/>
          <p:cNvSpPr txBox="1"/>
          <p:nvPr/>
        </p:nvSpPr>
        <p:spPr>
          <a:xfrm>
            <a:off x="7624703" y="465773"/>
            <a:ext cx="1340435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王者荣耀 · 对局窗口</a:t>
            </a:r>
            <a:endParaRPr sz="101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l-1782912283106-55"/>
          <p:cNvSpPr txBox="1"/>
          <p:nvPr/>
        </p:nvSpPr>
        <p:spPr>
          <a:xfrm>
            <a:off x="492919" y="817245"/>
            <a:ext cx="1479649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🏆 CriticalScore Top 5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el-1782912283106-56"/>
          <p:cNvSpPr txBox="1"/>
          <p:nvPr/>
        </p:nvSpPr>
        <p:spPr>
          <a:xfrm>
            <a:off x="3617684" y="817245"/>
            <a:ext cx="554623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1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el-1782912283108-58"/>
          <p:cNvSpPr txBox="1"/>
          <p:nvPr/>
        </p:nvSpPr>
        <p:spPr>
          <a:xfrm>
            <a:off x="492919" y="1088708"/>
            <a:ext cx="235744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Rank</a:t>
            </a:r>
            <a:endParaRPr sz="101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el-1782912283108-59"/>
          <p:cNvSpPr txBox="1"/>
          <p:nvPr/>
        </p:nvSpPr>
        <p:spPr>
          <a:xfrm>
            <a:off x="692944" y="1088708"/>
            <a:ext cx="163824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线程 (TID)</a:t>
            </a:r>
            <a:endParaRPr sz="101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el-1782912283109-60"/>
          <p:cNvSpPr txBox="1"/>
          <p:nvPr/>
        </p:nvSpPr>
        <p:spPr>
          <a:xfrm>
            <a:off x="2295466" y="1088708"/>
            <a:ext cx="576858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Score</a:t>
            </a:r>
            <a:endParaRPr sz="101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el-1782912283109-61"/>
          <p:cNvSpPr txBox="1"/>
          <p:nvPr/>
        </p:nvSpPr>
        <p:spPr>
          <a:xfrm>
            <a:off x="2836605" y="1088708"/>
            <a:ext cx="665172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10"/>
              </a:lnSpc>
            </a:pPr>
            <a:r>
              <a:rPr sz="101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on-CPU (ms)</a:t>
            </a:r>
            <a:endParaRPr sz="101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el-1782912283110-62"/>
          <p:cNvSpPr txBox="1"/>
          <p:nvPr/>
        </p:nvSpPr>
        <p:spPr>
          <a:xfrm>
            <a:off x="3530352" y="1088708"/>
            <a:ext cx="577662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10"/>
              </a:lnSpc>
            </a:pPr>
            <a:r>
              <a:rPr sz="101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runnable P95</a:t>
            </a:r>
            <a:endParaRPr sz="101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el-1782912283094-41"/>
          <p:cNvSpPr txBox="1"/>
          <p:nvPr/>
        </p:nvSpPr>
        <p:spPr>
          <a:xfrm>
            <a:off x="492919" y="1517333"/>
            <a:ext cx="235744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el-1782912283110-63"/>
          <p:cNvSpPr txBox="1"/>
          <p:nvPr/>
        </p:nvSpPr>
        <p:spPr>
          <a:xfrm>
            <a:off x="692944" y="1517333"/>
            <a:ext cx="163824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UnityGfxDeviceW (31394)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el-1782912283095-42"/>
          <p:cNvSpPr txBox="1"/>
          <p:nvPr/>
        </p:nvSpPr>
        <p:spPr>
          <a:xfrm>
            <a:off x="2295466" y="1517333"/>
            <a:ext cx="576858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100.000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el-1782912283111-64"/>
          <p:cNvSpPr txBox="1"/>
          <p:nvPr/>
        </p:nvSpPr>
        <p:spPr>
          <a:xfrm>
            <a:off x="2836605" y="1517333"/>
            <a:ext cx="729466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10,231.310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el-1782912283111-65"/>
          <p:cNvSpPr txBox="1"/>
          <p:nvPr/>
        </p:nvSpPr>
        <p:spPr>
          <a:xfrm>
            <a:off x="3530352" y="1517333"/>
            <a:ext cx="64195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1.584ms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el-1782912283095-43"/>
          <p:cNvSpPr txBox="1"/>
          <p:nvPr/>
        </p:nvSpPr>
        <p:spPr>
          <a:xfrm>
            <a:off x="492919" y="1745933"/>
            <a:ext cx="235744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el-1782912283111-66"/>
          <p:cNvSpPr txBox="1"/>
          <p:nvPr/>
        </p:nvSpPr>
        <p:spPr>
          <a:xfrm>
            <a:off x="692944" y="1745933"/>
            <a:ext cx="163824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UnityMain (31334)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el-1782912283096-44"/>
          <p:cNvSpPr txBox="1"/>
          <p:nvPr/>
        </p:nvSpPr>
        <p:spPr>
          <a:xfrm>
            <a:off x="2295466" y="1745933"/>
            <a:ext cx="576858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96.639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el-1782912283112-67"/>
          <p:cNvSpPr txBox="1"/>
          <p:nvPr/>
        </p:nvSpPr>
        <p:spPr>
          <a:xfrm>
            <a:off x="2836605" y="1745933"/>
            <a:ext cx="729466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22,042.669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el-1782912283112-68"/>
          <p:cNvSpPr txBox="1"/>
          <p:nvPr/>
        </p:nvSpPr>
        <p:spPr>
          <a:xfrm>
            <a:off x="3530352" y="1745933"/>
            <a:ext cx="64195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el-1782912283097-45"/>
          <p:cNvSpPr txBox="1"/>
          <p:nvPr/>
        </p:nvSpPr>
        <p:spPr>
          <a:xfrm>
            <a:off x="492919" y="1974532"/>
            <a:ext cx="235744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el-1782912283113-69"/>
          <p:cNvSpPr txBox="1"/>
          <p:nvPr/>
        </p:nvSpPr>
        <p:spPr>
          <a:xfrm>
            <a:off x="692944" y="1974532"/>
            <a:ext cx="163824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cent.tmgp.sgame (31215)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el-1782912283098-46"/>
          <p:cNvSpPr txBox="1"/>
          <p:nvPr/>
        </p:nvSpPr>
        <p:spPr>
          <a:xfrm>
            <a:off x="2295466" y="1974532"/>
            <a:ext cx="576858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84.936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el-1782912283114-70"/>
          <p:cNvSpPr txBox="1"/>
          <p:nvPr/>
        </p:nvSpPr>
        <p:spPr>
          <a:xfrm>
            <a:off x="2836605" y="1974532"/>
            <a:ext cx="729466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el-1782912283114-71"/>
          <p:cNvSpPr txBox="1"/>
          <p:nvPr/>
        </p:nvSpPr>
        <p:spPr>
          <a:xfrm>
            <a:off x="3530352" y="1974532"/>
            <a:ext cx="64195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1.962ms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el-1782912283100-47"/>
          <p:cNvSpPr txBox="1"/>
          <p:nvPr/>
        </p:nvSpPr>
        <p:spPr>
          <a:xfrm>
            <a:off x="492919" y="2203132"/>
            <a:ext cx="235744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el-1782912283115-72"/>
          <p:cNvSpPr txBox="1"/>
          <p:nvPr/>
        </p:nvSpPr>
        <p:spPr>
          <a:xfrm>
            <a:off x="692944" y="2203132"/>
            <a:ext cx="163824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surfaceflinger (600)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el-1782912283101-48"/>
          <p:cNvSpPr txBox="1"/>
          <p:nvPr/>
        </p:nvSpPr>
        <p:spPr>
          <a:xfrm>
            <a:off x="2295466" y="2203132"/>
            <a:ext cx="576858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79.434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el-1782912283116-73"/>
          <p:cNvSpPr txBox="1"/>
          <p:nvPr/>
        </p:nvSpPr>
        <p:spPr>
          <a:xfrm>
            <a:off x="2836605" y="2203132"/>
            <a:ext cx="729466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el-1782912283116-74"/>
          <p:cNvSpPr txBox="1"/>
          <p:nvPr/>
        </p:nvSpPr>
        <p:spPr>
          <a:xfrm>
            <a:off x="3530352" y="2203132"/>
            <a:ext cx="64195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el-1782912283117-75"/>
          <p:cNvSpPr txBox="1"/>
          <p:nvPr/>
        </p:nvSpPr>
        <p:spPr>
          <a:xfrm>
            <a:off x="4350901" y="810101"/>
            <a:ext cx="90547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10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🔗 Binder 依赖边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el-1782912283117-76"/>
          <p:cNvSpPr txBox="1"/>
          <p:nvPr/>
        </p:nvSpPr>
        <p:spPr>
          <a:xfrm>
            <a:off x="5399246" y="895826"/>
            <a:ext cx="1122997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52 条 · 对局窗口</a:t>
            </a:r>
            <a:endParaRPr sz="101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el-1782912283119-78"/>
          <p:cNvSpPr txBox="1"/>
          <p:nvPr/>
        </p:nvSpPr>
        <p:spPr>
          <a:xfrm>
            <a:off x="4350901" y="1245870"/>
            <a:ext cx="1461879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依赖路径</a:t>
            </a:r>
            <a:endParaRPr sz="101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el-1782912283120-79"/>
          <p:cNvSpPr txBox="1"/>
          <p:nvPr/>
        </p:nvSpPr>
        <p:spPr>
          <a:xfrm>
            <a:off x="5805636" y="1245870"/>
            <a:ext cx="716607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次数</a:t>
            </a:r>
            <a:endParaRPr sz="101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el-1782912283120-80"/>
          <p:cNvSpPr txBox="1"/>
          <p:nvPr/>
        </p:nvSpPr>
        <p:spPr>
          <a:xfrm>
            <a:off x="4350901" y="1503045"/>
            <a:ext cx="1397585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10"/>
              </a:lnSpc>
            </a:pPr>
            <a:r>
              <a:rPr sz="101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android.hardwar</a:t>
            </a:r>
            <a:r>
              <a:rPr sz="101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sz="101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InputProcessor</a:t>
            </a:r>
            <a:endParaRPr dirty="0"/>
          </a:p>
        </p:txBody>
      </p:sp>
      <p:sp>
        <p:nvSpPr>
          <p:cNvPr id="77" name="el-1782912283101-49"/>
          <p:cNvSpPr txBox="1"/>
          <p:nvPr/>
        </p:nvSpPr>
        <p:spPr>
          <a:xfrm>
            <a:off x="5805636" y="1503045"/>
            <a:ext cx="716607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82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el-1782912283121-81"/>
          <p:cNvSpPr txBox="1"/>
          <p:nvPr/>
        </p:nvSpPr>
        <p:spPr>
          <a:xfrm>
            <a:off x="4350901" y="1903095"/>
            <a:ext cx="1397585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1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InputProcessor → android.hardwar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el-1782912283102-50"/>
          <p:cNvSpPr txBox="1"/>
          <p:nvPr/>
        </p:nvSpPr>
        <p:spPr>
          <a:xfrm>
            <a:off x="5805636" y="1903095"/>
            <a:ext cx="716607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el-1782912283121-82"/>
          <p:cNvSpPr txBox="1"/>
          <p:nvPr/>
        </p:nvSpPr>
        <p:spPr>
          <a:xfrm>
            <a:off x="4350901" y="2303145"/>
            <a:ext cx="1397585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1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HwBinder:910_4 → binder:981_A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el-1782912283103-51"/>
          <p:cNvSpPr txBox="1"/>
          <p:nvPr/>
        </p:nvSpPr>
        <p:spPr>
          <a:xfrm>
            <a:off x="5805636" y="2303145"/>
            <a:ext cx="716607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el-1782912283122-83"/>
          <p:cNvSpPr txBox="1"/>
          <p:nvPr/>
        </p:nvSpPr>
        <p:spPr>
          <a:xfrm>
            <a:off x="4350901" y="2703195"/>
            <a:ext cx="1397585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1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binder:602_2 → surfaceflinger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el-1782912283104-52"/>
          <p:cNvSpPr txBox="1"/>
          <p:nvPr/>
        </p:nvSpPr>
        <p:spPr>
          <a:xfrm>
            <a:off x="5805636" y="2703195"/>
            <a:ext cx="716607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el-1782912283122-84"/>
          <p:cNvSpPr txBox="1"/>
          <p:nvPr/>
        </p:nvSpPr>
        <p:spPr>
          <a:xfrm>
            <a:off x="4350901" y="3103245"/>
            <a:ext cx="1397585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1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UnityGfxDeviceW → surfaceflinger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el-1782912283105-53"/>
          <p:cNvSpPr txBox="1"/>
          <p:nvPr/>
        </p:nvSpPr>
        <p:spPr>
          <a:xfrm>
            <a:off x="5805636" y="3103245"/>
            <a:ext cx="716607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el-1782912283123-85"/>
          <p:cNvSpPr txBox="1"/>
          <p:nvPr/>
        </p:nvSpPr>
        <p:spPr>
          <a:xfrm>
            <a:off x="4350901" y="3503295"/>
            <a:ext cx="1397585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1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cent.tmgp.sgame → surfaceflinger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el-1782912283105-54"/>
          <p:cNvSpPr txBox="1"/>
          <p:nvPr/>
        </p:nvSpPr>
        <p:spPr>
          <a:xfrm>
            <a:off x="5805636" y="3503295"/>
            <a:ext cx="716607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el-1782912283124-86"/>
          <p:cNvSpPr txBox="1"/>
          <p:nvPr/>
        </p:nvSpPr>
        <p:spPr>
          <a:xfrm>
            <a:off x="6700838" y="810101"/>
            <a:ext cx="650974" cy="5143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10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⚡ CPU Cluster 归因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el-1782912283124-87"/>
          <p:cNvSpPr txBox="1"/>
          <p:nvPr/>
        </p:nvSpPr>
        <p:spPr>
          <a:xfrm>
            <a:off x="7494687" y="981551"/>
            <a:ext cx="1377583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big / middle / little</a:t>
            </a:r>
            <a:endParaRPr sz="101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el-1782912283141-100"/>
          <p:cNvSpPr txBox="1"/>
          <p:nvPr/>
        </p:nvSpPr>
        <p:spPr>
          <a:xfrm>
            <a:off x="6700838" y="1445895"/>
            <a:ext cx="699909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UnityMain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el-1782912283142-101"/>
          <p:cNvSpPr txBox="1"/>
          <p:nvPr/>
        </p:nvSpPr>
        <p:spPr>
          <a:xfrm>
            <a:off x="7527101" y="1445895"/>
            <a:ext cx="1345168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middle/big 核 100%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el-1782912283142-102"/>
          <p:cNvSpPr txBox="1"/>
          <p:nvPr/>
        </p:nvSpPr>
        <p:spPr>
          <a:xfrm>
            <a:off x="6700838" y="1745933"/>
            <a:ext cx="1137196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UnityGfxDeviceW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el-1782912283142-103"/>
          <p:cNvSpPr txBox="1"/>
          <p:nvPr/>
        </p:nvSpPr>
        <p:spPr>
          <a:xfrm>
            <a:off x="8115300" y="1745933"/>
            <a:ext cx="756970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big 核 78%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el-1782912283142-104"/>
          <p:cNvSpPr txBox="1"/>
          <p:nvPr/>
        </p:nvSpPr>
        <p:spPr>
          <a:xfrm>
            <a:off x="6700838" y="2045970"/>
            <a:ext cx="904488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surfaceflinger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el-1782912283143-105"/>
          <p:cNvSpPr txBox="1"/>
          <p:nvPr/>
        </p:nvSpPr>
        <p:spPr>
          <a:xfrm>
            <a:off x="7833568" y="2045970"/>
            <a:ext cx="1038701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little 核 91.66%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el-1782912283143-106"/>
          <p:cNvSpPr txBox="1"/>
          <p:nvPr/>
        </p:nvSpPr>
        <p:spPr>
          <a:xfrm>
            <a:off x="6700838" y="2351723"/>
            <a:ext cx="1129873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cent.tmgp.sgame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el-1782912283144-107"/>
          <p:cNvSpPr txBox="1"/>
          <p:nvPr/>
        </p:nvSpPr>
        <p:spPr>
          <a:xfrm>
            <a:off x="7766685" y="2345690"/>
            <a:ext cx="1106170" cy="24574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15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middle/big 核85%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515"/>
              </a:lnSpc>
            </a:pP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el-1782912283084-36"/>
          <p:cNvSpPr txBox="1"/>
          <p:nvPr/>
        </p:nvSpPr>
        <p:spPr>
          <a:xfrm>
            <a:off x="6700997" y="3003433"/>
            <a:ext cx="2107138" cy="5400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15"/>
              </a:lnSpc>
            </a:pPr>
            <a:r>
              <a:rPr sz="1010" dirty="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Unity </a:t>
            </a:r>
            <a:r>
              <a:rPr sz="1010" dirty="0" err="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主线程集中在高性能核，surfaceflinger</a:t>
            </a:r>
            <a:r>
              <a:rPr sz="1010" dirty="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10" dirty="0" err="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主要在小核上运行，符合显示合成低负载特征</a:t>
            </a:r>
            <a:endParaRPr dirty="0"/>
          </a:p>
        </p:txBody>
      </p:sp>
      <p:sp>
        <p:nvSpPr>
          <p:cNvPr id="100" name="el-1782912283051-21"/>
          <p:cNvSpPr txBox="1"/>
          <p:nvPr/>
        </p:nvSpPr>
        <p:spPr>
          <a:xfrm>
            <a:off x="578485" y="4130040"/>
            <a:ext cx="715645" cy="3994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10"/>
              </a:lnSpc>
            </a:pPr>
            <a:r>
              <a:rPr sz="101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📌 对局窗口关键发现</a:t>
            </a:r>
            <a:endParaRPr sz="101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el-1782912283044-13"/>
          <p:cNvSpPr txBox="1"/>
          <p:nvPr/>
        </p:nvSpPr>
        <p:spPr>
          <a:xfrm>
            <a:off x="2411512" y="4011613"/>
            <a:ext cx="2173754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UnityGfxDeviceW Score </a:t>
            </a: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100.000</a:t>
            </a:r>
            <a:endParaRPr sz="101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el-1782912283046-15"/>
          <p:cNvSpPr txBox="1"/>
          <p:nvPr/>
        </p:nvSpPr>
        <p:spPr>
          <a:xfrm>
            <a:off x="3131751" y="4515168"/>
            <a:ext cx="1100048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Binder 边 </a:t>
            </a: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52</a:t>
            </a:r>
            <a:r>
              <a:rPr sz="101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条</a:t>
            </a:r>
            <a:endParaRPr sz="101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el-1782912283055-24"/>
          <p:cNvSpPr txBox="1"/>
          <p:nvPr/>
        </p:nvSpPr>
        <p:spPr>
          <a:xfrm>
            <a:off x="4831801" y="4299268"/>
            <a:ext cx="1972747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surfaceflinger</a:t>
            </a:r>
            <a:r>
              <a:rPr sz="101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91.66% little 核</a:t>
            </a:r>
            <a:endParaRPr dirty="0"/>
          </a:p>
        </p:txBody>
      </p:sp>
      <p:sp>
        <p:nvSpPr>
          <p:cNvPr id="105" name="el-1782912283057-26"/>
          <p:cNvSpPr txBox="1"/>
          <p:nvPr/>
        </p:nvSpPr>
        <p:spPr>
          <a:xfrm>
            <a:off x="400050" y="4932759"/>
            <a:ext cx="681782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</a:t>
            </a:r>
            <a:endParaRPr sz="101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el-1782912283057-27"/>
          <p:cNvSpPr txBox="1"/>
          <p:nvPr/>
        </p:nvSpPr>
        <p:spPr>
          <a:xfrm>
            <a:off x="1188988" y="4932759"/>
            <a:ext cx="101084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101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el-1782912283057-28"/>
          <p:cNvSpPr txBox="1"/>
          <p:nvPr/>
        </p:nvSpPr>
        <p:spPr>
          <a:xfrm>
            <a:off x="1397228" y="4932759"/>
            <a:ext cx="562749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</a:t>
            </a:r>
            <a:r>
              <a:rPr lang="en-US" altLang="en-US" sz="101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altLang="en-US" sz="101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el-1782912283033-6"/>
          <p:cNvSpPr txBox="1"/>
          <p:nvPr/>
        </p:nvSpPr>
        <p:spPr>
          <a:xfrm>
            <a:off x="7236460" y="4903470"/>
            <a:ext cx="1804035" cy="2006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· 五大场景与实验设计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2912283569-1"/>
          <p:cNvSpPr/>
          <p:nvPr/>
        </p:nvSpPr>
        <p:spPr>
          <a:xfrm>
            <a:off x="0" y="0"/>
            <a:ext cx="9144000" cy="5143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2912283571-3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2912283592-20"/>
          <p:cNvSpPr/>
          <p:nvPr/>
        </p:nvSpPr>
        <p:spPr>
          <a:xfrm>
            <a:off x="400050" y="934403"/>
            <a:ext cx="2705070" cy="3480435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2912283606-23"/>
          <p:cNvCxnSpPr/>
          <p:nvPr/>
        </p:nvCxnSpPr>
        <p:spPr>
          <a:xfrm>
            <a:off x="521494" y="1027271"/>
            <a:ext cx="914" cy="171450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2912283635-45"/>
          <p:cNvSpPr/>
          <p:nvPr/>
        </p:nvSpPr>
        <p:spPr>
          <a:xfrm>
            <a:off x="1912382" y="1048703"/>
            <a:ext cx="1085582" cy="128588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8" name="el-1782912283607-24"/>
          <p:cNvCxnSpPr/>
          <p:nvPr/>
        </p:nvCxnSpPr>
        <p:spPr>
          <a:xfrm>
            <a:off x="507206" y="1473756"/>
            <a:ext cx="2490758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l-1782912283681-95"/>
          <p:cNvCxnSpPr/>
          <p:nvPr/>
        </p:nvCxnSpPr>
        <p:spPr>
          <a:xfrm>
            <a:off x="507206" y="1836658"/>
            <a:ext cx="1018431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-1782912283682-96"/>
          <p:cNvCxnSpPr/>
          <p:nvPr/>
        </p:nvCxnSpPr>
        <p:spPr>
          <a:xfrm>
            <a:off x="1582787" y="1836658"/>
            <a:ext cx="679013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2912283682-97"/>
          <p:cNvCxnSpPr/>
          <p:nvPr/>
        </p:nvCxnSpPr>
        <p:spPr>
          <a:xfrm>
            <a:off x="2318951" y="1836658"/>
            <a:ext cx="679013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-1782912283607-25"/>
          <p:cNvCxnSpPr/>
          <p:nvPr/>
        </p:nvCxnSpPr>
        <p:spPr>
          <a:xfrm>
            <a:off x="507206" y="2843927"/>
            <a:ext cx="2490758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2912283594-21"/>
          <p:cNvSpPr/>
          <p:nvPr/>
        </p:nvSpPr>
        <p:spPr>
          <a:xfrm>
            <a:off x="3219420" y="934403"/>
            <a:ext cx="2705070" cy="3480435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4" name="el-1782912283608-26"/>
          <p:cNvCxnSpPr/>
          <p:nvPr/>
        </p:nvCxnSpPr>
        <p:spPr>
          <a:xfrm>
            <a:off x="3340864" y="1027271"/>
            <a:ext cx="914" cy="342900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2912283638-49"/>
          <p:cNvSpPr/>
          <p:nvPr/>
        </p:nvSpPr>
        <p:spPr>
          <a:xfrm>
            <a:off x="4912668" y="1077278"/>
            <a:ext cx="904667" cy="242888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6" name="el-1782912283653-69"/>
          <p:cNvCxnSpPr/>
          <p:nvPr/>
        </p:nvCxnSpPr>
        <p:spPr>
          <a:xfrm>
            <a:off x="3326577" y="1680924"/>
            <a:ext cx="785545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-1782912283653-70"/>
          <p:cNvCxnSpPr/>
          <p:nvPr/>
        </p:nvCxnSpPr>
        <p:spPr>
          <a:xfrm>
            <a:off x="4154984" y="1680924"/>
            <a:ext cx="4889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-1782912283654-71"/>
          <p:cNvCxnSpPr/>
          <p:nvPr/>
        </p:nvCxnSpPr>
        <p:spPr>
          <a:xfrm>
            <a:off x="4686746" y="1680924"/>
            <a:ext cx="543818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-1782912283654-72"/>
          <p:cNvCxnSpPr/>
          <p:nvPr/>
        </p:nvCxnSpPr>
        <p:spPr>
          <a:xfrm>
            <a:off x="5273427" y="1680924"/>
            <a:ext cx="543907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2912283609-27"/>
          <p:cNvCxnSpPr/>
          <p:nvPr/>
        </p:nvCxnSpPr>
        <p:spPr>
          <a:xfrm>
            <a:off x="3326577" y="2493883"/>
            <a:ext cx="2490758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2912283688-98"/>
          <p:cNvSpPr/>
          <p:nvPr/>
        </p:nvSpPr>
        <p:spPr>
          <a:xfrm>
            <a:off x="3326577" y="2711768"/>
            <a:ext cx="1223903" cy="645795"/>
          </a:xfrm>
          <a:prstGeom prst="roundRect">
            <a:avLst>
              <a:gd name="adj" fmla="val 885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2912283690-99"/>
          <p:cNvSpPr/>
          <p:nvPr/>
        </p:nvSpPr>
        <p:spPr>
          <a:xfrm>
            <a:off x="4593342" y="2711768"/>
            <a:ext cx="1223992" cy="645795"/>
          </a:xfrm>
          <a:prstGeom prst="roundRect">
            <a:avLst>
              <a:gd name="adj" fmla="val 885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-1782912283691-100"/>
          <p:cNvSpPr/>
          <p:nvPr/>
        </p:nvSpPr>
        <p:spPr>
          <a:xfrm>
            <a:off x="3326577" y="3400425"/>
            <a:ext cx="1223903" cy="525780"/>
          </a:xfrm>
          <a:prstGeom prst="roundRect">
            <a:avLst>
              <a:gd name="adj" fmla="val 1087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2912283693-101"/>
          <p:cNvSpPr/>
          <p:nvPr/>
        </p:nvSpPr>
        <p:spPr>
          <a:xfrm>
            <a:off x="4593342" y="3400425"/>
            <a:ext cx="1223992" cy="525780"/>
          </a:xfrm>
          <a:prstGeom prst="roundRect">
            <a:avLst>
              <a:gd name="adj" fmla="val 1087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el-1782912283595-22"/>
          <p:cNvSpPr/>
          <p:nvPr/>
        </p:nvSpPr>
        <p:spPr>
          <a:xfrm>
            <a:off x="6038791" y="934403"/>
            <a:ext cx="2705160" cy="3480435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26" name="el-1782912283609-28"/>
          <p:cNvCxnSpPr/>
          <p:nvPr/>
        </p:nvCxnSpPr>
        <p:spPr>
          <a:xfrm>
            <a:off x="6160234" y="1027271"/>
            <a:ext cx="914" cy="171450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el-1782912283650-65"/>
          <p:cNvSpPr/>
          <p:nvPr/>
        </p:nvSpPr>
        <p:spPr>
          <a:xfrm>
            <a:off x="7882325" y="1048703"/>
            <a:ext cx="754469" cy="128588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8" name="el-1782912283610-29"/>
          <p:cNvCxnSpPr/>
          <p:nvPr/>
        </p:nvCxnSpPr>
        <p:spPr>
          <a:xfrm>
            <a:off x="6145947" y="1925241"/>
            <a:ext cx="2490847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-1782912283577-7"/>
          <p:cNvSpPr/>
          <p:nvPr/>
        </p:nvSpPr>
        <p:spPr>
          <a:xfrm>
            <a:off x="400050" y="4500563"/>
            <a:ext cx="8343900" cy="2571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9486" y="0"/>
                </a:lnTo>
                <a:lnTo>
                  <a:pt x="99537" y="74"/>
                </a:lnTo>
                <a:lnTo>
                  <a:pt x="99587" y="333"/>
                </a:lnTo>
                <a:lnTo>
                  <a:pt x="99636" y="704"/>
                </a:lnTo>
                <a:lnTo>
                  <a:pt x="99683" y="1259"/>
                </a:lnTo>
                <a:lnTo>
                  <a:pt x="99728" y="1963"/>
                </a:lnTo>
                <a:lnTo>
                  <a:pt x="99772" y="2815"/>
                </a:lnTo>
                <a:lnTo>
                  <a:pt x="99812" y="3778"/>
                </a:lnTo>
                <a:lnTo>
                  <a:pt x="99849" y="4889"/>
                </a:lnTo>
                <a:lnTo>
                  <a:pt x="99884" y="6111"/>
                </a:lnTo>
                <a:lnTo>
                  <a:pt x="99913" y="7407"/>
                </a:lnTo>
                <a:lnTo>
                  <a:pt x="99939" y="8815"/>
                </a:lnTo>
                <a:lnTo>
                  <a:pt x="99961" y="10296"/>
                </a:lnTo>
                <a:lnTo>
                  <a:pt x="99978" y="11815"/>
                </a:lnTo>
                <a:lnTo>
                  <a:pt x="99990" y="13407"/>
                </a:lnTo>
                <a:lnTo>
                  <a:pt x="99998" y="15037"/>
                </a:lnTo>
                <a:lnTo>
                  <a:pt x="100000" y="16667"/>
                </a:lnTo>
                <a:lnTo>
                  <a:pt x="100000" y="83333"/>
                </a:lnTo>
                <a:lnTo>
                  <a:pt x="99998" y="84963"/>
                </a:lnTo>
                <a:lnTo>
                  <a:pt x="99990" y="86593"/>
                </a:lnTo>
                <a:lnTo>
                  <a:pt x="99978" y="88185"/>
                </a:lnTo>
                <a:lnTo>
                  <a:pt x="99961" y="89704"/>
                </a:lnTo>
                <a:lnTo>
                  <a:pt x="99939" y="91185"/>
                </a:lnTo>
                <a:lnTo>
                  <a:pt x="99913" y="92593"/>
                </a:lnTo>
                <a:lnTo>
                  <a:pt x="99884" y="93889"/>
                </a:lnTo>
                <a:lnTo>
                  <a:pt x="99849" y="95111"/>
                </a:lnTo>
                <a:lnTo>
                  <a:pt x="99812" y="96222"/>
                </a:lnTo>
                <a:lnTo>
                  <a:pt x="99772" y="97185"/>
                </a:lnTo>
                <a:lnTo>
                  <a:pt x="99728" y="98037"/>
                </a:lnTo>
                <a:lnTo>
                  <a:pt x="99683" y="98741"/>
                </a:lnTo>
                <a:lnTo>
                  <a:pt x="99636" y="99296"/>
                </a:lnTo>
                <a:lnTo>
                  <a:pt x="99587" y="99667"/>
                </a:lnTo>
                <a:lnTo>
                  <a:pt x="99537" y="99926"/>
                </a:lnTo>
                <a:lnTo>
                  <a:pt x="99486" y="100000"/>
                </a:lnTo>
                <a:lnTo>
                  <a:pt x="0" y="100000"/>
                </a:lnTo>
                <a:lnTo>
                  <a:pt x="0" y="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-1782912283578-8"/>
          <p:cNvSpPr/>
          <p:nvPr/>
        </p:nvSpPr>
        <p:spPr>
          <a:xfrm>
            <a:off x="400050" y="4500563"/>
            <a:ext cx="8343900" cy="2571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0" y="0"/>
                </a:lnTo>
              </a:path>
            </a:pathLst>
          </a:custGeom>
          <a:noFill/>
          <a:ln w="28575" algn="in">
            <a:solidFill>
              <a:srgbClr val="D4A017"/>
            </a:solidFill>
            <a:prstDash val="solid"/>
          </a:ln>
        </p:spPr>
        <p:txBody>
          <a:bodyPr/>
          <a:lstStyle/>
          <a:p/>
        </p:txBody>
      </p:sp>
      <p:sp>
        <p:nvSpPr>
          <p:cNvPr id="31" name="el-1782912283570-2"/>
          <p:cNvSpPr/>
          <p:nvPr/>
        </p:nvSpPr>
        <p:spPr>
          <a:xfrm>
            <a:off x="0" y="4800600"/>
            <a:ext cx="9144000" cy="3429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2" name="el-1782912283571-4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el-1782912283574-5"/>
          <p:cNvSpPr txBox="1"/>
          <p:nvPr/>
        </p:nvSpPr>
        <p:spPr>
          <a:xfrm>
            <a:off x="400050" y="179308"/>
            <a:ext cx="51488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</a:t>
            </a:r>
            <a:r>
              <a:rPr sz="6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9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37</a:t>
            </a:r>
            <a:endParaRPr sz="900" b="1" spc="28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2912283585-12"/>
          <p:cNvSpPr txBox="1"/>
          <p:nvPr/>
        </p:nvSpPr>
        <p:spPr>
          <a:xfrm>
            <a:off x="1086485" y="179070"/>
            <a:ext cx="1806575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· 五大场景与实验设计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82912283586-13"/>
          <p:cNvSpPr txBox="1"/>
          <p:nvPr/>
        </p:nvSpPr>
        <p:spPr>
          <a:xfrm>
            <a:off x="2771616" y="195818"/>
            <a:ext cx="96619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D0D0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900">
              <a:solidFill>
                <a:srgbClr val="D0D0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82912283586-14"/>
          <p:cNvSpPr txBox="1"/>
          <p:nvPr/>
        </p:nvSpPr>
        <p:spPr>
          <a:xfrm>
            <a:off x="2949516" y="195818"/>
            <a:ext cx="2240101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游戏场景 — Perfetto 同步采集与帧级验证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l-1782912283582-9"/>
          <p:cNvSpPr txBox="1"/>
          <p:nvPr/>
        </p:nvSpPr>
        <p:spPr>
          <a:xfrm>
            <a:off x="400050" y="585788"/>
            <a:ext cx="3814584" cy="2628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-1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游戏场景 · </a:t>
            </a:r>
            <a:r>
              <a:rPr sz="1570" b="1" spc="-1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Perfetto 同步采集</a:t>
            </a:r>
            <a:r>
              <a:rPr sz="1570" b="1" spc="-1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与帧级验证</a:t>
            </a:r>
            <a:endParaRPr sz="1570" b="1" spc="-1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el-1782912283611-30"/>
          <p:cNvSpPr txBox="1"/>
          <p:nvPr/>
        </p:nvSpPr>
        <p:spPr>
          <a:xfrm>
            <a:off x="607219" y="1027271"/>
            <a:ext cx="1050756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📦 同步采集数据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l-1782912283633-44"/>
          <p:cNvSpPr txBox="1"/>
          <p:nvPr/>
        </p:nvSpPr>
        <p:spPr>
          <a:xfrm>
            <a:off x="1998107" y="1055846"/>
            <a:ext cx="1042720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events.bin + Perfetto</a:t>
            </a:r>
            <a:endParaRPr sz="67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el-1782912283618-33"/>
          <p:cNvSpPr txBox="1"/>
          <p:nvPr/>
        </p:nvSpPr>
        <p:spPr>
          <a:xfrm>
            <a:off x="507206" y="1255871"/>
            <a:ext cx="1104513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events.bin 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~1.03 GB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el-1782912283619-34"/>
          <p:cNvSpPr txBox="1"/>
          <p:nvPr/>
        </p:nvSpPr>
        <p:spPr>
          <a:xfrm>
            <a:off x="1672441" y="1255871"/>
            <a:ext cx="127712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Perfetto trace 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~134 MB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el-1782912283636-46"/>
          <p:cNvSpPr txBox="1"/>
          <p:nvPr/>
        </p:nvSpPr>
        <p:spPr>
          <a:xfrm>
            <a:off x="507206" y="1520190"/>
            <a:ext cx="2544336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📊 Perfetto FrameTimeline</a:t>
            </a:r>
            <a:endParaRPr sz="84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l-1782912283675-83"/>
          <p:cNvSpPr txBox="1"/>
          <p:nvPr/>
        </p:nvSpPr>
        <p:spPr>
          <a:xfrm>
            <a:off x="507206" y="1691640"/>
            <a:ext cx="1064865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</a:t>
            </a:r>
            <a:endParaRPr sz="73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el-1782912283675-84"/>
          <p:cNvSpPr txBox="1"/>
          <p:nvPr/>
        </p:nvSpPr>
        <p:spPr>
          <a:xfrm>
            <a:off x="1582787" y="1691640"/>
            <a:ext cx="725448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数值</a:t>
            </a:r>
            <a:endParaRPr sz="73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el-1782912283675-85"/>
          <p:cNvSpPr txBox="1"/>
          <p:nvPr/>
        </p:nvSpPr>
        <p:spPr>
          <a:xfrm>
            <a:off x="2318951" y="1691640"/>
            <a:ext cx="725448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分位</a:t>
            </a:r>
            <a:endParaRPr sz="73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el-1782912283676-86"/>
          <p:cNvSpPr txBox="1"/>
          <p:nvPr/>
        </p:nvSpPr>
        <p:spPr>
          <a:xfrm>
            <a:off x="507206" y="1868805"/>
            <a:ext cx="1072009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Total frames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el-1782912283665-73"/>
          <p:cNvSpPr txBox="1"/>
          <p:nvPr/>
        </p:nvSpPr>
        <p:spPr>
          <a:xfrm>
            <a:off x="1582787" y="1868805"/>
            <a:ext cx="732592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923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el-1782912283676-87"/>
          <p:cNvSpPr txBox="1"/>
          <p:nvPr/>
        </p:nvSpPr>
        <p:spPr>
          <a:xfrm>
            <a:off x="2318951" y="1868805"/>
            <a:ext cx="732592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el-1782912283677-88"/>
          <p:cNvSpPr txBox="1"/>
          <p:nvPr/>
        </p:nvSpPr>
        <p:spPr>
          <a:xfrm>
            <a:off x="507206" y="2054543"/>
            <a:ext cx="1072009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Deadline missed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el-1782912283666-74"/>
          <p:cNvSpPr txBox="1"/>
          <p:nvPr/>
        </p:nvSpPr>
        <p:spPr>
          <a:xfrm>
            <a:off x="1582787" y="2054543"/>
            <a:ext cx="732592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el-1782912283667-75"/>
          <p:cNvSpPr txBox="1"/>
          <p:nvPr/>
        </p:nvSpPr>
        <p:spPr>
          <a:xfrm>
            <a:off x="2318951" y="2054543"/>
            <a:ext cx="732592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0.22%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el-1782912283677-89"/>
          <p:cNvSpPr txBox="1"/>
          <p:nvPr/>
        </p:nvSpPr>
        <p:spPr>
          <a:xfrm>
            <a:off x="507206" y="2240280"/>
            <a:ext cx="1072009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Frame time avg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el-1782912283668-76"/>
          <p:cNvSpPr txBox="1"/>
          <p:nvPr/>
        </p:nvSpPr>
        <p:spPr>
          <a:xfrm>
            <a:off x="1582787" y="2240280"/>
            <a:ext cx="732592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16.316</a:t>
            </a: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ms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el-1782912283678-90"/>
          <p:cNvSpPr txBox="1"/>
          <p:nvPr/>
        </p:nvSpPr>
        <p:spPr>
          <a:xfrm>
            <a:off x="2318951" y="2240280"/>
            <a:ext cx="732592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el-1782912283678-91"/>
          <p:cNvSpPr txBox="1"/>
          <p:nvPr/>
        </p:nvSpPr>
        <p:spPr>
          <a:xfrm>
            <a:off x="507206" y="2426018"/>
            <a:ext cx="1072009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Frame time P95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el-1782912283669-77"/>
          <p:cNvSpPr txBox="1"/>
          <p:nvPr/>
        </p:nvSpPr>
        <p:spPr>
          <a:xfrm>
            <a:off x="1582787" y="2426018"/>
            <a:ext cx="732592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16.318</a:t>
            </a: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ms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el-1782912283679-92"/>
          <p:cNvSpPr txBox="1"/>
          <p:nvPr/>
        </p:nvSpPr>
        <p:spPr>
          <a:xfrm>
            <a:off x="2318951" y="2426018"/>
            <a:ext cx="732592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el-1782912283679-93"/>
          <p:cNvSpPr txBox="1"/>
          <p:nvPr/>
        </p:nvSpPr>
        <p:spPr>
          <a:xfrm>
            <a:off x="507206" y="2611755"/>
            <a:ext cx="1072009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Frame time P99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el-1782912283670-78"/>
          <p:cNvSpPr txBox="1"/>
          <p:nvPr/>
        </p:nvSpPr>
        <p:spPr>
          <a:xfrm>
            <a:off x="1582787" y="2611755"/>
            <a:ext cx="732592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16.389</a:t>
            </a: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ms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el-1782912283680-94"/>
          <p:cNvSpPr txBox="1"/>
          <p:nvPr/>
        </p:nvSpPr>
        <p:spPr>
          <a:xfrm>
            <a:off x="2318951" y="2611755"/>
            <a:ext cx="732592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el-1782912283636-47"/>
          <p:cNvSpPr txBox="1"/>
          <p:nvPr/>
        </p:nvSpPr>
        <p:spPr>
          <a:xfrm>
            <a:off x="507206" y="2890361"/>
            <a:ext cx="2544336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🧠 TracePilot 离线图</a:t>
            </a:r>
            <a:endParaRPr sz="84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el-1782912283671-79"/>
          <p:cNvSpPr txBox="1"/>
          <p:nvPr/>
        </p:nvSpPr>
        <p:spPr>
          <a:xfrm>
            <a:off x="507206" y="3061811"/>
            <a:ext cx="93458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Total frames: 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923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el-1782912283672-80"/>
          <p:cNvSpPr txBox="1"/>
          <p:nvPr/>
        </p:nvSpPr>
        <p:spPr>
          <a:xfrm>
            <a:off x="1473934" y="3061811"/>
            <a:ext cx="781616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Jank frames: 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el-1782912283673-81"/>
          <p:cNvSpPr txBox="1"/>
          <p:nvPr/>
        </p:nvSpPr>
        <p:spPr>
          <a:xfrm>
            <a:off x="2287697" y="3061811"/>
            <a:ext cx="74027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Nodes: 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4,115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el-1782912283674-82"/>
          <p:cNvSpPr txBox="1"/>
          <p:nvPr/>
        </p:nvSpPr>
        <p:spPr>
          <a:xfrm>
            <a:off x="507206" y="3290411"/>
            <a:ext cx="61588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Edges: 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915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el-1782912283611-31"/>
          <p:cNvSpPr txBox="1"/>
          <p:nvPr/>
        </p:nvSpPr>
        <p:spPr>
          <a:xfrm>
            <a:off x="3426589" y="1027271"/>
            <a:ext cx="1221046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🔍 Perfetto sched crosscheck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el-1782912283636-48"/>
          <p:cNvSpPr txBox="1"/>
          <p:nvPr/>
        </p:nvSpPr>
        <p:spPr>
          <a:xfrm>
            <a:off x="4998393" y="1084421"/>
            <a:ext cx="733217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805"/>
              </a:lnSpc>
            </a:pPr>
            <a:r>
              <a:rPr sz="67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 线程 (过滤采集器后)</a:t>
            </a:r>
            <a:endParaRPr sz="67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el-1782912283638-50"/>
          <p:cNvSpPr txBox="1"/>
          <p:nvPr/>
        </p:nvSpPr>
        <p:spPr>
          <a:xfrm>
            <a:off x="3326577" y="1427321"/>
            <a:ext cx="828407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线程</a:t>
            </a:r>
            <a:endParaRPr sz="67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el-1782912283639-51"/>
          <p:cNvSpPr txBox="1"/>
          <p:nvPr/>
        </p:nvSpPr>
        <p:spPr>
          <a:xfrm>
            <a:off x="4154984" y="1427321"/>
            <a:ext cx="4889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805"/>
              </a:lnSpc>
            </a:pPr>
            <a:r>
              <a:rPr sz="67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on-CPU (ms)</a:t>
            </a:r>
            <a:endParaRPr sz="67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el-1782912283639-52"/>
          <p:cNvSpPr txBox="1"/>
          <p:nvPr/>
        </p:nvSpPr>
        <p:spPr>
          <a:xfrm>
            <a:off x="4686746" y="1427321"/>
            <a:ext cx="543818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805"/>
              </a:lnSpc>
            </a:pPr>
            <a:r>
              <a:rPr sz="67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runnable wait (ms)</a:t>
            </a:r>
            <a:endParaRPr sz="67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el-1782912283640-53"/>
          <p:cNvSpPr txBox="1"/>
          <p:nvPr/>
        </p:nvSpPr>
        <p:spPr>
          <a:xfrm>
            <a:off x="5273427" y="1427321"/>
            <a:ext cx="543907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805"/>
              </a:lnSpc>
            </a:pPr>
            <a:r>
              <a:rPr sz="67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runnable P95 (ms)</a:t>
            </a:r>
            <a:endParaRPr sz="67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el-1782912283640-54"/>
          <p:cNvSpPr txBox="1"/>
          <p:nvPr/>
        </p:nvSpPr>
        <p:spPr>
          <a:xfrm>
            <a:off x="3326577" y="1713071"/>
            <a:ext cx="835551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UnityMain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el-1782912283623-35"/>
          <p:cNvSpPr txBox="1"/>
          <p:nvPr/>
        </p:nvSpPr>
        <p:spPr>
          <a:xfrm>
            <a:off x="4154984" y="1713071"/>
            <a:ext cx="53890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3,709.035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el-1782912283624-36"/>
          <p:cNvSpPr txBox="1"/>
          <p:nvPr/>
        </p:nvSpPr>
        <p:spPr>
          <a:xfrm>
            <a:off x="4686746" y="1713071"/>
            <a:ext cx="593824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244.652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el-1782912283625-37"/>
          <p:cNvSpPr txBox="1"/>
          <p:nvPr/>
        </p:nvSpPr>
        <p:spPr>
          <a:xfrm>
            <a:off x="5273427" y="1713071"/>
            <a:ext cx="593914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1.954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el-1782912283641-55"/>
          <p:cNvSpPr txBox="1"/>
          <p:nvPr/>
        </p:nvSpPr>
        <p:spPr>
          <a:xfrm>
            <a:off x="3326577" y="1893094"/>
            <a:ext cx="835551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CoreThread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el-1782912283626-38"/>
          <p:cNvSpPr txBox="1"/>
          <p:nvPr/>
        </p:nvSpPr>
        <p:spPr>
          <a:xfrm>
            <a:off x="4154984" y="1893094"/>
            <a:ext cx="53890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3,663.408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el-1782912283627-39"/>
          <p:cNvSpPr txBox="1"/>
          <p:nvPr/>
        </p:nvSpPr>
        <p:spPr>
          <a:xfrm>
            <a:off x="4686746" y="1893094"/>
            <a:ext cx="593824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191.062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el-1782912283642-56"/>
          <p:cNvSpPr txBox="1"/>
          <p:nvPr/>
        </p:nvSpPr>
        <p:spPr>
          <a:xfrm>
            <a:off x="5273427" y="1893094"/>
            <a:ext cx="593914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el-1782912283642-57"/>
          <p:cNvSpPr txBox="1"/>
          <p:nvPr/>
        </p:nvSpPr>
        <p:spPr>
          <a:xfrm>
            <a:off x="3326577" y="2073116"/>
            <a:ext cx="835551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surfaceflinger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el-1782912283628-40"/>
          <p:cNvSpPr txBox="1"/>
          <p:nvPr/>
        </p:nvSpPr>
        <p:spPr>
          <a:xfrm>
            <a:off x="4154984" y="2073116"/>
            <a:ext cx="53890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2,697.533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el-1782912283643-58"/>
          <p:cNvSpPr txBox="1"/>
          <p:nvPr/>
        </p:nvSpPr>
        <p:spPr>
          <a:xfrm>
            <a:off x="4686746" y="2073116"/>
            <a:ext cx="593824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el-1782912283643-59"/>
          <p:cNvSpPr txBox="1"/>
          <p:nvPr/>
        </p:nvSpPr>
        <p:spPr>
          <a:xfrm>
            <a:off x="5273427" y="2073116"/>
            <a:ext cx="593914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el-1782912283644-60"/>
          <p:cNvSpPr txBox="1"/>
          <p:nvPr/>
        </p:nvSpPr>
        <p:spPr>
          <a:xfrm>
            <a:off x="3326577" y="2253139"/>
            <a:ext cx="835551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NativeThread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el-1782912283630-41"/>
          <p:cNvSpPr txBox="1"/>
          <p:nvPr/>
        </p:nvSpPr>
        <p:spPr>
          <a:xfrm>
            <a:off x="4154984" y="2253139"/>
            <a:ext cx="53890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2,191.632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el-1782912283644-61"/>
          <p:cNvSpPr txBox="1"/>
          <p:nvPr/>
        </p:nvSpPr>
        <p:spPr>
          <a:xfrm>
            <a:off x="4686746" y="2253139"/>
            <a:ext cx="593824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el-1782912283645-62"/>
          <p:cNvSpPr txBox="1"/>
          <p:nvPr/>
        </p:nvSpPr>
        <p:spPr>
          <a:xfrm>
            <a:off x="5273427" y="2253139"/>
            <a:ext cx="593914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el-1782912283645-63"/>
          <p:cNvSpPr txBox="1"/>
          <p:nvPr/>
        </p:nvSpPr>
        <p:spPr>
          <a:xfrm>
            <a:off x="3326577" y="2540318"/>
            <a:ext cx="2544336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Step2 Binder / Futex</a:t>
            </a:r>
            <a:endParaRPr sz="84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el-1782912283704-109"/>
          <p:cNvSpPr txBox="1"/>
          <p:nvPr/>
        </p:nvSpPr>
        <p:spPr>
          <a:xfrm>
            <a:off x="3398014" y="2754630"/>
            <a:ext cx="1127462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BINDER_CALL 边</a:t>
            </a:r>
            <a:endParaRPr sz="73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el-1782912283697-102"/>
          <p:cNvSpPr txBox="1"/>
          <p:nvPr/>
        </p:nvSpPr>
        <p:spPr>
          <a:xfrm>
            <a:off x="3398014" y="2888932"/>
            <a:ext cx="1145322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</a:t>
            </a: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条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el-1782912283698-103"/>
          <p:cNvSpPr txBox="1"/>
          <p:nvPr/>
        </p:nvSpPr>
        <p:spPr>
          <a:xfrm>
            <a:off x="3398014" y="3074670"/>
            <a:ext cx="1127462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Binder call </a:t>
            </a:r>
            <a:r>
              <a:rPr sz="730" b="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42,250</a:t>
            </a:r>
            <a:r>
              <a:rPr sz="73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次</a:t>
            </a:r>
            <a:endParaRPr sz="73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el-1782912283705-110"/>
          <p:cNvSpPr txBox="1"/>
          <p:nvPr/>
        </p:nvSpPr>
        <p:spPr>
          <a:xfrm>
            <a:off x="4664779" y="2754630"/>
            <a:ext cx="1127552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游戏/显示相关</a:t>
            </a:r>
            <a:endParaRPr sz="73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el-1782912283700-104"/>
          <p:cNvSpPr txBox="1"/>
          <p:nvPr/>
        </p:nvSpPr>
        <p:spPr>
          <a:xfrm>
            <a:off x="4664779" y="2888932"/>
            <a:ext cx="114541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18,806</a:t>
            </a: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次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el-1782912283701-105"/>
          <p:cNvSpPr txBox="1"/>
          <p:nvPr/>
        </p:nvSpPr>
        <p:spPr>
          <a:xfrm>
            <a:off x="4664779" y="3074670"/>
            <a:ext cx="1081117" cy="2400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875"/>
              </a:lnSpc>
            </a:pPr>
            <a:r>
              <a:rPr sz="73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 Binder blocking </a:t>
            </a:r>
            <a:r>
              <a:rPr sz="730" b="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6.625</a:t>
            </a:r>
            <a:r>
              <a:rPr sz="73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ms</a:t>
            </a:r>
            <a:endParaRPr sz="73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el-1782912283706-111"/>
          <p:cNvSpPr txBox="1"/>
          <p:nvPr/>
        </p:nvSpPr>
        <p:spPr>
          <a:xfrm>
            <a:off x="3398014" y="3443288"/>
            <a:ext cx="1127462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FUTEX_WAIT 边</a:t>
            </a:r>
            <a:endParaRPr sz="73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el-1782912283702-106"/>
          <p:cNvSpPr txBox="1"/>
          <p:nvPr/>
        </p:nvSpPr>
        <p:spPr>
          <a:xfrm>
            <a:off x="3398014" y="3577590"/>
            <a:ext cx="1145322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399</a:t>
            </a: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条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el-1782912283703-107"/>
          <p:cNvSpPr txBox="1"/>
          <p:nvPr/>
        </p:nvSpPr>
        <p:spPr>
          <a:xfrm>
            <a:off x="3398014" y="3763327"/>
            <a:ext cx="1127462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Futex wait </a:t>
            </a:r>
            <a:r>
              <a:rPr sz="730" b="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528,201</a:t>
            </a:r>
            <a:r>
              <a:rPr sz="73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次</a:t>
            </a:r>
            <a:endParaRPr sz="73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el-1782912283707-112"/>
          <p:cNvSpPr txBox="1"/>
          <p:nvPr/>
        </p:nvSpPr>
        <p:spPr>
          <a:xfrm>
            <a:off x="4664779" y="3443288"/>
            <a:ext cx="1127552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游戏/显示相关</a:t>
            </a:r>
            <a:endParaRPr sz="73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el-1782912283704-108"/>
          <p:cNvSpPr txBox="1"/>
          <p:nvPr/>
        </p:nvSpPr>
        <p:spPr>
          <a:xfrm>
            <a:off x="4664779" y="3577590"/>
            <a:ext cx="114541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316,186</a:t>
            </a: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次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el-1782912283707-113"/>
          <p:cNvSpPr txBox="1"/>
          <p:nvPr/>
        </p:nvSpPr>
        <p:spPr>
          <a:xfrm>
            <a:off x="4664779" y="3763327"/>
            <a:ext cx="1127552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 59.9%</a:t>
            </a:r>
            <a:endParaRPr sz="73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el-1782912283613-32"/>
          <p:cNvSpPr txBox="1"/>
          <p:nvPr/>
        </p:nvSpPr>
        <p:spPr>
          <a:xfrm>
            <a:off x="6245959" y="1027271"/>
            <a:ext cx="1574572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⚖️ Jank cause classifier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el-1782912283645-64"/>
          <p:cNvSpPr txBox="1"/>
          <p:nvPr/>
        </p:nvSpPr>
        <p:spPr>
          <a:xfrm>
            <a:off x="7968050" y="1055846"/>
            <a:ext cx="711607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jank frames</a:t>
            </a:r>
            <a:endParaRPr sz="67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el-1782912283650-66"/>
          <p:cNvSpPr txBox="1"/>
          <p:nvPr/>
        </p:nvSpPr>
        <p:spPr>
          <a:xfrm>
            <a:off x="6145947" y="1255871"/>
            <a:ext cx="2547997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分类结果</a:t>
            </a:r>
            <a:endParaRPr sz="90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el-1782912283631-42"/>
          <p:cNvSpPr txBox="1"/>
          <p:nvPr/>
        </p:nvSpPr>
        <p:spPr>
          <a:xfrm>
            <a:off x="6145947" y="1481614"/>
            <a:ext cx="2547997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个 jank frame 均候选为 </a:t>
            </a:r>
            <a:r>
              <a:rPr sz="90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CPU_CONTENTION</a:t>
            </a:r>
            <a:endParaRPr sz="90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el-1782912283633-43"/>
          <p:cNvSpPr txBox="1"/>
          <p:nvPr/>
        </p:nvSpPr>
        <p:spPr>
          <a:xfrm>
            <a:off x="6145947" y="1664494"/>
            <a:ext cx="2544425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confidence = </a:t>
            </a:r>
            <a:r>
              <a:rPr sz="840" b="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</a:t>
            </a:r>
            <a:r>
              <a:rPr sz="84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(低置信度候选)</a:t>
            </a:r>
            <a:endParaRPr sz="84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el-1782912283651-67"/>
          <p:cNvSpPr txBox="1"/>
          <p:nvPr/>
        </p:nvSpPr>
        <p:spPr>
          <a:xfrm>
            <a:off x="6145947" y="1985963"/>
            <a:ext cx="254442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📌 分析要点</a:t>
            </a:r>
            <a:endParaRPr sz="84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el-1782912283651-68"/>
          <p:cNvSpPr txBox="1"/>
          <p:nvPr/>
        </p:nvSpPr>
        <p:spPr>
          <a:xfrm>
            <a:off x="6145947" y="2157413"/>
            <a:ext cx="2490847" cy="9644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60"/>
              </a:lnSpc>
            </a:pPr>
            <a:r>
              <a:rPr sz="84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Perfetto 帧级验证显示 deadline missed 仅 0.22%，与 TracePilot 离线图 jank 2 帧一致； UnityMain runnable P95 = 1.954ms，为最高调度延迟线程； Step2 Binder blocking 仅 6.625ms，futex 等待 316,186 次占主导； 2 个 jank 帧均低置信度归因为 CPU_CONTENTION。</a:t>
            </a:r>
            <a:endParaRPr sz="84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el-1782912283587-15"/>
          <p:cNvSpPr txBox="1"/>
          <p:nvPr/>
        </p:nvSpPr>
        <p:spPr>
          <a:xfrm>
            <a:off x="528638" y="4557713"/>
            <a:ext cx="87564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 帧级验证一致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el-1782912283587-16"/>
          <p:cNvSpPr txBox="1"/>
          <p:nvPr/>
        </p:nvSpPr>
        <p:spPr>
          <a:xfrm>
            <a:off x="1422142" y="4557713"/>
            <a:ext cx="4848374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Perfetto 与 TracePilot 离线图均检出 2 帧 deadline missed；Step2 揭示 Futex 等待为主要同步开销</a:t>
            </a:r>
            <a:endParaRPr sz="84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1" name="el-1782912283587-17"/>
          <p:cNvSpPr txBox="1"/>
          <p:nvPr/>
        </p:nvSpPr>
        <p:spPr>
          <a:xfrm>
            <a:off x="400050" y="4907042"/>
            <a:ext cx="53506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el-1782912283588-18"/>
          <p:cNvSpPr txBox="1"/>
          <p:nvPr/>
        </p:nvSpPr>
        <p:spPr>
          <a:xfrm>
            <a:off x="1056561" y="4907042"/>
            <a:ext cx="7911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el-1782912283588-19"/>
          <p:cNvSpPr txBox="1"/>
          <p:nvPr/>
        </p:nvSpPr>
        <p:spPr>
          <a:xfrm>
            <a:off x="1257121" y="4907042"/>
            <a:ext cx="44103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</a:t>
            </a:r>
            <a:r>
              <a:rPr lang="en-US" altLang="en-US"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altLang="en-US"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el-1782912283575-6"/>
          <p:cNvSpPr txBox="1"/>
          <p:nvPr/>
        </p:nvSpPr>
        <p:spPr>
          <a:xfrm>
            <a:off x="7219315" y="4861560"/>
            <a:ext cx="1574800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· 五大场景与实验设计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-1782912283467-3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</p:pic>
      <p:cxnSp>
        <p:nvCxnSpPr>
          <p:cNvPr id="3" name="el-1782912283371-1"/>
          <p:cNvCxnSpPr/>
          <p:nvPr/>
        </p:nvCxnSpPr>
        <p:spPr>
          <a:xfrm>
            <a:off x="575072" y="1143000"/>
            <a:ext cx="914" cy="2857500"/>
          </a:xfrm>
          <a:prstGeom prst="line">
            <a:avLst/>
          </a:prstGeom>
          <a:ln w="9525" cap="flat">
            <a:solidFill>
              <a:srgbClr val="D4A017">
                <a:alpha val="12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2912283376-4"/>
          <p:cNvSpPr/>
          <p:nvPr/>
        </p:nvSpPr>
        <p:spPr>
          <a:xfrm>
            <a:off x="8608219" y="857250"/>
            <a:ext cx="21431" cy="3429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4A017">
                  <a:alpha val="60000"/>
                </a:srgbClr>
              </a:gs>
              <a:gs pos="100000">
                <a:srgbClr val="D4A017">
                  <a:alpha val="5000"/>
                </a:srgbClr>
              </a:gs>
            </a:gsLst>
            <a:lin ang="540000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5" name="el-1782912283388-10"/>
          <p:cNvSpPr/>
          <p:nvPr/>
        </p:nvSpPr>
        <p:spPr>
          <a:xfrm>
            <a:off x="428625" y="3714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2912283389-11"/>
          <p:cNvSpPr/>
          <p:nvPr/>
        </p:nvSpPr>
        <p:spPr>
          <a:xfrm>
            <a:off x="542925" y="3714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2912283390-12"/>
          <p:cNvSpPr/>
          <p:nvPr/>
        </p:nvSpPr>
        <p:spPr>
          <a:xfrm>
            <a:off x="657225" y="3714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2912283392-13"/>
          <p:cNvSpPr/>
          <p:nvPr/>
        </p:nvSpPr>
        <p:spPr>
          <a:xfrm>
            <a:off x="771525" y="3714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2912283394-14"/>
          <p:cNvSpPr/>
          <p:nvPr/>
        </p:nvSpPr>
        <p:spPr>
          <a:xfrm>
            <a:off x="428625" y="4857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2912283395-15"/>
          <p:cNvSpPr/>
          <p:nvPr/>
        </p:nvSpPr>
        <p:spPr>
          <a:xfrm>
            <a:off x="542925" y="4857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2912283396-16"/>
          <p:cNvSpPr/>
          <p:nvPr/>
        </p:nvSpPr>
        <p:spPr>
          <a:xfrm>
            <a:off x="657225" y="4857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2912283397-17"/>
          <p:cNvSpPr/>
          <p:nvPr/>
        </p:nvSpPr>
        <p:spPr>
          <a:xfrm>
            <a:off x="771525" y="4857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2912283399-18"/>
          <p:cNvSpPr/>
          <p:nvPr/>
        </p:nvSpPr>
        <p:spPr>
          <a:xfrm>
            <a:off x="428625" y="6000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2912283400-19"/>
          <p:cNvSpPr/>
          <p:nvPr/>
        </p:nvSpPr>
        <p:spPr>
          <a:xfrm>
            <a:off x="542925" y="6000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2912283402-20"/>
          <p:cNvSpPr/>
          <p:nvPr/>
        </p:nvSpPr>
        <p:spPr>
          <a:xfrm>
            <a:off x="657225" y="6000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2912283403-21"/>
          <p:cNvSpPr/>
          <p:nvPr/>
        </p:nvSpPr>
        <p:spPr>
          <a:xfrm>
            <a:off x="771525" y="6000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2912283405-22"/>
          <p:cNvSpPr/>
          <p:nvPr/>
        </p:nvSpPr>
        <p:spPr>
          <a:xfrm>
            <a:off x="428625" y="7143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2912283406-23"/>
          <p:cNvSpPr/>
          <p:nvPr/>
        </p:nvSpPr>
        <p:spPr>
          <a:xfrm>
            <a:off x="542925" y="7143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2912283407-24"/>
          <p:cNvSpPr/>
          <p:nvPr/>
        </p:nvSpPr>
        <p:spPr>
          <a:xfrm>
            <a:off x="657225" y="7143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2912283408-25"/>
          <p:cNvSpPr/>
          <p:nvPr/>
        </p:nvSpPr>
        <p:spPr>
          <a:xfrm>
            <a:off x="771525" y="7143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el-1782912283409-26"/>
          <p:cNvSpPr/>
          <p:nvPr/>
        </p:nvSpPr>
        <p:spPr>
          <a:xfrm>
            <a:off x="428625" y="8286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2912283411-27"/>
          <p:cNvSpPr/>
          <p:nvPr/>
        </p:nvSpPr>
        <p:spPr>
          <a:xfrm>
            <a:off x="542925" y="8286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-1782912283412-28"/>
          <p:cNvSpPr/>
          <p:nvPr/>
        </p:nvSpPr>
        <p:spPr>
          <a:xfrm>
            <a:off x="657225" y="8286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2912283413-29"/>
          <p:cNvSpPr/>
          <p:nvPr/>
        </p:nvSpPr>
        <p:spPr>
          <a:xfrm>
            <a:off x="771525" y="8286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el-1782912283415-30"/>
          <p:cNvSpPr/>
          <p:nvPr/>
        </p:nvSpPr>
        <p:spPr>
          <a:xfrm>
            <a:off x="428625" y="9429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82912283416-31"/>
          <p:cNvSpPr/>
          <p:nvPr/>
        </p:nvSpPr>
        <p:spPr>
          <a:xfrm>
            <a:off x="542925" y="9429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el-1782912283418-32"/>
          <p:cNvSpPr/>
          <p:nvPr/>
        </p:nvSpPr>
        <p:spPr>
          <a:xfrm>
            <a:off x="657225" y="9429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-1782912283419-33"/>
          <p:cNvSpPr/>
          <p:nvPr/>
        </p:nvSpPr>
        <p:spPr>
          <a:xfrm>
            <a:off x="771525" y="9429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el-1782912283373-3"/>
          <p:cNvSpPr txBox="1"/>
          <p:nvPr/>
        </p:nvSpPr>
        <p:spPr>
          <a:xfrm>
            <a:off x="400050" y="1785938"/>
            <a:ext cx="2598539" cy="1571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70" b="1" spc="-495">
                <a:solidFill>
                  <a:srgbClr val="D4A017">
                    <a:alpha val="1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370" b="1" spc="-495">
              <a:solidFill>
                <a:srgbClr val="D4A017">
                  <a:alpha val="12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" name="el-1782912283385-8"/>
          <p:cNvCxnSpPr/>
          <p:nvPr/>
        </p:nvCxnSpPr>
        <p:spPr>
          <a:xfrm>
            <a:off x="871538" y="1200150"/>
            <a:ext cx="914" cy="180023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el-1782912283385-9"/>
          <p:cNvCxnSpPr/>
          <p:nvPr/>
        </p:nvCxnSpPr>
        <p:spPr>
          <a:xfrm>
            <a:off x="857250" y="2618184"/>
            <a:ext cx="4600575" cy="914"/>
          </a:xfrm>
          <a:prstGeom prst="line">
            <a:avLst/>
          </a:prstGeom>
          <a:ln w="7144" cap="flat">
            <a:solidFill>
              <a:srgbClr val="D4A017">
                <a:alpha val="25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l-1782912283383-6"/>
          <p:cNvSpPr txBox="1"/>
          <p:nvPr/>
        </p:nvSpPr>
        <p:spPr>
          <a:xfrm>
            <a:off x="1014413" y="1200150"/>
            <a:ext cx="1839337" cy="18002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spc="225">
                <a:solidFill>
                  <a:srgbClr val="D4A017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4 · 核心算法</a:t>
            </a:r>
            <a:endParaRPr sz="1010" spc="225">
              <a:solidFill>
                <a:srgbClr val="D4A017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82912283382-5"/>
          <p:cNvSpPr txBox="1"/>
          <p:nvPr/>
        </p:nvSpPr>
        <p:spPr>
          <a:xfrm>
            <a:off x="857250" y="1522730"/>
            <a:ext cx="6137910" cy="8915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3505"/>
              </a:lnSpc>
            </a:pPr>
            <a:r>
              <a:rPr sz="2920" b="1" spc="-29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第四章 · </a:t>
            </a:r>
            <a:r>
              <a:rPr sz="2920" b="1" spc="-29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核心算法：帧对齐与图构建</a:t>
            </a:r>
            <a:endParaRPr sz="2920" b="1" spc="-29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2912283384-7"/>
          <p:cNvSpPr txBox="1"/>
          <p:nvPr/>
        </p:nvSpPr>
        <p:spPr>
          <a:xfrm>
            <a:off x="857250" y="2764631"/>
            <a:ext cx="4600575" cy="11787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50"/>
              </a:lnSpc>
            </a:pPr>
            <a:r>
              <a:rPr sz="112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eBPF 事件流与 Perfetto 帧边界的精确对齐是整个系统的技术核心。本章详细介绍对齐三步走算法——Perfetto SQL 查询、时间戳交集开窗、依赖继承机制，以及图构建方法中的节点定义、五种依赖边类型和七阶段构建流程，最后给出 CriticalScore 评分公式的完整推导与双路径验证设计。</a:t>
            </a:r>
            <a:endParaRPr sz="112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82912283372-2"/>
          <p:cNvSpPr txBox="1"/>
          <p:nvPr/>
        </p:nvSpPr>
        <p:spPr>
          <a:xfrm>
            <a:off x="7731323" y="4777740"/>
            <a:ext cx="106263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56">
                <a:solidFill>
                  <a:srgbClr val="FFFFFF">
                    <a:alpha val="2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 </a:t>
            </a:r>
            <a:r>
              <a:rPr sz="780" spc="56">
                <a:solidFill>
                  <a:srgbClr val="D4A017">
                    <a:alpha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r>
              <a:rPr sz="780" spc="56">
                <a:solidFill>
                  <a:srgbClr val="FFFFFF">
                    <a:alpha val="2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2026.06</a:t>
            </a:r>
            <a:endParaRPr sz="780" spc="56">
              <a:solidFill>
                <a:srgbClr val="FFFFFF">
                  <a:alpha val="2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2912283480-1"/>
          <p:cNvSpPr/>
          <p:nvPr/>
        </p:nvSpPr>
        <p:spPr>
          <a:xfrm>
            <a:off x="0" y="0"/>
            <a:ext cx="9144000" cy="1557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2912283482-2"/>
          <p:cNvCxnSpPr/>
          <p:nvPr/>
        </p:nvCxnSpPr>
        <p:spPr>
          <a:xfrm>
            <a:off x="0" y="152162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2912283489-6"/>
          <p:cNvSpPr/>
          <p:nvPr/>
        </p:nvSpPr>
        <p:spPr>
          <a:xfrm>
            <a:off x="97155" y="503555"/>
            <a:ext cx="8950960" cy="5143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9315" y="0"/>
                </a:lnTo>
                <a:lnTo>
                  <a:pt x="99382" y="38"/>
                </a:lnTo>
                <a:lnTo>
                  <a:pt x="99449" y="150"/>
                </a:lnTo>
                <a:lnTo>
                  <a:pt x="99514" y="325"/>
                </a:lnTo>
                <a:lnTo>
                  <a:pt x="99578" y="575"/>
                </a:lnTo>
                <a:lnTo>
                  <a:pt x="99638" y="888"/>
                </a:lnTo>
                <a:lnTo>
                  <a:pt x="99695" y="1263"/>
                </a:lnTo>
                <a:lnTo>
                  <a:pt x="99750" y="1700"/>
                </a:lnTo>
                <a:lnTo>
                  <a:pt x="99799" y="2200"/>
                </a:lnTo>
                <a:lnTo>
                  <a:pt x="99845" y="2738"/>
                </a:lnTo>
                <a:lnTo>
                  <a:pt x="99885" y="3338"/>
                </a:lnTo>
                <a:lnTo>
                  <a:pt x="99919" y="3963"/>
                </a:lnTo>
                <a:lnTo>
                  <a:pt x="99947" y="4625"/>
                </a:lnTo>
                <a:lnTo>
                  <a:pt x="99970" y="5325"/>
                </a:lnTo>
                <a:lnTo>
                  <a:pt x="99986" y="6038"/>
                </a:lnTo>
                <a:lnTo>
                  <a:pt x="99997" y="6763"/>
                </a:lnTo>
                <a:lnTo>
                  <a:pt x="100000" y="7500"/>
                </a:lnTo>
                <a:lnTo>
                  <a:pt x="100000" y="92500"/>
                </a:lnTo>
                <a:lnTo>
                  <a:pt x="99997" y="93238"/>
                </a:lnTo>
                <a:lnTo>
                  <a:pt x="99986" y="93963"/>
                </a:lnTo>
                <a:lnTo>
                  <a:pt x="99970" y="94675"/>
                </a:lnTo>
                <a:lnTo>
                  <a:pt x="99947" y="95375"/>
                </a:lnTo>
                <a:lnTo>
                  <a:pt x="99919" y="96038"/>
                </a:lnTo>
                <a:lnTo>
                  <a:pt x="99885" y="96663"/>
                </a:lnTo>
                <a:lnTo>
                  <a:pt x="99845" y="97263"/>
                </a:lnTo>
                <a:lnTo>
                  <a:pt x="99799" y="97800"/>
                </a:lnTo>
                <a:lnTo>
                  <a:pt x="99750" y="98300"/>
                </a:lnTo>
                <a:lnTo>
                  <a:pt x="99695" y="98738"/>
                </a:lnTo>
                <a:lnTo>
                  <a:pt x="99638" y="99113"/>
                </a:lnTo>
                <a:lnTo>
                  <a:pt x="99578" y="99425"/>
                </a:lnTo>
                <a:lnTo>
                  <a:pt x="99514" y="99675"/>
                </a:lnTo>
                <a:lnTo>
                  <a:pt x="99449" y="99850"/>
                </a:lnTo>
                <a:lnTo>
                  <a:pt x="99382" y="99963"/>
                </a:lnTo>
                <a:lnTo>
                  <a:pt x="99315" y="100000"/>
                </a:lnTo>
                <a:lnTo>
                  <a:pt x="0" y="100000"/>
                </a:lnTo>
                <a:lnTo>
                  <a:pt x="0" y="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2912283509-19"/>
          <p:cNvSpPr/>
          <p:nvPr/>
        </p:nvSpPr>
        <p:spPr>
          <a:xfrm>
            <a:off x="20320" y="1260475"/>
            <a:ext cx="9027795" cy="1325880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2912283551-42"/>
          <p:cNvSpPr/>
          <p:nvPr/>
        </p:nvSpPr>
        <p:spPr>
          <a:xfrm>
            <a:off x="323850" y="1475105"/>
            <a:ext cx="7568565" cy="293370"/>
          </a:xfrm>
          <a:prstGeom prst="roundRect">
            <a:avLst>
              <a:gd name="adj" fmla="val 10006"/>
            </a:avLst>
          </a:prstGeom>
          <a:solidFill>
            <a:srgbClr val="EDEDF0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2912283511-20"/>
          <p:cNvSpPr/>
          <p:nvPr/>
        </p:nvSpPr>
        <p:spPr>
          <a:xfrm>
            <a:off x="0" y="2653665"/>
            <a:ext cx="9048750" cy="1143000"/>
          </a:xfrm>
          <a:prstGeom prst="roundRect">
            <a:avLst>
              <a:gd name="adj" fmla="val 4506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4" name="el-1782912283557-48"/>
          <p:cNvCxnSpPr/>
          <p:nvPr/>
        </p:nvCxnSpPr>
        <p:spPr>
          <a:xfrm>
            <a:off x="785813" y="5517118"/>
            <a:ext cx="914" cy="1491615"/>
          </a:xfrm>
          <a:prstGeom prst="line">
            <a:avLst/>
          </a:prstGeom>
          <a:ln w="14288" cap="flat">
            <a:solidFill>
              <a:srgbClr val="E0E0E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-1782912283483-3"/>
          <p:cNvCxnSpPr/>
          <p:nvPr/>
        </p:nvCxnSpPr>
        <p:spPr>
          <a:xfrm>
            <a:off x="0" y="7105174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l-1782912283485-4"/>
          <p:cNvSpPr txBox="1"/>
          <p:nvPr/>
        </p:nvSpPr>
        <p:spPr>
          <a:xfrm>
            <a:off x="400050" y="0"/>
            <a:ext cx="51488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r>
              <a:rPr sz="6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9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37</a:t>
            </a:r>
            <a:endParaRPr sz="900" b="1" spc="28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2912283497-11"/>
          <p:cNvSpPr txBox="1"/>
          <p:nvPr/>
        </p:nvSpPr>
        <p:spPr>
          <a:xfrm>
            <a:off x="1086485" y="0"/>
            <a:ext cx="2392045" cy="1657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第四章 · 核心算法：帧对齐与图构建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2912283497-12"/>
          <p:cNvSpPr txBox="1"/>
          <p:nvPr/>
        </p:nvSpPr>
        <p:spPr>
          <a:xfrm>
            <a:off x="3059906" y="0"/>
            <a:ext cx="96619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D0D0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900">
              <a:solidFill>
                <a:srgbClr val="D0D0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2912283498-13"/>
          <p:cNvSpPr txBox="1"/>
          <p:nvPr/>
        </p:nvSpPr>
        <p:spPr>
          <a:xfrm>
            <a:off x="3156526" y="0"/>
            <a:ext cx="2166521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帧对齐算法 — eBPF 事件如何与帧对齐？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2912283495-8"/>
          <p:cNvSpPr txBox="1"/>
          <p:nvPr/>
        </p:nvSpPr>
        <p:spPr>
          <a:xfrm>
            <a:off x="179705" y="231299"/>
            <a:ext cx="8451056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80" b="1" spc="-17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帧对齐算法 — eBPF 事件如何与 </a:t>
            </a:r>
            <a:r>
              <a:rPr sz="1680" b="1" spc="-17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帧</a:t>
            </a:r>
            <a:r>
              <a:rPr sz="1680" b="1" spc="-17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对齐？</a:t>
            </a:r>
            <a:endParaRPr sz="1680" b="1" spc="-17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2912283499-15"/>
          <p:cNvSpPr txBox="1"/>
          <p:nvPr/>
        </p:nvSpPr>
        <p:spPr>
          <a:xfrm>
            <a:off x="128905" y="521335"/>
            <a:ext cx="100647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❓ 核心问题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2912283496-10"/>
          <p:cNvSpPr txBox="1"/>
          <p:nvPr/>
        </p:nvSpPr>
        <p:spPr>
          <a:xfrm>
            <a:off x="179705" y="758825"/>
            <a:ext cx="8750300" cy="2114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15"/>
              </a:lnSpc>
            </a:pP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Perfetto 产生帧边界（expected_start / actual_end / jank_tag），eBPF 产生纳秒级内核事件流， 两者唯一共同点是 </a:t>
            </a: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时间戳</a:t>
            </a: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。对齐是整个系统的 </a:t>
            </a: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</a:t>
            </a: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2912283537-33"/>
          <p:cNvSpPr txBox="1"/>
          <p:nvPr/>
        </p:nvSpPr>
        <p:spPr>
          <a:xfrm>
            <a:off x="107474" y="1305560"/>
            <a:ext cx="1741289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Perfetto SQL</a:t>
            </a: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查询帧边界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82912283549-41"/>
          <p:cNvSpPr txBox="1"/>
          <p:nvPr/>
        </p:nvSpPr>
        <p:spPr>
          <a:xfrm>
            <a:off x="414655" y="1563370"/>
            <a:ext cx="7712710" cy="1136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65"/>
              </a:lnSpc>
            </a:pPr>
            <a:r>
              <a:rPr sz="101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SELECT frame_token, intended_vsync, actual_end, jank_tag FROM actual_frame_timeline_slice</a:t>
            </a:r>
            <a:endParaRPr sz="1010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33" name="el-1782912283539-34"/>
          <p:cNvSpPr txBox="1"/>
          <p:nvPr/>
        </p:nvSpPr>
        <p:spPr>
          <a:xfrm>
            <a:off x="107315" y="1795780"/>
            <a:ext cx="8843010" cy="789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65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</a:t>
            </a: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：通过 Perfetto 的 trace_processor_shell 执行上述 SQL，从 actual_frame_timeline_slice 表提取所有帧边界信息。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465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</a:t>
            </a: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：结果按 frame_token 排序写入 frames.txt，每帧包含唯一帧号、预期 VSYNC 时间戳（intended_vsync）、实际显示完成时（actual_end）以及 Jank 状态标签（jank_tag: 0/1）。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465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意义</a:t>
            </a: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：建立完整的帧级时间轴基线，为后续事件归属提供精确的时间边界参考。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82912283540-35"/>
          <p:cNvSpPr txBox="1"/>
          <p:nvPr/>
        </p:nvSpPr>
        <p:spPr>
          <a:xfrm>
            <a:off x="107474" y="2704782"/>
            <a:ext cx="1114157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时间戳交集</a:t>
            </a: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开窗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82912283542-36"/>
          <p:cNvSpPr txBox="1"/>
          <p:nvPr/>
        </p:nvSpPr>
        <p:spPr>
          <a:xfrm>
            <a:off x="35560" y="3011805"/>
            <a:ext cx="9003665" cy="7766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65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窗口定义</a:t>
            </a: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：基于 Step 1 的帧时间边界，以 [intended_vsync - 1ms, actual_end + 1ms] 为窗口上下界，对 eBPF 事件流进行时间戳交集匹配。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465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开窗方式</a:t>
            </a: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：每个 Jank 帧独立开窗，使用 pandas DataFrame 的区间连接（overlap join）操作，筛选出窗口内所有 TID 的调度切换（sched_switch）、Binder 事务（binder_transaction）和 Futex 等待（futex_wait）事件。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465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序列化</a:t>
            </a: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：开窗后，每帧的事件集被序列化为独立的 JSON 块，平均每帧包含约 200~800 条内核事件。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el-1782912283544-37"/>
          <p:cNvSpPr txBox="1"/>
          <p:nvPr/>
        </p:nvSpPr>
        <p:spPr>
          <a:xfrm>
            <a:off x="107474" y="3864848"/>
            <a:ext cx="1596807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依赖继承</a:t>
            </a:r>
            <a:r>
              <a:rPr sz="112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跨帧因果边</a:t>
            </a:r>
            <a:endParaRPr sz="112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el-1782912283546-38"/>
          <p:cNvSpPr txBox="1"/>
          <p:nvPr/>
        </p:nvSpPr>
        <p:spPr>
          <a:xfrm>
            <a:off x="13335" y="4019550"/>
            <a:ext cx="8989695" cy="11950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65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：当 f0 帧窗口内的线程发起 Binder 调用（binder_transaction），但回复（binder_reply）在后续 f1 帧窗口内才到达时，普通的单帧独立分析会丢失这条跨帧因果链。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465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</a:t>
            </a: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：依赖继承机制通过维护一个全局的 Binder 待回复哈希表（pending_reply_map），将 f0 的发送事件与 f1 的接收事件关联，在 f1 帧的依赖图中注入来自 f0 的因果边。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465"/>
              </a:lnSpc>
            </a:pPr>
            <a:r>
              <a:rPr sz="101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</a:t>
            </a:r>
            <a:r>
              <a:rPr sz="10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：每个 Binder 调用记录 call_tid、call_ts、target_tid，在收到对应回复时回溯匹配，建立跨帧依赖边（cross-frame edge），确保 Jank 的根因可以追溯到更早的帧上下文。</a:t>
            </a:r>
            <a:endParaRPr sz="101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el-1782912283500-16"/>
          <p:cNvSpPr txBox="1"/>
          <p:nvPr/>
        </p:nvSpPr>
        <p:spPr>
          <a:xfrm>
            <a:off x="400050" y="7108746"/>
            <a:ext cx="53506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el-1782912283500-17"/>
          <p:cNvSpPr txBox="1"/>
          <p:nvPr/>
        </p:nvSpPr>
        <p:spPr>
          <a:xfrm>
            <a:off x="1056561" y="7108746"/>
            <a:ext cx="7911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el-1782912283501-18"/>
          <p:cNvSpPr txBox="1"/>
          <p:nvPr/>
        </p:nvSpPr>
        <p:spPr>
          <a:xfrm>
            <a:off x="1257121" y="7108746"/>
            <a:ext cx="44103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2026.06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el-1782912283486-5"/>
          <p:cNvSpPr txBox="1"/>
          <p:nvPr/>
        </p:nvSpPr>
        <p:spPr>
          <a:xfrm>
            <a:off x="7160449" y="7108746"/>
            <a:ext cx="1633508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第四章 · 核心算法：帧对齐与图构建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2912283933-1"/>
          <p:cNvSpPr/>
          <p:nvPr/>
        </p:nvSpPr>
        <p:spPr>
          <a:xfrm>
            <a:off x="0" y="0"/>
            <a:ext cx="9144000" cy="1557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2912283935-3"/>
          <p:cNvCxnSpPr/>
          <p:nvPr/>
        </p:nvCxnSpPr>
        <p:spPr>
          <a:xfrm>
            <a:off x="0" y="152162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2912283947-14"/>
          <p:cNvCxnSpPr/>
          <p:nvPr/>
        </p:nvCxnSpPr>
        <p:spPr>
          <a:xfrm>
            <a:off x="414338" y="281464"/>
            <a:ext cx="914" cy="137160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2912283945-10"/>
          <p:cNvSpPr/>
          <p:nvPr/>
        </p:nvSpPr>
        <p:spPr>
          <a:xfrm>
            <a:off x="7714000" y="284321"/>
            <a:ext cx="1029950" cy="148590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2912283953-18"/>
          <p:cNvSpPr/>
          <p:nvPr/>
        </p:nvSpPr>
        <p:spPr>
          <a:xfrm>
            <a:off x="400050" y="490061"/>
            <a:ext cx="2330827" cy="4476274"/>
          </a:xfrm>
          <a:prstGeom prst="roundRect">
            <a:avLst>
              <a:gd name="adj" fmla="val 3269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2912283981-30"/>
          <p:cNvCxnSpPr/>
          <p:nvPr/>
        </p:nvCxnSpPr>
        <p:spPr>
          <a:xfrm>
            <a:off x="492919" y="540067"/>
            <a:ext cx="914" cy="342900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2912283997-41"/>
          <p:cNvSpPr/>
          <p:nvPr/>
        </p:nvSpPr>
        <p:spPr>
          <a:xfrm>
            <a:off x="1844427" y="597217"/>
            <a:ext cx="807869" cy="228600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2912284013-71"/>
          <p:cNvCxnSpPr/>
          <p:nvPr/>
        </p:nvCxnSpPr>
        <p:spPr>
          <a:xfrm>
            <a:off x="478631" y="1440894"/>
            <a:ext cx="886986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-1782912284014-72"/>
          <p:cNvCxnSpPr/>
          <p:nvPr/>
        </p:nvCxnSpPr>
        <p:spPr>
          <a:xfrm>
            <a:off x="1408480" y="1440894"/>
            <a:ext cx="1243816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2912283976-27"/>
          <p:cNvCxnSpPr/>
          <p:nvPr/>
        </p:nvCxnSpPr>
        <p:spPr>
          <a:xfrm>
            <a:off x="478631" y="4585573"/>
            <a:ext cx="2173664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2912283954-19"/>
          <p:cNvSpPr/>
          <p:nvPr/>
        </p:nvSpPr>
        <p:spPr>
          <a:xfrm>
            <a:off x="2773739" y="490061"/>
            <a:ext cx="3596521" cy="4476274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2912283982-31"/>
          <p:cNvCxnSpPr/>
          <p:nvPr/>
        </p:nvCxnSpPr>
        <p:spPr>
          <a:xfrm>
            <a:off x="2866608" y="540067"/>
            <a:ext cx="914" cy="171450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2912284005-58"/>
          <p:cNvSpPr/>
          <p:nvPr/>
        </p:nvSpPr>
        <p:spPr>
          <a:xfrm>
            <a:off x="5605879" y="568642"/>
            <a:ext cx="685800" cy="114300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2912284016-73"/>
          <p:cNvCxnSpPr/>
          <p:nvPr/>
        </p:nvCxnSpPr>
        <p:spPr>
          <a:xfrm>
            <a:off x="2852321" y="935117"/>
            <a:ext cx="1469202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-1782912284017-74"/>
          <p:cNvCxnSpPr/>
          <p:nvPr/>
        </p:nvCxnSpPr>
        <p:spPr>
          <a:xfrm>
            <a:off x="4364385" y="935117"/>
            <a:ext cx="1286143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-1782912284017-75"/>
          <p:cNvCxnSpPr/>
          <p:nvPr/>
        </p:nvCxnSpPr>
        <p:spPr>
          <a:xfrm>
            <a:off x="5693390" y="935117"/>
            <a:ext cx="598289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2912284033-78"/>
          <p:cNvSpPr/>
          <p:nvPr/>
        </p:nvSpPr>
        <p:spPr>
          <a:xfrm>
            <a:off x="4392960" y="1015841"/>
            <a:ext cx="1228993" cy="125730"/>
          </a:xfrm>
          <a:prstGeom prst="roundRect">
            <a:avLst>
              <a:gd name="adj" fmla="val 22727"/>
            </a:avLst>
          </a:prstGeom>
          <a:solidFill>
            <a:srgbClr val="F0F0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2912284035-80"/>
          <p:cNvSpPr/>
          <p:nvPr/>
        </p:nvSpPr>
        <p:spPr>
          <a:xfrm>
            <a:off x="4392960" y="1538764"/>
            <a:ext cx="392996" cy="125730"/>
          </a:xfrm>
          <a:prstGeom prst="roundRect">
            <a:avLst>
              <a:gd name="adj" fmla="val 22727"/>
            </a:avLst>
          </a:prstGeom>
          <a:solidFill>
            <a:srgbClr val="F0F0F3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2912284037-82"/>
          <p:cNvSpPr/>
          <p:nvPr/>
        </p:nvSpPr>
        <p:spPr>
          <a:xfrm>
            <a:off x="4392960" y="2061686"/>
            <a:ext cx="843141" cy="125730"/>
          </a:xfrm>
          <a:prstGeom prst="roundRect">
            <a:avLst>
              <a:gd name="adj" fmla="val 22727"/>
            </a:avLst>
          </a:prstGeom>
          <a:solidFill>
            <a:srgbClr val="F0F0F3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el-1782912284039-84"/>
          <p:cNvSpPr/>
          <p:nvPr/>
        </p:nvSpPr>
        <p:spPr>
          <a:xfrm>
            <a:off x="4392960" y="2787491"/>
            <a:ext cx="907435" cy="125730"/>
          </a:xfrm>
          <a:prstGeom prst="roundRect">
            <a:avLst>
              <a:gd name="adj" fmla="val 22727"/>
            </a:avLst>
          </a:prstGeom>
          <a:solidFill>
            <a:srgbClr val="F0F0F3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2" name="el-1782912283977-28"/>
          <p:cNvCxnSpPr/>
          <p:nvPr/>
        </p:nvCxnSpPr>
        <p:spPr>
          <a:xfrm>
            <a:off x="2852321" y="4585573"/>
            <a:ext cx="3439359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l-1782912283956-20"/>
          <p:cNvSpPr/>
          <p:nvPr/>
        </p:nvSpPr>
        <p:spPr>
          <a:xfrm>
            <a:off x="6413123" y="490061"/>
            <a:ext cx="2330827" cy="4476274"/>
          </a:xfrm>
          <a:prstGeom prst="roundRect">
            <a:avLst>
              <a:gd name="adj" fmla="val 3269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24" name="el-1782912283983-32"/>
          <p:cNvCxnSpPr/>
          <p:nvPr/>
        </p:nvCxnSpPr>
        <p:spPr>
          <a:xfrm>
            <a:off x="6505992" y="540067"/>
            <a:ext cx="914" cy="342900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l-1782912284012-70"/>
          <p:cNvSpPr/>
          <p:nvPr/>
        </p:nvSpPr>
        <p:spPr>
          <a:xfrm>
            <a:off x="7431554" y="597217"/>
            <a:ext cx="1233815" cy="22860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82912283980-29"/>
          <p:cNvSpPr/>
          <p:nvPr/>
        </p:nvSpPr>
        <p:spPr>
          <a:xfrm>
            <a:off x="6491704" y="925830"/>
            <a:ext cx="2173664" cy="204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8026" y="0"/>
                </a:lnTo>
                <a:lnTo>
                  <a:pt x="98219" y="9"/>
                </a:lnTo>
                <a:lnTo>
                  <a:pt x="98412" y="42"/>
                </a:lnTo>
                <a:lnTo>
                  <a:pt x="98601" y="89"/>
                </a:lnTo>
                <a:lnTo>
                  <a:pt x="98781" y="159"/>
                </a:lnTo>
                <a:lnTo>
                  <a:pt x="98956" y="248"/>
                </a:lnTo>
                <a:lnTo>
                  <a:pt x="99123" y="355"/>
                </a:lnTo>
                <a:lnTo>
                  <a:pt x="99276" y="477"/>
                </a:lnTo>
                <a:lnTo>
                  <a:pt x="99421" y="617"/>
                </a:lnTo>
                <a:lnTo>
                  <a:pt x="99553" y="771"/>
                </a:lnTo>
                <a:lnTo>
                  <a:pt x="99667" y="935"/>
                </a:lnTo>
                <a:lnTo>
                  <a:pt x="99768" y="1112"/>
                </a:lnTo>
                <a:lnTo>
                  <a:pt x="99851" y="1299"/>
                </a:lnTo>
                <a:lnTo>
                  <a:pt x="99917" y="1491"/>
                </a:lnTo>
                <a:lnTo>
                  <a:pt x="99961" y="1692"/>
                </a:lnTo>
                <a:lnTo>
                  <a:pt x="99991" y="1897"/>
                </a:lnTo>
                <a:lnTo>
                  <a:pt x="100000" y="2103"/>
                </a:lnTo>
                <a:lnTo>
                  <a:pt x="100000" y="97897"/>
                </a:lnTo>
                <a:lnTo>
                  <a:pt x="99991" y="98103"/>
                </a:lnTo>
                <a:lnTo>
                  <a:pt x="99961" y="98308"/>
                </a:lnTo>
                <a:lnTo>
                  <a:pt x="99917" y="98509"/>
                </a:lnTo>
                <a:lnTo>
                  <a:pt x="99851" y="98701"/>
                </a:lnTo>
                <a:lnTo>
                  <a:pt x="99768" y="98888"/>
                </a:lnTo>
                <a:lnTo>
                  <a:pt x="99667" y="99065"/>
                </a:lnTo>
                <a:lnTo>
                  <a:pt x="99553" y="99229"/>
                </a:lnTo>
                <a:lnTo>
                  <a:pt x="99421" y="99383"/>
                </a:lnTo>
                <a:lnTo>
                  <a:pt x="99276" y="99523"/>
                </a:lnTo>
                <a:lnTo>
                  <a:pt x="99123" y="99645"/>
                </a:lnTo>
                <a:lnTo>
                  <a:pt x="98956" y="99752"/>
                </a:lnTo>
                <a:lnTo>
                  <a:pt x="98781" y="99841"/>
                </a:lnTo>
                <a:lnTo>
                  <a:pt x="98601" y="99911"/>
                </a:lnTo>
                <a:lnTo>
                  <a:pt x="98412" y="99958"/>
                </a:lnTo>
                <a:lnTo>
                  <a:pt x="98219" y="99991"/>
                </a:lnTo>
                <a:lnTo>
                  <a:pt x="98026" y="100000"/>
                </a:lnTo>
                <a:lnTo>
                  <a:pt x="0" y="100000"/>
                </a:lnTo>
                <a:lnTo>
                  <a:pt x="0" y="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el-1782912283983-33"/>
          <p:cNvSpPr/>
          <p:nvPr/>
        </p:nvSpPr>
        <p:spPr>
          <a:xfrm>
            <a:off x="6491704" y="925830"/>
            <a:ext cx="2173664" cy="204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0" y="0"/>
                </a:lnTo>
              </a:path>
            </a:pathLst>
          </a:custGeom>
          <a:noFill/>
          <a:ln w="35719" algn="in">
            <a:solidFill>
              <a:srgbClr val="D4A017"/>
            </a:solidFill>
            <a:prstDash val="solid"/>
          </a:ln>
        </p:spPr>
        <p:txBody>
          <a:bodyPr/>
          <a:lstStyle/>
          <a:p/>
        </p:txBody>
      </p:sp>
      <p:sp>
        <p:nvSpPr>
          <p:cNvPr id="28" name="el-1782912283934-2"/>
          <p:cNvSpPr/>
          <p:nvPr/>
        </p:nvSpPr>
        <p:spPr>
          <a:xfrm>
            <a:off x="0" y="4980623"/>
            <a:ext cx="9144000" cy="16716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9" name="el-1782912283935-4"/>
          <p:cNvCxnSpPr/>
          <p:nvPr/>
        </p:nvCxnSpPr>
        <p:spPr>
          <a:xfrm>
            <a:off x="0" y="4984194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l-1782912283937-5"/>
          <p:cNvSpPr txBox="1"/>
          <p:nvPr/>
        </p:nvSpPr>
        <p:spPr>
          <a:xfrm>
            <a:off x="400050" y="0"/>
            <a:ext cx="51488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r>
              <a:rPr sz="6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9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37</a:t>
            </a:r>
            <a:endParaRPr sz="900" b="1" spc="28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2912283946-11"/>
          <p:cNvSpPr txBox="1"/>
          <p:nvPr/>
        </p:nvSpPr>
        <p:spPr>
          <a:xfrm>
            <a:off x="1086485" y="0"/>
            <a:ext cx="2049145" cy="1555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第四章 · 核心算法：帧对齐与图构建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82912283946-12"/>
          <p:cNvSpPr txBox="1"/>
          <p:nvPr/>
        </p:nvSpPr>
        <p:spPr>
          <a:xfrm>
            <a:off x="3131661" y="0"/>
            <a:ext cx="96619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D0D0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900">
              <a:solidFill>
                <a:srgbClr val="D0D0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82912283946-13"/>
          <p:cNvSpPr txBox="1"/>
          <p:nvPr/>
        </p:nvSpPr>
        <p:spPr>
          <a:xfrm>
            <a:off x="3228281" y="6985"/>
            <a:ext cx="1963192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图构建 — 从原始事件到依赖关键路径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82912283944-8"/>
          <p:cNvSpPr txBox="1"/>
          <p:nvPr/>
        </p:nvSpPr>
        <p:spPr>
          <a:xfrm>
            <a:off x="507137" y="195739"/>
            <a:ext cx="2483168" cy="2628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-1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从原始事件到依赖关键路径</a:t>
            </a:r>
            <a:endParaRPr sz="1570" b="1" spc="-1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82912283944-9"/>
          <p:cNvSpPr txBox="1"/>
          <p:nvPr/>
        </p:nvSpPr>
        <p:spPr>
          <a:xfrm>
            <a:off x="7828300" y="298609"/>
            <a:ext cx="962085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 + 边 + 7 阶段</a:t>
            </a:r>
            <a:endParaRPr sz="73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l-1782912283994-39"/>
          <p:cNvSpPr txBox="1"/>
          <p:nvPr/>
        </p:nvSpPr>
        <p:spPr>
          <a:xfrm>
            <a:off x="578644" y="540067"/>
            <a:ext cx="1222921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10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🧩 节点构建 · 角色识别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el-1782912283995-40"/>
          <p:cNvSpPr txBox="1"/>
          <p:nvPr/>
        </p:nvSpPr>
        <p:spPr>
          <a:xfrm>
            <a:off x="1930152" y="597217"/>
            <a:ext cx="636419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805"/>
              </a:lnSpc>
            </a:pPr>
            <a:r>
              <a:rPr sz="67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每节点 = 一条线程</a:t>
            </a:r>
            <a:endParaRPr sz="67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el-1782912283963-21"/>
          <p:cNvSpPr txBox="1"/>
          <p:nvPr/>
        </p:nvSpPr>
        <p:spPr>
          <a:xfrm>
            <a:off x="478631" y="925830"/>
            <a:ext cx="2173664" cy="2914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40"/>
              </a:lnSpc>
            </a:pP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属性：</a:t>
            </a:r>
            <a:r>
              <a:rPr sz="95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TID</a:t>
            </a: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sz="95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comm</a:t>
            </a: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(15字符截断) · </a:t>
            </a:r>
            <a:r>
              <a:rPr sz="95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role</a:t>
            </a: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(12类) · </a:t>
            </a:r>
            <a:r>
              <a:rPr sz="95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frame_window_overlap</a:t>
            </a:r>
            <a:endParaRPr sz="95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l-1782912283997-42"/>
          <p:cNvSpPr txBox="1"/>
          <p:nvPr/>
        </p:nvSpPr>
        <p:spPr>
          <a:xfrm>
            <a:off x="507206" y="1274445"/>
            <a:ext cx="915561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</a:t>
            </a:r>
            <a:endParaRPr sz="90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el-1782912283998-43"/>
          <p:cNvSpPr txBox="1"/>
          <p:nvPr/>
        </p:nvSpPr>
        <p:spPr>
          <a:xfrm>
            <a:off x="1437055" y="1274445"/>
            <a:ext cx="1272391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判定依据</a:t>
            </a:r>
            <a:endParaRPr sz="90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el-1782912283998-44"/>
          <p:cNvSpPr txBox="1"/>
          <p:nvPr/>
        </p:nvSpPr>
        <p:spPr>
          <a:xfrm>
            <a:off x="507206" y="1487329"/>
            <a:ext cx="919133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 Thread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el-1782912283999-45"/>
          <p:cNvSpPr txBox="1"/>
          <p:nvPr/>
        </p:nvSpPr>
        <p:spPr>
          <a:xfrm>
            <a:off x="1437055" y="1487329"/>
            <a:ext cx="1275963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TID == target_pid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l-1782912283999-46"/>
          <p:cNvSpPr txBox="1"/>
          <p:nvPr/>
        </p:nvSpPr>
        <p:spPr>
          <a:xfrm>
            <a:off x="507206" y="1690211"/>
            <a:ext cx="919133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RenderThread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el-1782912284000-47"/>
          <p:cNvSpPr txBox="1"/>
          <p:nvPr/>
        </p:nvSpPr>
        <p:spPr>
          <a:xfrm>
            <a:off x="1437055" y="1690211"/>
            <a:ext cx="1186666" cy="320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4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comm 含 renderthread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el-1782912284000-48"/>
          <p:cNvSpPr txBox="1"/>
          <p:nvPr/>
        </p:nvSpPr>
        <p:spPr>
          <a:xfrm>
            <a:off x="507206" y="2053114"/>
            <a:ext cx="919133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SurfaceFlinger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el-1782912284000-49"/>
          <p:cNvSpPr txBox="1"/>
          <p:nvPr/>
        </p:nvSpPr>
        <p:spPr>
          <a:xfrm>
            <a:off x="1437055" y="2053114"/>
            <a:ext cx="1186666" cy="320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4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comm 含 surfaceflinger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el-1782912284001-50"/>
          <p:cNvSpPr txBox="1"/>
          <p:nvPr/>
        </p:nvSpPr>
        <p:spPr>
          <a:xfrm>
            <a:off x="507206" y="2416016"/>
            <a:ext cx="919133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Binder RPC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el-1782912284001-51"/>
          <p:cNvSpPr txBox="1"/>
          <p:nvPr/>
        </p:nvSpPr>
        <p:spPr>
          <a:xfrm>
            <a:off x="1437055" y="2416016"/>
            <a:ext cx="1275963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comm 含 binder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el-1782912284002-52"/>
          <p:cNvSpPr txBox="1"/>
          <p:nvPr/>
        </p:nvSpPr>
        <p:spPr>
          <a:xfrm>
            <a:off x="507206" y="2618899"/>
            <a:ext cx="919133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 Worker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el-1782912284002-53"/>
          <p:cNvSpPr txBox="1"/>
          <p:nvPr/>
        </p:nvSpPr>
        <p:spPr>
          <a:xfrm>
            <a:off x="1437055" y="2618899"/>
            <a:ext cx="1275963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comm 含 gpu / gl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el-1782912284003-54"/>
          <p:cNvSpPr txBox="1"/>
          <p:nvPr/>
        </p:nvSpPr>
        <p:spPr>
          <a:xfrm>
            <a:off x="507206" y="2821781"/>
            <a:ext cx="919133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KernelWorker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el-1782912284003-55"/>
          <p:cNvSpPr txBox="1"/>
          <p:nvPr/>
        </p:nvSpPr>
        <p:spPr>
          <a:xfrm>
            <a:off x="1437055" y="2821781"/>
            <a:ext cx="1275963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kworker / swapper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el-1782912283967-22"/>
          <p:cNvSpPr txBox="1"/>
          <p:nvPr/>
        </p:nvSpPr>
        <p:spPr>
          <a:xfrm>
            <a:off x="478631" y="3081814"/>
            <a:ext cx="2173664" cy="14573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40"/>
              </a:lnSpc>
            </a:pPr>
            <a:r>
              <a:rPr sz="950" b="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各角色职责：</a:t>
            </a:r>
            <a:r>
              <a:rPr sz="95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 Thread - 进程主线程，负责用户输入和布局绘制；RenderThread - 独立渲染线程，将绘制命令转为OpenGL指令；SurfaceFlinger - 系统合成服务，合并缓冲区到显示硬件；Binder RPC - 跨进程通信线程，处理系统服务IPC调用；GPU Worker - GPU驱动工作线程，执行着色器与渲染指令；KernelWorker - 内核工作线程，处理中断和内存回收</a:t>
            </a:r>
            <a:endParaRPr sz="95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el-1782912283968-23"/>
          <p:cNvSpPr txBox="1"/>
          <p:nvPr/>
        </p:nvSpPr>
        <p:spPr>
          <a:xfrm>
            <a:off x="478631" y="4624864"/>
            <a:ext cx="2173664" cy="2914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40"/>
              </a:lnSpc>
            </a:pPr>
            <a:r>
              <a:rPr sz="950" b="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classify_thread()</a:t>
            </a:r>
            <a:r>
              <a:rPr sz="95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自动识别 12 类角色，用于权重计算与关键路径分析</a:t>
            </a:r>
            <a:endParaRPr sz="95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el-1782912284004-56"/>
          <p:cNvSpPr txBox="1"/>
          <p:nvPr/>
        </p:nvSpPr>
        <p:spPr>
          <a:xfrm>
            <a:off x="2952333" y="540067"/>
            <a:ext cx="1558588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🔗 边构建 · 5 种依赖关系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el-1782912284004-57"/>
          <p:cNvSpPr txBox="1"/>
          <p:nvPr/>
        </p:nvSpPr>
        <p:spPr>
          <a:xfrm>
            <a:off x="5691604" y="568642"/>
            <a:ext cx="642938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从事件流抽取</a:t>
            </a:r>
            <a:endParaRPr sz="67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el-1782912284006-59"/>
          <p:cNvSpPr txBox="1"/>
          <p:nvPr/>
        </p:nvSpPr>
        <p:spPr>
          <a:xfrm>
            <a:off x="2880896" y="768667"/>
            <a:ext cx="1497777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边类型</a:t>
            </a:r>
            <a:endParaRPr sz="90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el-1782912284006-60"/>
          <p:cNvSpPr txBox="1"/>
          <p:nvPr/>
        </p:nvSpPr>
        <p:spPr>
          <a:xfrm>
            <a:off x="4392960" y="768667"/>
            <a:ext cx="1314718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来源事件</a:t>
            </a:r>
            <a:endParaRPr sz="90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el-1782912284006-61"/>
          <p:cNvSpPr txBox="1"/>
          <p:nvPr/>
        </p:nvSpPr>
        <p:spPr>
          <a:xfrm>
            <a:off x="5721965" y="768667"/>
            <a:ext cx="626864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匹配逻辑</a:t>
            </a:r>
            <a:endParaRPr sz="90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el-1782912283989-34"/>
          <p:cNvSpPr txBox="1"/>
          <p:nvPr/>
        </p:nvSpPr>
        <p:spPr>
          <a:xfrm>
            <a:off x="2880896" y="981551"/>
            <a:ext cx="1501348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BINDER_CALL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el-1782912284031-77"/>
          <p:cNvSpPr txBox="1"/>
          <p:nvPr/>
        </p:nvSpPr>
        <p:spPr>
          <a:xfrm>
            <a:off x="4428679" y="1015841"/>
            <a:ext cx="1246852" cy="1257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binder_transaction</a:t>
            </a:r>
            <a:endParaRPr sz="840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63" name="el-1782912284007-62"/>
          <p:cNvSpPr txBox="1"/>
          <p:nvPr/>
        </p:nvSpPr>
        <p:spPr>
          <a:xfrm>
            <a:off x="5721965" y="981551"/>
            <a:ext cx="541139" cy="4800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4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TX → RX debug_id 配对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el-1782912283990-35"/>
          <p:cNvSpPr txBox="1"/>
          <p:nvPr/>
        </p:nvSpPr>
        <p:spPr>
          <a:xfrm>
            <a:off x="2880896" y="1504474"/>
            <a:ext cx="1501348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FUTEX_WAIT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el-1782912284033-79"/>
          <p:cNvSpPr txBox="1"/>
          <p:nvPr/>
        </p:nvSpPr>
        <p:spPr>
          <a:xfrm>
            <a:off x="4428679" y="1538764"/>
            <a:ext cx="410855" cy="1257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futex</a:t>
            </a:r>
            <a:endParaRPr sz="840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66" name="el-1782912284008-63"/>
          <p:cNvSpPr txBox="1"/>
          <p:nvPr/>
        </p:nvSpPr>
        <p:spPr>
          <a:xfrm>
            <a:off x="5721965" y="1504474"/>
            <a:ext cx="541139" cy="4800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4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 uaddr wait → wake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el-1782912283991-36"/>
          <p:cNvSpPr txBox="1"/>
          <p:nvPr/>
        </p:nvSpPr>
        <p:spPr>
          <a:xfrm>
            <a:off x="2880896" y="2027396"/>
            <a:ext cx="1501348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SCHED_DEPENDENCY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el-1782912284035-81"/>
          <p:cNvSpPr txBox="1"/>
          <p:nvPr/>
        </p:nvSpPr>
        <p:spPr>
          <a:xfrm>
            <a:off x="4428679" y="2061686"/>
            <a:ext cx="861000" cy="1257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sched_wakeup</a:t>
            </a:r>
            <a:endParaRPr sz="840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69" name="el-1782912284009-64"/>
          <p:cNvSpPr txBox="1"/>
          <p:nvPr/>
        </p:nvSpPr>
        <p:spPr>
          <a:xfrm>
            <a:off x="5721965" y="2027396"/>
            <a:ext cx="541139" cy="320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4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waker → wakee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el-1782912283992-37"/>
          <p:cNvSpPr txBox="1"/>
          <p:nvPr/>
        </p:nvSpPr>
        <p:spPr>
          <a:xfrm>
            <a:off x="2880896" y="2390299"/>
            <a:ext cx="1501348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DECODE_DEPENDENCY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el-1782912284009-65"/>
          <p:cNvSpPr txBox="1"/>
          <p:nvPr/>
        </p:nvSpPr>
        <p:spPr>
          <a:xfrm>
            <a:off x="4392960" y="2390299"/>
            <a:ext cx="1318290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视频帧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el-1782912284009-66"/>
          <p:cNvSpPr txBox="1"/>
          <p:nvPr/>
        </p:nvSpPr>
        <p:spPr>
          <a:xfrm>
            <a:off x="5721965" y="2390299"/>
            <a:ext cx="541139" cy="320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4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解码 → 渲染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el-1782912283993-38"/>
          <p:cNvSpPr txBox="1"/>
          <p:nvPr/>
        </p:nvSpPr>
        <p:spPr>
          <a:xfrm>
            <a:off x="2880896" y="2753201"/>
            <a:ext cx="1501348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RESOURCE_STALL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el-1782912284037-83"/>
          <p:cNvSpPr txBox="1"/>
          <p:nvPr/>
        </p:nvSpPr>
        <p:spPr>
          <a:xfrm>
            <a:off x="4428679" y="2787491"/>
            <a:ext cx="925294" cy="1257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cpu_frequency</a:t>
            </a:r>
            <a:endParaRPr sz="840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75" name="el-1782912284010-67"/>
          <p:cNvSpPr txBox="1"/>
          <p:nvPr/>
        </p:nvSpPr>
        <p:spPr>
          <a:xfrm>
            <a:off x="5721965" y="2753201"/>
            <a:ext cx="541139" cy="320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4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 资源不足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el-1782912283973-24"/>
          <p:cNvSpPr txBox="1"/>
          <p:nvPr/>
        </p:nvSpPr>
        <p:spPr>
          <a:xfrm>
            <a:off x="2852321" y="3173254"/>
            <a:ext cx="3439359" cy="7286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40"/>
              </a:lnSpc>
            </a:pPr>
            <a:r>
              <a:rPr sz="950" b="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各边说明：</a:t>
            </a:r>
            <a:r>
              <a:rPr sz="95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BINDER_CALL - 跨进程RPC依赖，TX→RX debug_id配对；FUTEX_WAIT - 线程同步依赖，同uaddr wait→wake；SCHED_DEPENDENCY - 调度唤醒依赖，waker→wakee；DECODE_DEPENDENCY - 视频解码依赖，解码→渲染；RESOURCE_STALL - 资源阻塞依赖，CPU频率不足</a:t>
            </a:r>
            <a:endParaRPr sz="95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el-1782912283974-25"/>
          <p:cNvSpPr txBox="1"/>
          <p:nvPr/>
        </p:nvSpPr>
        <p:spPr>
          <a:xfrm>
            <a:off x="2852321" y="4624864"/>
            <a:ext cx="3439359" cy="2914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40"/>
              </a:lnSpc>
            </a:pPr>
            <a:r>
              <a:rPr sz="95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边方向 = 依赖方向（被依赖方为源），图规模最高可达 </a:t>
            </a:r>
            <a:r>
              <a:rPr sz="950" b="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60K 节点</a:t>
            </a:r>
            <a:endParaRPr sz="950" b="1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el-1782912284010-68"/>
          <p:cNvSpPr txBox="1"/>
          <p:nvPr/>
        </p:nvSpPr>
        <p:spPr>
          <a:xfrm>
            <a:off x="6591717" y="540067"/>
            <a:ext cx="796975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10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📋 图构建阶段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el-1782912284011-69"/>
          <p:cNvSpPr txBox="1"/>
          <p:nvPr/>
        </p:nvSpPr>
        <p:spPr>
          <a:xfrm>
            <a:off x="7517279" y="597217"/>
            <a:ext cx="1062365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805"/>
              </a:lnSpc>
            </a:pPr>
            <a:r>
              <a:rPr sz="67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 阶段 (页面) + 8 阶段 (视频)</a:t>
            </a:r>
            <a:endParaRPr sz="67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el-1782912284021-76"/>
          <p:cNvSpPr txBox="1"/>
          <p:nvPr/>
        </p:nvSpPr>
        <p:spPr>
          <a:xfrm>
            <a:off x="6598861" y="968693"/>
            <a:ext cx="2055793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页面切换场景 (7 阶段)</a:t>
            </a:r>
            <a:endParaRPr sz="95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el-1782912284040-85"/>
          <p:cNvSpPr txBox="1"/>
          <p:nvPr/>
        </p:nvSpPr>
        <p:spPr>
          <a:xfrm>
            <a:off x="6598861" y="1150144"/>
            <a:ext cx="1759327" cy="1457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Phase1</a:t>
            </a:r>
            <a:r>
              <a:rPr sz="3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调度事件创建线程节点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el-1782912284041-86"/>
          <p:cNvSpPr txBox="1"/>
          <p:nvPr/>
        </p:nvSpPr>
        <p:spPr>
          <a:xfrm>
            <a:off x="6598861" y="1317308"/>
            <a:ext cx="1490990" cy="1457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Phase1b</a:t>
            </a:r>
            <a:r>
              <a:rPr sz="3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Perfetto 帧节点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el-1782912284042-87"/>
          <p:cNvSpPr txBox="1"/>
          <p:nvPr/>
        </p:nvSpPr>
        <p:spPr>
          <a:xfrm>
            <a:off x="6598861" y="1484471"/>
            <a:ext cx="1631097" cy="1457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Phase1c</a:t>
            </a:r>
            <a:r>
              <a:rPr sz="3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系统/增强资源节点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el-1782912284043-88"/>
          <p:cNvSpPr txBox="1"/>
          <p:nvPr/>
        </p:nvSpPr>
        <p:spPr>
          <a:xfrm>
            <a:off x="6598861" y="1651635"/>
            <a:ext cx="1152108" cy="1457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Phase2</a:t>
            </a:r>
            <a:r>
              <a:rPr sz="3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调度唤醒边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el-1782912284044-89"/>
          <p:cNvSpPr txBox="1"/>
          <p:nvPr/>
        </p:nvSpPr>
        <p:spPr>
          <a:xfrm>
            <a:off x="6598861" y="1818799"/>
            <a:ext cx="1995071" cy="2914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4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Phase3</a:t>
            </a:r>
            <a:r>
              <a:rPr sz="3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Binder / Futex / CPU 频率 / 内存边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el-1782912284044-90"/>
          <p:cNvSpPr txBox="1"/>
          <p:nvPr/>
        </p:nvSpPr>
        <p:spPr>
          <a:xfrm>
            <a:off x="6598861" y="2131695"/>
            <a:ext cx="1030665" cy="1457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Phase4</a:t>
            </a:r>
            <a:r>
              <a:rPr sz="3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帧依赖边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el-1782912284046-91"/>
          <p:cNvSpPr txBox="1"/>
          <p:nvPr/>
        </p:nvSpPr>
        <p:spPr>
          <a:xfrm>
            <a:off x="6598861" y="2298859"/>
            <a:ext cx="1995071" cy="2914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4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Phase5</a:t>
            </a:r>
            <a:r>
              <a:rPr sz="3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帧窗口重叠度 + jank runnable delay 聚合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el-1782912284046-92"/>
          <p:cNvSpPr txBox="1"/>
          <p:nvPr/>
        </p:nvSpPr>
        <p:spPr>
          <a:xfrm>
            <a:off x="6598861" y="2611755"/>
            <a:ext cx="1307128" cy="1457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Phase6</a:t>
            </a:r>
            <a:r>
              <a:rPr sz="3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jank 共现关系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el-1782912284047-93"/>
          <p:cNvSpPr txBox="1"/>
          <p:nvPr/>
        </p:nvSpPr>
        <p:spPr>
          <a:xfrm>
            <a:off x="6598861" y="2778919"/>
            <a:ext cx="1030665" cy="1457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Phase7</a:t>
            </a:r>
            <a:r>
              <a:rPr sz="30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后台惩罚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el-1782912283975-26"/>
          <p:cNvSpPr txBox="1"/>
          <p:nvPr/>
        </p:nvSpPr>
        <p:spPr>
          <a:xfrm>
            <a:off x="6491704" y="3010376"/>
            <a:ext cx="2173664" cy="43719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40"/>
              </a:lnSpc>
            </a:pPr>
            <a:r>
              <a:rPr sz="95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视频场景扩展 Phase：增加 </a:t>
            </a:r>
            <a:r>
              <a:rPr sz="950" b="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DECODE_DEPENDENCY</a:t>
            </a:r>
            <a:r>
              <a:rPr sz="95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(560条) 和 </a:t>
            </a:r>
            <a:r>
              <a:rPr sz="950" b="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BUFFER_QUEUE</a:t>
            </a:r>
            <a:r>
              <a:rPr sz="95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(12条) 边</a:t>
            </a:r>
            <a:endParaRPr sz="95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el-1782912283947-15"/>
          <p:cNvSpPr txBox="1"/>
          <p:nvPr/>
        </p:nvSpPr>
        <p:spPr>
          <a:xfrm>
            <a:off x="400050" y="4987766"/>
            <a:ext cx="645081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</a:t>
            </a:r>
            <a:endParaRPr sz="95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el-1782912283948-16"/>
          <p:cNvSpPr txBox="1"/>
          <p:nvPr/>
        </p:nvSpPr>
        <p:spPr>
          <a:xfrm>
            <a:off x="1155859" y="4987766"/>
            <a:ext cx="95548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95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el-1782912283948-17"/>
          <p:cNvSpPr txBox="1"/>
          <p:nvPr/>
        </p:nvSpPr>
        <p:spPr>
          <a:xfrm>
            <a:off x="1362135" y="4987766"/>
            <a:ext cx="532299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</a:t>
            </a:r>
            <a:r>
              <a:rPr lang="en-US" altLang="en-US" sz="95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altLang="en-US" sz="95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el-1782912283938-6"/>
          <p:cNvSpPr txBox="1"/>
          <p:nvPr/>
        </p:nvSpPr>
        <p:spPr>
          <a:xfrm>
            <a:off x="6804025" y="4947920"/>
            <a:ext cx="2298065" cy="1873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第四章 · 核心算法：帧对齐与图构建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2912284066-1"/>
          <p:cNvSpPr/>
          <p:nvPr/>
        </p:nvSpPr>
        <p:spPr>
          <a:xfrm>
            <a:off x="0" y="0"/>
            <a:ext cx="9144000" cy="3714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2912284067-3"/>
          <p:cNvCxnSpPr/>
          <p:nvPr/>
        </p:nvCxnSpPr>
        <p:spPr>
          <a:xfrm>
            <a:off x="0" y="367903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2912284086-16"/>
          <p:cNvCxnSpPr/>
          <p:nvPr/>
        </p:nvCxnSpPr>
        <p:spPr>
          <a:xfrm>
            <a:off x="414338" y="420052"/>
            <a:ext cx="914" cy="145732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2912284081-11"/>
          <p:cNvSpPr/>
          <p:nvPr/>
        </p:nvSpPr>
        <p:spPr>
          <a:xfrm>
            <a:off x="7741771" y="428625"/>
            <a:ext cx="1002179" cy="142875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2912284092-21"/>
          <p:cNvSpPr/>
          <p:nvPr/>
        </p:nvSpPr>
        <p:spPr>
          <a:xfrm>
            <a:off x="400050" y="617220"/>
            <a:ext cx="4150519" cy="3687604"/>
          </a:xfrm>
          <a:prstGeom prst="roundRect">
            <a:avLst>
              <a:gd name="adj" fmla="val 2066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2912284132-53"/>
          <p:cNvCxnSpPr/>
          <p:nvPr/>
        </p:nvCxnSpPr>
        <p:spPr>
          <a:xfrm>
            <a:off x="492919" y="667226"/>
            <a:ext cx="914" cy="165735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2912284140-60"/>
          <p:cNvSpPr/>
          <p:nvPr/>
        </p:nvSpPr>
        <p:spPr>
          <a:xfrm>
            <a:off x="3993535" y="685800"/>
            <a:ext cx="478453" cy="128588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2912284108-30"/>
          <p:cNvSpPr/>
          <p:nvPr/>
        </p:nvSpPr>
        <p:spPr>
          <a:xfrm>
            <a:off x="478631" y="861536"/>
            <a:ext cx="3993356" cy="13608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8568" y="0"/>
                </a:lnTo>
                <a:lnTo>
                  <a:pt x="98709" y="21"/>
                </a:lnTo>
                <a:lnTo>
                  <a:pt x="98847" y="84"/>
                </a:lnTo>
                <a:lnTo>
                  <a:pt x="98983" y="182"/>
                </a:lnTo>
                <a:lnTo>
                  <a:pt x="99117" y="322"/>
                </a:lnTo>
                <a:lnTo>
                  <a:pt x="99243" y="497"/>
                </a:lnTo>
                <a:lnTo>
                  <a:pt x="99363" y="706"/>
                </a:lnTo>
                <a:lnTo>
                  <a:pt x="99477" y="951"/>
                </a:lnTo>
                <a:lnTo>
                  <a:pt x="99580" y="1231"/>
                </a:lnTo>
                <a:lnTo>
                  <a:pt x="99675" y="1531"/>
                </a:lnTo>
                <a:lnTo>
                  <a:pt x="99759" y="1867"/>
                </a:lnTo>
                <a:lnTo>
                  <a:pt x="99831" y="2217"/>
                </a:lnTo>
                <a:lnTo>
                  <a:pt x="99890" y="2587"/>
                </a:lnTo>
                <a:lnTo>
                  <a:pt x="99938" y="2979"/>
                </a:lnTo>
                <a:lnTo>
                  <a:pt x="99971" y="3378"/>
                </a:lnTo>
                <a:lnTo>
                  <a:pt x="99993" y="3783"/>
                </a:lnTo>
                <a:lnTo>
                  <a:pt x="100000" y="4196"/>
                </a:lnTo>
                <a:lnTo>
                  <a:pt x="100000" y="95804"/>
                </a:lnTo>
                <a:lnTo>
                  <a:pt x="99993" y="96217"/>
                </a:lnTo>
                <a:lnTo>
                  <a:pt x="99971" y="96622"/>
                </a:lnTo>
                <a:lnTo>
                  <a:pt x="99938" y="97021"/>
                </a:lnTo>
                <a:lnTo>
                  <a:pt x="99890" y="97413"/>
                </a:lnTo>
                <a:lnTo>
                  <a:pt x="99831" y="97783"/>
                </a:lnTo>
                <a:lnTo>
                  <a:pt x="99759" y="98133"/>
                </a:lnTo>
                <a:lnTo>
                  <a:pt x="99675" y="98469"/>
                </a:lnTo>
                <a:lnTo>
                  <a:pt x="99580" y="98769"/>
                </a:lnTo>
                <a:lnTo>
                  <a:pt x="99477" y="99049"/>
                </a:lnTo>
                <a:lnTo>
                  <a:pt x="99363" y="99294"/>
                </a:lnTo>
                <a:lnTo>
                  <a:pt x="99243" y="99503"/>
                </a:lnTo>
                <a:lnTo>
                  <a:pt x="99117" y="99678"/>
                </a:lnTo>
                <a:lnTo>
                  <a:pt x="98983" y="99818"/>
                </a:lnTo>
                <a:lnTo>
                  <a:pt x="98847" y="99916"/>
                </a:lnTo>
                <a:lnTo>
                  <a:pt x="98709" y="99979"/>
                </a:lnTo>
                <a:lnTo>
                  <a:pt x="98568" y="100000"/>
                </a:lnTo>
                <a:lnTo>
                  <a:pt x="0" y="100000"/>
                </a:lnTo>
                <a:lnTo>
                  <a:pt x="0" y="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2912284121-49"/>
          <p:cNvSpPr/>
          <p:nvPr/>
        </p:nvSpPr>
        <p:spPr>
          <a:xfrm>
            <a:off x="478631" y="861536"/>
            <a:ext cx="3993356" cy="13608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0" y="0"/>
                </a:lnTo>
              </a:path>
            </a:pathLst>
          </a:custGeom>
          <a:noFill/>
          <a:ln w="35719" algn="in">
            <a:solidFill>
              <a:srgbClr val="D4A017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2912284094-22"/>
          <p:cNvSpPr/>
          <p:nvPr/>
        </p:nvSpPr>
        <p:spPr>
          <a:xfrm>
            <a:off x="4593431" y="617220"/>
            <a:ext cx="4150519" cy="3687604"/>
          </a:xfrm>
          <a:prstGeom prst="roundRect">
            <a:avLst>
              <a:gd name="adj" fmla="val 2066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2912284133-54"/>
          <p:cNvCxnSpPr/>
          <p:nvPr/>
        </p:nvCxnSpPr>
        <p:spPr>
          <a:xfrm>
            <a:off x="4686300" y="667226"/>
            <a:ext cx="914" cy="165735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2912284143-63"/>
          <p:cNvSpPr/>
          <p:nvPr/>
        </p:nvSpPr>
        <p:spPr>
          <a:xfrm>
            <a:off x="7744897" y="685800"/>
            <a:ext cx="920472" cy="128588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2912284148-73"/>
          <p:cNvCxnSpPr/>
          <p:nvPr/>
        </p:nvCxnSpPr>
        <p:spPr>
          <a:xfrm>
            <a:off x="4672013" y="1039416"/>
            <a:ext cx="74295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-1782912284149-74"/>
          <p:cNvCxnSpPr/>
          <p:nvPr/>
        </p:nvCxnSpPr>
        <p:spPr>
          <a:xfrm>
            <a:off x="5472113" y="1039416"/>
            <a:ext cx="708124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-1782912284149-75"/>
          <p:cNvCxnSpPr/>
          <p:nvPr/>
        </p:nvCxnSpPr>
        <p:spPr>
          <a:xfrm>
            <a:off x="6237387" y="1039416"/>
            <a:ext cx="2427982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-1782912284109-32"/>
          <p:cNvCxnSpPr/>
          <p:nvPr/>
        </p:nvCxnSpPr>
        <p:spPr>
          <a:xfrm>
            <a:off x="4672013" y="4052649"/>
            <a:ext cx="3993356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2912284073-7"/>
          <p:cNvSpPr/>
          <p:nvPr/>
        </p:nvSpPr>
        <p:spPr>
          <a:xfrm>
            <a:off x="400050" y="3371850"/>
            <a:ext cx="8343900" cy="1528763"/>
          </a:xfrm>
          <a:prstGeom prst="roundRect">
            <a:avLst>
              <a:gd name="adj" fmla="val 4984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9" name="el-1782912284096-23"/>
          <p:cNvCxnSpPr/>
          <p:nvPr/>
        </p:nvCxnSpPr>
        <p:spPr>
          <a:xfrm>
            <a:off x="492919" y="3421856"/>
            <a:ext cx="914" cy="165735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l-1782912284111-35"/>
          <p:cNvSpPr/>
          <p:nvPr/>
        </p:nvSpPr>
        <p:spPr>
          <a:xfrm>
            <a:off x="7747933" y="3440430"/>
            <a:ext cx="917436" cy="128588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1" name="el-1782912284122-50"/>
          <p:cNvCxnSpPr/>
          <p:nvPr/>
        </p:nvCxnSpPr>
        <p:spPr>
          <a:xfrm>
            <a:off x="478631" y="3794046"/>
            <a:ext cx="3168789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-1782912284123-51"/>
          <p:cNvCxnSpPr/>
          <p:nvPr/>
        </p:nvCxnSpPr>
        <p:spPr>
          <a:xfrm>
            <a:off x="3718858" y="3794046"/>
            <a:ext cx="2437537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l-1782912284128-52"/>
          <p:cNvCxnSpPr/>
          <p:nvPr/>
        </p:nvCxnSpPr>
        <p:spPr>
          <a:xfrm>
            <a:off x="6227832" y="3794046"/>
            <a:ext cx="2437537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el-1782912284116-44"/>
          <p:cNvSpPr/>
          <p:nvPr/>
        </p:nvSpPr>
        <p:spPr>
          <a:xfrm>
            <a:off x="3747433" y="4260533"/>
            <a:ext cx="1017449" cy="131445"/>
          </a:xfrm>
          <a:prstGeom prst="roundRect">
            <a:avLst>
              <a:gd name="adj" fmla="val 21739"/>
            </a:avLst>
          </a:prstGeom>
          <a:solidFill>
            <a:srgbClr val="F0F0F3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el-1782912284116-44__text"/>
          <p:cNvSpPr txBox="1"/>
          <p:nvPr/>
        </p:nvSpPr>
        <p:spPr>
          <a:xfrm>
            <a:off x="3747433" y="4260533"/>
            <a:ext cx="1017449" cy="13144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00" spc="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critical_score</a:t>
            </a:r>
            <a:endParaRPr sz="900" spc="0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26" name="el-1782912284118-45"/>
          <p:cNvSpPr/>
          <p:nvPr/>
        </p:nvSpPr>
        <p:spPr>
          <a:xfrm>
            <a:off x="6256407" y="4260533"/>
            <a:ext cx="743129" cy="131445"/>
          </a:xfrm>
          <a:prstGeom prst="roundRect">
            <a:avLst>
              <a:gd name="adj" fmla="val 21739"/>
            </a:avLst>
          </a:prstGeom>
          <a:solidFill>
            <a:srgbClr val="F0F0F3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el-1782912284118-45__text"/>
          <p:cNvSpPr txBox="1"/>
          <p:nvPr/>
        </p:nvSpPr>
        <p:spPr>
          <a:xfrm>
            <a:off x="6256407" y="4260533"/>
            <a:ext cx="743129" cy="13144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00" spc="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root_cause</a:t>
            </a:r>
            <a:endParaRPr sz="900" spc="0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cxnSp>
        <p:nvCxnSpPr>
          <p:cNvPr id="28" name="el-1782912284087-17"/>
          <p:cNvCxnSpPr/>
          <p:nvPr/>
        </p:nvCxnSpPr>
        <p:spPr>
          <a:xfrm>
            <a:off x="478631" y="4648438"/>
            <a:ext cx="8186738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-1782912284066-2"/>
          <p:cNvSpPr/>
          <p:nvPr/>
        </p:nvSpPr>
        <p:spPr>
          <a:xfrm>
            <a:off x="0" y="4914900"/>
            <a:ext cx="9144000" cy="2286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0" name="el-1782912284067-4"/>
          <p:cNvCxnSpPr/>
          <p:nvPr/>
        </p:nvCxnSpPr>
        <p:spPr>
          <a:xfrm>
            <a:off x="0" y="4918472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el-1782912284070-5"/>
          <p:cNvSpPr txBox="1"/>
          <p:nvPr/>
        </p:nvSpPr>
        <p:spPr>
          <a:xfrm>
            <a:off x="400050" y="107871"/>
            <a:ext cx="51488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</a:t>
            </a:r>
            <a:r>
              <a:rPr sz="6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9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37</a:t>
            </a:r>
            <a:endParaRPr sz="900" b="1" spc="28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82912284084-13"/>
          <p:cNvSpPr txBox="1"/>
          <p:nvPr/>
        </p:nvSpPr>
        <p:spPr>
          <a:xfrm>
            <a:off x="1086485" y="107950"/>
            <a:ext cx="1303655" cy="1657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第四章 · 核心算法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82912284085-14"/>
          <p:cNvSpPr txBox="1"/>
          <p:nvPr/>
        </p:nvSpPr>
        <p:spPr>
          <a:xfrm>
            <a:off x="2195671" y="107871"/>
            <a:ext cx="96619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D0D0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900">
              <a:solidFill>
                <a:srgbClr val="D0D0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2912284085-15"/>
          <p:cNvSpPr txBox="1"/>
          <p:nvPr/>
        </p:nvSpPr>
        <p:spPr>
          <a:xfrm>
            <a:off x="2306261" y="107871"/>
            <a:ext cx="206552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CriticalScore 算法与两条独立分析路径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82912284079-9"/>
          <p:cNvSpPr txBox="1"/>
          <p:nvPr/>
        </p:nvSpPr>
        <p:spPr>
          <a:xfrm>
            <a:off x="500063" y="420052"/>
            <a:ext cx="655171" cy="1457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 spc="56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▎核心算法</a:t>
            </a:r>
            <a:endParaRPr sz="950" b="1" spc="56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82912284078-8"/>
          <p:cNvSpPr txBox="1"/>
          <p:nvPr/>
        </p:nvSpPr>
        <p:spPr>
          <a:xfrm>
            <a:off x="1180237" y="385763"/>
            <a:ext cx="2615773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-1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CriticalScore 算法 &amp; </a:t>
            </a:r>
            <a:r>
              <a:rPr sz="1120" b="1" spc="-1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两条独立分析路径</a:t>
            </a:r>
            <a:endParaRPr sz="1120" b="1" spc="-1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l-1782912284079-10"/>
          <p:cNvSpPr txBox="1"/>
          <p:nvPr/>
        </p:nvSpPr>
        <p:spPr>
          <a:xfrm>
            <a:off x="7841784" y="442913"/>
            <a:ext cx="945029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页面切换 + 视频浏览</a:t>
            </a:r>
            <a:endParaRPr sz="67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el-1782912284138-58"/>
          <p:cNvSpPr txBox="1"/>
          <p:nvPr/>
        </p:nvSpPr>
        <p:spPr>
          <a:xfrm>
            <a:off x="564356" y="667226"/>
            <a:ext cx="1304538" cy="1657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📐 CriticalScore 公式</a:t>
            </a:r>
            <a:endParaRPr sz="95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el-1782912284139-59"/>
          <p:cNvSpPr txBox="1"/>
          <p:nvPr/>
        </p:nvSpPr>
        <p:spPr>
          <a:xfrm>
            <a:off x="4064973" y="692944"/>
            <a:ext cx="449878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 项加权</a:t>
            </a:r>
            <a:endParaRPr sz="67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l-1782912284107-29"/>
          <p:cNvSpPr txBox="1"/>
          <p:nvPr/>
        </p:nvSpPr>
        <p:spPr>
          <a:xfrm>
            <a:off x="614363" y="904399"/>
            <a:ext cx="3757613" cy="12751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25"/>
              </a:lnSpc>
            </a:pPr>
            <a:r>
              <a:rPr sz="950" spc="11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CriticalScore = 0.30×frame_window_overlap, 0.10×log1p(runnable_delay_ms), 0.25×binder_dependency_centrality, 0.10×futex_wait_contribution, 0.20×render_path_proximity, 0.05×repeated_jank_cooccurrence, −0.05×background_penalty</a:t>
            </a:r>
            <a:endParaRPr sz="950" spc="11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41" name="el-1782912284109-31"/>
          <p:cNvSpPr txBox="1"/>
          <p:nvPr/>
        </p:nvSpPr>
        <p:spPr>
          <a:xfrm>
            <a:off x="478631" y="2265283"/>
            <a:ext cx="3993356" cy="4736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35"/>
              </a:lnSpc>
            </a:pPr>
            <a:r>
              <a:rPr sz="95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视频场景扩展：+0.20×decode_path_proximity, +0.10×thermal_proximity, +0.15×buffer_underrun, −0.05×network_penalty</a:t>
            </a:r>
            <a:endParaRPr sz="95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el-1782912284141-61"/>
          <p:cNvSpPr txBox="1"/>
          <p:nvPr/>
        </p:nvSpPr>
        <p:spPr>
          <a:xfrm>
            <a:off x="4757738" y="667226"/>
            <a:ext cx="1113800" cy="1657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🧠 三维度直觉解释</a:t>
            </a:r>
            <a:endParaRPr sz="95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el-1782912284141-62"/>
          <p:cNvSpPr txBox="1"/>
          <p:nvPr/>
        </p:nvSpPr>
        <p:spPr>
          <a:xfrm>
            <a:off x="7816334" y="692944"/>
            <a:ext cx="891897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 · 延迟 · 连接度</a:t>
            </a:r>
            <a:endParaRPr sz="67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l-1782912284143-64"/>
          <p:cNvSpPr txBox="1"/>
          <p:nvPr/>
        </p:nvSpPr>
        <p:spPr>
          <a:xfrm>
            <a:off x="4672013" y="861536"/>
            <a:ext cx="803672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维度</a:t>
            </a:r>
            <a:endParaRPr sz="95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el-1782912284143-65"/>
          <p:cNvSpPr txBox="1"/>
          <p:nvPr/>
        </p:nvSpPr>
        <p:spPr>
          <a:xfrm>
            <a:off x="5472113" y="861536"/>
            <a:ext cx="768846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权重</a:t>
            </a:r>
            <a:endParaRPr sz="95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el-1782912284144-66"/>
          <p:cNvSpPr txBox="1"/>
          <p:nvPr/>
        </p:nvSpPr>
        <p:spPr>
          <a:xfrm>
            <a:off x="6237387" y="861536"/>
            <a:ext cx="2488704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直觉</a:t>
            </a:r>
            <a:endParaRPr sz="95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el-1782912284136-55"/>
          <p:cNvSpPr txBox="1"/>
          <p:nvPr/>
        </p:nvSpPr>
        <p:spPr>
          <a:xfrm>
            <a:off x="4700588" y="1071563"/>
            <a:ext cx="775097" cy="1578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Position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el-1782912284145-67"/>
          <p:cNvSpPr txBox="1"/>
          <p:nvPr/>
        </p:nvSpPr>
        <p:spPr>
          <a:xfrm>
            <a:off x="5500688" y="1071563"/>
            <a:ext cx="740271" cy="1578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 = 0.4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el-1782912284145-68"/>
          <p:cNvSpPr txBox="1"/>
          <p:nvPr/>
        </p:nvSpPr>
        <p:spPr>
          <a:xfrm>
            <a:off x="6265962" y="1071563"/>
            <a:ext cx="2370832" cy="6315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35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越靠近帧渲染管线末端（SurfaceFlinger 合成阶段）的线程对帧完成时间的敏感度越高。渲染管线的末端延迟直接推后帧的显示时间，无法通过流水线并行掩盖。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el-1782912284137-56"/>
          <p:cNvSpPr txBox="1"/>
          <p:nvPr/>
        </p:nvSpPr>
        <p:spPr>
          <a:xfrm>
            <a:off x="4700588" y="1745933"/>
            <a:ext cx="775097" cy="1578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DelayShare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el-1782912284145-69"/>
          <p:cNvSpPr txBox="1"/>
          <p:nvPr/>
        </p:nvSpPr>
        <p:spPr>
          <a:xfrm>
            <a:off x="5500688" y="1745933"/>
            <a:ext cx="740271" cy="1578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β = 0.4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el-1782912284146-70"/>
          <p:cNvSpPr txBox="1"/>
          <p:nvPr/>
        </p:nvSpPr>
        <p:spPr>
          <a:xfrm>
            <a:off x="6265962" y="1745933"/>
            <a:ext cx="2370832" cy="7893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35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计算线程在帧窗口内的可运行等待时间（runnable_delay + binder_wait + futex_wait）占该帧总延迟的比例。如果一个线程的等待时间占比超过 50%，说明该线程是帧延迟的主要贡献者。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el-1782912284138-57"/>
          <p:cNvSpPr txBox="1"/>
          <p:nvPr/>
        </p:nvSpPr>
        <p:spPr>
          <a:xfrm>
            <a:off x="4700588" y="2578179"/>
            <a:ext cx="775097" cy="1578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Degree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el-1782912284146-71"/>
          <p:cNvSpPr txBox="1"/>
          <p:nvPr/>
        </p:nvSpPr>
        <p:spPr>
          <a:xfrm>
            <a:off x="5500688" y="2578179"/>
            <a:ext cx="740271" cy="1578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γ = 0.2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el-1782912284147-72"/>
          <p:cNvSpPr txBox="1"/>
          <p:nvPr/>
        </p:nvSpPr>
        <p:spPr>
          <a:xfrm>
            <a:off x="6251479" y="2522458"/>
            <a:ext cx="2370832" cy="142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35"/>
              </a:lnSpc>
            </a:pPr>
            <a:r>
              <a:rPr sz="50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该线程在依赖图中的出度（影响的其他线程数）与入度（被影响的次数）之和。出度高表示该线程是系统的关键同步点</a:t>
            </a:r>
            <a:r>
              <a:rPr sz="50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sz="50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它的执行延迟会通过</a:t>
            </a:r>
            <a:r>
              <a:rPr sz="50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Binder </a:t>
            </a:r>
            <a:r>
              <a:rPr sz="50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调用或</a:t>
            </a:r>
            <a:r>
              <a:rPr sz="50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0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Futex</a:t>
            </a:r>
            <a:r>
              <a:rPr sz="50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锁传递到多个下游线程。入度高则反映该线程频繁等待多个上游线程的完成。综合出度和入度，识别依赖网络中的拓扑关键节点，即使其自身延迟占比不高，也可能通过级联放大效应影响整体帧性能。</a:t>
            </a:r>
            <a:endParaRPr sz="500" dirty="0"/>
          </a:p>
        </p:txBody>
      </p:sp>
      <p:sp>
        <p:nvSpPr>
          <p:cNvPr id="57" name="el-1782912284110-33"/>
          <p:cNvSpPr txBox="1"/>
          <p:nvPr/>
        </p:nvSpPr>
        <p:spPr>
          <a:xfrm>
            <a:off x="564356" y="3421856"/>
            <a:ext cx="1846749" cy="1657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🔄 两条独立分析路径 · 架构解耦</a:t>
            </a:r>
            <a:endParaRPr sz="95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el-1782912284110-34"/>
          <p:cNvSpPr txBox="1"/>
          <p:nvPr/>
        </p:nvSpPr>
        <p:spPr>
          <a:xfrm>
            <a:off x="7819371" y="3447574"/>
            <a:ext cx="888861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互不依赖 · 独立计算</a:t>
            </a:r>
            <a:endParaRPr sz="67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el-1782912284112-36"/>
          <p:cNvSpPr txBox="1"/>
          <p:nvPr/>
        </p:nvSpPr>
        <p:spPr>
          <a:xfrm>
            <a:off x="478631" y="3616166"/>
            <a:ext cx="3229511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特性</a:t>
            </a:r>
            <a:endParaRPr sz="95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el-1782912284112-37"/>
          <p:cNvSpPr txBox="1"/>
          <p:nvPr/>
        </p:nvSpPr>
        <p:spPr>
          <a:xfrm>
            <a:off x="3718858" y="3616166"/>
            <a:ext cx="2498259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CriticalScore 路径</a:t>
            </a:r>
            <a:endParaRPr sz="95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el-1782912284112-38"/>
          <p:cNvSpPr txBox="1"/>
          <p:nvPr/>
        </p:nvSpPr>
        <p:spPr>
          <a:xfrm>
            <a:off x="6227832" y="3616166"/>
            <a:ext cx="2498259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根因归因路径</a:t>
            </a:r>
            <a:endParaRPr sz="95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el-1782912284112-39"/>
          <p:cNvSpPr txBox="1"/>
          <p:nvPr/>
        </p:nvSpPr>
        <p:spPr>
          <a:xfrm>
            <a:off x="507206" y="3826193"/>
            <a:ext cx="3200936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计算方式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el-1782912284103-25"/>
          <p:cNvSpPr txBox="1"/>
          <p:nvPr/>
        </p:nvSpPr>
        <p:spPr>
          <a:xfrm>
            <a:off x="3747433" y="3826193"/>
            <a:ext cx="2469684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维全局加权排名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el-1782912284104-26"/>
          <p:cNvSpPr txBox="1"/>
          <p:nvPr/>
        </p:nvSpPr>
        <p:spPr>
          <a:xfrm>
            <a:off x="6256407" y="3826193"/>
            <a:ext cx="2469684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帧内时间占比直接判定</a:t>
            </a:r>
            <a:endParaRPr sz="95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el-1782912284114-40"/>
          <p:cNvSpPr txBox="1"/>
          <p:nvPr/>
        </p:nvSpPr>
        <p:spPr>
          <a:xfrm>
            <a:off x="507206" y="4029075"/>
            <a:ext cx="3200936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回答的问题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el-1782912284114-41"/>
          <p:cNvSpPr txBox="1"/>
          <p:nvPr/>
        </p:nvSpPr>
        <p:spPr>
          <a:xfrm>
            <a:off x="3747433" y="4029075"/>
            <a:ext cx="2469684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哪个线程全局最可疑？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el-1782912284114-42"/>
          <p:cNvSpPr txBox="1"/>
          <p:nvPr/>
        </p:nvSpPr>
        <p:spPr>
          <a:xfrm>
            <a:off x="6256407" y="4029075"/>
            <a:ext cx="2469684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每帧卡顿的主因是什么</a:t>
            </a:r>
            <a:r>
              <a:rPr sz="95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？</a:t>
            </a:r>
            <a:endParaRPr dirty="0"/>
          </a:p>
        </p:txBody>
      </p:sp>
      <p:sp>
        <p:nvSpPr>
          <p:cNvPr id="68" name="el-1782912284114-43"/>
          <p:cNvSpPr txBox="1"/>
          <p:nvPr/>
        </p:nvSpPr>
        <p:spPr>
          <a:xfrm>
            <a:off x="507206" y="4231958"/>
            <a:ext cx="3200936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el-1782912284105-27"/>
          <p:cNvSpPr txBox="1"/>
          <p:nvPr/>
        </p:nvSpPr>
        <p:spPr>
          <a:xfrm>
            <a:off x="3747433" y="4231958"/>
            <a:ext cx="2469684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indent="1017270"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排序列表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el-1782912284106-28"/>
          <p:cNvSpPr txBox="1"/>
          <p:nvPr/>
        </p:nvSpPr>
        <p:spPr>
          <a:xfrm>
            <a:off x="6256407" y="4231958"/>
            <a:ext cx="2469684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indent="742950"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 + confidence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el-1782912284119-46"/>
          <p:cNvSpPr txBox="1"/>
          <p:nvPr/>
        </p:nvSpPr>
        <p:spPr>
          <a:xfrm>
            <a:off x="507206" y="4434840"/>
            <a:ext cx="3200936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依赖关系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el-1782912284119-47"/>
          <p:cNvSpPr txBox="1"/>
          <p:nvPr/>
        </p:nvSpPr>
        <p:spPr>
          <a:xfrm>
            <a:off x="3747433" y="4434840"/>
            <a:ext cx="2469684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el-1782912284120-48"/>
          <p:cNvSpPr txBox="1"/>
          <p:nvPr/>
        </p:nvSpPr>
        <p:spPr>
          <a:xfrm>
            <a:off x="6256407" y="4434840"/>
            <a:ext cx="2469684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</a:t>
            </a:r>
            <a:endParaRPr sz="95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el-1782912284084-12"/>
          <p:cNvSpPr txBox="1"/>
          <p:nvPr/>
        </p:nvSpPr>
        <p:spPr>
          <a:xfrm>
            <a:off x="478631" y="4680585"/>
            <a:ext cx="8247459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两条路径 </a:t>
            </a: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不互相依赖、独立计算</a:t>
            </a:r>
            <a:r>
              <a:rPr sz="9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，一条出错另一条仍有效 — 核心架构冗余设计</a:t>
            </a:r>
            <a:endParaRPr sz="95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el-1782912284087-18"/>
          <p:cNvSpPr txBox="1"/>
          <p:nvPr/>
        </p:nvSpPr>
        <p:spPr>
          <a:xfrm>
            <a:off x="400050" y="4972765"/>
            <a:ext cx="498366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</a:t>
            </a:r>
            <a:endParaRPr sz="73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el-1782912284088-19"/>
          <p:cNvSpPr txBox="1"/>
          <p:nvPr/>
        </p:nvSpPr>
        <p:spPr>
          <a:xfrm>
            <a:off x="994856" y="4972765"/>
            <a:ext cx="73581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3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el-1782912284088-20"/>
          <p:cNvSpPr txBox="1"/>
          <p:nvPr/>
        </p:nvSpPr>
        <p:spPr>
          <a:xfrm>
            <a:off x="1164878" y="4972765"/>
            <a:ext cx="410587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</a:t>
            </a:r>
            <a:r>
              <a:rPr lang="en-US" altLang="en-US" sz="73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altLang="en-US" sz="73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el-1782912284071-6"/>
          <p:cNvSpPr txBox="1"/>
          <p:nvPr/>
        </p:nvSpPr>
        <p:spPr>
          <a:xfrm>
            <a:off x="7169785" y="4944110"/>
            <a:ext cx="162052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第四章 · 核心算法：帧对齐与图构建</a:t>
            </a:r>
            <a:endParaRPr sz="73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run1_critica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9705" y="267335"/>
            <a:ext cx="4956810" cy="3827780"/>
          </a:xfrm>
          <a:prstGeom prst="rect">
            <a:avLst/>
          </a:prstGeom>
        </p:spPr>
      </p:pic>
      <p:pic>
        <p:nvPicPr>
          <p:cNvPr id="3" name="图片 2" descr="video_critical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0380" y="51435"/>
            <a:ext cx="2735580" cy="51181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907540" y="3796030"/>
            <a:ext cx="1242060" cy="205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800"/>
              <a:t>页面切换关键路径子图</a:t>
            </a:r>
            <a:endParaRPr lang="zh-CN" altLang="en-US" sz="800"/>
          </a:p>
        </p:txBody>
      </p:sp>
      <p:sp>
        <p:nvSpPr>
          <p:cNvPr id="5" name="文本框 4"/>
          <p:cNvSpPr txBox="1"/>
          <p:nvPr/>
        </p:nvSpPr>
        <p:spPr>
          <a:xfrm>
            <a:off x="6588125" y="4299585"/>
            <a:ext cx="1242060" cy="205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800"/>
              <a:t>视频浏览关键路径子图</a:t>
            </a:r>
            <a:endParaRPr lang="zh-CN" altLang="en-US" sz="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run1_binder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47495" y="51435"/>
            <a:ext cx="6319520" cy="2572385"/>
          </a:xfrm>
          <a:prstGeom prst="rect">
            <a:avLst/>
          </a:prstGeom>
        </p:spPr>
      </p:pic>
      <p:pic>
        <p:nvPicPr>
          <p:cNvPr id="3" name="图片 2" descr="video_binder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7450" y="2571750"/>
            <a:ext cx="6783705" cy="21767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363845" y="2139950"/>
            <a:ext cx="1242060" cy="205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800"/>
              <a:t>页面切换</a:t>
            </a:r>
            <a:r>
              <a:rPr lang="en-US" altLang="zh-CN" sz="800"/>
              <a:t>binder</a:t>
            </a:r>
            <a:r>
              <a:rPr lang="zh-CN" altLang="en-US" sz="800"/>
              <a:t>依赖</a:t>
            </a:r>
            <a:r>
              <a:rPr lang="zh-CN" altLang="en-US" sz="800"/>
              <a:t>图</a:t>
            </a:r>
            <a:endParaRPr lang="zh-CN" altLang="en-US" sz="800"/>
          </a:p>
        </p:txBody>
      </p:sp>
      <p:sp>
        <p:nvSpPr>
          <p:cNvPr id="5" name="文本框 4"/>
          <p:cNvSpPr txBox="1"/>
          <p:nvPr/>
        </p:nvSpPr>
        <p:spPr>
          <a:xfrm>
            <a:off x="5507990" y="4227830"/>
            <a:ext cx="1242060" cy="205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800"/>
              <a:t>视频浏览</a:t>
            </a:r>
            <a:r>
              <a:rPr lang="en-US" altLang="zh-CN" sz="800"/>
              <a:t>binder</a:t>
            </a:r>
            <a:r>
              <a:rPr lang="zh-CN" altLang="en-US" sz="800"/>
              <a:t>依赖</a:t>
            </a:r>
            <a:r>
              <a:rPr lang="zh-CN" altLang="en-US" sz="800"/>
              <a:t>图</a:t>
            </a:r>
            <a:endParaRPr lang="zh-CN" altLang="en-US" sz="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run1_futex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8040" y="51435"/>
            <a:ext cx="3145790" cy="5143500"/>
          </a:xfrm>
          <a:prstGeom prst="rect">
            <a:avLst/>
          </a:prstGeom>
        </p:spPr>
      </p:pic>
      <p:pic>
        <p:nvPicPr>
          <p:cNvPr id="3" name="图片 2" descr="video_futex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52070"/>
            <a:ext cx="2965450" cy="51435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403985" y="4876165"/>
            <a:ext cx="1242060" cy="205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800"/>
              <a:t>页面切换</a:t>
            </a:r>
            <a:r>
              <a:rPr lang="en-US" altLang="zh-CN" sz="800"/>
              <a:t>futex</a:t>
            </a:r>
            <a:r>
              <a:rPr lang="zh-CN" altLang="en-US" sz="800"/>
              <a:t>等待图</a:t>
            </a:r>
            <a:endParaRPr lang="zh-CN" altLang="en-US" sz="800"/>
          </a:p>
        </p:txBody>
      </p:sp>
      <p:sp>
        <p:nvSpPr>
          <p:cNvPr id="5" name="文本框 4"/>
          <p:cNvSpPr txBox="1"/>
          <p:nvPr/>
        </p:nvSpPr>
        <p:spPr>
          <a:xfrm>
            <a:off x="5363845" y="4876165"/>
            <a:ext cx="1242060" cy="205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800"/>
              <a:t>视频浏览</a:t>
            </a:r>
            <a:r>
              <a:rPr lang="en-US" altLang="zh-CN" sz="800"/>
              <a:t>futex</a:t>
            </a:r>
            <a:r>
              <a:rPr lang="zh-CN" altLang="en-US" sz="800"/>
              <a:t>等待图</a:t>
            </a:r>
            <a:endParaRPr lang="zh-CN" altLang="en-US" sz="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-1782912284266-3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</p:pic>
      <p:cxnSp>
        <p:nvCxnSpPr>
          <p:cNvPr id="3" name="el-1782912284162-1"/>
          <p:cNvCxnSpPr/>
          <p:nvPr/>
        </p:nvCxnSpPr>
        <p:spPr>
          <a:xfrm>
            <a:off x="575072" y="1143000"/>
            <a:ext cx="914" cy="2857500"/>
          </a:xfrm>
          <a:prstGeom prst="line">
            <a:avLst/>
          </a:prstGeom>
          <a:ln w="9525" cap="flat">
            <a:solidFill>
              <a:srgbClr val="D4A017">
                <a:alpha val="12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2912284166-4"/>
          <p:cNvSpPr/>
          <p:nvPr/>
        </p:nvSpPr>
        <p:spPr>
          <a:xfrm>
            <a:off x="8608219" y="857250"/>
            <a:ext cx="21431" cy="3429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4A017">
                  <a:alpha val="60000"/>
                </a:srgbClr>
              </a:gs>
              <a:gs pos="100000">
                <a:srgbClr val="D4A017">
                  <a:alpha val="5000"/>
                </a:srgbClr>
              </a:gs>
            </a:gsLst>
            <a:lin ang="540000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5" name="el-1782912284180-10"/>
          <p:cNvSpPr/>
          <p:nvPr/>
        </p:nvSpPr>
        <p:spPr>
          <a:xfrm>
            <a:off x="428625" y="3714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2912284182-11"/>
          <p:cNvSpPr/>
          <p:nvPr/>
        </p:nvSpPr>
        <p:spPr>
          <a:xfrm>
            <a:off x="542925" y="3714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2912284183-12"/>
          <p:cNvSpPr/>
          <p:nvPr/>
        </p:nvSpPr>
        <p:spPr>
          <a:xfrm>
            <a:off x="657225" y="3714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2912284185-13"/>
          <p:cNvSpPr/>
          <p:nvPr/>
        </p:nvSpPr>
        <p:spPr>
          <a:xfrm>
            <a:off x="771525" y="3714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2912284186-14"/>
          <p:cNvSpPr/>
          <p:nvPr/>
        </p:nvSpPr>
        <p:spPr>
          <a:xfrm>
            <a:off x="428625" y="4857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2912284187-15"/>
          <p:cNvSpPr/>
          <p:nvPr/>
        </p:nvSpPr>
        <p:spPr>
          <a:xfrm>
            <a:off x="542925" y="4857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2912284189-16"/>
          <p:cNvSpPr/>
          <p:nvPr/>
        </p:nvSpPr>
        <p:spPr>
          <a:xfrm>
            <a:off x="657225" y="4857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2912284190-17"/>
          <p:cNvSpPr/>
          <p:nvPr/>
        </p:nvSpPr>
        <p:spPr>
          <a:xfrm>
            <a:off x="771525" y="4857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2912284192-18"/>
          <p:cNvSpPr/>
          <p:nvPr/>
        </p:nvSpPr>
        <p:spPr>
          <a:xfrm>
            <a:off x="428625" y="6000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2912284193-19"/>
          <p:cNvSpPr/>
          <p:nvPr/>
        </p:nvSpPr>
        <p:spPr>
          <a:xfrm>
            <a:off x="542925" y="6000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2912284194-20"/>
          <p:cNvSpPr/>
          <p:nvPr/>
        </p:nvSpPr>
        <p:spPr>
          <a:xfrm>
            <a:off x="657225" y="6000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2912284195-21"/>
          <p:cNvSpPr/>
          <p:nvPr/>
        </p:nvSpPr>
        <p:spPr>
          <a:xfrm>
            <a:off x="771525" y="6000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2912284196-22"/>
          <p:cNvSpPr/>
          <p:nvPr/>
        </p:nvSpPr>
        <p:spPr>
          <a:xfrm>
            <a:off x="428625" y="7143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2912284198-23"/>
          <p:cNvSpPr/>
          <p:nvPr/>
        </p:nvSpPr>
        <p:spPr>
          <a:xfrm>
            <a:off x="542925" y="7143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2912284199-24"/>
          <p:cNvSpPr/>
          <p:nvPr/>
        </p:nvSpPr>
        <p:spPr>
          <a:xfrm>
            <a:off x="657225" y="7143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2912284200-25"/>
          <p:cNvSpPr/>
          <p:nvPr/>
        </p:nvSpPr>
        <p:spPr>
          <a:xfrm>
            <a:off x="771525" y="7143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el-1782912284201-26"/>
          <p:cNvSpPr/>
          <p:nvPr/>
        </p:nvSpPr>
        <p:spPr>
          <a:xfrm>
            <a:off x="428625" y="8286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2912284203-27"/>
          <p:cNvSpPr/>
          <p:nvPr/>
        </p:nvSpPr>
        <p:spPr>
          <a:xfrm>
            <a:off x="542925" y="8286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-1782912284204-28"/>
          <p:cNvSpPr/>
          <p:nvPr/>
        </p:nvSpPr>
        <p:spPr>
          <a:xfrm>
            <a:off x="657225" y="8286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2912284206-29"/>
          <p:cNvSpPr/>
          <p:nvPr/>
        </p:nvSpPr>
        <p:spPr>
          <a:xfrm>
            <a:off x="771525" y="8286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el-1782912284207-30"/>
          <p:cNvSpPr/>
          <p:nvPr/>
        </p:nvSpPr>
        <p:spPr>
          <a:xfrm>
            <a:off x="428625" y="9429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82912284209-31"/>
          <p:cNvSpPr/>
          <p:nvPr/>
        </p:nvSpPr>
        <p:spPr>
          <a:xfrm>
            <a:off x="542925" y="9429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el-1782912284210-32"/>
          <p:cNvSpPr/>
          <p:nvPr/>
        </p:nvSpPr>
        <p:spPr>
          <a:xfrm>
            <a:off x="657225" y="942975"/>
            <a:ext cx="57150" cy="57150"/>
          </a:xfrm>
          <a:prstGeom prst="ellipse">
            <a:avLst/>
          </a:prstGeom>
          <a:solidFill>
            <a:srgbClr val="D4A017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-1782912284212-33"/>
          <p:cNvSpPr/>
          <p:nvPr/>
        </p:nvSpPr>
        <p:spPr>
          <a:xfrm>
            <a:off x="771525" y="942975"/>
            <a:ext cx="57150" cy="57150"/>
          </a:xfrm>
          <a:prstGeom prst="ellipse">
            <a:avLst/>
          </a:prstGeom>
          <a:solidFill>
            <a:srgbClr val="D4A017">
              <a:alpha val="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el-1782912284164-3"/>
          <p:cNvSpPr txBox="1"/>
          <p:nvPr/>
        </p:nvSpPr>
        <p:spPr>
          <a:xfrm>
            <a:off x="400050" y="1785938"/>
            <a:ext cx="2598539" cy="1571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70" b="1" spc="-495">
                <a:solidFill>
                  <a:srgbClr val="D4A017">
                    <a:alpha val="1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2370" b="1" spc="-495">
              <a:solidFill>
                <a:srgbClr val="D4A017">
                  <a:alpha val="12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" name="el-1782912284177-8"/>
          <p:cNvCxnSpPr/>
          <p:nvPr/>
        </p:nvCxnSpPr>
        <p:spPr>
          <a:xfrm>
            <a:off x="871538" y="1345168"/>
            <a:ext cx="914" cy="180023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el-1782912284178-9"/>
          <p:cNvCxnSpPr/>
          <p:nvPr/>
        </p:nvCxnSpPr>
        <p:spPr>
          <a:xfrm>
            <a:off x="857250" y="2763203"/>
            <a:ext cx="4600575" cy="914"/>
          </a:xfrm>
          <a:prstGeom prst="line">
            <a:avLst/>
          </a:prstGeom>
          <a:ln w="7144" cap="flat">
            <a:solidFill>
              <a:srgbClr val="D4A017">
                <a:alpha val="25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l-1782912284175-6"/>
          <p:cNvSpPr txBox="1"/>
          <p:nvPr/>
        </p:nvSpPr>
        <p:spPr>
          <a:xfrm>
            <a:off x="1014413" y="1345168"/>
            <a:ext cx="1996500" cy="18002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spc="225">
                <a:solidFill>
                  <a:srgbClr val="D4A017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CHAPTER 5 · 实验与发现</a:t>
            </a:r>
            <a:endParaRPr sz="1010" spc="225">
              <a:solidFill>
                <a:srgbClr val="D4A017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82912284175-5"/>
          <p:cNvSpPr txBox="1"/>
          <p:nvPr/>
        </p:nvSpPr>
        <p:spPr>
          <a:xfrm>
            <a:off x="857250" y="1668145"/>
            <a:ext cx="5801995" cy="8915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3505"/>
              </a:lnSpc>
            </a:pPr>
            <a:r>
              <a:rPr sz="2920" b="1" spc="-29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第五章 · </a:t>
            </a:r>
            <a:r>
              <a:rPr sz="2920" b="1" spc="-29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实验成果与数据分析</a:t>
            </a:r>
            <a:endParaRPr sz="2920" b="1" spc="-29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2912284176-7"/>
          <p:cNvSpPr txBox="1"/>
          <p:nvPr/>
        </p:nvSpPr>
        <p:spPr>
          <a:xfrm>
            <a:off x="857250" y="2923937"/>
            <a:ext cx="4600575" cy="874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15"/>
              </a:lnSpc>
            </a:pPr>
            <a:r>
              <a:rPr sz="101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基于三次对照采集实验的数据分析，本章展示 TracePilot 在真实设备上的核心分析成果。通过三次采集对照表、根因推断与 Hint Engine 自适应策略分析、跨 Session 对比分析、Thermal 温控深化分析以及 Jank 根因分类器训练结果，系统性地验证了 Frame-Centric 方法的有效性和 Hint Engine 的智能决策能力。</a:t>
            </a:r>
            <a:endParaRPr sz="101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82912284163-2"/>
          <p:cNvSpPr txBox="1"/>
          <p:nvPr/>
        </p:nvSpPr>
        <p:spPr>
          <a:xfrm>
            <a:off x="7731323" y="4777740"/>
            <a:ext cx="106263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56">
                <a:solidFill>
                  <a:srgbClr val="FFFFFF">
                    <a:alpha val="2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 </a:t>
            </a:r>
            <a:r>
              <a:rPr sz="780" spc="56">
                <a:solidFill>
                  <a:srgbClr val="D4A017">
                    <a:alpha val="3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r>
              <a:rPr sz="780" spc="56">
                <a:solidFill>
                  <a:srgbClr val="FFFFFF">
                    <a:alpha val="2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2026.06</a:t>
            </a:r>
            <a:endParaRPr sz="780" spc="56">
              <a:solidFill>
                <a:srgbClr val="FFFFFF">
                  <a:alpha val="2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2912284591-1"/>
          <p:cNvSpPr/>
          <p:nvPr/>
        </p:nvSpPr>
        <p:spPr>
          <a:xfrm>
            <a:off x="0" y="0"/>
            <a:ext cx="9144000" cy="1557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2912284592-3"/>
          <p:cNvCxnSpPr/>
          <p:nvPr/>
        </p:nvCxnSpPr>
        <p:spPr>
          <a:xfrm>
            <a:off x="0" y="152162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2912284598-7"/>
          <p:cNvSpPr/>
          <p:nvPr/>
        </p:nvSpPr>
        <p:spPr>
          <a:xfrm>
            <a:off x="400050" y="441484"/>
            <a:ext cx="8343900" cy="438626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685" y="0"/>
                </a:moveTo>
                <a:lnTo>
                  <a:pt x="99315" y="0"/>
                </a:lnTo>
                <a:lnTo>
                  <a:pt x="99382" y="7"/>
                </a:lnTo>
                <a:lnTo>
                  <a:pt x="99449" y="26"/>
                </a:lnTo>
                <a:lnTo>
                  <a:pt x="99514" y="56"/>
                </a:lnTo>
                <a:lnTo>
                  <a:pt x="99578" y="100"/>
                </a:lnTo>
                <a:lnTo>
                  <a:pt x="99638" y="154"/>
                </a:lnTo>
                <a:lnTo>
                  <a:pt x="99695" y="219"/>
                </a:lnTo>
                <a:lnTo>
                  <a:pt x="99750" y="295"/>
                </a:lnTo>
                <a:lnTo>
                  <a:pt x="99799" y="382"/>
                </a:lnTo>
                <a:lnTo>
                  <a:pt x="99845" y="475"/>
                </a:lnTo>
                <a:lnTo>
                  <a:pt x="99885" y="579"/>
                </a:lnTo>
                <a:lnTo>
                  <a:pt x="99919" y="688"/>
                </a:lnTo>
                <a:lnTo>
                  <a:pt x="99947" y="803"/>
                </a:lnTo>
                <a:lnTo>
                  <a:pt x="99970" y="924"/>
                </a:lnTo>
                <a:lnTo>
                  <a:pt x="99986" y="1048"/>
                </a:lnTo>
                <a:lnTo>
                  <a:pt x="99997" y="1174"/>
                </a:lnTo>
                <a:lnTo>
                  <a:pt x="100000" y="1302"/>
                </a:lnTo>
                <a:lnTo>
                  <a:pt x="100000" y="98698"/>
                </a:lnTo>
                <a:lnTo>
                  <a:pt x="99997" y="98826"/>
                </a:lnTo>
                <a:lnTo>
                  <a:pt x="99986" y="98952"/>
                </a:lnTo>
                <a:lnTo>
                  <a:pt x="99970" y="99076"/>
                </a:lnTo>
                <a:lnTo>
                  <a:pt x="99947" y="99197"/>
                </a:lnTo>
                <a:lnTo>
                  <a:pt x="99919" y="99312"/>
                </a:lnTo>
                <a:lnTo>
                  <a:pt x="99885" y="99421"/>
                </a:lnTo>
                <a:lnTo>
                  <a:pt x="99845" y="99525"/>
                </a:lnTo>
                <a:lnTo>
                  <a:pt x="99799" y="99618"/>
                </a:lnTo>
                <a:lnTo>
                  <a:pt x="99750" y="99705"/>
                </a:lnTo>
                <a:lnTo>
                  <a:pt x="99695" y="99781"/>
                </a:lnTo>
                <a:lnTo>
                  <a:pt x="99638" y="99846"/>
                </a:lnTo>
                <a:lnTo>
                  <a:pt x="99578" y="99900"/>
                </a:lnTo>
                <a:lnTo>
                  <a:pt x="99514" y="99944"/>
                </a:lnTo>
                <a:lnTo>
                  <a:pt x="99449" y="99974"/>
                </a:lnTo>
                <a:lnTo>
                  <a:pt x="99382" y="99993"/>
                </a:lnTo>
                <a:lnTo>
                  <a:pt x="99315" y="100000"/>
                </a:lnTo>
                <a:lnTo>
                  <a:pt x="685" y="100000"/>
                </a:lnTo>
                <a:lnTo>
                  <a:pt x="618" y="99993"/>
                </a:lnTo>
                <a:lnTo>
                  <a:pt x="551" y="99974"/>
                </a:lnTo>
                <a:lnTo>
                  <a:pt x="486" y="99944"/>
                </a:lnTo>
                <a:lnTo>
                  <a:pt x="422" y="99900"/>
                </a:lnTo>
                <a:lnTo>
                  <a:pt x="362" y="99846"/>
                </a:lnTo>
                <a:lnTo>
                  <a:pt x="305" y="99781"/>
                </a:lnTo>
                <a:lnTo>
                  <a:pt x="250" y="99705"/>
                </a:lnTo>
                <a:lnTo>
                  <a:pt x="201" y="99618"/>
                </a:lnTo>
                <a:lnTo>
                  <a:pt x="155" y="99525"/>
                </a:lnTo>
                <a:lnTo>
                  <a:pt x="115" y="99421"/>
                </a:lnTo>
                <a:lnTo>
                  <a:pt x="81" y="99312"/>
                </a:lnTo>
                <a:lnTo>
                  <a:pt x="53" y="99197"/>
                </a:lnTo>
                <a:lnTo>
                  <a:pt x="30" y="99076"/>
                </a:lnTo>
                <a:lnTo>
                  <a:pt x="14" y="98952"/>
                </a:lnTo>
                <a:lnTo>
                  <a:pt x="3" y="98826"/>
                </a:lnTo>
                <a:lnTo>
                  <a:pt x="0" y="98698"/>
                </a:lnTo>
                <a:lnTo>
                  <a:pt x="0" y="1302"/>
                </a:lnTo>
                <a:lnTo>
                  <a:pt x="3" y="1174"/>
                </a:lnTo>
                <a:lnTo>
                  <a:pt x="14" y="1048"/>
                </a:lnTo>
                <a:lnTo>
                  <a:pt x="30" y="924"/>
                </a:lnTo>
                <a:lnTo>
                  <a:pt x="53" y="803"/>
                </a:lnTo>
                <a:lnTo>
                  <a:pt x="81" y="688"/>
                </a:lnTo>
                <a:lnTo>
                  <a:pt x="115" y="579"/>
                </a:lnTo>
                <a:lnTo>
                  <a:pt x="155" y="475"/>
                </a:lnTo>
                <a:lnTo>
                  <a:pt x="201" y="382"/>
                </a:lnTo>
                <a:lnTo>
                  <a:pt x="250" y="295"/>
                </a:lnTo>
                <a:lnTo>
                  <a:pt x="305" y="219"/>
                </a:lnTo>
                <a:lnTo>
                  <a:pt x="362" y="154"/>
                </a:lnTo>
                <a:lnTo>
                  <a:pt x="422" y="100"/>
                </a:lnTo>
                <a:lnTo>
                  <a:pt x="486" y="56"/>
                </a:lnTo>
                <a:lnTo>
                  <a:pt x="551" y="26"/>
                </a:lnTo>
                <a:lnTo>
                  <a:pt x="618" y="7"/>
                </a:lnTo>
                <a:lnTo>
                  <a:pt x="685" y="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5" name="el-1782912284722-92"/>
          <p:cNvCxnSpPr/>
          <p:nvPr/>
        </p:nvCxnSpPr>
        <p:spPr>
          <a:xfrm>
            <a:off x="507206" y="678656"/>
            <a:ext cx="2702748" cy="914"/>
          </a:xfrm>
          <a:prstGeom prst="line">
            <a:avLst/>
          </a:prstGeom>
          <a:ln w="14288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2912284722-93"/>
          <p:cNvCxnSpPr/>
          <p:nvPr/>
        </p:nvCxnSpPr>
        <p:spPr>
          <a:xfrm>
            <a:off x="3281392" y="678656"/>
            <a:ext cx="1737449" cy="914"/>
          </a:xfrm>
          <a:prstGeom prst="line">
            <a:avLst/>
          </a:prstGeom>
          <a:ln w="14288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2912284723-94"/>
          <p:cNvCxnSpPr/>
          <p:nvPr/>
        </p:nvCxnSpPr>
        <p:spPr>
          <a:xfrm>
            <a:off x="5090279" y="678656"/>
            <a:ext cx="1737539" cy="914"/>
          </a:xfrm>
          <a:prstGeom prst="line">
            <a:avLst/>
          </a:prstGeom>
          <a:ln w="14288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2912284723-95"/>
          <p:cNvCxnSpPr/>
          <p:nvPr/>
        </p:nvCxnSpPr>
        <p:spPr>
          <a:xfrm>
            <a:off x="6899255" y="678656"/>
            <a:ext cx="1737539" cy="914"/>
          </a:xfrm>
          <a:prstGeom prst="line">
            <a:avLst/>
          </a:prstGeom>
          <a:ln w="14288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2912284694-65"/>
          <p:cNvSpPr/>
          <p:nvPr/>
        </p:nvSpPr>
        <p:spPr>
          <a:xfrm>
            <a:off x="507206" y="721519"/>
            <a:ext cx="8129587" cy="19431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351" y="0"/>
                </a:moveTo>
                <a:lnTo>
                  <a:pt x="99649" y="0"/>
                </a:lnTo>
                <a:lnTo>
                  <a:pt x="99683" y="50"/>
                </a:lnTo>
                <a:lnTo>
                  <a:pt x="99718" y="300"/>
                </a:lnTo>
                <a:lnTo>
                  <a:pt x="99751" y="650"/>
                </a:lnTo>
                <a:lnTo>
                  <a:pt x="99783" y="1150"/>
                </a:lnTo>
                <a:lnTo>
                  <a:pt x="99814" y="1750"/>
                </a:lnTo>
                <a:lnTo>
                  <a:pt x="99844" y="2550"/>
                </a:lnTo>
                <a:lnTo>
                  <a:pt x="99871" y="3400"/>
                </a:lnTo>
                <a:lnTo>
                  <a:pt x="99897" y="4400"/>
                </a:lnTo>
                <a:lnTo>
                  <a:pt x="99920" y="5500"/>
                </a:lnTo>
                <a:lnTo>
                  <a:pt x="99940" y="6650"/>
                </a:lnTo>
                <a:lnTo>
                  <a:pt x="99959" y="7950"/>
                </a:lnTo>
                <a:lnTo>
                  <a:pt x="99973" y="9250"/>
                </a:lnTo>
                <a:lnTo>
                  <a:pt x="99985" y="10650"/>
                </a:lnTo>
                <a:lnTo>
                  <a:pt x="99993" y="12050"/>
                </a:lnTo>
                <a:lnTo>
                  <a:pt x="99999" y="13550"/>
                </a:lnTo>
                <a:lnTo>
                  <a:pt x="100000" y="15000"/>
                </a:lnTo>
                <a:lnTo>
                  <a:pt x="100000" y="85000"/>
                </a:lnTo>
                <a:lnTo>
                  <a:pt x="99999" y="86450"/>
                </a:lnTo>
                <a:lnTo>
                  <a:pt x="99993" y="87950"/>
                </a:lnTo>
                <a:lnTo>
                  <a:pt x="99985" y="89350"/>
                </a:lnTo>
                <a:lnTo>
                  <a:pt x="99973" y="90750"/>
                </a:lnTo>
                <a:lnTo>
                  <a:pt x="99959" y="92050"/>
                </a:lnTo>
                <a:lnTo>
                  <a:pt x="99940" y="93350"/>
                </a:lnTo>
                <a:lnTo>
                  <a:pt x="99920" y="94500"/>
                </a:lnTo>
                <a:lnTo>
                  <a:pt x="99897" y="95600"/>
                </a:lnTo>
                <a:lnTo>
                  <a:pt x="99871" y="96600"/>
                </a:lnTo>
                <a:lnTo>
                  <a:pt x="99844" y="97450"/>
                </a:lnTo>
                <a:lnTo>
                  <a:pt x="99814" y="98250"/>
                </a:lnTo>
                <a:lnTo>
                  <a:pt x="99783" y="98850"/>
                </a:lnTo>
                <a:lnTo>
                  <a:pt x="99751" y="99350"/>
                </a:lnTo>
                <a:lnTo>
                  <a:pt x="99718" y="99700"/>
                </a:lnTo>
                <a:lnTo>
                  <a:pt x="99683" y="99950"/>
                </a:lnTo>
                <a:lnTo>
                  <a:pt x="99649" y="100000"/>
                </a:lnTo>
                <a:lnTo>
                  <a:pt x="351" y="100000"/>
                </a:lnTo>
                <a:lnTo>
                  <a:pt x="317" y="99950"/>
                </a:lnTo>
                <a:lnTo>
                  <a:pt x="282" y="99700"/>
                </a:lnTo>
                <a:lnTo>
                  <a:pt x="249" y="99350"/>
                </a:lnTo>
                <a:lnTo>
                  <a:pt x="217" y="98850"/>
                </a:lnTo>
                <a:lnTo>
                  <a:pt x="186" y="98250"/>
                </a:lnTo>
                <a:lnTo>
                  <a:pt x="156" y="97450"/>
                </a:lnTo>
                <a:lnTo>
                  <a:pt x="129" y="96600"/>
                </a:lnTo>
                <a:lnTo>
                  <a:pt x="103" y="95600"/>
                </a:lnTo>
                <a:lnTo>
                  <a:pt x="80" y="94500"/>
                </a:lnTo>
                <a:lnTo>
                  <a:pt x="60" y="93350"/>
                </a:lnTo>
                <a:lnTo>
                  <a:pt x="41" y="92050"/>
                </a:lnTo>
                <a:lnTo>
                  <a:pt x="27" y="90750"/>
                </a:lnTo>
                <a:lnTo>
                  <a:pt x="15" y="89350"/>
                </a:lnTo>
                <a:lnTo>
                  <a:pt x="7" y="87950"/>
                </a:lnTo>
                <a:lnTo>
                  <a:pt x="1" y="86450"/>
                </a:lnTo>
                <a:lnTo>
                  <a:pt x="0" y="85000"/>
                </a:lnTo>
                <a:lnTo>
                  <a:pt x="0" y="15000"/>
                </a:lnTo>
                <a:lnTo>
                  <a:pt x="1" y="13550"/>
                </a:lnTo>
                <a:lnTo>
                  <a:pt x="7" y="12050"/>
                </a:lnTo>
                <a:lnTo>
                  <a:pt x="15" y="10650"/>
                </a:lnTo>
                <a:lnTo>
                  <a:pt x="27" y="9250"/>
                </a:lnTo>
                <a:lnTo>
                  <a:pt x="41" y="7950"/>
                </a:lnTo>
                <a:lnTo>
                  <a:pt x="60" y="6650"/>
                </a:lnTo>
                <a:lnTo>
                  <a:pt x="80" y="5500"/>
                </a:lnTo>
                <a:lnTo>
                  <a:pt x="103" y="4400"/>
                </a:lnTo>
                <a:lnTo>
                  <a:pt x="129" y="3400"/>
                </a:lnTo>
                <a:lnTo>
                  <a:pt x="156" y="2550"/>
                </a:lnTo>
                <a:lnTo>
                  <a:pt x="186" y="1750"/>
                </a:lnTo>
                <a:lnTo>
                  <a:pt x="217" y="1150"/>
                </a:lnTo>
                <a:lnTo>
                  <a:pt x="249" y="650"/>
                </a:lnTo>
                <a:lnTo>
                  <a:pt x="282" y="300"/>
                </a:lnTo>
                <a:lnTo>
                  <a:pt x="317" y="5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2912284700-71"/>
          <p:cNvSpPr/>
          <p:nvPr/>
        </p:nvSpPr>
        <p:spPr>
          <a:xfrm>
            <a:off x="507206" y="1744504"/>
            <a:ext cx="8129587" cy="19431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351" y="0"/>
                </a:moveTo>
                <a:lnTo>
                  <a:pt x="99649" y="0"/>
                </a:lnTo>
                <a:lnTo>
                  <a:pt x="99683" y="50"/>
                </a:lnTo>
                <a:lnTo>
                  <a:pt x="99718" y="300"/>
                </a:lnTo>
                <a:lnTo>
                  <a:pt x="99751" y="650"/>
                </a:lnTo>
                <a:lnTo>
                  <a:pt x="99783" y="1150"/>
                </a:lnTo>
                <a:lnTo>
                  <a:pt x="99814" y="1750"/>
                </a:lnTo>
                <a:lnTo>
                  <a:pt x="99844" y="2550"/>
                </a:lnTo>
                <a:lnTo>
                  <a:pt x="99871" y="3400"/>
                </a:lnTo>
                <a:lnTo>
                  <a:pt x="99897" y="4400"/>
                </a:lnTo>
                <a:lnTo>
                  <a:pt x="99920" y="5500"/>
                </a:lnTo>
                <a:lnTo>
                  <a:pt x="99940" y="6650"/>
                </a:lnTo>
                <a:lnTo>
                  <a:pt x="99959" y="7950"/>
                </a:lnTo>
                <a:lnTo>
                  <a:pt x="99973" y="9250"/>
                </a:lnTo>
                <a:lnTo>
                  <a:pt x="99985" y="10650"/>
                </a:lnTo>
                <a:lnTo>
                  <a:pt x="99993" y="12050"/>
                </a:lnTo>
                <a:lnTo>
                  <a:pt x="99999" y="13550"/>
                </a:lnTo>
                <a:lnTo>
                  <a:pt x="100000" y="15000"/>
                </a:lnTo>
                <a:lnTo>
                  <a:pt x="100000" y="85000"/>
                </a:lnTo>
                <a:lnTo>
                  <a:pt x="99999" y="86450"/>
                </a:lnTo>
                <a:lnTo>
                  <a:pt x="99993" y="87950"/>
                </a:lnTo>
                <a:lnTo>
                  <a:pt x="99985" y="89350"/>
                </a:lnTo>
                <a:lnTo>
                  <a:pt x="99973" y="90750"/>
                </a:lnTo>
                <a:lnTo>
                  <a:pt x="99959" y="92050"/>
                </a:lnTo>
                <a:lnTo>
                  <a:pt x="99940" y="93350"/>
                </a:lnTo>
                <a:lnTo>
                  <a:pt x="99920" y="94500"/>
                </a:lnTo>
                <a:lnTo>
                  <a:pt x="99897" y="95600"/>
                </a:lnTo>
                <a:lnTo>
                  <a:pt x="99871" y="96600"/>
                </a:lnTo>
                <a:lnTo>
                  <a:pt x="99844" y="97450"/>
                </a:lnTo>
                <a:lnTo>
                  <a:pt x="99814" y="98250"/>
                </a:lnTo>
                <a:lnTo>
                  <a:pt x="99783" y="98850"/>
                </a:lnTo>
                <a:lnTo>
                  <a:pt x="99751" y="99350"/>
                </a:lnTo>
                <a:lnTo>
                  <a:pt x="99718" y="99700"/>
                </a:lnTo>
                <a:lnTo>
                  <a:pt x="99683" y="99950"/>
                </a:lnTo>
                <a:lnTo>
                  <a:pt x="99649" y="100000"/>
                </a:lnTo>
                <a:lnTo>
                  <a:pt x="351" y="100000"/>
                </a:lnTo>
                <a:lnTo>
                  <a:pt x="317" y="99950"/>
                </a:lnTo>
                <a:lnTo>
                  <a:pt x="282" y="99700"/>
                </a:lnTo>
                <a:lnTo>
                  <a:pt x="249" y="99350"/>
                </a:lnTo>
                <a:lnTo>
                  <a:pt x="217" y="98850"/>
                </a:lnTo>
                <a:lnTo>
                  <a:pt x="186" y="98250"/>
                </a:lnTo>
                <a:lnTo>
                  <a:pt x="156" y="97450"/>
                </a:lnTo>
                <a:lnTo>
                  <a:pt x="129" y="96600"/>
                </a:lnTo>
                <a:lnTo>
                  <a:pt x="103" y="95600"/>
                </a:lnTo>
                <a:lnTo>
                  <a:pt x="80" y="94500"/>
                </a:lnTo>
                <a:lnTo>
                  <a:pt x="60" y="93350"/>
                </a:lnTo>
                <a:lnTo>
                  <a:pt x="41" y="92050"/>
                </a:lnTo>
                <a:lnTo>
                  <a:pt x="27" y="90750"/>
                </a:lnTo>
                <a:lnTo>
                  <a:pt x="15" y="89350"/>
                </a:lnTo>
                <a:lnTo>
                  <a:pt x="7" y="87950"/>
                </a:lnTo>
                <a:lnTo>
                  <a:pt x="1" y="86450"/>
                </a:lnTo>
                <a:lnTo>
                  <a:pt x="0" y="85000"/>
                </a:lnTo>
                <a:lnTo>
                  <a:pt x="0" y="15000"/>
                </a:lnTo>
                <a:lnTo>
                  <a:pt x="1" y="13550"/>
                </a:lnTo>
                <a:lnTo>
                  <a:pt x="7" y="12050"/>
                </a:lnTo>
                <a:lnTo>
                  <a:pt x="15" y="10650"/>
                </a:lnTo>
                <a:lnTo>
                  <a:pt x="27" y="9250"/>
                </a:lnTo>
                <a:lnTo>
                  <a:pt x="41" y="7950"/>
                </a:lnTo>
                <a:lnTo>
                  <a:pt x="60" y="6650"/>
                </a:lnTo>
                <a:lnTo>
                  <a:pt x="80" y="5500"/>
                </a:lnTo>
                <a:lnTo>
                  <a:pt x="103" y="4400"/>
                </a:lnTo>
                <a:lnTo>
                  <a:pt x="129" y="3400"/>
                </a:lnTo>
                <a:lnTo>
                  <a:pt x="156" y="2550"/>
                </a:lnTo>
                <a:lnTo>
                  <a:pt x="186" y="1750"/>
                </a:lnTo>
                <a:lnTo>
                  <a:pt x="217" y="1150"/>
                </a:lnTo>
                <a:lnTo>
                  <a:pt x="249" y="650"/>
                </a:lnTo>
                <a:lnTo>
                  <a:pt x="282" y="300"/>
                </a:lnTo>
                <a:lnTo>
                  <a:pt x="317" y="5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2912284711-83"/>
          <p:cNvSpPr/>
          <p:nvPr/>
        </p:nvSpPr>
        <p:spPr>
          <a:xfrm>
            <a:off x="507206" y="3167539"/>
            <a:ext cx="8129587" cy="19431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351" y="0"/>
                </a:moveTo>
                <a:lnTo>
                  <a:pt x="99649" y="0"/>
                </a:lnTo>
                <a:lnTo>
                  <a:pt x="99683" y="50"/>
                </a:lnTo>
                <a:lnTo>
                  <a:pt x="99718" y="300"/>
                </a:lnTo>
                <a:lnTo>
                  <a:pt x="99751" y="650"/>
                </a:lnTo>
                <a:lnTo>
                  <a:pt x="99783" y="1150"/>
                </a:lnTo>
                <a:lnTo>
                  <a:pt x="99814" y="1750"/>
                </a:lnTo>
                <a:lnTo>
                  <a:pt x="99844" y="2550"/>
                </a:lnTo>
                <a:lnTo>
                  <a:pt x="99871" y="3400"/>
                </a:lnTo>
                <a:lnTo>
                  <a:pt x="99897" y="4400"/>
                </a:lnTo>
                <a:lnTo>
                  <a:pt x="99920" y="5500"/>
                </a:lnTo>
                <a:lnTo>
                  <a:pt x="99940" y="6650"/>
                </a:lnTo>
                <a:lnTo>
                  <a:pt x="99959" y="7950"/>
                </a:lnTo>
                <a:lnTo>
                  <a:pt x="99973" y="9250"/>
                </a:lnTo>
                <a:lnTo>
                  <a:pt x="99985" y="10650"/>
                </a:lnTo>
                <a:lnTo>
                  <a:pt x="99993" y="12050"/>
                </a:lnTo>
                <a:lnTo>
                  <a:pt x="99999" y="13550"/>
                </a:lnTo>
                <a:lnTo>
                  <a:pt x="100000" y="15000"/>
                </a:lnTo>
                <a:lnTo>
                  <a:pt x="100000" y="85000"/>
                </a:lnTo>
                <a:lnTo>
                  <a:pt x="99999" y="86450"/>
                </a:lnTo>
                <a:lnTo>
                  <a:pt x="99993" y="87950"/>
                </a:lnTo>
                <a:lnTo>
                  <a:pt x="99985" y="89350"/>
                </a:lnTo>
                <a:lnTo>
                  <a:pt x="99973" y="90750"/>
                </a:lnTo>
                <a:lnTo>
                  <a:pt x="99959" y="92050"/>
                </a:lnTo>
                <a:lnTo>
                  <a:pt x="99940" y="93350"/>
                </a:lnTo>
                <a:lnTo>
                  <a:pt x="99920" y="94500"/>
                </a:lnTo>
                <a:lnTo>
                  <a:pt x="99897" y="95600"/>
                </a:lnTo>
                <a:lnTo>
                  <a:pt x="99871" y="96600"/>
                </a:lnTo>
                <a:lnTo>
                  <a:pt x="99844" y="97450"/>
                </a:lnTo>
                <a:lnTo>
                  <a:pt x="99814" y="98250"/>
                </a:lnTo>
                <a:lnTo>
                  <a:pt x="99783" y="98850"/>
                </a:lnTo>
                <a:lnTo>
                  <a:pt x="99751" y="99350"/>
                </a:lnTo>
                <a:lnTo>
                  <a:pt x="99718" y="99700"/>
                </a:lnTo>
                <a:lnTo>
                  <a:pt x="99683" y="99950"/>
                </a:lnTo>
                <a:lnTo>
                  <a:pt x="99649" y="100000"/>
                </a:lnTo>
                <a:lnTo>
                  <a:pt x="351" y="100000"/>
                </a:lnTo>
                <a:lnTo>
                  <a:pt x="317" y="99950"/>
                </a:lnTo>
                <a:lnTo>
                  <a:pt x="282" y="99700"/>
                </a:lnTo>
                <a:lnTo>
                  <a:pt x="249" y="99350"/>
                </a:lnTo>
                <a:lnTo>
                  <a:pt x="217" y="98850"/>
                </a:lnTo>
                <a:lnTo>
                  <a:pt x="186" y="98250"/>
                </a:lnTo>
                <a:lnTo>
                  <a:pt x="156" y="97450"/>
                </a:lnTo>
                <a:lnTo>
                  <a:pt x="129" y="96600"/>
                </a:lnTo>
                <a:lnTo>
                  <a:pt x="103" y="95600"/>
                </a:lnTo>
                <a:lnTo>
                  <a:pt x="80" y="94500"/>
                </a:lnTo>
                <a:lnTo>
                  <a:pt x="60" y="93350"/>
                </a:lnTo>
                <a:lnTo>
                  <a:pt x="41" y="92050"/>
                </a:lnTo>
                <a:lnTo>
                  <a:pt x="27" y="90750"/>
                </a:lnTo>
                <a:lnTo>
                  <a:pt x="15" y="89350"/>
                </a:lnTo>
                <a:lnTo>
                  <a:pt x="7" y="87950"/>
                </a:lnTo>
                <a:lnTo>
                  <a:pt x="1" y="86450"/>
                </a:lnTo>
                <a:lnTo>
                  <a:pt x="0" y="85000"/>
                </a:lnTo>
                <a:lnTo>
                  <a:pt x="0" y="15000"/>
                </a:lnTo>
                <a:lnTo>
                  <a:pt x="1" y="13550"/>
                </a:lnTo>
                <a:lnTo>
                  <a:pt x="7" y="12050"/>
                </a:lnTo>
                <a:lnTo>
                  <a:pt x="15" y="10650"/>
                </a:lnTo>
                <a:lnTo>
                  <a:pt x="27" y="9250"/>
                </a:lnTo>
                <a:lnTo>
                  <a:pt x="41" y="7950"/>
                </a:lnTo>
                <a:lnTo>
                  <a:pt x="60" y="6650"/>
                </a:lnTo>
                <a:lnTo>
                  <a:pt x="80" y="5500"/>
                </a:lnTo>
                <a:lnTo>
                  <a:pt x="103" y="4400"/>
                </a:lnTo>
                <a:lnTo>
                  <a:pt x="129" y="3400"/>
                </a:lnTo>
                <a:lnTo>
                  <a:pt x="156" y="2550"/>
                </a:lnTo>
                <a:lnTo>
                  <a:pt x="186" y="1750"/>
                </a:lnTo>
                <a:lnTo>
                  <a:pt x="217" y="1150"/>
                </a:lnTo>
                <a:lnTo>
                  <a:pt x="249" y="650"/>
                </a:lnTo>
                <a:lnTo>
                  <a:pt x="282" y="300"/>
                </a:lnTo>
                <a:lnTo>
                  <a:pt x="317" y="5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2912284719-89"/>
          <p:cNvSpPr/>
          <p:nvPr/>
        </p:nvSpPr>
        <p:spPr>
          <a:xfrm>
            <a:off x="507206" y="4190524"/>
            <a:ext cx="8129587" cy="19431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351" y="0"/>
                </a:moveTo>
                <a:lnTo>
                  <a:pt x="99649" y="0"/>
                </a:lnTo>
                <a:lnTo>
                  <a:pt x="99683" y="50"/>
                </a:lnTo>
                <a:lnTo>
                  <a:pt x="99718" y="300"/>
                </a:lnTo>
                <a:lnTo>
                  <a:pt x="99751" y="650"/>
                </a:lnTo>
                <a:lnTo>
                  <a:pt x="99783" y="1150"/>
                </a:lnTo>
                <a:lnTo>
                  <a:pt x="99814" y="1750"/>
                </a:lnTo>
                <a:lnTo>
                  <a:pt x="99844" y="2550"/>
                </a:lnTo>
                <a:lnTo>
                  <a:pt x="99871" y="3400"/>
                </a:lnTo>
                <a:lnTo>
                  <a:pt x="99897" y="4400"/>
                </a:lnTo>
                <a:lnTo>
                  <a:pt x="99920" y="5500"/>
                </a:lnTo>
                <a:lnTo>
                  <a:pt x="99940" y="6650"/>
                </a:lnTo>
                <a:lnTo>
                  <a:pt x="99959" y="7950"/>
                </a:lnTo>
                <a:lnTo>
                  <a:pt x="99973" y="9250"/>
                </a:lnTo>
                <a:lnTo>
                  <a:pt x="99985" y="10650"/>
                </a:lnTo>
                <a:lnTo>
                  <a:pt x="99993" y="12050"/>
                </a:lnTo>
                <a:lnTo>
                  <a:pt x="99999" y="13550"/>
                </a:lnTo>
                <a:lnTo>
                  <a:pt x="100000" y="15000"/>
                </a:lnTo>
                <a:lnTo>
                  <a:pt x="100000" y="85000"/>
                </a:lnTo>
                <a:lnTo>
                  <a:pt x="99999" y="86450"/>
                </a:lnTo>
                <a:lnTo>
                  <a:pt x="99993" y="87950"/>
                </a:lnTo>
                <a:lnTo>
                  <a:pt x="99985" y="89350"/>
                </a:lnTo>
                <a:lnTo>
                  <a:pt x="99973" y="90750"/>
                </a:lnTo>
                <a:lnTo>
                  <a:pt x="99959" y="92050"/>
                </a:lnTo>
                <a:lnTo>
                  <a:pt x="99940" y="93350"/>
                </a:lnTo>
                <a:lnTo>
                  <a:pt x="99920" y="94500"/>
                </a:lnTo>
                <a:lnTo>
                  <a:pt x="99897" y="95600"/>
                </a:lnTo>
                <a:lnTo>
                  <a:pt x="99871" y="96600"/>
                </a:lnTo>
                <a:lnTo>
                  <a:pt x="99844" y="97450"/>
                </a:lnTo>
                <a:lnTo>
                  <a:pt x="99814" y="98250"/>
                </a:lnTo>
                <a:lnTo>
                  <a:pt x="99783" y="98850"/>
                </a:lnTo>
                <a:lnTo>
                  <a:pt x="99751" y="99350"/>
                </a:lnTo>
                <a:lnTo>
                  <a:pt x="99718" y="99700"/>
                </a:lnTo>
                <a:lnTo>
                  <a:pt x="99683" y="99950"/>
                </a:lnTo>
                <a:lnTo>
                  <a:pt x="99649" y="100000"/>
                </a:lnTo>
                <a:lnTo>
                  <a:pt x="351" y="100000"/>
                </a:lnTo>
                <a:lnTo>
                  <a:pt x="317" y="99950"/>
                </a:lnTo>
                <a:lnTo>
                  <a:pt x="282" y="99700"/>
                </a:lnTo>
                <a:lnTo>
                  <a:pt x="249" y="99350"/>
                </a:lnTo>
                <a:lnTo>
                  <a:pt x="217" y="98850"/>
                </a:lnTo>
                <a:lnTo>
                  <a:pt x="186" y="98250"/>
                </a:lnTo>
                <a:lnTo>
                  <a:pt x="156" y="97450"/>
                </a:lnTo>
                <a:lnTo>
                  <a:pt x="129" y="96600"/>
                </a:lnTo>
                <a:lnTo>
                  <a:pt x="103" y="95600"/>
                </a:lnTo>
                <a:lnTo>
                  <a:pt x="80" y="94500"/>
                </a:lnTo>
                <a:lnTo>
                  <a:pt x="60" y="93350"/>
                </a:lnTo>
                <a:lnTo>
                  <a:pt x="41" y="92050"/>
                </a:lnTo>
                <a:lnTo>
                  <a:pt x="27" y="90750"/>
                </a:lnTo>
                <a:lnTo>
                  <a:pt x="15" y="89350"/>
                </a:lnTo>
                <a:lnTo>
                  <a:pt x="7" y="87950"/>
                </a:lnTo>
                <a:lnTo>
                  <a:pt x="1" y="86450"/>
                </a:lnTo>
                <a:lnTo>
                  <a:pt x="0" y="85000"/>
                </a:lnTo>
                <a:lnTo>
                  <a:pt x="0" y="15000"/>
                </a:lnTo>
                <a:lnTo>
                  <a:pt x="1" y="13550"/>
                </a:lnTo>
                <a:lnTo>
                  <a:pt x="7" y="12050"/>
                </a:lnTo>
                <a:lnTo>
                  <a:pt x="15" y="10650"/>
                </a:lnTo>
                <a:lnTo>
                  <a:pt x="27" y="9250"/>
                </a:lnTo>
                <a:lnTo>
                  <a:pt x="41" y="7950"/>
                </a:lnTo>
                <a:lnTo>
                  <a:pt x="60" y="6650"/>
                </a:lnTo>
                <a:lnTo>
                  <a:pt x="80" y="5500"/>
                </a:lnTo>
                <a:lnTo>
                  <a:pt x="103" y="4400"/>
                </a:lnTo>
                <a:lnTo>
                  <a:pt x="129" y="3400"/>
                </a:lnTo>
                <a:lnTo>
                  <a:pt x="156" y="2550"/>
                </a:lnTo>
                <a:lnTo>
                  <a:pt x="186" y="1750"/>
                </a:lnTo>
                <a:lnTo>
                  <a:pt x="217" y="1150"/>
                </a:lnTo>
                <a:lnTo>
                  <a:pt x="249" y="650"/>
                </a:lnTo>
                <a:lnTo>
                  <a:pt x="282" y="300"/>
                </a:lnTo>
                <a:lnTo>
                  <a:pt x="317" y="5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2912284592-2"/>
          <p:cNvSpPr/>
          <p:nvPr/>
        </p:nvSpPr>
        <p:spPr>
          <a:xfrm>
            <a:off x="0" y="4827746"/>
            <a:ext cx="9144000" cy="1271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2912284593-4"/>
          <p:cNvCxnSpPr/>
          <p:nvPr/>
        </p:nvCxnSpPr>
        <p:spPr>
          <a:xfrm>
            <a:off x="0" y="4928473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2912284595-5"/>
          <p:cNvSpPr txBox="1"/>
          <p:nvPr/>
        </p:nvSpPr>
        <p:spPr>
          <a:xfrm>
            <a:off x="400050" y="0"/>
            <a:ext cx="51488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</a:t>
            </a:r>
            <a:r>
              <a:rPr sz="6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9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37</a:t>
            </a:r>
            <a:endParaRPr sz="900" b="1" spc="28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2912284635-10"/>
          <p:cNvSpPr txBox="1"/>
          <p:nvPr/>
        </p:nvSpPr>
        <p:spPr>
          <a:xfrm>
            <a:off x="1086485" y="0"/>
            <a:ext cx="1602105" cy="1701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第五章 · 实验成果与数据分析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2912284635-11"/>
          <p:cNvSpPr txBox="1"/>
          <p:nvPr/>
        </p:nvSpPr>
        <p:spPr>
          <a:xfrm>
            <a:off x="2700020" y="0"/>
            <a:ext cx="339090" cy="1657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D0D0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900">
              <a:solidFill>
                <a:srgbClr val="D0D0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2912284635-12"/>
          <p:cNvSpPr txBox="1"/>
          <p:nvPr/>
        </p:nvSpPr>
        <p:spPr>
          <a:xfrm>
            <a:off x="2771716" y="17145"/>
            <a:ext cx="1620292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核心分析成果 — 三次采集对照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2912284602-8"/>
          <p:cNvSpPr txBox="1"/>
          <p:nvPr/>
        </p:nvSpPr>
        <p:spPr>
          <a:xfrm>
            <a:off x="400050" y="170180"/>
            <a:ext cx="280289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50" b="1" spc="-1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核心分析成果 · </a:t>
            </a:r>
            <a:r>
              <a:rPr sz="1350" b="1" spc="-1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三次采集对照</a:t>
            </a:r>
            <a:endParaRPr sz="1350" b="1" spc="-1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2912284603-9"/>
          <p:cNvSpPr txBox="1"/>
          <p:nvPr/>
        </p:nvSpPr>
        <p:spPr>
          <a:xfrm>
            <a:off x="6447155" y="161290"/>
            <a:ext cx="2350770" cy="1943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Run1 页面切换 · Run2 页面切换 · 视频浏览</a:t>
            </a:r>
            <a:endParaRPr sz="84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82912284690-60"/>
          <p:cNvSpPr txBox="1"/>
          <p:nvPr/>
        </p:nvSpPr>
        <p:spPr>
          <a:xfrm>
            <a:off x="550069" y="505778"/>
            <a:ext cx="2709892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1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</a:t>
            </a:r>
            <a:endParaRPr sz="780" b="1" spc="1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2912284691-61"/>
          <p:cNvSpPr txBox="1"/>
          <p:nvPr/>
        </p:nvSpPr>
        <p:spPr>
          <a:xfrm>
            <a:off x="3324255" y="505778"/>
            <a:ext cx="174459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1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Run1 页面切换</a:t>
            </a:r>
            <a:endParaRPr sz="780" b="1" spc="1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2912284691-62"/>
          <p:cNvSpPr txBox="1"/>
          <p:nvPr/>
        </p:nvSpPr>
        <p:spPr>
          <a:xfrm>
            <a:off x="5133141" y="505778"/>
            <a:ext cx="1744682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1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Run2 页面切换</a:t>
            </a:r>
            <a:endParaRPr sz="780" b="1" spc="1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2912284691-63"/>
          <p:cNvSpPr txBox="1"/>
          <p:nvPr/>
        </p:nvSpPr>
        <p:spPr>
          <a:xfrm>
            <a:off x="6942118" y="505778"/>
            <a:ext cx="1744682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1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视频浏览</a:t>
            </a:r>
            <a:endParaRPr sz="780" b="1" spc="1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2912284691-64"/>
          <p:cNvSpPr txBox="1"/>
          <p:nvPr/>
        </p:nvSpPr>
        <p:spPr>
          <a:xfrm>
            <a:off x="578644" y="750094"/>
            <a:ext cx="8108156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17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📦 帧 &amp; 图规模</a:t>
            </a:r>
            <a:endParaRPr sz="780" b="1" spc="17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2912284694-66"/>
          <p:cNvSpPr txBox="1"/>
          <p:nvPr/>
        </p:nvSpPr>
        <p:spPr>
          <a:xfrm>
            <a:off x="550069" y="965835"/>
            <a:ext cx="271346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总帧 / Jank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2912284649-16"/>
          <p:cNvSpPr txBox="1"/>
          <p:nvPr/>
        </p:nvSpPr>
        <p:spPr>
          <a:xfrm>
            <a:off x="3324255" y="965835"/>
            <a:ext cx="1748165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2,171</a:t>
            </a: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1,575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2912284651-17"/>
          <p:cNvSpPr txBox="1"/>
          <p:nvPr/>
        </p:nvSpPr>
        <p:spPr>
          <a:xfrm>
            <a:off x="5133141" y="965835"/>
            <a:ext cx="174825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1,271</a:t>
            </a: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1,228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2912284652-18"/>
          <p:cNvSpPr txBox="1"/>
          <p:nvPr/>
        </p:nvSpPr>
        <p:spPr>
          <a:xfrm>
            <a:off x="6942118" y="965835"/>
            <a:ext cx="174825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2,141</a:t>
            </a: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1,524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2912284695-67"/>
          <p:cNvSpPr txBox="1"/>
          <p:nvPr/>
        </p:nvSpPr>
        <p:spPr>
          <a:xfrm>
            <a:off x="550069" y="1165860"/>
            <a:ext cx="271346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Jank 率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2912284653-19"/>
          <p:cNvSpPr txBox="1"/>
          <p:nvPr/>
        </p:nvSpPr>
        <p:spPr>
          <a:xfrm>
            <a:off x="3324255" y="1165860"/>
            <a:ext cx="1748165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72.5%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82912284654-20"/>
          <p:cNvSpPr txBox="1"/>
          <p:nvPr/>
        </p:nvSpPr>
        <p:spPr>
          <a:xfrm>
            <a:off x="5133141" y="1165860"/>
            <a:ext cx="174825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96.6%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82912284655-21"/>
          <p:cNvSpPr txBox="1"/>
          <p:nvPr/>
        </p:nvSpPr>
        <p:spPr>
          <a:xfrm>
            <a:off x="6942118" y="1165860"/>
            <a:ext cx="174825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71.2%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2912284696-68"/>
          <p:cNvSpPr txBox="1"/>
          <p:nvPr/>
        </p:nvSpPr>
        <p:spPr>
          <a:xfrm>
            <a:off x="550069" y="1365885"/>
            <a:ext cx="271346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VD 帧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82912284656-22"/>
          <p:cNvSpPr txBox="1"/>
          <p:nvPr/>
        </p:nvSpPr>
        <p:spPr>
          <a:xfrm>
            <a:off x="3324255" y="1365885"/>
            <a:ext cx="1748165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82912284657-23"/>
          <p:cNvSpPr txBox="1"/>
          <p:nvPr/>
        </p:nvSpPr>
        <p:spPr>
          <a:xfrm>
            <a:off x="5133141" y="1365885"/>
            <a:ext cx="174825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l-1782912284657-24"/>
          <p:cNvSpPr txBox="1"/>
          <p:nvPr/>
        </p:nvSpPr>
        <p:spPr>
          <a:xfrm>
            <a:off x="6942118" y="1365885"/>
            <a:ext cx="174825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561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el-1782912284697-69"/>
          <p:cNvSpPr txBox="1"/>
          <p:nvPr/>
        </p:nvSpPr>
        <p:spPr>
          <a:xfrm>
            <a:off x="550069" y="1565910"/>
            <a:ext cx="271346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图规模 (节点/边)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el-1782912284659-25"/>
          <p:cNvSpPr txBox="1"/>
          <p:nvPr/>
        </p:nvSpPr>
        <p:spPr>
          <a:xfrm>
            <a:off x="3324255" y="1565910"/>
            <a:ext cx="1748165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6,968</a:t>
            </a: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5,234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l-1782912284660-26"/>
          <p:cNvSpPr txBox="1"/>
          <p:nvPr/>
        </p:nvSpPr>
        <p:spPr>
          <a:xfrm>
            <a:off x="5133141" y="1565910"/>
            <a:ext cx="174825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4,799</a:t>
            </a: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3,106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el-1782912284661-27"/>
          <p:cNvSpPr txBox="1"/>
          <p:nvPr/>
        </p:nvSpPr>
        <p:spPr>
          <a:xfrm>
            <a:off x="6942118" y="1565910"/>
            <a:ext cx="174825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6,622</a:t>
            </a: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4,992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el-1782912284698-70"/>
          <p:cNvSpPr txBox="1"/>
          <p:nvPr/>
        </p:nvSpPr>
        <p:spPr>
          <a:xfrm>
            <a:off x="578644" y="1773079"/>
            <a:ext cx="8108156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17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🔗 边类型分布</a:t>
            </a:r>
            <a:endParaRPr sz="780" b="1" spc="17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el-1782912284700-72"/>
          <p:cNvSpPr txBox="1"/>
          <p:nvPr/>
        </p:nvSpPr>
        <p:spPr>
          <a:xfrm>
            <a:off x="550069" y="1988820"/>
            <a:ext cx="271346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BINDER 边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l-1782912284662-28"/>
          <p:cNvSpPr txBox="1"/>
          <p:nvPr/>
        </p:nvSpPr>
        <p:spPr>
          <a:xfrm>
            <a:off x="3324255" y="1988820"/>
            <a:ext cx="1748165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52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el-1782912284663-29"/>
          <p:cNvSpPr txBox="1"/>
          <p:nvPr/>
        </p:nvSpPr>
        <p:spPr>
          <a:xfrm>
            <a:off x="5133141" y="1988820"/>
            <a:ext cx="174825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53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el-1782912284664-30"/>
          <p:cNvSpPr txBox="1"/>
          <p:nvPr/>
        </p:nvSpPr>
        <p:spPr>
          <a:xfrm>
            <a:off x="6942118" y="1988820"/>
            <a:ext cx="174825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el-1782912284702-73"/>
          <p:cNvSpPr txBox="1"/>
          <p:nvPr/>
        </p:nvSpPr>
        <p:spPr>
          <a:xfrm>
            <a:off x="550069" y="2188845"/>
            <a:ext cx="271346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FUTEX 边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el-1782912284664-31"/>
          <p:cNvSpPr txBox="1"/>
          <p:nvPr/>
        </p:nvSpPr>
        <p:spPr>
          <a:xfrm>
            <a:off x="3324255" y="2188845"/>
            <a:ext cx="1748165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2,371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el-1782912284665-32"/>
          <p:cNvSpPr txBox="1"/>
          <p:nvPr/>
        </p:nvSpPr>
        <p:spPr>
          <a:xfrm>
            <a:off x="5133141" y="2188845"/>
            <a:ext cx="174825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1,770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el-1782912284666-33"/>
          <p:cNvSpPr txBox="1"/>
          <p:nvPr/>
        </p:nvSpPr>
        <p:spPr>
          <a:xfrm>
            <a:off x="6942118" y="2188845"/>
            <a:ext cx="174825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1,977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el-1782912284703-74"/>
          <p:cNvSpPr txBox="1"/>
          <p:nvPr/>
        </p:nvSpPr>
        <p:spPr>
          <a:xfrm>
            <a:off x="550069" y="2388870"/>
            <a:ext cx="271346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RESOURCE_STALL 边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el-1782912284667-34"/>
          <p:cNvSpPr txBox="1"/>
          <p:nvPr/>
        </p:nvSpPr>
        <p:spPr>
          <a:xfrm>
            <a:off x="3324255" y="2388870"/>
            <a:ext cx="1748165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el-1782912284668-35"/>
          <p:cNvSpPr txBox="1"/>
          <p:nvPr/>
        </p:nvSpPr>
        <p:spPr>
          <a:xfrm>
            <a:off x="5133141" y="2388870"/>
            <a:ext cx="174825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el-1782912284669-36"/>
          <p:cNvSpPr txBox="1"/>
          <p:nvPr/>
        </p:nvSpPr>
        <p:spPr>
          <a:xfrm>
            <a:off x="6942118" y="2388870"/>
            <a:ext cx="174825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247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el-1782912284704-75"/>
          <p:cNvSpPr txBox="1"/>
          <p:nvPr/>
        </p:nvSpPr>
        <p:spPr>
          <a:xfrm>
            <a:off x="550069" y="2588895"/>
            <a:ext cx="271346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DECODE 边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el-1782912284705-76"/>
          <p:cNvSpPr txBox="1"/>
          <p:nvPr/>
        </p:nvSpPr>
        <p:spPr>
          <a:xfrm>
            <a:off x="3324255" y="2588895"/>
            <a:ext cx="1748165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el-1782912284705-77"/>
          <p:cNvSpPr txBox="1"/>
          <p:nvPr/>
        </p:nvSpPr>
        <p:spPr>
          <a:xfrm>
            <a:off x="5133141" y="2588895"/>
            <a:ext cx="174825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el-1782912284670-37"/>
          <p:cNvSpPr txBox="1"/>
          <p:nvPr/>
        </p:nvSpPr>
        <p:spPr>
          <a:xfrm>
            <a:off x="6942118" y="2588895"/>
            <a:ext cx="174825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560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el-1782912284706-78"/>
          <p:cNvSpPr txBox="1"/>
          <p:nvPr/>
        </p:nvSpPr>
        <p:spPr>
          <a:xfrm>
            <a:off x="550069" y="2788920"/>
            <a:ext cx="271346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BUFFER 边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el-1782912284706-79"/>
          <p:cNvSpPr txBox="1"/>
          <p:nvPr/>
        </p:nvSpPr>
        <p:spPr>
          <a:xfrm>
            <a:off x="3324255" y="2788920"/>
            <a:ext cx="1748165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el-1782912284707-80"/>
          <p:cNvSpPr txBox="1"/>
          <p:nvPr/>
        </p:nvSpPr>
        <p:spPr>
          <a:xfrm>
            <a:off x="5133141" y="2788920"/>
            <a:ext cx="174825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el-1782912284671-38"/>
          <p:cNvSpPr txBox="1"/>
          <p:nvPr/>
        </p:nvSpPr>
        <p:spPr>
          <a:xfrm>
            <a:off x="6942118" y="2788920"/>
            <a:ext cx="174825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el-1782912284707-81"/>
          <p:cNvSpPr txBox="1"/>
          <p:nvPr/>
        </p:nvSpPr>
        <p:spPr>
          <a:xfrm>
            <a:off x="550069" y="2988945"/>
            <a:ext cx="271346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NETWORK 边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el-1782912284672-39"/>
          <p:cNvSpPr txBox="1"/>
          <p:nvPr/>
        </p:nvSpPr>
        <p:spPr>
          <a:xfrm>
            <a:off x="3324255" y="2988945"/>
            <a:ext cx="1748165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el-1782912284673-40"/>
          <p:cNvSpPr txBox="1"/>
          <p:nvPr/>
        </p:nvSpPr>
        <p:spPr>
          <a:xfrm>
            <a:off x="5133141" y="2988945"/>
            <a:ext cx="174825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el-1782912284674-41"/>
          <p:cNvSpPr txBox="1"/>
          <p:nvPr/>
        </p:nvSpPr>
        <p:spPr>
          <a:xfrm>
            <a:off x="6942118" y="2988945"/>
            <a:ext cx="174825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el-1782912284708-82"/>
          <p:cNvSpPr txBox="1"/>
          <p:nvPr/>
        </p:nvSpPr>
        <p:spPr>
          <a:xfrm>
            <a:off x="578644" y="3196114"/>
            <a:ext cx="8108156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17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⚡ 资源 &amp; 环境</a:t>
            </a:r>
            <a:endParaRPr sz="780" b="1" spc="17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el-1782912284712-84"/>
          <p:cNvSpPr txBox="1"/>
          <p:nvPr/>
        </p:nvSpPr>
        <p:spPr>
          <a:xfrm>
            <a:off x="550069" y="3411855"/>
            <a:ext cx="271346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events.bin 体积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el-1782912284675-42"/>
          <p:cNvSpPr txBox="1"/>
          <p:nvPr/>
        </p:nvSpPr>
        <p:spPr>
          <a:xfrm>
            <a:off x="3324255" y="3411855"/>
            <a:ext cx="1748165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690 MB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el-1782912284675-43"/>
          <p:cNvSpPr txBox="1"/>
          <p:nvPr/>
        </p:nvSpPr>
        <p:spPr>
          <a:xfrm>
            <a:off x="5133141" y="3411855"/>
            <a:ext cx="174825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459 MB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el-1782912284676-44"/>
          <p:cNvSpPr txBox="1"/>
          <p:nvPr/>
        </p:nvSpPr>
        <p:spPr>
          <a:xfrm>
            <a:off x="6942118" y="3411855"/>
            <a:ext cx="174825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451 MB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el-1782912284713-85"/>
          <p:cNvSpPr txBox="1"/>
          <p:nvPr/>
        </p:nvSpPr>
        <p:spPr>
          <a:xfrm>
            <a:off x="550069" y="3611880"/>
            <a:ext cx="271346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thermal_throttle_score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el-1782912284677-45"/>
          <p:cNvSpPr txBox="1"/>
          <p:nvPr/>
        </p:nvSpPr>
        <p:spPr>
          <a:xfrm>
            <a:off x="3324255" y="3611880"/>
            <a:ext cx="1748165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0.00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el-1782912284678-46"/>
          <p:cNvSpPr txBox="1"/>
          <p:nvPr/>
        </p:nvSpPr>
        <p:spPr>
          <a:xfrm>
            <a:off x="5133141" y="3611880"/>
            <a:ext cx="174825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0.47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el-1782912284679-47"/>
          <p:cNvSpPr txBox="1"/>
          <p:nvPr/>
        </p:nvSpPr>
        <p:spPr>
          <a:xfrm>
            <a:off x="6942118" y="3611880"/>
            <a:ext cx="174825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1.00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el-1782912284714-86"/>
          <p:cNvSpPr txBox="1"/>
          <p:nvPr/>
        </p:nvSpPr>
        <p:spPr>
          <a:xfrm>
            <a:off x="550069" y="3811905"/>
            <a:ext cx="271346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小核平均频率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el-1782912284680-48"/>
          <p:cNvSpPr txBox="1"/>
          <p:nvPr/>
        </p:nvSpPr>
        <p:spPr>
          <a:xfrm>
            <a:off x="3324255" y="3811905"/>
            <a:ext cx="1748165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1,673</a:t>
            </a: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MHz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el-1782912284680-49"/>
          <p:cNvSpPr txBox="1"/>
          <p:nvPr/>
        </p:nvSpPr>
        <p:spPr>
          <a:xfrm>
            <a:off x="5133141" y="3811905"/>
            <a:ext cx="174825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1,640</a:t>
            </a: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MHz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el-1782912284681-50"/>
          <p:cNvSpPr txBox="1"/>
          <p:nvPr/>
        </p:nvSpPr>
        <p:spPr>
          <a:xfrm>
            <a:off x="6942118" y="3811905"/>
            <a:ext cx="174825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1,733</a:t>
            </a: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MHz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el-1782912284715-87"/>
          <p:cNvSpPr txBox="1"/>
          <p:nvPr/>
        </p:nvSpPr>
        <p:spPr>
          <a:xfrm>
            <a:off x="550069" y="4011930"/>
            <a:ext cx="271346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大核平均频率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el-1782912284682-51"/>
          <p:cNvSpPr txBox="1"/>
          <p:nvPr/>
        </p:nvSpPr>
        <p:spPr>
          <a:xfrm>
            <a:off x="3324255" y="4011930"/>
            <a:ext cx="1748165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2,093</a:t>
            </a: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MHz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el-1782912284683-52"/>
          <p:cNvSpPr txBox="1"/>
          <p:nvPr/>
        </p:nvSpPr>
        <p:spPr>
          <a:xfrm>
            <a:off x="5133141" y="4011930"/>
            <a:ext cx="174825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2,051</a:t>
            </a: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MHz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el-1782912284684-53"/>
          <p:cNvSpPr txBox="1"/>
          <p:nvPr/>
        </p:nvSpPr>
        <p:spPr>
          <a:xfrm>
            <a:off x="6942118" y="4011930"/>
            <a:ext cx="174825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2,209</a:t>
            </a: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MHz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el-1782912284716-88"/>
          <p:cNvSpPr txBox="1"/>
          <p:nvPr/>
        </p:nvSpPr>
        <p:spPr>
          <a:xfrm>
            <a:off x="578644" y="4219099"/>
            <a:ext cx="8108156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17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🧠 根因 &amp; Hint</a:t>
            </a:r>
            <a:endParaRPr sz="780" b="1" spc="17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el-1782912284719-90"/>
          <p:cNvSpPr txBox="1"/>
          <p:nvPr/>
        </p:nvSpPr>
        <p:spPr>
          <a:xfrm>
            <a:off x="550069" y="4434840"/>
            <a:ext cx="271346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主因分类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el-1782912284685-54"/>
          <p:cNvSpPr txBox="1"/>
          <p:nvPr/>
        </p:nvSpPr>
        <p:spPr>
          <a:xfrm>
            <a:off x="3324255" y="4434840"/>
            <a:ext cx="1748165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RUNNABLE_DELAY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el-1782912284686-55"/>
          <p:cNvSpPr txBox="1"/>
          <p:nvPr/>
        </p:nvSpPr>
        <p:spPr>
          <a:xfrm>
            <a:off x="5133141" y="4434840"/>
            <a:ext cx="174825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RUNNABLE_DELAY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el-1782912284687-56"/>
          <p:cNvSpPr txBox="1"/>
          <p:nvPr/>
        </p:nvSpPr>
        <p:spPr>
          <a:xfrm>
            <a:off x="6942118" y="4434840"/>
            <a:ext cx="174825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RUNNABLE_DELAY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el-1782912284720-91"/>
          <p:cNvSpPr txBox="1"/>
          <p:nvPr/>
        </p:nvSpPr>
        <p:spPr>
          <a:xfrm>
            <a:off x="550069" y="4634865"/>
            <a:ext cx="271346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Inference Hint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el-1782912284688-57"/>
          <p:cNvSpPr txBox="1"/>
          <p:nvPr/>
        </p:nvSpPr>
        <p:spPr>
          <a:xfrm>
            <a:off x="3324255" y="4634865"/>
            <a:ext cx="1748165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BOOST_THREAD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el-1782912284689-58"/>
          <p:cNvSpPr txBox="1"/>
          <p:nvPr/>
        </p:nvSpPr>
        <p:spPr>
          <a:xfrm>
            <a:off x="5133141" y="4634865"/>
            <a:ext cx="174825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UCLAMP_MIN_TEMPORARY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el-1782912284690-59"/>
          <p:cNvSpPr txBox="1"/>
          <p:nvPr/>
        </p:nvSpPr>
        <p:spPr>
          <a:xfrm>
            <a:off x="6942118" y="4634865"/>
            <a:ext cx="174825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UCLAMP_MIN_TEMPORARY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el-1782912284636-13"/>
          <p:cNvSpPr txBox="1"/>
          <p:nvPr/>
        </p:nvSpPr>
        <p:spPr>
          <a:xfrm>
            <a:off x="179705" y="4954905"/>
            <a:ext cx="491222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spc="1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</a:t>
            </a:r>
            <a:endParaRPr sz="730" spc="11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el-1782912284637-14"/>
          <p:cNvSpPr txBox="1"/>
          <p:nvPr/>
        </p:nvSpPr>
        <p:spPr>
          <a:xfrm>
            <a:off x="755938" y="4954905"/>
            <a:ext cx="72866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spc="1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30" spc="11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el-1782912284637-15"/>
          <p:cNvSpPr txBox="1"/>
          <p:nvPr/>
        </p:nvSpPr>
        <p:spPr>
          <a:xfrm>
            <a:off x="899845" y="4954905"/>
            <a:ext cx="405586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spc="1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</a:t>
            </a:r>
            <a:r>
              <a:rPr lang="en-US" altLang="en-US" sz="730" spc="1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altLang="en-US" sz="730" spc="11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el-1782912284596-6"/>
          <p:cNvSpPr txBox="1"/>
          <p:nvPr/>
        </p:nvSpPr>
        <p:spPr>
          <a:xfrm>
            <a:off x="7560945" y="4928870"/>
            <a:ext cx="1417955" cy="1460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第五章 · 实验成果与数据分析</a:t>
            </a:r>
            <a:endParaRPr sz="73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2912284477-1"/>
          <p:cNvSpPr/>
          <p:nvPr/>
        </p:nvSpPr>
        <p:spPr>
          <a:xfrm>
            <a:off x="0" y="0"/>
            <a:ext cx="9144000" cy="4000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2912284479-3"/>
          <p:cNvCxnSpPr/>
          <p:nvPr/>
        </p:nvCxnSpPr>
        <p:spPr>
          <a:xfrm>
            <a:off x="0" y="396478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2912284490-12"/>
          <p:cNvCxnSpPr/>
          <p:nvPr/>
        </p:nvCxnSpPr>
        <p:spPr>
          <a:xfrm>
            <a:off x="414338" y="474345"/>
            <a:ext cx="914" cy="137160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2912284495-16"/>
          <p:cNvSpPr/>
          <p:nvPr/>
        </p:nvSpPr>
        <p:spPr>
          <a:xfrm>
            <a:off x="400050" y="728663"/>
            <a:ext cx="8343900" cy="1490901"/>
          </a:xfrm>
          <a:prstGeom prst="roundRect">
            <a:avLst>
              <a:gd name="adj" fmla="val 5111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2912284503-19"/>
          <p:cNvCxnSpPr/>
          <p:nvPr/>
        </p:nvCxnSpPr>
        <p:spPr>
          <a:xfrm>
            <a:off x="521494" y="792956"/>
            <a:ext cx="914" cy="165735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2912284515-27"/>
          <p:cNvSpPr/>
          <p:nvPr/>
        </p:nvSpPr>
        <p:spPr>
          <a:xfrm>
            <a:off x="6880235" y="800100"/>
            <a:ext cx="1756559" cy="151448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8" name="el-1782912284523-41"/>
          <p:cNvCxnSpPr/>
          <p:nvPr/>
        </p:nvCxnSpPr>
        <p:spPr>
          <a:xfrm>
            <a:off x="507206" y="1273016"/>
            <a:ext cx="1446877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l-1782912284524-42"/>
          <p:cNvCxnSpPr/>
          <p:nvPr/>
        </p:nvCxnSpPr>
        <p:spPr>
          <a:xfrm>
            <a:off x="2011234" y="1273016"/>
            <a:ext cx="217045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-1782912284524-43"/>
          <p:cNvCxnSpPr/>
          <p:nvPr/>
        </p:nvCxnSpPr>
        <p:spPr>
          <a:xfrm>
            <a:off x="4238833" y="1273016"/>
            <a:ext cx="2170361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2912284525-44"/>
          <p:cNvCxnSpPr/>
          <p:nvPr/>
        </p:nvCxnSpPr>
        <p:spPr>
          <a:xfrm>
            <a:off x="6466344" y="1273016"/>
            <a:ext cx="217045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2912284545-54"/>
          <p:cNvSpPr/>
          <p:nvPr/>
        </p:nvSpPr>
        <p:spPr>
          <a:xfrm>
            <a:off x="4281696" y="1386602"/>
            <a:ext cx="1046024" cy="114300"/>
          </a:xfrm>
          <a:prstGeom prst="roundRect">
            <a:avLst>
              <a:gd name="adj" fmla="val 25000"/>
            </a:avLst>
          </a:prstGeom>
          <a:solidFill>
            <a:srgbClr val="F0F0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2912284547-56"/>
          <p:cNvSpPr/>
          <p:nvPr/>
        </p:nvSpPr>
        <p:spPr>
          <a:xfrm>
            <a:off x="4281696" y="1679496"/>
            <a:ext cx="1286143" cy="114300"/>
          </a:xfrm>
          <a:prstGeom prst="roundRect">
            <a:avLst>
              <a:gd name="adj" fmla="val 25000"/>
            </a:avLst>
          </a:prstGeom>
          <a:solidFill>
            <a:srgbClr val="F0F0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2912284549-58"/>
          <p:cNvSpPr/>
          <p:nvPr/>
        </p:nvSpPr>
        <p:spPr>
          <a:xfrm>
            <a:off x="4281696" y="1972389"/>
            <a:ext cx="805994" cy="114300"/>
          </a:xfrm>
          <a:prstGeom prst="roundRect">
            <a:avLst>
              <a:gd name="adj" fmla="val 25000"/>
            </a:avLst>
          </a:prstGeom>
          <a:solidFill>
            <a:srgbClr val="F0F0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2912284501-17"/>
          <p:cNvSpPr/>
          <p:nvPr/>
        </p:nvSpPr>
        <p:spPr>
          <a:xfrm>
            <a:off x="400050" y="2305288"/>
            <a:ext cx="3303270" cy="28382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729" y="0"/>
                </a:moveTo>
                <a:lnTo>
                  <a:pt x="98271" y="0"/>
                </a:lnTo>
                <a:lnTo>
                  <a:pt x="98441" y="10"/>
                </a:lnTo>
                <a:lnTo>
                  <a:pt x="98608" y="40"/>
                </a:lnTo>
                <a:lnTo>
                  <a:pt x="98772" y="87"/>
                </a:lnTo>
                <a:lnTo>
                  <a:pt x="98934" y="154"/>
                </a:lnTo>
                <a:lnTo>
                  <a:pt x="99086" y="238"/>
                </a:lnTo>
                <a:lnTo>
                  <a:pt x="99231" y="339"/>
                </a:lnTo>
                <a:lnTo>
                  <a:pt x="99369" y="456"/>
                </a:lnTo>
                <a:lnTo>
                  <a:pt x="99493" y="591"/>
                </a:lnTo>
                <a:lnTo>
                  <a:pt x="99608" y="735"/>
                </a:lnTo>
                <a:lnTo>
                  <a:pt x="99709" y="896"/>
                </a:lnTo>
                <a:lnTo>
                  <a:pt x="99795" y="1064"/>
                </a:lnTo>
                <a:lnTo>
                  <a:pt x="99867" y="1242"/>
                </a:lnTo>
                <a:lnTo>
                  <a:pt x="99925" y="1430"/>
                </a:lnTo>
                <a:lnTo>
                  <a:pt x="99965" y="1621"/>
                </a:lnTo>
                <a:lnTo>
                  <a:pt x="99991" y="1815"/>
                </a:lnTo>
                <a:lnTo>
                  <a:pt x="100000" y="2013"/>
                </a:lnTo>
                <a:lnTo>
                  <a:pt x="100000" y="100000"/>
                </a:lnTo>
                <a:lnTo>
                  <a:pt x="99997" y="100050"/>
                </a:lnTo>
                <a:lnTo>
                  <a:pt x="3" y="100050"/>
                </a:lnTo>
                <a:lnTo>
                  <a:pt x="0" y="100000"/>
                </a:lnTo>
                <a:lnTo>
                  <a:pt x="0" y="2013"/>
                </a:lnTo>
                <a:lnTo>
                  <a:pt x="9" y="1815"/>
                </a:lnTo>
                <a:lnTo>
                  <a:pt x="35" y="1621"/>
                </a:lnTo>
                <a:lnTo>
                  <a:pt x="75" y="1430"/>
                </a:lnTo>
                <a:lnTo>
                  <a:pt x="133" y="1242"/>
                </a:lnTo>
                <a:lnTo>
                  <a:pt x="205" y="1064"/>
                </a:lnTo>
                <a:lnTo>
                  <a:pt x="291" y="896"/>
                </a:lnTo>
                <a:lnTo>
                  <a:pt x="392" y="735"/>
                </a:lnTo>
                <a:lnTo>
                  <a:pt x="507" y="591"/>
                </a:lnTo>
                <a:lnTo>
                  <a:pt x="631" y="456"/>
                </a:lnTo>
                <a:lnTo>
                  <a:pt x="769" y="339"/>
                </a:lnTo>
                <a:lnTo>
                  <a:pt x="914" y="238"/>
                </a:lnTo>
                <a:lnTo>
                  <a:pt x="1066" y="154"/>
                </a:lnTo>
                <a:lnTo>
                  <a:pt x="1228" y="87"/>
                </a:lnTo>
                <a:lnTo>
                  <a:pt x="1392" y="40"/>
                </a:lnTo>
                <a:lnTo>
                  <a:pt x="1559" y="1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2912284527-45"/>
          <p:cNvCxnSpPr/>
          <p:nvPr/>
        </p:nvCxnSpPr>
        <p:spPr>
          <a:xfrm>
            <a:off x="521494" y="2369582"/>
            <a:ext cx="914" cy="154305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2912284551-60"/>
          <p:cNvSpPr/>
          <p:nvPr/>
        </p:nvSpPr>
        <p:spPr>
          <a:xfrm>
            <a:off x="446732" y="3147933"/>
            <a:ext cx="1250781" cy="184309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2912284553-61"/>
          <p:cNvSpPr/>
          <p:nvPr/>
        </p:nvSpPr>
        <p:spPr>
          <a:xfrm>
            <a:off x="2051526" y="2793921"/>
            <a:ext cx="998607" cy="151448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2912284553-61__text"/>
          <p:cNvSpPr txBox="1"/>
          <p:nvPr/>
        </p:nvSpPr>
        <p:spPr>
          <a:xfrm>
            <a:off x="2019141" y="2799001"/>
            <a:ext cx="998607" cy="15144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 spc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BOOST_THREAD</a:t>
            </a:r>
            <a:endParaRPr sz="780" b="1" spc="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2912284555-63"/>
          <p:cNvSpPr/>
          <p:nvPr/>
        </p:nvSpPr>
        <p:spPr>
          <a:xfrm>
            <a:off x="2051566" y="2978150"/>
            <a:ext cx="1576983" cy="184309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1" name="el-1782912284527-46"/>
          <p:cNvCxnSpPr/>
          <p:nvPr/>
        </p:nvCxnSpPr>
        <p:spPr>
          <a:xfrm>
            <a:off x="507206" y="3863340"/>
            <a:ext cx="3088957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l-1782912284502-18"/>
          <p:cNvSpPr/>
          <p:nvPr/>
        </p:nvSpPr>
        <p:spPr>
          <a:xfrm>
            <a:off x="3789045" y="2305288"/>
            <a:ext cx="4954905" cy="28382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50"/>
                </a:moveTo>
                <a:lnTo>
                  <a:pt x="0" y="0"/>
                </a:lnTo>
                <a:lnTo>
                  <a:pt x="98846" y="0"/>
                </a:lnTo>
                <a:lnTo>
                  <a:pt x="98960" y="10"/>
                </a:lnTo>
                <a:lnTo>
                  <a:pt x="99071" y="40"/>
                </a:lnTo>
                <a:lnTo>
                  <a:pt x="99181" y="87"/>
                </a:lnTo>
                <a:lnTo>
                  <a:pt x="99288" y="154"/>
                </a:lnTo>
                <a:lnTo>
                  <a:pt x="99390" y="238"/>
                </a:lnTo>
                <a:lnTo>
                  <a:pt x="99487" y="339"/>
                </a:lnTo>
                <a:lnTo>
                  <a:pt x="99579" y="456"/>
                </a:lnTo>
                <a:lnTo>
                  <a:pt x="99662" y="591"/>
                </a:lnTo>
                <a:lnTo>
                  <a:pt x="99738" y="735"/>
                </a:lnTo>
                <a:lnTo>
                  <a:pt x="99806" y="896"/>
                </a:lnTo>
                <a:lnTo>
                  <a:pt x="99863" y="1064"/>
                </a:lnTo>
                <a:lnTo>
                  <a:pt x="99912" y="1242"/>
                </a:lnTo>
                <a:lnTo>
                  <a:pt x="99950" y="1430"/>
                </a:lnTo>
                <a:lnTo>
                  <a:pt x="99977" y="1621"/>
                </a:lnTo>
                <a:lnTo>
                  <a:pt x="99994" y="1815"/>
                </a:lnTo>
                <a:lnTo>
                  <a:pt x="100000" y="2013"/>
                </a:lnTo>
                <a:lnTo>
                  <a:pt x="100000" y="100000"/>
                </a:lnTo>
                <a:lnTo>
                  <a:pt x="99998" y="10005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2912284531-47"/>
          <p:cNvSpPr/>
          <p:nvPr/>
        </p:nvSpPr>
        <p:spPr>
          <a:xfrm>
            <a:off x="3924776" y="2573893"/>
            <a:ext cx="4719162" cy="817959"/>
          </a:xfrm>
          <a:prstGeom prst="roundRect">
            <a:avLst>
              <a:gd name="adj" fmla="val 6987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25" name="el-1782912284561-67"/>
          <p:cNvSpPr/>
          <p:nvPr/>
        </p:nvSpPr>
        <p:spPr>
          <a:xfrm>
            <a:off x="4031933" y="2641044"/>
            <a:ext cx="259675" cy="157877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82912284532-48"/>
          <p:cNvSpPr/>
          <p:nvPr/>
        </p:nvSpPr>
        <p:spPr>
          <a:xfrm>
            <a:off x="3924776" y="3449003"/>
            <a:ext cx="4719162" cy="817959"/>
          </a:xfrm>
          <a:prstGeom prst="roundRect">
            <a:avLst>
              <a:gd name="adj" fmla="val 6987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27" name="el-1782912284564-72"/>
          <p:cNvSpPr/>
          <p:nvPr/>
        </p:nvSpPr>
        <p:spPr>
          <a:xfrm>
            <a:off x="4031933" y="3516154"/>
            <a:ext cx="259675" cy="157877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-1782912284534-49"/>
          <p:cNvSpPr/>
          <p:nvPr/>
        </p:nvSpPr>
        <p:spPr>
          <a:xfrm>
            <a:off x="3924776" y="4324112"/>
            <a:ext cx="4719162" cy="817959"/>
          </a:xfrm>
          <a:prstGeom prst="roundRect">
            <a:avLst>
              <a:gd name="adj" fmla="val 6987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29" name="el-1782912284567-76"/>
          <p:cNvSpPr/>
          <p:nvPr/>
        </p:nvSpPr>
        <p:spPr>
          <a:xfrm>
            <a:off x="4031933" y="4391263"/>
            <a:ext cx="259675" cy="157877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-1782912284478-2"/>
          <p:cNvSpPr/>
          <p:nvPr/>
        </p:nvSpPr>
        <p:spPr>
          <a:xfrm>
            <a:off x="0" y="4977765"/>
            <a:ext cx="9144000" cy="16573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1" name="el-1782912284479-4"/>
          <p:cNvCxnSpPr/>
          <p:nvPr/>
        </p:nvCxnSpPr>
        <p:spPr>
          <a:xfrm>
            <a:off x="0" y="4970542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l-1782912284482-5"/>
          <p:cNvSpPr txBox="1"/>
          <p:nvPr/>
        </p:nvSpPr>
        <p:spPr>
          <a:xfrm>
            <a:off x="400050" y="122158"/>
            <a:ext cx="51488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r>
              <a:rPr sz="6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9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37</a:t>
            </a:r>
            <a:endParaRPr sz="900" b="1" spc="28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82912284489-9"/>
          <p:cNvSpPr txBox="1"/>
          <p:nvPr/>
        </p:nvSpPr>
        <p:spPr>
          <a:xfrm>
            <a:off x="1086485" y="121920"/>
            <a:ext cx="1823720" cy="1581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第五章 · 实验成果与数据分析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2912284489-10"/>
          <p:cNvSpPr txBox="1"/>
          <p:nvPr/>
        </p:nvSpPr>
        <p:spPr>
          <a:xfrm>
            <a:off x="2758916" y="122158"/>
            <a:ext cx="96619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D0D0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900">
              <a:solidFill>
                <a:srgbClr val="D0D0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82912284489-11"/>
          <p:cNvSpPr txBox="1"/>
          <p:nvPr/>
        </p:nvSpPr>
        <p:spPr>
          <a:xfrm>
            <a:off x="2855536" y="122158"/>
            <a:ext cx="1941225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根因推断与 Hint Engine 自适应策略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82912284488-8"/>
          <p:cNvSpPr txBox="1"/>
          <p:nvPr/>
        </p:nvSpPr>
        <p:spPr>
          <a:xfrm>
            <a:off x="528638" y="474345"/>
            <a:ext cx="497294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56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▎第五章</a:t>
            </a:r>
            <a:endParaRPr sz="900" b="1" spc="56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l-1782912284487-7"/>
          <p:cNvSpPr txBox="1"/>
          <p:nvPr/>
        </p:nvSpPr>
        <p:spPr>
          <a:xfrm>
            <a:off x="1068794" y="428625"/>
            <a:ext cx="2878931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50" b="1" spc="-1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根因推断与 </a:t>
            </a:r>
            <a:r>
              <a:rPr sz="1350" b="1" spc="-1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Hint Engine</a:t>
            </a:r>
            <a:r>
              <a:rPr sz="1350" b="1" spc="-1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自适应策略</a:t>
            </a:r>
            <a:endParaRPr sz="1350" b="1" spc="-1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el-1782912284505-21"/>
          <p:cNvSpPr txBox="1"/>
          <p:nvPr/>
        </p:nvSpPr>
        <p:spPr>
          <a:xfrm>
            <a:off x="607219" y="798671"/>
            <a:ext cx="749469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🧠 根因推断</a:t>
            </a:r>
            <a:endParaRPr sz="95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el-1782912284514-26"/>
          <p:cNvSpPr txBox="1"/>
          <p:nvPr/>
        </p:nvSpPr>
        <p:spPr>
          <a:xfrm>
            <a:off x="6994535" y="807244"/>
            <a:ext cx="1692265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三次采集 · confidence = 0.9999</a:t>
            </a:r>
            <a:endParaRPr sz="78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l-1782912284516-28"/>
          <p:cNvSpPr txBox="1"/>
          <p:nvPr/>
        </p:nvSpPr>
        <p:spPr>
          <a:xfrm>
            <a:off x="550069" y="1051560"/>
            <a:ext cx="1457593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Session</a:t>
            </a:r>
            <a:endParaRPr sz="84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el-1782912284516-29"/>
          <p:cNvSpPr txBox="1"/>
          <p:nvPr/>
        </p:nvSpPr>
        <p:spPr>
          <a:xfrm>
            <a:off x="2054096" y="1051560"/>
            <a:ext cx="2181166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根因类型</a:t>
            </a:r>
            <a:endParaRPr sz="84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el-1782912284516-30"/>
          <p:cNvSpPr txBox="1"/>
          <p:nvPr/>
        </p:nvSpPr>
        <p:spPr>
          <a:xfrm>
            <a:off x="4281696" y="1051560"/>
            <a:ext cx="2181076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Hint 策略</a:t>
            </a:r>
            <a:endParaRPr sz="84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el-1782912284517-31"/>
          <p:cNvSpPr txBox="1"/>
          <p:nvPr/>
        </p:nvSpPr>
        <p:spPr>
          <a:xfrm>
            <a:off x="6509206" y="1051560"/>
            <a:ext cx="2181166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 / 备注</a:t>
            </a:r>
            <a:endParaRPr sz="84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l-1782912284517-32"/>
          <p:cNvSpPr txBox="1"/>
          <p:nvPr/>
        </p:nvSpPr>
        <p:spPr>
          <a:xfrm>
            <a:off x="550069" y="1340882"/>
            <a:ext cx="1457593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Run1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el-1782912284509-22"/>
          <p:cNvSpPr txBox="1"/>
          <p:nvPr/>
        </p:nvSpPr>
        <p:spPr>
          <a:xfrm>
            <a:off x="2054096" y="1340882"/>
            <a:ext cx="2181166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RUNNABLE_DELAY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el-1782912284544-53"/>
          <p:cNvSpPr txBox="1"/>
          <p:nvPr/>
        </p:nvSpPr>
        <p:spPr>
          <a:xfrm>
            <a:off x="4324558" y="1386602"/>
            <a:ext cx="1053167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PROTECT_UI_CHAIN</a:t>
            </a:r>
            <a:endParaRPr sz="780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47" name="el-1782912284518-33"/>
          <p:cNvSpPr txBox="1"/>
          <p:nvPr/>
        </p:nvSpPr>
        <p:spPr>
          <a:xfrm>
            <a:off x="6509206" y="1340882"/>
            <a:ext cx="2181166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surfaceflinger 保护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el-1782912284519-34"/>
          <p:cNvSpPr txBox="1"/>
          <p:nvPr/>
        </p:nvSpPr>
        <p:spPr>
          <a:xfrm>
            <a:off x="550069" y="1633776"/>
            <a:ext cx="1457593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Run2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el-1782912284511-23"/>
          <p:cNvSpPr txBox="1"/>
          <p:nvPr/>
        </p:nvSpPr>
        <p:spPr>
          <a:xfrm>
            <a:off x="2054096" y="1633776"/>
            <a:ext cx="2181166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RUNNABLE_DELAY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el-1782912284546-55"/>
          <p:cNvSpPr txBox="1"/>
          <p:nvPr/>
        </p:nvSpPr>
        <p:spPr>
          <a:xfrm>
            <a:off x="4324558" y="1679496"/>
            <a:ext cx="1293287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UCLAMP_MIN_TEMPORARY</a:t>
            </a:r>
            <a:endParaRPr sz="780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51" name="el-1782912284520-35"/>
          <p:cNvSpPr txBox="1"/>
          <p:nvPr/>
        </p:nvSpPr>
        <p:spPr>
          <a:xfrm>
            <a:off x="6509206" y="1633776"/>
            <a:ext cx="2181166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降频抑制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el-1782912284520-36"/>
          <p:cNvSpPr txBox="1"/>
          <p:nvPr/>
        </p:nvSpPr>
        <p:spPr>
          <a:xfrm>
            <a:off x="550069" y="1926669"/>
            <a:ext cx="1457593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el-1782912284512-24"/>
          <p:cNvSpPr txBox="1"/>
          <p:nvPr/>
        </p:nvSpPr>
        <p:spPr>
          <a:xfrm>
            <a:off x="2054096" y="1926669"/>
            <a:ext cx="2181166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RUNNABLE_DELAY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el-1782912284547-57"/>
          <p:cNvSpPr txBox="1"/>
          <p:nvPr/>
        </p:nvSpPr>
        <p:spPr>
          <a:xfrm>
            <a:off x="4324558" y="1972389"/>
            <a:ext cx="813137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BOOST_THREAD</a:t>
            </a:r>
            <a:endParaRPr sz="780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55" name="el-1782912284521-37"/>
          <p:cNvSpPr txBox="1"/>
          <p:nvPr/>
        </p:nvSpPr>
        <p:spPr>
          <a:xfrm>
            <a:off x="6509206" y="1926669"/>
            <a:ext cx="2181166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调度优先级提升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el-1782912284521-38"/>
          <p:cNvSpPr txBox="1"/>
          <p:nvPr/>
        </p:nvSpPr>
        <p:spPr>
          <a:xfrm>
            <a:off x="607219" y="2369582"/>
            <a:ext cx="3046095" cy="1543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🔄 Hint Engine 自适应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el-1782912284541-50"/>
          <p:cNvSpPr txBox="1"/>
          <p:nvPr/>
        </p:nvSpPr>
        <p:spPr>
          <a:xfrm>
            <a:off x="507206" y="2581037"/>
            <a:ext cx="1795314" cy="5464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30"/>
              </a:lnSpc>
            </a:pPr>
            <a:r>
              <a:rPr sz="84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 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thermal_score &gt; 0</a:t>
            </a:r>
            <a:r>
              <a:rPr sz="84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时，Inference 自动将 secondaryhypothesis 切换为</a:t>
            </a:r>
            <a:endParaRPr sz="84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el-1782912284549-59"/>
          <p:cNvSpPr txBox="1"/>
          <p:nvPr/>
        </p:nvSpPr>
        <p:spPr>
          <a:xfrm>
            <a:off x="507057" y="3148092"/>
            <a:ext cx="1215063" cy="1700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THERMAL_THROTTLE</a:t>
            </a:r>
            <a:endParaRPr sz="78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el-1782912284542-51"/>
          <p:cNvSpPr txBox="1"/>
          <p:nvPr/>
        </p:nvSpPr>
        <p:spPr>
          <a:xfrm>
            <a:off x="2126456" y="2581434"/>
            <a:ext cx="1469112" cy="3643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ts val="1430"/>
              </a:lnSpc>
            </a:pPr>
            <a:r>
              <a:rPr sz="84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recommended_hint 从 </a:t>
            </a:r>
            <a:endParaRPr sz="84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43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　　　　　　　</a:t>
            </a:r>
            <a:r>
              <a:rPr sz="84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升级为</a:t>
            </a:r>
            <a:endParaRPr sz="84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el-1782912284553-62"/>
          <p:cNvSpPr txBox="1"/>
          <p:nvPr/>
        </p:nvSpPr>
        <p:spPr>
          <a:xfrm>
            <a:off x="2104906" y="2978309"/>
            <a:ext cx="1541264" cy="1700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UCLAMP_MIN_TEMPORARY</a:t>
            </a:r>
            <a:endParaRPr sz="78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el-1782912284543-52"/>
          <p:cNvSpPr txBox="1"/>
          <p:nvPr/>
        </p:nvSpPr>
        <p:spPr>
          <a:xfrm>
            <a:off x="507206" y="3449320"/>
            <a:ext cx="2648099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Video 场景 throttle = 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1.00</a:t>
            </a:r>
            <a:r>
              <a:rPr sz="84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Hint 被完全抑制 (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条</a:t>
            </a:r>
            <a:r>
              <a:rPr sz="84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sz="84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el-1782912284522-39"/>
          <p:cNvSpPr txBox="1"/>
          <p:nvPr/>
        </p:nvSpPr>
        <p:spPr>
          <a:xfrm>
            <a:off x="507206" y="3909774"/>
            <a:ext cx="3142536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避免在极端温控状态下进一步加重负载</a:t>
            </a:r>
            <a:endParaRPr sz="84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el-1782912284513-25"/>
          <p:cNvSpPr txBox="1"/>
          <p:nvPr/>
        </p:nvSpPr>
        <p:spPr>
          <a:xfrm>
            <a:off x="507206" y="4170521"/>
            <a:ext cx="3088957" cy="5464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30"/>
              </a:lnSpc>
            </a:pPr>
            <a:r>
              <a:rPr sz="84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处理规模 (Camera 为例)：30s Google Camera → </a:t>
            </a:r>
            <a:r>
              <a:rPr sz="84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~460 万行</a:t>
            </a:r>
            <a:r>
              <a:rPr sz="84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eBPF 事件 → 631 线程评分 → 16 帧卡顿分析 → 9 章约 750 行 Markdown 报告</a:t>
            </a:r>
            <a:endParaRPr sz="84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el-1782912284522-40"/>
          <p:cNvSpPr txBox="1"/>
          <p:nvPr/>
        </p:nvSpPr>
        <p:spPr>
          <a:xfrm>
            <a:off x="3924776" y="2362438"/>
            <a:ext cx="4776312" cy="1543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🔍 三大洞察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el-1782912284559-66"/>
          <p:cNvSpPr txBox="1"/>
          <p:nvPr/>
        </p:nvSpPr>
        <p:spPr>
          <a:xfrm>
            <a:off x="4103370" y="2641044"/>
            <a:ext cx="234672" cy="1578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#1</a:t>
            </a:r>
            <a:endParaRPr sz="73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el-1782912284561-68"/>
          <p:cNvSpPr txBox="1"/>
          <p:nvPr/>
        </p:nvSpPr>
        <p:spPr>
          <a:xfrm>
            <a:off x="4366260" y="2641044"/>
            <a:ext cx="1569839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Run1 无温控但 Jank 率 72.5%</a:t>
            </a:r>
            <a:endParaRPr sz="84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el-1782912284562-69"/>
          <p:cNvSpPr txBox="1"/>
          <p:nvPr/>
        </p:nvSpPr>
        <p:spPr>
          <a:xfrm>
            <a:off x="4031933" y="2827496"/>
            <a:ext cx="4554855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调度竞争本身就是主要瓶颈（不是 Binder、不是锁）</a:t>
            </a:r>
            <a:endParaRPr sz="78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el-1782912284562-70"/>
          <p:cNvSpPr txBox="1"/>
          <p:nvPr/>
        </p:nvSpPr>
        <p:spPr>
          <a:xfrm>
            <a:off x="4031933" y="3026093"/>
            <a:ext cx="4504849" cy="3157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40"/>
              </a:lnSpc>
            </a:pPr>
            <a:r>
              <a:rPr sz="73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Run1 中 surfaceflinger 的 runnable_delay 占比达 38.2%，与 UI 线程和 RenderThread 竞争同一大核集群，导致帧完成时间超限</a:t>
            </a:r>
            <a:endParaRPr sz="73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el-1782912284563-71"/>
          <p:cNvSpPr txBox="1"/>
          <p:nvPr/>
        </p:nvSpPr>
        <p:spPr>
          <a:xfrm>
            <a:off x="4103370" y="3516154"/>
            <a:ext cx="234672" cy="1578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#2</a:t>
            </a:r>
            <a:endParaRPr sz="73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el-1782912284565-73"/>
          <p:cNvSpPr txBox="1"/>
          <p:nvPr/>
        </p:nvSpPr>
        <p:spPr>
          <a:xfrm>
            <a:off x="4366260" y="3516154"/>
            <a:ext cx="1755398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Run2 温控 0.47 后 Jank 率 96.6%</a:t>
            </a:r>
            <a:endParaRPr sz="84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el-1782912284557-64"/>
          <p:cNvSpPr txBox="1"/>
          <p:nvPr/>
        </p:nvSpPr>
        <p:spPr>
          <a:xfrm>
            <a:off x="4031933" y="3702606"/>
            <a:ext cx="4554855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温度升高降频介入，温控是 </a:t>
            </a: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雪上加霜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el-1782912284565-74"/>
          <p:cNvSpPr txBox="1"/>
          <p:nvPr/>
        </p:nvSpPr>
        <p:spPr>
          <a:xfrm>
            <a:off x="4031933" y="3901202"/>
            <a:ext cx="4504849" cy="3157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40"/>
              </a:lnSpc>
            </a:pPr>
            <a:r>
              <a:rPr sz="73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 thermal_score 升至 0.47 时，CPU 最高频率从 2.8GHz 降至 2.1GHz，UnityMain 的调度等待时间从 Run1 的 244ms 攀升至 417ms</a:t>
            </a:r>
            <a:endParaRPr sz="73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el-1782912284565-75"/>
          <p:cNvSpPr txBox="1"/>
          <p:nvPr/>
        </p:nvSpPr>
        <p:spPr>
          <a:xfrm>
            <a:off x="4103370" y="4391263"/>
            <a:ext cx="234672" cy="1578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#3</a:t>
            </a:r>
            <a:endParaRPr sz="73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el-1782912284567-77"/>
          <p:cNvSpPr txBox="1"/>
          <p:nvPr/>
        </p:nvSpPr>
        <p:spPr>
          <a:xfrm>
            <a:off x="4366260" y="4391263"/>
            <a:ext cx="1657975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视频温控 1.00 但 Jank 率 71.2%</a:t>
            </a:r>
            <a:endParaRPr sz="84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el-1782912284557-65"/>
          <p:cNvSpPr txBox="1"/>
          <p:nvPr/>
        </p:nvSpPr>
        <p:spPr>
          <a:xfrm>
            <a:off x="4031933" y="4528352"/>
            <a:ext cx="4554855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dirty="0" err="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温控最严重但</a:t>
            </a:r>
            <a:r>
              <a:rPr sz="780" dirty="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Jank </a:t>
            </a:r>
            <a:r>
              <a:rPr sz="780" dirty="0" err="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率非最高，视频有</a:t>
            </a:r>
            <a:r>
              <a:rPr sz="780" dirty="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780" b="1" dirty="0" err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额外延迟容忍</a:t>
            </a:r>
            <a:endParaRPr dirty="0"/>
          </a:p>
        </p:txBody>
      </p:sp>
      <p:sp>
        <p:nvSpPr>
          <p:cNvPr id="76" name="el-1782912284568-78"/>
          <p:cNvSpPr txBox="1"/>
          <p:nvPr/>
        </p:nvSpPr>
        <p:spPr>
          <a:xfrm>
            <a:off x="4031933" y="4654867"/>
            <a:ext cx="4504849" cy="3157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40"/>
              </a:lnSpc>
            </a:pPr>
            <a:r>
              <a:rPr sz="730" dirty="0" err="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视频场景的解码渲染管线支持异步缓冲机制，允许一定程度的帧延迟而不被标记为</a:t>
            </a:r>
            <a:r>
              <a:rPr sz="730" dirty="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730" dirty="0" err="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Jank，但温控</a:t>
            </a:r>
            <a:r>
              <a:rPr sz="730" dirty="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1.00 </a:t>
            </a:r>
            <a:r>
              <a:rPr sz="730" dirty="0" err="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已导致</a:t>
            </a:r>
            <a:r>
              <a:rPr sz="730" dirty="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Hint Engine </a:t>
            </a:r>
            <a:r>
              <a:rPr sz="730" dirty="0" err="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完全抑制输出</a:t>
            </a:r>
            <a:endParaRPr dirty="0"/>
          </a:p>
        </p:txBody>
      </p:sp>
      <p:sp>
        <p:nvSpPr>
          <p:cNvPr id="77" name="el-1782912284490-13"/>
          <p:cNvSpPr txBox="1"/>
          <p:nvPr/>
        </p:nvSpPr>
        <p:spPr>
          <a:xfrm>
            <a:off x="400050" y="4949905"/>
            <a:ext cx="53506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el-1782912284491-14"/>
          <p:cNvSpPr txBox="1"/>
          <p:nvPr/>
        </p:nvSpPr>
        <p:spPr>
          <a:xfrm>
            <a:off x="1056561" y="4949905"/>
            <a:ext cx="7911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el-1782912284491-15"/>
          <p:cNvSpPr txBox="1"/>
          <p:nvPr/>
        </p:nvSpPr>
        <p:spPr>
          <a:xfrm>
            <a:off x="1257121" y="4949905"/>
            <a:ext cx="44103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</a:t>
            </a:r>
            <a:r>
              <a:rPr lang="en-US" altLang="en-US"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altLang="en-US"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el-1782912284482-6"/>
          <p:cNvSpPr txBox="1"/>
          <p:nvPr/>
        </p:nvSpPr>
        <p:spPr>
          <a:xfrm>
            <a:off x="7524115" y="4970780"/>
            <a:ext cx="1581785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第五章 · 实验成果与数据分析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2912284751-1"/>
          <p:cNvSpPr/>
          <p:nvPr/>
        </p:nvSpPr>
        <p:spPr>
          <a:xfrm>
            <a:off x="0" y="0"/>
            <a:ext cx="9144000" cy="5143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2912284753-3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2912284766-14"/>
          <p:cNvCxnSpPr/>
          <p:nvPr/>
        </p:nvCxnSpPr>
        <p:spPr>
          <a:xfrm>
            <a:off x="414338" y="634365"/>
            <a:ext cx="914" cy="137160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2912284764-10"/>
          <p:cNvSpPr/>
          <p:nvPr/>
        </p:nvSpPr>
        <p:spPr>
          <a:xfrm>
            <a:off x="7567464" y="628650"/>
            <a:ext cx="1176486" cy="148590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2912284772-18"/>
          <p:cNvSpPr/>
          <p:nvPr/>
        </p:nvSpPr>
        <p:spPr>
          <a:xfrm>
            <a:off x="400050" y="905828"/>
            <a:ext cx="3912007" cy="3203257"/>
          </a:xfrm>
          <a:prstGeom prst="roundRect">
            <a:avLst>
              <a:gd name="adj" fmla="val 2379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2912284814-39"/>
          <p:cNvCxnSpPr/>
          <p:nvPr/>
        </p:nvCxnSpPr>
        <p:spPr>
          <a:xfrm>
            <a:off x="521494" y="998696"/>
            <a:ext cx="914" cy="171450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2912284843-62"/>
          <p:cNvSpPr/>
          <p:nvPr/>
        </p:nvSpPr>
        <p:spPr>
          <a:xfrm>
            <a:off x="3448735" y="1020128"/>
            <a:ext cx="756166" cy="128588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2912284867-104"/>
          <p:cNvCxnSpPr/>
          <p:nvPr/>
        </p:nvCxnSpPr>
        <p:spPr>
          <a:xfrm>
            <a:off x="507206" y="1459468"/>
            <a:ext cx="17145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-1782912284867-105"/>
          <p:cNvCxnSpPr/>
          <p:nvPr/>
        </p:nvCxnSpPr>
        <p:spPr>
          <a:xfrm>
            <a:off x="721519" y="1459468"/>
            <a:ext cx="1246049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2912284868-106"/>
          <p:cNvCxnSpPr/>
          <p:nvPr/>
        </p:nvCxnSpPr>
        <p:spPr>
          <a:xfrm>
            <a:off x="2010430" y="1459468"/>
            <a:ext cx="766792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-1782912284868-107"/>
          <p:cNvCxnSpPr/>
          <p:nvPr/>
        </p:nvCxnSpPr>
        <p:spPr>
          <a:xfrm>
            <a:off x="2820085" y="1459468"/>
            <a:ext cx="670977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-1782912284869-108"/>
          <p:cNvCxnSpPr/>
          <p:nvPr/>
        </p:nvCxnSpPr>
        <p:spPr>
          <a:xfrm>
            <a:off x="3533924" y="1459468"/>
            <a:ext cx="670977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2912284804-28"/>
          <p:cNvCxnSpPr/>
          <p:nvPr/>
        </p:nvCxnSpPr>
        <p:spPr>
          <a:xfrm>
            <a:off x="507206" y="2738200"/>
            <a:ext cx="3697694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2912284774-19"/>
          <p:cNvSpPr/>
          <p:nvPr/>
        </p:nvSpPr>
        <p:spPr>
          <a:xfrm>
            <a:off x="4440644" y="905828"/>
            <a:ext cx="4303306" cy="3203257"/>
          </a:xfrm>
          <a:prstGeom prst="roundRect">
            <a:avLst>
              <a:gd name="adj" fmla="val 2379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2912284814-40"/>
          <p:cNvCxnSpPr/>
          <p:nvPr/>
        </p:nvCxnSpPr>
        <p:spPr>
          <a:xfrm>
            <a:off x="4562088" y="998696"/>
            <a:ext cx="914" cy="171450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2912284854-77"/>
          <p:cNvSpPr/>
          <p:nvPr/>
        </p:nvSpPr>
        <p:spPr>
          <a:xfrm>
            <a:off x="8072795" y="1020128"/>
            <a:ext cx="563999" cy="128588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8" name="el-1782912284871-109"/>
          <p:cNvCxnSpPr/>
          <p:nvPr/>
        </p:nvCxnSpPr>
        <p:spPr>
          <a:xfrm>
            <a:off x="4547800" y="1459468"/>
            <a:ext cx="1424553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-1782912284872-110"/>
          <p:cNvCxnSpPr/>
          <p:nvPr/>
        </p:nvCxnSpPr>
        <p:spPr>
          <a:xfrm>
            <a:off x="6029504" y="1459468"/>
            <a:ext cx="830997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2912284872-111"/>
          <p:cNvCxnSpPr/>
          <p:nvPr/>
        </p:nvCxnSpPr>
        <p:spPr>
          <a:xfrm>
            <a:off x="6917651" y="1459468"/>
            <a:ext cx="830997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-1782912284873-112"/>
          <p:cNvCxnSpPr/>
          <p:nvPr/>
        </p:nvCxnSpPr>
        <p:spPr>
          <a:xfrm>
            <a:off x="7805797" y="1459468"/>
            <a:ext cx="830997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-1782912284805-29"/>
          <p:cNvCxnSpPr/>
          <p:nvPr/>
        </p:nvCxnSpPr>
        <p:spPr>
          <a:xfrm>
            <a:off x="4547800" y="3398282"/>
            <a:ext cx="4088993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l-1782912284775-20"/>
          <p:cNvSpPr/>
          <p:nvPr/>
        </p:nvSpPr>
        <p:spPr>
          <a:xfrm>
            <a:off x="400050" y="4149090"/>
            <a:ext cx="2724091" cy="62293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7902" y="0"/>
                </a:lnTo>
                <a:lnTo>
                  <a:pt x="98108" y="46"/>
                </a:lnTo>
                <a:lnTo>
                  <a:pt x="98311" y="185"/>
                </a:lnTo>
                <a:lnTo>
                  <a:pt x="98510" y="400"/>
                </a:lnTo>
                <a:lnTo>
                  <a:pt x="98706" y="708"/>
                </a:lnTo>
                <a:lnTo>
                  <a:pt x="98892" y="1092"/>
                </a:lnTo>
                <a:lnTo>
                  <a:pt x="99066" y="1554"/>
                </a:lnTo>
                <a:lnTo>
                  <a:pt x="99234" y="2092"/>
                </a:lnTo>
                <a:lnTo>
                  <a:pt x="99385" y="2708"/>
                </a:lnTo>
                <a:lnTo>
                  <a:pt x="99524" y="3369"/>
                </a:lnTo>
                <a:lnTo>
                  <a:pt x="99647" y="4108"/>
                </a:lnTo>
                <a:lnTo>
                  <a:pt x="99752" y="4877"/>
                </a:lnTo>
                <a:lnTo>
                  <a:pt x="99839" y="5692"/>
                </a:lnTo>
                <a:lnTo>
                  <a:pt x="99909" y="6554"/>
                </a:lnTo>
                <a:lnTo>
                  <a:pt x="99958" y="7431"/>
                </a:lnTo>
                <a:lnTo>
                  <a:pt x="99990" y="8323"/>
                </a:lnTo>
                <a:lnTo>
                  <a:pt x="100000" y="9231"/>
                </a:lnTo>
                <a:lnTo>
                  <a:pt x="100000" y="90769"/>
                </a:lnTo>
                <a:lnTo>
                  <a:pt x="99990" y="91677"/>
                </a:lnTo>
                <a:lnTo>
                  <a:pt x="99958" y="92569"/>
                </a:lnTo>
                <a:lnTo>
                  <a:pt x="99909" y="93446"/>
                </a:lnTo>
                <a:lnTo>
                  <a:pt x="99839" y="94308"/>
                </a:lnTo>
                <a:lnTo>
                  <a:pt x="99752" y="95123"/>
                </a:lnTo>
                <a:lnTo>
                  <a:pt x="99647" y="95892"/>
                </a:lnTo>
                <a:lnTo>
                  <a:pt x="99524" y="96631"/>
                </a:lnTo>
                <a:lnTo>
                  <a:pt x="99385" y="97292"/>
                </a:lnTo>
                <a:lnTo>
                  <a:pt x="99234" y="97908"/>
                </a:lnTo>
                <a:lnTo>
                  <a:pt x="99066" y="98446"/>
                </a:lnTo>
                <a:lnTo>
                  <a:pt x="98892" y="98908"/>
                </a:lnTo>
                <a:lnTo>
                  <a:pt x="98706" y="99292"/>
                </a:lnTo>
                <a:lnTo>
                  <a:pt x="98510" y="99600"/>
                </a:lnTo>
                <a:lnTo>
                  <a:pt x="98311" y="99815"/>
                </a:lnTo>
                <a:lnTo>
                  <a:pt x="98108" y="99954"/>
                </a:lnTo>
                <a:lnTo>
                  <a:pt x="97902" y="100000"/>
                </a:lnTo>
                <a:lnTo>
                  <a:pt x="0" y="100000"/>
                </a:lnTo>
                <a:lnTo>
                  <a:pt x="0" y="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2912284780-23"/>
          <p:cNvSpPr/>
          <p:nvPr/>
        </p:nvSpPr>
        <p:spPr>
          <a:xfrm>
            <a:off x="400050" y="4149090"/>
            <a:ext cx="2724091" cy="62293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0" y="0"/>
                </a:lnTo>
              </a:path>
            </a:pathLst>
          </a:custGeom>
          <a:noFill/>
          <a:ln w="35719" algn="in">
            <a:solidFill>
              <a:srgbClr val="D4A017"/>
            </a:solidFill>
            <a:prstDash val="solid"/>
          </a:ln>
        </p:spPr>
        <p:txBody>
          <a:bodyPr/>
          <a:lstStyle/>
          <a:p/>
        </p:txBody>
      </p:sp>
      <p:sp>
        <p:nvSpPr>
          <p:cNvPr id="25" name="el-1782912284777-21"/>
          <p:cNvSpPr/>
          <p:nvPr/>
        </p:nvSpPr>
        <p:spPr>
          <a:xfrm>
            <a:off x="3209866" y="4149090"/>
            <a:ext cx="2724180" cy="62293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7902" y="0"/>
                </a:lnTo>
                <a:lnTo>
                  <a:pt x="98108" y="46"/>
                </a:lnTo>
                <a:lnTo>
                  <a:pt x="98311" y="185"/>
                </a:lnTo>
                <a:lnTo>
                  <a:pt x="98510" y="400"/>
                </a:lnTo>
                <a:lnTo>
                  <a:pt x="98706" y="708"/>
                </a:lnTo>
                <a:lnTo>
                  <a:pt x="98892" y="1092"/>
                </a:lnTo>
                <a:lnTo>
                  <a:pt x="99066" y="1554"/>
                </a:lnTo>
                <a:lnTo>
                  <a:pt x="99234" y="2092"/>
                </a:lnTo>
                <a:lnTo>
                  <a:pt x="99385" y="2708"/>
                </a:lnTo>
                <a:lnTo>
                  <a:pt x="99524" y="3369"/>
                </a:lnTo>
                <a:lnTo>
                  <a:pt x="99647" y="4108"/>
                </a:lnTo>
                <a:lnTo>
                  <a:pt x="99752" y="4877"/>
                </a:lnTo>
                <a:lnTo>
                  <a:pt x="99839" y="5692"/>
                </a:lnTo>
                <a:lnTo>
                  <a:pt x="99909" y="6554"/>
                </a:lnTo>
                <a:lnTo>
                  <a:pt x="99958" y="7431"/>
                </a:lnTo>
                <a:lnTo>
                  <a:pt x="99990" y="8323"/>
                </a:lnTo>
                <a:lnTo>
                  <a:pt x="100000" y="9231"/>
                </a:lnTo>
                <a:lnTo>
                  <a:pt x="100000" y="90769"/>
                </a:lnTo>
                <a:lnTo>
                  <a:pt x="99990" y="91677"/>
                </a:lnTo>
                <a:lnTo>
                  <a:pt x="99958" y="92569"/>
                </a:lnTo>
                <a:lnTo>
                  <a:pt x="99909" y="93446"/>
                </a:lnTo>
                <a:lnTo>
                  <a:pt x="99839" y="94308"/>
                </a:lnTo>
                <a:lnTo>
                  <a:pt x="99752" y="95123"/>
                </a:lnTo>
                <a:lnTo>
                  <a:pt x="99647" y="95892"/>
                </a:lnTo>
                <a:lnTo>
                  <a:pt x="99524" y="96631"/>
                </a:lnTo>
                <a:lnTo>
                  <a:pt x="99385" y="97292"/>
                </a:lnTo>
                <a:lnTo>
                  <a:pt x="99234" y="97908"/>
                </a:lnTo>
                <a:lnTo>
                  <a:pt x="99066" y="98446"/>
                </a:lnTo>
                <a:lnTo>
                  <a:pt x="98892" y="98908"/>
                </a:lnTo>
                <a:lnTo>
                  <a:pt x="98706" y="99292"/>
                </a:lnTo>
                <a:lnTo>
                  <a:pt x="98510" y="99600"/>
                </a:lnTo>
                <a:lnTo>
                  <a:pt x="98311" y="99815"/>
                </a:lnTo>
                <a:lnTo>
                  <a:pt x="98108" y="99954"/>
                </a:lnTo>
                <a:lnTo>
                  <a:pt x="97902" y="100000"/>
                </a:lnTo>
                <a:lnTo>
                  <a:pt x="0" y="100000"/>
                </a:lnTo>
                <a:lnTo>
                  <a:pt x="0" y="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82912284781-24"/>
          <p:cNvSpPr/>
          <p:nvPr/>
        </p:nvSpPr>
        <p:spPr>
          <a:xfrm>
            <a:off x="3209866" y="4149090"/>
            <a:ext cx="2724180" cy="62293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0" y="0"/>
                </a:lnTo>
              </a:path>
            </a:pathLst>
          </a:custGeom>
          <a:noFill/>
          <a:ln w="35719" algn="in">
            <a:solidFill>
              <a:srgbClr val="D4A017"/>
            </a:solidFill>
            <a:prstDash val="solid"/>
          </a:ln>
        </p:spPr>
        <p:txBody>
          <a:bodyPr/>
          <a:lstStyle/>
          <a:p/>
        </p:txBody>
      </p:sp>
      <p:sp>
        <p:nvSpPr>
          <p:cNvPr id="27" name="el-1782912284778-22"/>
          <p:cNvSpPr/>
          <p:nvPr/>
        </p:nvSpPr>
        <p:spPr>
          <a:xfrm>
            <a:off x="6019770" y="4149090"/>
            <a:ext cx="2724180" cy="62293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7902" y="0"/>
                </a:lnTo>
                <a:lnTo>
                  <a:pt x="98108" y="46"/>
                </a:lnTo>
                <a:lnTo>
                  <a:pt x="98311" y="185"/>
                </a:lnTo>
                <a:lnTo>
                  <a:pt x="98510" y="400"/>
                </a:lnTo>
                <a:lnTo>
                  <a:pt x="98706" y="708"/>
                </a:lnTo>
                <a:lnTo>
                  <a:pt x="98892" y="1092"/>
                </a:lnTo>
                <a:lnTo>
                  <a:pt x="99066" y="1554"/>
                </a:lnTo>
                <a:lnTo>
                  <a:pt x="99234" y="2092"/>
                </a:lnTo>
                <a:lnTo>
                  <a:pt x="99385" y="2708"/>
                </a:lnTo>
                <a:lnTo>
                  <a:pt x="99524" y="3369"/>
                </a:lnTo>
                <a:lnTo>
                  <a:pt x="99647" y="4108"/>
                </a:lnTo>
                <a:lnTo>
                  <a:pt x="99752" y="4877"/>
                </a:lnTo>
                <a:lnTo>
                  <a:pt x="99839" y="5692"/>
                </a:lnTo>
                <a:lnTo>
                  <a:pt x="99909" y="6554"/>
                </a:lnTo>
                <a:lnTo>
                  <a:pt x="99958" y="7431"/>
                </a:lnTo>
                <a:lnTo>
                  <a:pt x="99990" y="8323"/>
                </a:lnTo>
                <a:lnTo>
                  <a:pt x="100000" y="9231"/>
                </a:lnTo>
                <a:lnTo>
                  <a:pt x="100000" y="90769"/>
                </a:lnTo>
                <a:lnTo>
                  <a:pt x="99990" y="91677"/>
                </a:lnTo>
                <a:lnTo>
                  <a:pt x="99958" y="92569"/>
                </a:lnTo>
                <a:lnTo>
                  <a:pt x="99909" y="93446"/>
                </a:lnTo>
                <a:lnTo>
                  <a:pt x="99839" y="94308"/>
                </a:lnTo>
                <a:lnTo>
                  <a:pt x="99752" y="95123"/>
                </a:lnTo>
                <a:lnTo>
                  <a:pt x="99647" y="95892"/>
                </a:lnTo>
                <a:lnTo>
                  <a:pt x="99524" y="96631"/>
                </a:lnTo>
                <a:lnTo>
                  <a:pt x="99385" y="97292"/>
                </a:lnTo>
                <a:lnTo>
                  <a:pt x="99234" y="97908"/>
                </a:lnTo>
                <a:lnTo>
                  <a:pt x="99066" y="98446"/>
                </a:lnTo>
                <a:lnTo>
                  <a:pt x="98892" y="98908"/>
                </a:lnTo>
                <a:lnTo>
                  <a:pt x="98706" y="99292"/>
                </a:lnTo>
                <a:lnTo>
                  <a:pt x="98510" y="99600"/>
                </a:lnTo>
                <a:lnTo>
                  <a:pt x="98311" y="99815"/>
                </a:lnTo>
                <a:lnTo>
                  <a:pt x="98108" y="99954"/>
                </a:lnTo>
                <a:lnTo>
                  <a:pt x="97902" y="100000"/>
                </a:lnTo>
                <a:lnTo>
                  <a:pt x="0" y="100000"/>
                </a:lnTo>
                <a:lnTo>
                  <a:pt x="0" y="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-1782912284781-25"/>
          <p:cNvSpPr/>
          <p:nvPr/>
        </p:nvSpPr>
        <p:spPr>
          <a:xfrm>
            <a:off x="6019770" y="4149090"/>
            <a:ext cx="2724180" cy="62293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0" y="0"/>
                </a:lnTo>
              </a:path>
            </a:pathLst>
          </a:custGeom>
          <a:noFill/>
          <a:ln w="35719" algn="in">
            <a:solidFill>
              <a:srgbClr val="D4A017"/>
            </a:solidFill>
            <a:prstDash val="solid"/>
          </a:ln>
        </p:spPr>
        <p:txBody>
          <a:bodyPr/>
          <a:lstStyle/>
          <a:p/>
        </p:txBody>
      </p:sp>
      <p:sp>
        <p:nvSpPr>
          <p:cNvPr id="29" name="el-1782912284752-2"/>
          <p:cNvSpPr/>
          <p:nvPr/>
        </p:nvSpPr>
        <p:spPr>
          <a:xfrm>
            <a:off x="0" y="4800600"/>
            <a:ext cx="9144000" cy="3429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0" name="el-1782912284753-4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el-1782912284756-5"/>
          <p:cNvSpPr txBox="1"/>
          <p:nvPr/>
        </p:nvSpPr>
        <p:spPr>
          <a:xfrm>
            <a:off x="400050" y="179308"/>
            <a:ext cx="51488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</a:t>
            </a:r>
            <a:r>
              <a:rPr sz="6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9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37</a:t>
            </a:r>
            <a:endParaRPr sz="900" b="1" spc="28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82912284765-11"/>
          <p:cNvSpPr txBox="1"/>
          <p:nvPr/>
        </p:nvSpPr>
        <p:spPr>
          <a:xfrm>
            <a:off x="1086485" y="179070"/>
            <a:ext cx="1814830" cy="1765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第五章 · 实验成果与数据分析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82912284765-12"/>
          <p:cNvSpPr txBox="1"/>
          <p:nvPr/>
        </p:nvSpPr>
        <p:spPr>
          <a:xfrm>
            <a:off x="2715895" y="167005"/>
            <a:ext cx="111125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D0D0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900">
              <a:solidFill>
                <a:srgbClr val="D0D0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2912284766-13"/>
          <p:cNvSpPr txBox="1"/>
          <p:nvPr/>
        </p:nvSpPr>
        <p:spPr>
          <a:xfrm>
            <a:off x="2843471" y="207248"/>
            <a:ext cx="2022128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 Session 对比 — Top 线程与图特征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82912284763-8"/>
          <p:cNvSpPr txBox="1"/>
          <p:nvPr/>
        </p:nvSpPr>
        <p:spPr>
          <a:xfrm>
            <a:off x="550218" y="571500"/>
            <a:ext cx="1715572" cy="2628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-1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 线程与图特征</a:t>
            </a:r>
            <a:endParaRPr sz="1570" b="1" spc="-1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l-1782912284763-9"/>
          <p:cNvSpPr txBox="1"/>
          <p:nvPr/>
        </p:nvSpPr>
        <p:spPr>
          <a:xfrm>
            <a:off x="7681764" y="642938"/>
            <a:ext cx="1108621" cy="120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Run1 · Run2 · Video</a:t>
            </a:r>
            <a:endParaRPr sz="73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el-1782912284815-41"/>
          <p:cNvSpPr txBox="1"/>
          <p:nvPr/>
        </p:nvSpPr>
        <p:spPr>
          <a:xfrm>
            <a:off x="607219" y="998696"/>
            <a:ext cx="1759952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🏆 Top 线程跨 Session 对比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el-1782912284841-61"/>
          <p:cNvSpPr txBox="1"/>
          <p:nvPr/>
        </p:nvSpPr>
        <p:spPr>
          <a:xfrm>
            <a:off x="3534460" y="1027271"/>
            <a:ext cx="713303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tid 103 最稳定</a:t>
            </a:r>
            <a:endParaRPr sz="67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l-1782912284843-63"/>
          <p:cNvSpPr txBox="1"/>
          <p:nvPr/>
        </p:nvSpPr>
        <p:spPr>
          <a:xfrm>
            <a:off x="507206" y="1284446"/>
            <a:ext cx="214313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Rank</a:t>
            </a:r>
            <a:endParaRPr sz="67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el-1782912284844-64"/>
          <p:cNvSpPr txBox="1"/>
          <p:nvPr/>
        </p:nvSpPr>
        <p:spPr>
          <a:xfrm>
            <a:off x="721519" y="1284446"/>
            <a:ext cx="1288911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TID / 线程名</a:t>
            </a:r>
            <a:endParaRPr sz="67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el-1782912284844-65"/>
          <p:cNvSpPr txBox="1"/>
          <p:nvPr/>
        </p:nvSpPr>
        <p:spPr>
          <a:xfrm>
            <a:off x="2010430" y="1284446"/>
            <a:ext cx="809655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Run1</a:t>
            </a:r>
            <a:endParaRPr sz="67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el-1782912284845-66"/>
          <p:cNvSpPr txBox="1"/>
          <p:nvPr/>
        </p:nvSpPr>
        <p:spPr>
          <a:xfrm>
            <a:off x="2820085" y="1284446"/>
            <a:ext cx="713839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Run2</a:t>
            </a:r>
            <a:endParaRPr sz="67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l-1782912284845-67"/>
          <p:cNvSpPr txBox="1"/>
          <p:nvPr/>
        </p:nvSpPr>
        <p:spPr>
          <a:xfrm>
            <a:off x="3533924" y="1284446"/>
            <a:ext cx="713839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Video</a:t>
            </a:r>
            <a:endParaRPr sz="67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el-1782912284824-43"/>
          <p:cNvSpPr txBox="1"/>
          <p:nvPr/>
        </p:nvSpPr>
        <p:spPr>
          <a:xfrm>
            <a:off x="507206" y="1534478"/>
            <a:ext cx="221456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el-1782912284825-44"/>
          <p:cNvSpPr txBox="1"/>
          <p:nvPr/>
        </p:nvSpPr>
        <p:spPr>
          <a:xfrm>
            <a:off x="721519" y="1534478"/>
            <a:ext cx="1296055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103 · surfaceflinger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el-1782912284826-45"/>
          <p:cNvSpPr txBox="1"/>
          <p:nvPr/>
        </p:nvSpPr>
        <p:spPr>
          <a:xfrm>
            <a:off x="2010430" y="1534478"/>
            <a:ext cx="816799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#1</a:t>
            </a: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score=0.825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el-1782912284827-46"/>
          <p:cNvSpPr txBox="1"/>
          <p:nvPr/>
        </p:nvSpPr>
        <p:spPr>
          <a:xfrm>
            <a:off x="2820085" y="1534478"/>
            <a:ext cx="670977" cy="27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935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#3</a:t>
            </a: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score=0.455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el-1782912284828-47"/>
          <p:cNvSpPr txBox="1"/>
          <p:nvPr/>
        </p:nvSpPr>
        <p:spPr>
          <a:xfrm>
            <a:off x="3533924" y="1534478"/>
            <a:ext cx="670977" cy="27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935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#1</a:t>
            </a: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score=0.746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el-1782912284829-48"/>
          <p:cNvSpPr txBox="1"/>
          <p:nvPr/>
        </p:nvSpPr>
        <p:spPr>
          <a:xfrm>
            <a:off x="507206" y="1937385"/>
            <a:ext cx="221456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el-1782912284830-49"/>
          <p:cNvSpPr txBox="1"/>
          <p:nvPr/>
        </p:nvSpPr>
        <p:spPr>
          <a:xfrm>
            <a:off x="721519" y="1937385"/>
            <a:ext cx="1296055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48 · RenderThread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el-1782912284830-50"/>
          <p:cNvSpPr txBox="1"/>
          <p:nvPr/>
        </p:nvSpPr>
        <p:spPr>
          <a:xfrm>
            <a:off x="2010430" y="1937385"/>
            <a:ext cx="816799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#2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el-1782912284831-51"/>
          <p:cNvSpPr txBox="1"/>
          <p:nvPr/>
        </p:nvSpPr>
        <p:spPr>
          <a:xfrm>
            <a:off x="2820085" y="1937385"/>
            <a:ext cx="72098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#2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el-1782912284832-52"/>
          <p:cNvSpPr txBox="1"/>
          <p:nvPr/>
        </p:nvSpPr>
        <p:spPr>
          <a:xfrm>
            <a:off x="3533924" y="1937385"/>
            <a:ext cx="72098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#5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el-1782912284848-68"/>
          <p:cNvSpPr txBox="1"/>
          <p:nvPr/>
        </p:nvSpPr>
        <p:spPr>
          <a:xfrm>
            <a:off x="507206" y="2203132"/>
            <a:ext cx="221456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el-1782912284833-53"/>
          <p:cNvSpPr txBox="1"/>
          <p:nvPr/>
        </p:nvSpPr>
        <p:spPr>
          <a:xfrm>
            <a:off x="721519" y="2203132"/>
            <a:ext cx="1296055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rcuop/4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el-1782912284849-69"/>
          <p:cNvSpPr txBox="1"/>
          <p:nvPr/>
        </p:nvSpPr>
        <p:spPr>
          <a:xfrm>
            <a:off x="2010430" y="2203132"/>
            <a:ext cx="816799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Top-10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el-1782912284849-70"/>
          <p:cNvSpPr txBox="1"/>
          <p:nvPr/>
        </p:nvSpPr>
        <p:spPr>
          <a:xfrm>
            <a:off x="2820085" y="2203132"/>
            <a:ext cx="72098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el-1782912284850-71"/>
          <p:cNvSpPr txBox="1"/>
          <p:nvPr/>
        </p:nvSpPr>
        <p:spPr>
          <a:xfrm>
            <a:off x="3533924" y="2203132"/>
            <a:ext cx="72098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Top-10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el-1782912284850-72"/>
          <p:cNvSpPr txBox="1"/>
          <p:nvPr/>
        </p:nvSpPr>
        <p:spPr>
          <a:xfrm>
            <a:off x="507206" y="2468880"/>
            <a:ext cx="221456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el-1782912284834-54"/>
          <p:cNvSpPr txBox="1"/>
          <p:nvPr/>
        </p:nvSpPr>
        <p:spPr>
          <a:xfrm>
            <a:off x="721519" y="2468880"/>
            <a:ext cx="1296055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rcuop/6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el-1782912284851-73"/>
          <p:cNvSpPr txBox="1"/>
          <p:nvPr/>
        </p:nvSpPr>
        <p:spPr>
          <a:xfrm>
            <a:off x="2010430" y="2468880"/>
            <a:ext cx="816799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Top-10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el-1782912284851-74"/>
          <p:cNvSpPr txBox="1"/>
          <p:nvPr/>
        </p:nvSpPr>
        <p:spPr>
          <a:xfrm>
            <a:off x="2820085" y="2468880"/>
            <a:ext cx="72098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el-1782912284851-75"/>
          <p:cNvSpPr txBox="1"/>
          <p:nvPr/>
        </p:nvSpPr>
        <p:spPr>
          <a:xfrm>
            <a:off x="3533924" y="2468880"/>
            <a:ext cx="72098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Top-10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el-1782912284792-26"/>
          <p:cNvSpPr txBox="1"/>
          <p:nvPr/>
        </p:nvSpPr>
        <p:spPr>
          <a:xfrm>
            <a:off x="507206" y="2784634"/>
            <a:ext cx="3697694" cy="428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10"/>
              </a:lnSpc>
            </a:pPr>
            <a:r>
              <a:rPr sz="84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tid 103 三次 session 全部进入 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Top-3</a:t>
            </a:r>
            <a:r>
              <a:rPr sz="84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，是跨场景最稳定的嫌疑线程； tid 48 三次均出现在 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Top-5</a:t>
            </a:r>
            <a:r>
              <a:rPr sz="84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 内核 RCU 线程 (rcuop/4, rcuop/6) 在 Run1 和 Video 中占据高位。</a:t>
            </a:r>
            <a:endParaRPr sz="84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el-1782912284817-42"/>
          <p:cNvSpPr txBox="1"/>
          <p:nvPr/>
        </p:nvSpPr>
        <p:spPr>
          <a:xfrm>
            <a:off x="4647813" y="998696"/>
            <a:ext cx="922169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📊 图特征对比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el-1782912284852-76"/>
          <p:cNvSpPr txBox="1"/>
          <p:nvPr/>
        </p:nvSpPr>
        <p:spPr>
          <a:xfrm>
            <a:off x="8158520" y="1027271"/>
            <a:ext cx="521137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session</a:t>
            </a:r>
            <a:endParaRPr sz="67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el-1782912284854-78"/>
          <p:cNvSpPr txBox="1"/>
          <p:nvPr/>
        </p:nvSpPr>
        <p:spPr>
          <a:xfrm>
            <a:off x="4547800" y="1284446"/>
            <a:ext cx="1467416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</a:t>
            </a:r>
            <a:endParaRPr sz="67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el-1782912284854-79"/>
          <p:cNvSpPr txBox="1"/>
          <p:nvPr/>
        </p:nvSpPr>
        <p:spPr>
          <a:xfrm>
            <a:off x="6029504" y="1284446"/>
            <a:ext cx="873859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Run1</a:t>
            </a:r>
            <a:endParaRPr sz="67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el-1782912284855-80"/>
          <p:cNvSpPr txBox="1"/>
          <p:nvPr/>
        </p:nvSpPr>
        <p:spPr>
          <a:xfrm>
            <a:off x="6917651" y="1284446"/>
            <a:ext cx="873859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Run2</a:t>
            </a:r>
            <a:endParaRPr sz="67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el-1782912284855-81"/>
          <p:cNvSpPr txBox="1"/>
          <p:nvPr/>
        </p:nvSpPr>
        <p:spPr>
          <a:xfrm>
            <a:off x="7805797" y="1284446"/>
            <a:ext cx="873859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Video</a:t>
            </a:r>
            <a:endParaRPr sz="67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el-1782912284856-82"/>
          <p:cNvSpPr txBox="1"/>
          <p:nvPr/>
        </p:nvSpPr>
        <p:spPr>
          <a:xfrm>
            <a:off x="4547800" y="1534478"/>
            <a:ext cx="1474559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RESOURCE_STALL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el-1782912284856-83"/>
          <p:cNvSpPr txBox="1"/>
          <p:nvPr/>
        </p:nvSpPr>
        <p:spPr>
          <a:xfrm>
            <a:off x="6029504" y="1534478"/>
            <a:ext cx="88100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el-1782912284856-84"/>
          <p:cNvSpPr txBox="1"/>
          <p:nvPr/>
        </p:nvSpPr>
        <p:spPr>
          <a:xfrm>
            <a:off x="6917651" y="1534478"/>
            <a:ext cx="88100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el-1782912284835-55"/>
          <p:cNvSpPr txBox="1"/>
          <p:nvPr/>
        </p:nvSpPr>
        <p:spPr>
          <a:xfrm>
            <a:off x="7805797" y="1534478"/>
            <a:ext cx="88100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247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el-1782912284857-85"/>
          <p:cNvSpPr txBox="1"/>
          <p:nvPr/>
        </p:nvSpPr>
        <p:spPr>
          <a:xfrm>
            <a:off x="4547800" y="1800225"/>
            <a:ext cx="1474559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DECODE_DEPENDENCY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el-1782912284857-86"/>
          <p:cNvSpPr txBox="1"/>
          <p:nvPr/>
        </p:nvSpPr>
        <p:spPr>
          <a:xfrm>
            <a:off x="6029504" y="1800225"/>
            <a:ext cx="88100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el-1782912284858-87"/>
          <p:cNvSpPr txBox="1"/>
          <p:nvPr/>
        </p:nvSpPr>
        <p:spPr>
          <a:xfrm>
            <a:off x="6917651" y="1800225"/>
            <a:ext cx="88100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el-1782912284836-56"/>
          <p:cNvSpPr txBox="1"/>
          <p:nvPr/>
        </p:nvSpPr>
        <p:spPr>
          <a:xfrm>
            <a:off x="7805797" y="1800225"/>
            <a:ext cx="88100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560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el-1782912284858-88"/>
          <p:cNvSpPr txBox="1"/>
          <p:nvPr/>
        </p:nvSpPr>
        <p:spPr>
          <a:xfrm>
            <a:off x="4547800" y="2065973"/>
            <a:ext cx="1474559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BUFFER_QUEUE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el-1782912284859-89"/>
          <p:cNvSpPr txBox="1"/>
          <p:nvPr/>
        </p:nvSpPr>
        <p:spPr>
          <a:xfrm>
            <a:off x="6029504" y="2065973"/>
            <a:ext cx="88100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el-1782912284859-90"/>
          <p:cNvSpPr txBox="1"/>
          <p:nvPr/>
        </p:nvSpPr>
        <p:spPr>
          <a:xfrm>
            <a:off x="6917651" y="2065973"/>
            <a:ext cx="88100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el-1782912284837-57"/>
          <p:cNvSpPr txBox="1"/>
          <p:nvPr/>
        </p:nvSpPr>
        <p:spPr>
          <a:xfrm>
            <a:off x="7805797" y="2065973"/>
            <a:ext cx="88100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el-1782912284860-91"/>
          <p:cNvSpPr txBox="1"/>
          <p:nvPr/>
        </p:nvSpPr>
        <p:spPr>
          <a:xfrm>
            <a:off x="4547800" y="2331720"/>
            <a:ext cx="1474559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NETWORK_WAIT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el-1782912284860-92"/>
          <p:cNvSpPr txBox="1"/>
          <p:nvPr/>
        </p:nvSpPr>
        <p:spPr>
          <a:xfrm>
            <a:off x="6029504" y="2331720"/>
            <a:ext cx="88100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el-1782912284860-93"/>
          <p:cNvSpPr txBox="1"/>
          <p:nvPr/>
        </p:nvSpPr>
        <p:spPr>
          <a:xfrm>
            <a:off x="6917651" y="2331720"/>
            <a:ext cx="88100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el-1782912284838-58"/>
          <p:cNvSpPr txBox="1"/>
          <p:nvPr/>
        </p:nvSpPr>
        <p:spPr>
          <a:xfrm>
            <a:off x="7805797" y="2331720"/>
            <a:ext cx="88100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el-1782912284861-94"/>
          <p:cNvSpPr txBox="1"/>
          <p:nvPr/>
        </p:nvSpPr>
        <p:spPr>
          <a:xfrm>
            <a:off x="4547800" y="2597468"/>
            <a:ext cx="1474559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Futex wait (次)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el-1782912284862-95"/>
          <p:cNvSpPr txBox="1"/>
          <p:nvPr/>
        </p:nvSpPr>
        <p:spPr>
          <a:xfrm>
            <a:off x="6029504" y="2597468"/>
            <a:ext cx="88100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~237K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el-1782912284862-96"/>
          <p:cNvSpPr txBox="1"/>
          <p:nvPr/>
        </p:nvSpPr>
        <p:spPr>
          <a:xfrm>
            <a:off x="6917651" y="2597468"/>
            <a:ext cx="88100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~177K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el-1782912284840-59"/>
          <p:cNvSpPr txBox="1"/>
          <p:nvPr/>
        </p:nvSpPr>
        <p:spPr>
          <a:xfrm>
            <a:off x="7805797" y="2597468"/>
            <a:ext cx="88100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244K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el-1782912284863-97"/>
          <p:cNvSpPr txBox="1"/>
          <p:nvPr/>
        </p:nvSpPr>
        <p:spPr>
          <a:xfrm>
            <a:off x="4547800" y="2863215"/>
            <a:ext cx="1474559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Binder call (次)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el-1782912284864-98"/>
          <p:cNvSpPr txBox="1"/>
          <p:nvPr/>
        </p:nvSpPr>
        <p:spPr>
          <a:xfrm>
            <a:off x="6029504" y="2863215"/>
            <a:ext cx="88100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~33K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el-1782912284864-99"/>
          <p:cNvSpPr txBox="1"/>
          <p:nvPr/>
        </p:nvSpPr>
        <p:spPr>
          <a:xfrm>
            <a:off x="6917651" y="2863215"/>
            <a:ext cx="88100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~25K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el-1782912284865-100"/>
          <p:cNvSpPr txBox="1"/>
          <p:nvPr/>
        </p:nvSpPr>
        <p:spPr>
          <a:xfrm>
            <a:off x="7805797" y="2863215"/>
            <a:ext cx="88100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~30K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el-1782912284865-101"/>
          <p:cNvSpPr txBox="1"/>
          <p:nvPr/>
        </p:nvSpPr>
        <p:spPr>
          <a:xfrm>
            <a:off x="4547800" y="3128963"/>
            <a:ext cx="1474559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大核平均频率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el-1782912284866-102"/>
          <p:cNvSpPr txBox="1"/>
          <p:nvPr/>
        </p:nvSpPr>
        <p:spPr>
          <a:xfrm>
            <a:off x="6029504" y="3128963"/>
            <a:ext cx="88100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2,093 MHz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el-1782912284866-103"/>
          <p:cNvSpPr txBox="1"/>
          <p:nvPr/>
        </p:nvSpPr>
        <p:spPr>
          <a:xfrm>
            <a:off x="6917651" y="3128963"/>
            <a:ext cx="88100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2,051 MHz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el-1782912284841-60"/>
          <p:cNvSpPr txBox="1"/>
          <p:nvPr/>
        </p:nvSpPr>
        <p:spPr>
          <a:xfrm>
            <a:off x="7805797" y="3128963"/>
            <a:ext cx="881003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2,209 MHz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el-1782912284803-27"/>
          <p:cNvSpPr txBox="1"/>
          <p:nvPr/>
        </p:nvSpPr>
        <p:spPr>
          <a:xfrm>
            <a:off x="4547800" y="3444716"/>
            <a:ext cx="4088993" cy="571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10"/>
              </a:lnSpc>
            </a:pPr>
            <a:r>
              <a:rPr sz="84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视频场景 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RESOURCE_STALL (247)</a:t>
            </a:r>
            <a:r>
              <a:rPr sz="84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是页面切换场景的 5~19 倍； 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DECODE_DEPENDENCY (560)</a:t>
            </a:r>
            <a:r>
              <a:rPr sz="84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和 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BUFFER_QUEUE (12)</a:t>
            </a:r>
            <a:r>
              <a:rPr sz="84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是视频场景独有结构； NETWORK_WAIT 仅视频场景出现；视频场景大核频率最高，符合 CPU+GPU 复合负载需求。</a:t>
            </a:r>
            <a:endParaRPr sz="84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el-1782912284806-30"/>
          <p:cNvSpPr txBox="1"/>
          <p:nvPr/>
        </p:nvSpPr>
        <p:spPr>
          <a:xfrm>
            <a:off x="550069" y="4206240"/>
            <a:ext cx="2516922" cy="1543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⚡ Futex 负载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el-1782912284806-31"/>
          <p:cNvSpPr txBox="1"/>
          <p:nvPr/>
        </p:nvSpPr>
        <p:spPr>
          <a:xfrm>
            <a:off x="550069" y="4374833"/>
            <a:ext cx="2531209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244,012 次</a:t>
            </a:r>
            <a:endParaRPr sz="112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el-1782912284806-32"/>
          <p:cNvSpPr txBox="1"/>
          <p:nvPr/>
        </p:nvSpPr>
        <p:spPr>
          <a:xfrm>
            <a:off x="550069" y="4577715"/>
            <a:ext cx="2509778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视频场景最高，多线程并发同步压力</a:t>
            </a:r>
            <a:endParaRPr sz="78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el-1782912284807-33"/>
          <p:cNvSpPr txBox="1"/>
          <p:nvPr/>
        </p:nvSpPr>
        <p:spPr>
          <a:xfrm>
            <a:off x="3359884" y="4206240"/>
            <a:ext cx="2517011" cy="1543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🔗 Binder 调用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el-1782912284807-34"/>
          <p:cNvSpPr txBox="1"/>
          <p:nvPr/>
        </p:nvSpPr>
        <p:spPr>
          <a:xfrm>
            <a:off x="3359884" y="4374833"/>
            <a:ext cx="2531298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25K–33K</a:t>
            </a:r>
            <a:endParaRPr sz="112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el-1782912284808-35"/>
          <p:cNvSpPr txBox="1"/>
          <p:nvPr/>
        </p:nvSpPr>
        <p:spPr>
          <a:xfrm>
            <a:off x="3359884" y="4577715"/>
            <a:ext cx="250986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三组相近，跨进程 IPC 负载稳定</a:t>
            </a:r>
            <a:endParaRPr sz="78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el-1782912284808-36"/>
          <p:cNvSpPr txBox="1"/>
          <p:nvPr/>
        </p:nvSpPr>
        <p:spPr>
          <a:xfrm>
            <a:off x="6169789" y="4206240"/>
            <a:ext cx="2517011" cy="1543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🔥 CPU 频率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el-1782912284809-37"/>
          <p:cNvSpPr txBox="1"/>
          <p:nvPr/>
        </p:nvSpPr>
        <p:spPr>
          <a:xfrm>
            <a:off x="6169789" y="4374833"/>
            <a:ext cx="2531298" cy="1885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2,209 MHz</a:t>
            </a:r>
            <a:endParaRPr sz="112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el-1782912284809-38"/>
          <p:cNvSpPr txBox="1"/>
          <p:nvPr/>
        </p:nvSpPr>
        <p:spPr>
          <a:xfrm>
            <a:off x="6169789" y="4577715"/>
            <a:ext cx="250986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视频场景大核平均频率最高</a:t>
            </a:r>
            <a:endParaRPr sz="78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el-1782912284767-15"/>
          <p:cNvSpPr txBox="1"/>
          <p:nvPr/>
        </p:nvSpPr>
        <p:spPr>
          <a:xfrm>
            <a:off x="400050" y="4907042"/>
            <a:ext cx="53506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1" name="el-1782912284767-16"/>
          <p:cNvSpPr txBox="1"/>
          <p:nvPr/>
        </p:nvSpPr>
        <p:spPr>
          <a:xfrm>
            <a:off x="1056561" y="4907042"/>
            <a:ext cx="7911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el-1782912284767-17"/>
          <p:cNvSpPr txBox="1"/>
          <p:nvPr/>
        </p:nvSpPr>
        <p:spPr>
          <a:xfrm>
            <a:off x="1257121" y="4907042"/>
            <a:ext cx="44103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</a:t>
            </a:r>
            <a:r>
              <a:rPr lang="en-US" altLang="en-US"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altLang="en-US"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el-1782912284757-6"/>
          <p:cNvSpPr txBox="1"/>
          <p:nvPr/>
        </p:nvSpPr>
        <p:spPr>
          <a:xfrm>
            <a:off x="7460486" y="4907042"/>
            <a:ext cx="1333470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第五章 · 实验成果与数据分析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2912285119-1"/>
          <p:cNvSpPr/>
          <p:nvPr/>
        </p:nvSpPr>
        <p:spPr>
          <a:xfrm>
            <a:off x="0" y="0"/>
            <a:ext cx="9144000" cy="466280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8F9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2912285122-2"/>
          <p:cNvSpPr/>
          <p:nvPr/>
        </p:nvSpPr>
        <p:spPr>
          <a:xfrm>
            <a:off x="0" y="0"/>
            <a:ext cx="9144000" cy="1557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4" name="el-1782912285123-3"/>
          <p:cNvCxnSpPr/>
          <p:nvPr/>
        </p:nvCxnSpPr>
        <p:spPr>
          <a:xfrm>
            <a:off x="0" y="152162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2912285132-12"/>
          <p:cNvCxnSpPr/>
          <p:nvPr/>
        </p:nvCxnSpPr>
        <p:spPr>
          <a:xfrm>
            <a:off x="414338" y="275749"/>
            <a:ext cx="914" cy="137160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2912285144-18"/>
          <p:cNvSpPr/>
          <p:nvPr/>
        </p:nvSpPr>
        <p:spPr>
          <a:xfrm>
            <a:off x="5266908" y="270034"/>
            <a:ext cx="1128355" cy="148590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2912285146-20"/>
          <p:cNvSpPr/>
          <p:nvPr/>
        </p:nvSpPr>
        <p:spPr>
          <a:xfrm>
            <a:off x="6452414" y="270034"/>
            <a:ext cx="1149876" cy="148590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2912285148-22"/>
          <p:cNvSpPr/>
          <p:nvPr/>
        </p:nvSpPr>
        <p:spPr>
          <a:xfrm>
            <a:off x="7659439" y="270034"/>
            <a:ext cx="1084511" cy="14859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2912285136-14"/>
          <p:cNvSpPr/>
          <p:nvPr/>
        </p:nvSpPr>
        <p:spPr>
          <a:xfrm>
            <a:off x="400050" y="547211"/>
            <a:ext cx="4488865" cy="3444716"/>
          </a:xfrm>
          <a:prstGeom prst="roundRect">
            <a:avLst>
              <a:gd name="adj" fmla="val 2212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2912285171-36"/>
          <p:cNvCxnSpPr/>
          <p:nvPr/>
        </p:nvCxnSpPr>
        <p:spPr>
          <a:xfrm>
            <a:off x="535781" y="640080"/>
            <a:ext cx="914" cy="171450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2912285194-47"/>
          <p:cNvSpPr/>
          <p:nvPr/>
        </p:nvSpPr>
        <p:spPr>
          <a:xfrm>
            <a:off x="3995946" y="668655"/>
            <a:ext cx="771525" cy="11430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2" name="el-1782912285203-65"/>
          <p:cNvCxnSpPr/>
          <p:nvPr/>
        </p:nvCxnSpPr>
        <p:spPr>
          <a:xfrm>
            <a:off x="521494" y="1123712"/>
            <a:ext cx="1697712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-1782912285203-66"/>
          <p:cNvCxnSpPr/>
          <p:nvPr/>
        </p:nvCxnSpPr>
        <p:spPr>
          <a:xfrm>
            <a:off x="2276356" y="1123712"/>
            <a:ext cx="792242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2912285204-67"/>
          <p:cNvCxnSpPr/>
          <p:nvPr/>
        </p:nvCxnSpPr>
        <p:spPr>
          <a:xfrm>
            <a:off x="3125748" y="1123712"/>
            <a:ext cx="792242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-1782912285205-68"/>
          <p:cNvCxnSpPr/>
          <p:nvPr/>
        </p:nvCxnSpPr>
        <p:spPr>
          <a:xfrm>
            <a:off x="3975140" y="1123712"/>
            <a:ext cx="792331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-1782912285201-63"/>
          <p:cNvCxnSpPr/>
          <p:nvPr/>
        </p:nvCxnSpPr>
        <p:spPr>
          <a:xfrm>
            <a:off x="521494" y="2731056"/>
            <a:ext cx="4245977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2912285170-35"/>
          <p:cNvSpPr/>
          <p:nvPr/>
        </p:nvSpPr>
        <p:spPr>
          <a:xfrm>
            <a:off x="5003215" y="547211"/>
            <a:ext cx="3740735" cy="3444716"/>
          </a:xfrm>
          <a:prstGeom prst="roundRect">
            <a:avLst>
              <a:gd name="adj" fmla="val 2212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8" name="el-1782912285210-69"/>
          <p:cNvCxnSpPr/>
          <p:nvPr/>
        </p:nvCxnSpPr>
        <p:spPr>
          <a:xfrm>
            <a:off x="5138946" y="640080"/>
            <a:ext cx="914" cy="171450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l-1782912285225-83"/>
          <p:cNvSpPr/>
          <p:nvPr/>
        </p:nvSpPr>
        <p:spPr>
          <a:xfrm>
            <a:off x="7772579" y="668655"/>
            <a:ext cx="849928" cy="114300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0" name="el-1782912285245-101"/>
          <p:cNvCxnSpPr/>
          <p:nvPr/>
        </p:nvCxnSpPr>
        <p:spPr>
          <a:xfrm>
            <a:off x="5124658" y="1123712"/>
            <a:ext cx="1332845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-1782912285246-102"/>
          <p:cNvCxnSpPr/>
          <p:nvPr/>
        </p:nvCxnSpPr>
        <p:spPr>
          <a:xfrm>
            <a:off x="6514654" y="1123712"/>
            <a:ext cx="820281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-1782912285246-103"/>
          <p:cNvCxnSpPr/>
          <p:nvPr/>
        </p:nvCxnSpPr>
        <p:spPr>
          <a:xfrm>
            <a:off x="7392085" y="1123712"/>
            <a:ext cx="1230422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l-1782912285229-88"/>
          <p:cNvSpPr/>
          <p:nvPr/>
        </p:nvSpPr>
        <p:spPr>
          <a:xfrm>
            <a:off x="7392085" y="1247299"/>
            <a:ext cx="740271" cy="108585"/>
          </a:xfrm>
          <a:prstGeom prst="roundRect">
            <a:avLst>
              <a:gd name="adj" fmla="val 26316"/>
            </a:avLst>
          </a:prstGeom>
          <a:solidFill>
            <a:srgbClr val="F0F0F3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2912285229-88__text"/>
          <p:cNvSpPr txBox="1"/>
          <p:nvPr/>
        </p:nvSpPr>
        <p:spPr>
          <a:xfrm>
            <a:off x="7392085" y="1247299"/>
            <a:ext cx="740271" cy="108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30" spc="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sched_switch</a:t>
            </a:r>
            <a:endParaRPr sz="730" spc="0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25" name="el-1782912285231-90"/>
          <p:cNvSpPr/>
          <p:nvPr/>
        </p:nvSpPr>
        <p:spPr>
          <a:xfrm>
            <a:off x="7392085" y="1661636"/>
            <a:ext cx="1074599" cy="108585"/>
          </a:xfrm>
          <a:prstGeom prst="roundRect">
            <a:avLst>
              <a:gd name="adj" fmla="val 26316"/>
            </a:avLst>
          </a:prstGeom>
          <a:solidFill>
            <a:srgbClr val="F0F0F3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82912285231-90__text"/>
          <p:cNvSpPr txBox="1"/>
          <p:nvPr/>
        </p:nvSpPr>
        <p:spPr>
          <a:xfrm>
            <a:off x="7392085" y="1661636"/>
            <a:ext cx="1074599" cy="108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30" spc="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binder_transaction</a:t>
            </a:r>
            <a:endParaRPr sz="730" spc="0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27" name="el-1782912285234-92"/>
          <p:cNvSpPr/>
          <p:nvPr/>
        </p:nvSpPr>
        <p:spPr>
          <a:xfrm>
            <a:off x="7392085" y="2075974"/>
            <a:ext cx="350133" cy="108585"/>
          </a:xfrm>
          <a:prstGeom prst="roundRect">
            <a:avLst>
              <a:gd name="adj" fmla="val 26316"/>
            </a:avLst>
          </a:prstGeom>
          <a:solidFill>
            <a:srgbClr val="F0F0F3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-1782912285234-92__text"/>
          <p:cNvSpPr txBox="1"/>
          <p:nvPr/>
        </p:nvSpPr>
        <p:spPr>
          <a:xfrm>
            <a:off x="7392085" y="2075974"/>
            <a:ext cx="350133" cy="108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30" spc="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futex</a:t>
            </a:r>
            <a:endParaRPr sz="730" spc="0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29" name="el-1782912285237-94"/>
          <p:cNvSpPr/>
          <p:nvPr/>
        </p:nvSpPr>
        <p:spPr>
          <a:xfrm>
            <a:off x="7392085" y="2347436"/>
            <a:ext cx="461576" cy="108585"/>
          </a:xfrm>
          <a:prstGeom prst="roundRect">
            <a:avLst>
              <a:gd name="adj" fmla="val 26316"/>
            </a:avLst>
          </a:prstGeom>
          <a:solidFill>
            <a:srgbClr val="F0F0F3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-1782912285237-94__text"/>
          <p:cNvSpPr txBox="1"/>
          <p:nvPr/>
        </p:nvSpPr>
        <p:spPr>
          <a:xfrm>
            <a:off x="7392085" y="2347436"/>
            <a:ext cx="461576" cy="108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30" spc="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thermal</a:t>
            </a:r>
            <a:endParaRPr sz="730" spc="0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31" name="el-1782912285239-95"/>
          <p:cNvSpPr/>
          <p:nvPr/>
        </p:nvSpPr>
        <p:spPr>
          <a:xfrm>
            <a:off x="7996625" y="2347436"/>
            <a:ext cx="461576" cy="108585"/>
          </a:xfrm>
          <a:prstGeom prst="roundRect">
            <a:avLst>
              <a:gd name="adj" fmla="val 26316"/>
            </a:avLst>
          </a:prstGeom>
          <a:solidFill>
            <a:srgbClr val="F0F0F3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el-1782912285239-95__text"/>
          <p:cNvSpPr txBox="1"/>
          <p:nvPr/>
        </p:nvSpPr>
        <p:spPr>
          <a:xfrm>
            <a:off x="7996625" y="2347436"/>
            <a:ext cx="461576" cy="108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30" spc="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cpufreq</a:t>
            </a:r>
            <a:endParaRPr sz="730" spc="0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33" name="el-1782912285243-99"/>
          <p:cNvSpPr/>
          <p:nvPr/>
        </p:nvSpPr>
        <p:spPr>
          <a:xfrm>
            <a:off x="7392085" y="3033236"/>
            <a:ext cx="238691" cy="108585"/>
          </a:xfrm>
          <a:prstGeom prst="roundRect">
            <a:avLst>
              <a:gd name="adj" fmla="val 26316"/>
            </a:avLst>
          </a:prstGeom>
          <a:solidFill>
            <a:srgbClr val="F0F0F3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el-1782912285243-99__text"/>
          <p:cNvSpPr txBox="1"/>
          <p:nvPr/>
        </p:nvSpPr>
        <p:spPr>
          <a:xfrm>
            <a:off x="7392085" y="3033236"/>
            <a:ext cx="238691" cy="108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30" spc="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irq</a:t>
            </a:r>
            <a:endParaRPr sz="730" spc="0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35" name="el-1782912285244-100"/>
          <p:cNvSpPr/>
          <p:nvPr/>
        </p:nvSpPr>
        <p:spPr>
          <a:xfrm>
            <a:off x="7739985" y="3033236"/>
            <a:ext cx="461576" cy="108585"/>
          </a:xfrm>
          <a:prstGeom prst="roundRect">
            <a:avLst>
              <a:gd name="adj" fmla="val 26316"/>
            </a:avLst>
          </a:prstGeom>
          <a:solidFill>
            <a:srgbClr val="F0F0F3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el-1782912285244-100__text"/>
          <p:cNvSpPr txBox="1"/>
          <p:nvPr/>
        </p:nvSpPr>
        <p:spPr>
          <a:xfrm>
            <a:off x="7739985" y="3033236"/>
            <a:ext cx="461576" cy="1085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30" spc="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softirq</a:t>
            </a:r>
            <a:endParaRPr sz="730" spc="0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cxnSp>
        <p:nvCxnSpPr>
          <p:cNvPr id="37" name="el-1782912285202-64"/>
          <p:cNvCxnSpPr/>
          <p:nvPr/>
        </p:nvCxnSpPr>
        <p:spPr>
          <a:xfrm>
            <a:off x="5124658" y="3402568"/>
            <a:ext cx="3497848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l-1782912285137-15"/>
          <p:cNvSpPr/>
          <p:nvPr/>
        </p:nvSpPr>
        <p:spPr>
          <a:xfrm>
            <a:off x="400050" y="4063365"/>
            <a:ext cx="8343900" cy="6000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9315" y="0"/>
                </a:lnTo>
                <a:lnTo>
                  <a:pt x="99382" y="48"/>
                </a:lnTo>
                <a:lnTo>
                  <a:pt x="99449" y="190"/>
                </a:lnTo>
                <a:lnTo>
                  <a:pt x="99514" y="413"/>
                </a:lnTo>
                <a:lnTo>
                  <a:pt x="99578" y="730"/>
                </a:lnTo>
                <a:lnTo>
                  <a:pt x="99638" y="1127"/>
                </a:lnTo>
                <a:lnTo>
                  <a:pt x="99695" y="1603"/>
                </a:lnTo>
                <a:lnTo>
                  <a:pt x="99750" y="2159"/>
                </a:lnTo>
                <a:lnTo>
                  <a:pt x="99799" y="2794"/>
                </a:lnTo>
                <a:lnTo>
                  <a:pt x="99845" y="3476"/>
                </a:lnTo>
                <a:lnTo>
                  <a:pt x="99885" y="4238"/>
                </a:lnTo>
                <a:lnTo>
                  <a:pt x="99919" y="5032"/>
                </a:lnTo>
                <a:lnTo>
                  <a:pt x="99947" y="5873"/>
                </a:lnTo>
                <a:lnTo>
                  <a:pt x="99970" y="6762"/>
                </a:lnTo>
                <a:lnTo>
                  <a:pt x="99986" y="7667"/>
                </a:lnTo>
                <a:lnTo>
                  <a:pt x="99997" y="8587"/>
                </a:lnTo>
                <a:lnTo>
                  <a:pt x="100000" y="9524"/>
                </a:lnTo>
                <a:lnTo>
                  <a:pt x="100000" y="90476"/>
                </a:lnTo>
                <a:lnTo>
                  <a:pt x="99997" y="91413"/>
                </a:lnTo>
                <a:lnTo>
                  <a:pt x="99986" y="92333"/>
                </a:lnTo>
                <a:lnTo>
                  <a:pt x="99970" y="93238"/>
                </a:lnTo>
                <a:lnTo>
                  <a:pt x="99947" y="94127"/>
                </a:lnTo>
                <a:lnTo>
                  <a:pt x="99919" y="94968"/>
                </a:lnTo>
                <a:lnTo>
                  <a:pt x="99885" y="95762"/>
                </a:lnTo>
                <a:lnTo>
                  <a:pt x="99845" y="96524"/>
                </a:lnTo>
                <a:lnTo>
                  <a:pt x="99799" y="97206"/>
                </a:lnTo>
                <a:lnTo>
                  <a:pt x="99750" y="97841"/>
                </a:lnTo>
                <a:lnTo>
                  <a:pt x="99695" y="98397"/>
                </a:lnTo>
                <a:lnTo>
                  <a:pt x="99638" y="98873"/>
                </a:lnTo>
                <a:lnTo>
                  <a:pt x="99578" y="99270"/>
                </a:lnTo>
                <a:lnTo>
                  <a:pt x="99514" y="99587"/>
                </a:lnTo>
                <a:lnTo>
                  <a:pt x="99449" y="99810"/>
                </a:lnTo>
                <a:lnTo>
                  <a:pt x="99382" y="99952"/>
                </a:lnTo>
                <a:lnTo>
                  <a:pt x="99315" y="100000"/>
                </a:lnTo>
                <a:lnTo>
                  <a:pt x="0" y="100000"/>
                </a:lnTo>
                <a:lnTo>
                  <a:pt x="0" y="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el-1782912285139-16"/>
          <p:cNvSpPr/>
          <p:nvPr/>
        </p:nvSpPr>
        <p:spPr>
          <a:xfrm>
            <a:off x="400050" y="4063365"/>
            <a:ext cx="8343900" cy="6000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0" y="0"/>
                </a:lnTo>
              </a:path>
            </a:pathLst>
          </a:custGeom>
          <a:noFill/>
          <a:ln w="35719" algn="in">
            <a:solidFill>
              <a:srgbClr val="D4A017"/>
            </a:solidFill>
            <a:prstDash val="solid"/>
          </a:ln>
        </p:spPr>
        <p:txBody>
          <a:bodyPr/>
          <a:lstStyle/>
          <a:p/>
        </p:txBody>
      </p:sp>
      <p:sp>
        <p:nvSpPr>
          <p:cNvPr id="40" name="el-1782912285155-24"/>
          <p:cNvSpPr/>
          <p:nvPr/>
        </p:nvSpPr>
        <p:spPr>
          <a:xfrm>
            <a:off x="1853178" y="4120515"/>
            <a:ext cx="1601539" cy="18573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41" name="el-1782912285158-26"/>
          <p:cNvSpPr/>
          <p:nvPr/>
        </p:nvSpPr>
        <p:spPr>
          <a:xfrm>
            <a:off x="3569018" y="4120515"/>
            <a:ext cx="1650742" cy="18573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42" name="el-1782912285160-28"/>
          <p:cNvSpPr/>
          <p:nvPr/>
        </p:nvSpPr>
        <p:spPr>
          <a:xfrm>
            <a:off x="5334059" y="4120515"/>
            <a:ext cx="2081332" cy="18573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43" name="el-1782912285164-31"/>
          <p:cNvSpPr/>
          <p:nvPr/>
        </p:nvSpPr>
        <p:spPr>
          <a:xfrm>
            <a:off x="564356" y="4420552"/>
            <a:ext cx="2139464" cy="18573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44" name="el-1782912285126-5"/>
          <p:cNvSpPr/>
          <p:nvPr/>
        </p:nvSpPr>
        <p:spPr>
          <a:xfrm>
            <a:off x="0" y="4868545"/>
            <a:ext cx="9144000" cy="9779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45" name="el-1782912285128-6"/>
          <p:cNvCxnSpPr/>
          <p:nvPr/>
        </p:nvCxnSpPr>
        <p:spPr>
          <a:xfrm>
            <a:off x="0" y="4709874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el-1782912285125-4"/>
          <p:cNvSpPr txBox="1"/>
          <p:nvPr/>
        </p:nvSpPr>
        <p:spPr>
          <a:xfrm>
            <a:off x="400050" y="0"/>
            <a:ext cx="51488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</a:t>
            </a:r>
            <a:r>
              <a:rPr sz="6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9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37</a:t>
            </a:r>
            <a:endParaRPr sz="900" b="1" spc="28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el-1782912285131-9"/>
          <p:cNvSpPr txBox="1"/>
          <p:nvPr/>
        </p:nvSpPr>
        <p:spPr>
          <a:xfrm>
            <a:off x="1086485" y="0"/>
            <a:ext cx="190373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第五章 · 实验成果与数据分析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el-1782912285131-10"/>
          <p:cNvSpPr txBox="1"/>
          <p:nvPr/>
        </p:nvSpPr>
        <p:spPr>
          <a:xfrm>
            <a:off x="2771616" y="6985"/>
            <a:ext cx="96619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D0D0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900">
              <a:solidFill>
                <a:srgbClr val="D0D0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el-1782912285132-11"/>
          <p:cNvSpPr txBox="1"/>
          <p:nvPr/>
        </p:nvSpPr>
        <p:spPr>
          <a:xfrm>
            <a:off x="2915861" y="6985"/>
            <a:ext cx="124962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Thermal 温控深化分析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el-1782912285130-7"/>
          <p:cNvSpPr txBox="1"/>
          <p:nvPr/>
        </p:nvSpPr>
        <p:spPr>
          <a:xfrm>
            <a:off x="528638" y="275749"/>
            <a:ext cx="618738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56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▎温控分析</a:t>
            </a:r>
            <a:endParaRPr sz="900" b="1" spc="56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el-1782912285131-8"/>
          <p:cNvSpPr txBox="1"/>
          <p:nvPr/>
        </p:nvSpPr>
        <p:spPr>
          <a:xfrm>
            <a:off x="1190238" y="212884"/>
            <a:ext cx="2166878" cy="2628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-1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Thermal 温控深化分析</a:t>
            </a:r>
            <a:endParaRPr sz="1570" b="1" spc="-1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el-1782912285143-17"/>
          <p:cNvSpPr txBox="1"/>
          <p:nvPr/>
        </p:nvSpPr>
        <p:spPr>
          <a:xfrm>
            <a:off x="5366921" y="284321"/>
            <a:ext cx="1074777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Run1 neutral_therm</a:t>
            </a:r>
            <a:endParaRPr sz="73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el-1782912285145-19"/>
          <p:cNvSpPr txBox="1"/>
          <p:nvPr/>
        </p:nvSpPr>
        <p:spPr>
          <a:xfrm>
            <a:off x="6552426" y="284321"/>
            <a:ext cx="1096298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Run2 VIRTUAL-SKIN</a:t>
            </a:r>
            <a:endParaRPr sz="73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el-1782912285146-21"/>
          <p:cNvSpPr txBox="1"/>
          <p:nvPr/>
        </p:nvSpPr>
        <p:spPr>
          <a:xfrm>
            <a:off x="7759452" y="284321"/>
            <a:ext cx="1030932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Video charger_skin</a:t>
            </a:r>
            <a:endParaRPr sz="73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el-1782912285173-37"/>
          <p:cNvSpPr txBox="1"/>
          <p:nvPr/>
        </p:nvSpPr>
        <p:spPr>
          <a:xfrm>
            <a:off x="621506" y="640080"/>
            <a:ext cx="153037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🌡️ 三场景 Thermal 对比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el-1782912285193-46"/>
          <p:cNvSpPr txBox="1"/>
          <p:nvPr/>
        </p:nvSpPr>
        <p:spPr>
          <a:xfrm>
            <a:off x="4081671" y="668655"/>
            <a:ext cx="728663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不同传感器轨道</a:t>
            </a:r>
            <a:endParaRPr sz="67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el-1782912285195-48"/>
          <p:cNvSpPr txBox="1"/>
          <p:nvPr/>
        </p:nvSpPr>
        <p:spPr>
          <a:xfrm>
            <a:off x="521494" y="925830"/>
            <a:ext cx="1747719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</a:t>
            </a:r>
            <a:endParaRPr sz="78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el-1782912285195-49"/>
          <p:cNvSpPr txBox="1"/>
          <p:nvPr/>
        </p:nvSpPr>
        <p:spPr>
          <a:xfrm>
            <a:off x="2276356" y="925830"/>
            <a:ext cx="842248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Run1</a:t>
            </a:r>
            <a:endParaRPr sz="78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el-1782912285195-50"/>
          <p:cNvSpPr txBox="1"/>
          <p:nvPr/>
        </p:nvSpPr>
        <p:spPr>
          <a:xfrm>
            <a:off x="3125748" y="925830"/>
            <a:ext cx="842248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Run2</a:t>
            </a:r>
            <a:endParaRPr sz="78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el-1782912285196-51"/>
          <p:cNvSpPr txBox="1"/>
          <p:nvPr/>
        </p:nvSpPr>
        <p:spPr>
          <a:xfrm>
            <a:off x="3975140" y="925830"/>
            <a:ext cx="84233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Video</a:t>
            </a:r>
            <a:endParaRPr sz="78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el-1782912285196-52"/>
          <p:cNvSpPr txBox="1"/>
          <p:nvPr/>
        </p:nvSpPr>
        <p:spPr>
          <a:xfrm>
            <a:off x="521494" y="1213009"/>
            <a:ext cx="175129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传感器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el-1782912285196-53"/>
          <p:cNvSpPr txBox="1"/>
          <p:nvPr/>
        </p:nvSpPr>
        <p:spPr>
          <a:xfrm>
            <a:off x="2276356" y="1213009"/>
            <a:ext cx="84582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neutral_therm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el-1782912285197-54"/>
          <p:cNvSpPr txBox="1"/>
          <p:nvPr/>
        </p:nvSpPr>
        <p:spPr>
          <a:xfrm>
            <a:off x="3125748" y="1213009"/>
            <a:ext cx="84582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VIRTUAL-SKIN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el-1782912285197-55"/>
          <p:cNvSpPr txBox="1"/>
          <p:nvPr/>
        </p:nvSpPr>
        <p:spPr>
          <a:xfrm>
            <a:off x="3975140" y="1213009"/>
            <a:ext cx="845909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charger_skin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el-1782912285197-56"/>
          <p:cNvSpPr txBox="1"/>
          <p:nvPr/>
        </p:nvSpPr>
        <p:spPr>
          <a:xfrm>
            <a:off x="521494" y="1484471"/>
            <a:ext cx="175129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温度范围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el-1782912285198-57"/>
          <p:cNvSpPr txBox="1"/>
          <p:nvPr/>
        </p:nvSpPr>
        <p:spPr>
          <a:xfrm>
            <a:off x="2276356" y="1484471"/>
            <a:ext cx="84582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31.4°C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el-1782912285198-58"/>
          <p:cNvSpPr txBox="1"/>
          <p:nvPr/>
        </p:nvSpPr>
        <p:spPr>
          <a:xfrm>
            <a:off x="3125748" y="1484471"/>
            <a:ext cx="84582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36.8 → 41.5°C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el-1782912285198-59"/>
          <p:cNvSpPr txBox="1"/>
          <p:nvPr/>
        </p:nvSpPr>
        <p:spPr>
          <a:xfrm>
            <a:off x="3975140" y="1484471"/>
            <a:ext cx="845909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30.3 → 52.3°C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el-1782912285199-60"/>
          <p:cNvSpPr txBox="1"/>
          <p:nvPr/>
        </p:nvSpPr>
        <p:spPr>
          <a:xfrm>
            <a:off x="521494" y="1755934"/>
            <a:ext cx="175129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温升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el-1782912285199-61"/>
          <p:cNvSpPr txBox="1"/>
          <p:nvPr/>
        </p:nvSpPr>
        <p:spPr>
          <a:xfrm>
            <a:off x="2276356" y="1755934"/>
            <a:ext cx="84582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el-1782912285177-38"/>
          <p:cNvSpPr txBox="1"/>
          <p:nvPr/>
        </p:nvSpPr>
        <p:spPr>
          <a:xfrm>
            <a:off x="3125748" y="1755934"/>
            <a:ext cx="84582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+4.7°C</a:t>
            </a: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(30s)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el-1782912285178-39"/>
          <p:cNvSpPr txBox="1"/>
          <p:nvPr/>
        </p:nvSpPr>
        <p:spPr>
          <a:xfrm>
            <a:off x="3975140" y="1755934"/>
            <a:ext cx="792331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1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+22.0°C</a:t>
            </a: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(3样本)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el-1782912285200-62"/>
          <p:cNvSpPr txBox="1"/>
          <p:nvPr/>
        </p:nvSpPr>
        <p:spPr>
          <a:xfrm>
            <a:off x="521494" y="2170271"/>
            <a:ext cx="175129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throttle_score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el-1782912285179-40"/>
          <p:cNvSpPr txBox="1"/>
          <p:nvPr/>
        </p:nvSpPr>
        <p:spPr>
          <a:xfrm>
            <a:off x="2276356" y="2170271"/>
            <a:ext cx="84582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0.00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el-1782912285179-41"/>
          <p:cNvSpPr txBox="1"/>
          <p:nvPr/>
        </p:nvSpPr>
        <p:spPr>
          <a:xfrm>
            <a:off x="3125748" y="2170271"/>
            <a:ext cx="84582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0.47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el-1782912285180-42"/>
          <p:cNvSpPr txBox="1"/>
          <p:nvPr/>
        </p:nvSpPr>
        <p:spPr>
          <a:xfrm>
            <a:off x="3975140" y="2170271"/>
            <a:ext cx="845909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1.00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el-1782912285182-43"/>
          <p:cNvSpPr txBox="1"/>
          <p:nvPr/>
        </p:nvSpPr>
        <p:spPr>
          <a:xfrm>
            <a:off x="521494" y="2384584"/>
            <a:ext cx="1697712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1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降频状态无降频轻度降频完全限频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el-1782912285184-44"/>
          <p:cNvSpPr txBox="1"/>
          <p:nvPr/>
        </p:nvSpPr>
        <p:spPr>
          <a:xfrm>
            <a:off x="521494" y="2777490"/>
            <a:ext cx="4245977" cy="4500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75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freq_throttle_ratio</a:t>
            </a:r>
            <a:r>
              <a:rPr sz="840" b="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：0.0 = 无降频，1.0 = 完全限频。</a:t>
            </a:r>
            <a:endParaRPr sz="840" b="1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175"/>
              </a:lnSpc>
            </a:pPr>
            <a:r>
              <a:rPr sz="840" b="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Run2 在 30 秒内温升 4.7°C 触发轻度降频；Video 的 charger_skin 读数偏高（可能为充电芯片温度），导致 throttle=1.00。</a:t>
            </a:r>
            <a:endParaRPr sz="840" b="1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el-1782912285211-70"/>
          <p:cNvSpPr txBox="1"/>
          <p:nvPr/>
        </p:nvSpPr>
        <p:spPr>
          <a:xfrm>
            <a:off x="5224671" y="640080"/>
            <a:ext cx="1786742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🔬 Inference Engine 证据链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el-1782912285223-82"/>
          <p:cNvSpPr txBox="1"/>
          <p:nvPr/>
        </p:nvSpPr>
        <p:spPr>
          <a:xfrm>
            <a:off x="7858304" y="668655"/>
            <a:ext cx="80706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维信号加权融合</a:t>
            </a:r>
            <a:endParaRPr sz="67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el-1782912285225-84"/>
          <p:cNvSpPr txBox="1"/>
          <p:nvPr/>
        </p:nvSpPr>
        <p:spPr>
          <a:xfrm>
            <a:off x="5124658" y="925830"/>
            <a:ext cx="1382851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</a:t>
            </a:r>
            <a:endParaRPr sz="78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el-1782912285225-85"/>
          <p:cNvSpPr txBox="1"/>
          <p:nvPr/>
        </p:nvSpPr>
        <p:spPr>
          <a:xfrm>
            <a:off x="6514654" y="925830"/>
            <a:ext cx="87028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范围</a:t>
            </a:r>
            <a:endParaRPr sz="78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el-1782912285226-86"/>
          <p:cNvSpPr txBox="1"/>
          <p:nvPr/>
        </p:nvSpPr>
        <p:spPr>
          <a:xfrm>
            <a:off x="7392085" y="925830"/>
            <a:ext cx="1280428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含义</a:t>
            </a:r>
            <a:endParaRPr sz="78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el-1782912285214-71"/>
          <p:cNvSpPr txBox="1"/>
          <p:nvPr/>
        </p:nvSpPr>
        <p:spPr>
          <a:xfrm>
            <a:off x="5124658" y="1213009"/>
            <a:ext cx="1386423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runnable_delay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el-1782912285226-87"/>
          <p:cNvSpPr txBox="1"/>
          <p:nvPr/>
        </p:nvSpPr>
        <p:spPr>
          <a:xfrm>
            <a:off x="6514654" y="1213009"/>
            <a:ext cx="873859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 – 1.0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el-1782912285215-72"/>
          <p:cNvSpPr txBox="1"/>
          <p:nvPr/>
        </p:nvSpPr>
        <p:spPr>
          <a:xfrm>
            <a:off x="7392085" y="1213009"/>
            <a:ext cx="1230422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indent="740410" algn="l">
              <a:lnSpc>
                <a:spcPts val="101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调度竞争主信号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el-1782912285216-73"/>
          <p:cNvSpPr txBox="1"/>
          <p:nvPr/>
        </p:nvSpPr>
        <p:spPr>
          <a:xfrm>
            <a:off x="5124658" y="1627346"/>
            <a:ext cx="1386423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binder_centrality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el-1782912285229-89"/>
          <p:cNvSpPr txBox="1"/>
          <p:nvPr/>
        </p:nvSpPr>
        <p:spPr>
          <a:xfrm>
            <a:off x="6514654" y="1627346"/>
            <a:ext cx="873859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 – 1.0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el-1782912285216-74"/>
          <p:cNvSpPr txBox="1"/>
          <p:nvPr/>
        </p:nvSpPr>
        <p:spPr>
          <a:xfrm>
            <a:off x="7392085" y="1627346"/>
            <a:ext cx="1230422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indent="1074420" algn="l">
              <a:lnSpc>
                <a:spcPts val="101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跨进程 IPC 瓶颈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el-1782912285217-75"/>
          <p:cNvSpPr txBox="1"/>
          <p:nvPr/>
        </p:nvSpPr>
        <p:spPr>
          <a:xfrm>
            <a:off x="5124658" y="2041684"/>
            <a:ext cx="1386423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futex_wait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el-1782912285232-91"/>
          <p:cNvSpPr txBox="1"/>
          <p:nvPr/>
        </p:nvSpPr>
        <p:spPr>
          <a:xfrm>
            <a:off x="6514654" y="2041684"/>
            <a:ext cx="873859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 – 1.0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el-1782912285218-76"/>
          <p:cNvSpPr txBox="1"/>
          <p:nvPr/>
        </p:nvSpPr>
        <p:spPr>
          <a:xfrm>
            <a:off x="7392085" y="2041684"/>
            <a:ext cx="128400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indent="349885"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锁竞争强度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el-1782912285219-77"/>
          <p:cNvSpPr txBox="1"/>
          <p:nvPr/>
        </p:nvSpPr>
        <p:spPr>
          <a:xfrm>
            <a:off x="5124658" y="2313146"/>
            <a:ext cx="1386423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thermal_throttle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el-1782912285235-93"/>
          <p:cNvSpPr txBox="1"/>
          <p:nvPr/>
        </p:nvSpPr>
        <p:spPr>
          <a:xfrm>
            <a:off x="6514654" y="2313146"/>
            <a:ext cx="873859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 – 1.0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el-1782912285220-78"/>
          <p:cNvSpPr txBox="1"/>
          <p:nvPr/>
        </p:nvSpPr>
        <p:spPr>
          <a:xfrm>
            <a:off x="7392085" y="2313146"/>
            <a:ext cx="1230422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indent="461645" algn="l">
              <a:lnSpc>
                <a:spcPts val="101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</a:t>
            </a:r>
            <a:r>
              <a:rPr sz="72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　　　</a:t>
            </a: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温控降频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el-1782912285221-79"/>
          <p:cNvSpPr txBox="1"/>
          <p:nvPr/>
        </p:nvSpPr>
        <p:spPr>
          <a:xfrm>
            <a:off x="5124658" y="2727484"/>
            <a:ext cx="1386423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decode_late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el-1782912285240-96"/>
          <p:cNvSpPr txBox="1"/>
          <p:nvPr/>
        </p:nvSpPr>
        <p:spPr>
          <a:xfrm>
            <a:off x="6514654" y="2727484"/>
            <a:ext cx="873859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 – 1.0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el-1782912285240-97"/>
          <p:cNvSpPr txBox="1"/>
          <p:nvPr/>
        </p:nvSpPr>
        <p:spPr>
          <a:xfrm>
            <a:off x="7392085" y="2727484"/>
            <a:ext cx="128400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视频帧解码延迟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el-1782912285222-80"/>
          <p:cNvSpPr txBox="1"/>
          <p:nvPr/>
        </p:nvSpPr>
        <p:spPr>
          <a:xfrm>
            <a:off x="5124658" y="2998946"/>
            <a:ext cx="1386423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system_irq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el-1782912285241-98"/>
          <p:cNvSpPr txBox="1"/>
          <p:nvPr/>
        </p:nvSpPr>
        <p:spPr>
          <a:xfrm>
            <a:off x="6514654" y="2998946"/>
            <a:ext cx="873859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 – 1.0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el-1782912285223-81"/>
          <p:cNvSpPr txBox="1"/>
          <p:nvPr/>
        </p:nvSpPr>
        <p:spPr>
          <a:xfrm>
            <a:off x="7392085" y="2998946"/>
            <a:ext cx="1230422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indent="238760" algn="l">
              <a:lnSpc>
                <a:spcPts val="101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sz="72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　　　</a:t>
            </a: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中断扰动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el-1782912285192-45"/>
          <p:cNvSpPr txBox="1"/>
          <p:nvPr/>
        </p:nvSpPr>
        <p:spPr>
          <a:xfrm>
            <a:off x="5124658" y="3449003"/>
            <a:ext cx="3497848" cy="4500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75"/>
              </a:lnSpc>
            </a:pPr>
            <a:r>
              <a:rPr sz="840" b="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多信号加权融合 →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hypothesis + confidence</a:t>
            </a:r>
            <a:r>
              <a:rPr sz="840" b="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映射为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BOOST</a:t>
            </a:r>
            <a:r>
              <a:rPr sz="840" b="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UCLAMP</a:t>
            </a:r>
            <a:r>
              <a:rPr sz="840" b="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PROTECT</a:t>
            </a:r>
            <a:r>
              <a:rPr sz="840" b="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840" b="1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175"/>
              </a:lnSpc>
            </a:pPr>
            <a:r>
              <a:rPr sz="840" b="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温控降频被识别为独立 Jank 根因类别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THERMAL_THROTTLE</a:t>
            </a:r>
            <a:r>
              <a:rPr sz="840" b="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840" b="1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el-1782912285161-29"/>
          <p:cNvSpPr txBox="1"/>
          <p:nvPr/>
        </p:nvSpPr>
        <p:spPr>
          <a:xfrm>
            <a:off x="564356" y="4130516"/>
            <a:ext cx="1235244" cy="1657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📌 温控降频核心结论</a:t>
            </a:r>
            <a:endParaRPr sz="95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el-1782912285153-23"/>
          <p:cNvSpPr txBox="1"/>
          <p:nvPr/>
        </p:nvSpPr>
        <p:spPr>
          <a:xfrm>
            <a:off x="1960334" y="4141946"/>
            <a:ext cx="1547961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Run1 无温控 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throttle=0.00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el-1782912285156-25"/>
          <p:cNvSpPr txBox="1"/>
          <p:nvPr/>
        </p:nvSpPr>
        <p:spPr>
          <a:xfrm>
            <a:off x="3676174" y="4141946"/>
            <a:ext cx="1597164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Run2 温升 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4.7°C</a:t>
            </a:r>
            <a:r>
              <a:rPr sz="84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轻度降频</a:t>
            </a:r>
            <a:endParaRPr sz="84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el-1782912285158-27"/>
          <p:cNvSpPr txBox="1"/>
          <p:nvPr/>
        </p:nvSpPr>
        <p:spPr>
          <a:xfrm>
            <a:off x="5441216" y="4141946"/>
            <a:ext cx="2027753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Video 充电芯片温升 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22°C</a:t>
            </a:r>
            <a:r>
              <a:rPr sz="84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完全限频</a:t>
            </a:r>
            <a:endParaRPr sz="84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el-1782912285163-30"/>
          <p:cNvSpPr txBox="1"/>
          <p:nvPr/>
        </p:nvSpPr>
        <p:spPr>
          <a:xfrm>
            <a:off x="671513" y="4441984"/>
            <a:ext cx="2085886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THERMAL_THROTTLE 独立 Jank 类别</a:t>
            </a:r>
            <a:endParaRPr sz="84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el-1782912285165-32"/>
          <p:cNvSpPr txBox="1"/>
          <p:nvPr/>
        </p:nvSpPr>
        <p:spPr>
          <a:xfrm>
            <a:off x="104140" y="4965541"/>
            <a:ext cx="567839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</a:t>
            </a:r>
            <a:endParaRPr sz="780" b="1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el-1782912285165-33"/>
          <p:cNvSpPr txBox="1"/>
          <p:nvPr/>
        </p:nvSpPr>
        <p:spPr>
          <a:xfrm>
            <a:off x="611813" y="4965541"/>
            <a:ext cx="86350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80" b="1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el-1782912285165-34"/>
          <p:cNvSpPr txBox="1"/>
          <p:nvPr/>
        </p:nvSpPr>
        <p:spPr>
          <a:xfrm>
            <a:off x="697686" y="4965541"/>
            <a:ext cx="463719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</a:t>
            </a:r>
            <a:r>
              <a:rPr lang="en-US" altLang="en-US" sz="780" b="1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altLang="en-US" sz="780" b="1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1" name="el-1782912285133-13"/>
          <p:cNvSpPr txBox="1"/>
          <p:nvPr/>
        </p:nvSpPr>
        <p:spPr>
          <a:xfrm>
            <a:off x="7524115" y="4947920"/>
            <a:ext cx="1600835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第五章 · 实验成果与数据分析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2912285263-1"/>
          <p:cNvSpPr/>
          <p:nvPr/>
        </p:nvSpPr>
        <p:spPr>
          <a:xfrm>
            <a:off x="0" y="0"/>
            <a:ext cx="9144000" cy="5143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2912285264-3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2912285276-14"/>
          <p:cNvCxnSpPr/>
          <p:nvPr/>
        </p:nvCxnSpPr>
        <p:spPr>
          <a:xfrm>
            <a:off x="414338" y="682942"/>
            <a:ext cx="914" cy="137160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2912285275-10"/>
          <p:cNvSpPr/>
          <p:nvPr/>
        </p:nvSpPr>
        <p:spPr>
          <a:xfrm>
            <a:off x="7484864" y="685800"/>
            <a:ext cx="1259086" cy="148590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2912285281-18"/>
          <p:cNvSpPr/>
          <p:nvPr/>
        </p:nvSpPr>
        <p:spPr>
          <a:xfrm>
            <a:off x="400050" y="934403"/>
            <a:ext cx="4310717" cy="3914775"/>
          </a:xfrm>
          <a:prstGeom prst="roundRect">
            <a:avLst>
              <a:gd name="adj" fmla="val 1946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2912285299-25"/>
          <p:cNvCxnSpPr/>
          <p:nvPr/>
        </p:nvCxnSpPr>
        <p:spPr>
          <a:xfrm>
            <a:off x="535781" y="1027271"/>
            <a:ext cx="914" cy="171450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2912285319-41"/>
          <p:cNvSpPr/>
          <p:nvPr/>
        </p:nvSpPr>
        <p:spPr>
          <a:xfrm>
            <a:off x="4082296" y="1055846"/>
            <a:ext cx="507028" cy="11430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2912285342-73"/>
          <p:cNvCxnSpPr/>
          <p:nvPr/>
        </p:nvCxnSpPr>
        <p:spPr>
          <a:xfrm>
            <a:off x="521494" y="1493758"/>
            <a:ext cx="1144429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-1782912285343-74"/>
          <p:cNvCxnSpPr/>
          <p:nvPr/>
        </p:nvCxnSpPr>
        <p:spPr>
          <a:xfrm>
            <a:off x="1723072" y="1493758"/>
            <a:ext cx="1560552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2912285343-75"/>
          <p:cNvCxnSpPr/>
          <p:nvPr/>
        </p:nvCxnSpPr>
        <p:spPr>
          <a:xfrm>
            <a:off x="3340775" y="1493758"/>
            <a:ext cx="1248549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-1782912285296-22"/>
          <p:cNvCxnSpPr/>
          <p:nvPr/>
        </p:nvCxnSpPr>
        <p:spPr>
          <a:xfrm>
            <a:off x="521494" y="4559856"/>
            <a:ext cx="4067830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2912285282-19"/>
          <p:cNvSpPr/>
          <p:nvPr/>
        </p:nvSpPr>
        <p:spPr>
          <a:xfrm>
            <a:off x="4825067" y="934403"/>
            <a:ext cx="3918883" cy="3914775"/>
          </a:xfrm>
          <a:prstGeom prst="roundRect">
            <a:avLst>
              <a:gd name="adj" fmla="val 1946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4" name="el-1782912285300-26"/>
          <p:cNvCxnSpPr/>
          <p:nvPr/>
        </p:nvCxnSpPr>
        <p:spPr>
          <a:xfrm>
            <a:off x="4960799" y="1027271"/>
            <a:ext cx="914" cy="171450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2912285333-69"/>
          <p:cNvSpPr/>
          <p:nvPr/>
        </p:nvSpPr>
        <p:spPr>
          <a:xfrm>
            <a:off x="7765346" y="1055846"/>
            <a:ext cx="857161" cy="114300"/>
          </a:xfrm>
          <a:prstGeom prst="roundRect">
            <a:avLst>
              <a:gd name="adj" fmla="val 50000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2912285356-77"/>
          <p:cNvSpPr/>
          <p:nvPr/>
        </p:nvSpPr>
        <p:spPr>
          <a:xfrm>
            <a:off x="4946511" y="1255871"/>
            <a:ext cx="1802279" cy="721519"/>
          </a:xfrm>
          <a:prstGeom prst="roundRect">
            <a:avLst>
              <a:gd name="adj" fmla="val 7921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2912285358-78"/>
          <p:cNvSpPr/>
          <p:nvPr/>
        </p:nvSpPr>
        <p:spPr>
          <a:xfrm>
            <a:off x="6820228" y="1255871"/>
            <a:ext cx="1802279" cy="721519"/>
          </a:xfrm>
          <a:prstGeom prst="roundRect">
            <a:avLst>
              <a:gd name="adj" fmla="val 7921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2912285359-79"/>
          <p:cNvSpPr/>
          <p:nvPr/>
        </p:nvSpPr>
        <p:spPr>
          <a:xfrm>
            <a:off x="4946511" y="2048828"/>
            <a:ext cx="1802279" cy="401479"/>
          </a:xfrm>
          <a:prstGeom prst="roundRect">
            <a:avLst>
              <a:gd name="adj" fmla="val 14235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2912285360-80"/>
          <p:cNvSpPr/>
          <p:nvPr/>
        </p:nvSpPr>
        <p:spPr>
          <a:xfrm>
            <a:off x="6820228" y="2048828"/>
            <a:ext cx="1802279" cy="401479"/>
          </a:xfrm>
          <a:prstGeom prst="roundRect">
            <a:avLst>
              <a:gd name="adj" fmla="val 14235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2912285362-81"/>
          <p:cNvSpPr/>
          <p:nvPr/>
        </p:nvSpPr>
        <p:spPr>
          <a:xfrm>
            <a:off x="4946511" y="2521744"/>
            <a:ext cx="1802279" cy="401479"/>
          </a:xfrm>
          <a:prstGeom prst="roundRect">
            <a:avLst>
              <a:gd name="adj" fmla="val 14235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el-1782912285363-82"/>
          <p:cNvSpPr/>
          <p:nvPr/>
        </p:nvSpPr>
        <p:spPr>
          <a:xfrm>
            <a:off x="6820228" y="2521744"/>
            <a:ext cx="1802279" cy="401479"/>
          </a:xfrm>
          <a:prstGeom prst="roundRect">
            <a:avLst>
              <a:gd name="adj" fmla="val 14235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2912285299-24"/>
          <p:cNvSpPr/>
          <p:nvPr/>
        </p:nvSpPr>
        <p:spPr>
          <a:xfrm>
            <a:off x="4946511" y="3008948"/>
            <a:ext cx="3675995" cy="131159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8834" y="0"/>
                </a:lnTo>
                <a:lnTo>
                  <a:pt x="98948" y="14"/>
                </a:lnTo>
                <a:lnTo>
                  <a:pt x="99062" y="65"/>
                </a:lnTo>
                <a:lnTo>
                  <a:pt x="99174" y="138"/>
                </a:lnTo>
                <a:lnTo>
                  <a:pt x="99280" y="246"/>
                </a:lnTo>
                <a:lnTo>
                  <a:pt x="99383" y="384"/>
                </a:lnTo>
                <a:lnTo>
                  <a:pt x="99482" y="551"/>
                </a:lnTo>
                <a:lnTo>
                  <a:pt x="99573" y="739"/>
                </a:lnTo>
                <a:lnTo>
                  <a:pt x="99658" y="957"/>
                </a:lnTo>
                <a:lnTo>
                  <a:pt x="99736" y="1196"/>
                </a:lnTo>
                <a:lnTo>
                  <a:pt x="99803" y="1449"/>
                </a:lnTo>
                <a:lnTo>
                  <a:pt x="99863" y="1725"/>
                </a:lnTo>
                <a:lnTo>
                  <a:pt x="99912" y="2014"/>
                </a:lnTo>
                <a:lnTo>
                  <a:pt x="99951" y="2312"/>
                </a:lnTo>
                <a:lnTo>
                  <a:pt x="99977" y="2623"/>
                </a:lnTo>
                <a:lnTo>
                  <a:pt x="99995" y="2942"/>
                </a:lnTo>
                <a:lnTo>
                  <a:pt x="100000" y="3261"/>
                </a:lnTo>
                <a:lnTo>
                  <a:pt x="100000" y="96739"/>
                </a:lnTo>
                <a:lnTo>
                  <a:pt x="99995" y="97058"/>
                </a:lnTo>
                <a:lnTo>
                  <a:pt x="99977" y="97377"/>
                </a:lnTo>
                <a:lnTo>
                  <a:pt x="99951" y="97688"/>
                </a:lnTo>
                <a:lnTo>
                  <a:pt x="99912" y="97986"/>
                </a:lnTo>
                <a:lnTo>
                  <a:pt x="99863" y="98275"/>
                </a:lnTo>
                <a:lnTo>
                  <a:pt x="99803" y="98551"/>
                </a:lnTo>
                <a:lnTo>
                  <a:pt x="99736" y="98804"/>
                </a:lnTo>
                <a:lnTo>
                  <a:pt x="99658" y="99043"/>
                </a:lnTo>
                <a:lnTo>
                  <a:pt x="99573" y="99261"/>
                </a:lnTo>
                <a:lnTo>
                  <a:pt x="99482" y="99449"/>
                </a:lnTo>
                <a:lnTo>
                  <a:pt x="99383" y="99616"/>
                </a:lnTo>
                <a:lnTo>
                  <a:pt x="99280" y="99754"/>
                </a:lnTo>
                <a:lnTo>
                  <a:pt x="99174" y="99862"/>
                </a:lnTo>
                <a:lnTo>
                  <a:pt x="99062" y="99935"/>
                </a:lnTo>
                <a:lnTo>
                  <a:pt x="98948" y="99986"/>
                </a:lnTo>
                <a:lnTo>
                  <a:pt x="98834" y="100000"/>
                </a:lnTo>
                <a:lnTo>
                  <a:pt x="0" y="100000"/>
                </a:lnTo>
                <a:lnTo>
                  <a:pt x="0" y="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-1782912285300-27"/>
          <p:cNvSpPr/>
          <p:nvPr/>
        </p:nvSpPr>
        <p:spPr>
          <a:xfrm>
            <a:off x="4946511" y="3008948"/>
            <a:ext cx="3675995" cy="131159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0" y="0"/>
                </a:lnTo>
              </a:path>
            </a:pathLst>
          </a:custGeom>
          <a:noFill/>
          <a:ln w="35719" algn="in">
            <a:solidFill>
              <a:srgbClr val="D4A017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el-1782912285340-71"/>
          <p:cNvSpPr/>
          <p:nvPr/>
        </p:nvSpPr>
        <p:spPr>
          <a:xfrm>
            <a:off x="5082242" y="3291840"/>
            <a:ext cx="3440251" cy="757238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25" name="el-1782912285297-23"/>
          <p:cNvCxnSpPr/>
          <p:nvPr/>
        </p:nvCxnSpPr>
        <p:spPr>
          <a:xfrm>
            <a:off x="4946511" y="4409837"/>
            <a:ext cx="3675995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el-1782912285264-2"/>
          <p:cNvSpPr/>
          <p:nvPr/>
        </p:nvSpPr>
        <p:spPr>
          <a:xfrm>
            <a:off x="0" y="4800600"/>
            <a:ext cx="9144000" cy="3429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7" name="el-1782912285265-4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el-1782912285267-5"/>
          <p:cNvSpPr txBox="1"/>
          <p:nvPr/>
        </p:nvSpPr>
        <p:spPr>
          <a:xfrm>
            <a:off x="400050" y="179308"/>
            <a:ext cx="51488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33</a:t>
            </a:r>
            <a:r>
              <a:rPr sz="6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9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37</a:t>
            </a:r>
            <a:endParaRPr sz="900" b="1" spc="28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2912285275-11"/>
          <p:cNvSpPr txBox="1"/>
          <p:nvPr/>
        </p:nvSpPr>
        <p:spPr>
          <a:xfrm>
            <a:off x="1056640" y="179070"/>
            <a:ext cx="1767205" cy="1847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第五章 · 实验成果与数据分析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2912285276-12"/>
          <p:cNvSpPr txBox="1"/>
          <p:nvPr/>
        </p:nvSpPr>
        <p:spPr>
          <a:xfrm>
            <a:off x="2727166" y="195818"/>
            <a:ext cx="96619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D0D0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900">
              <a:solidFill>
                <a:srgbClr val="D0D0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2912285276-13"/>
          <p:cNvSpPr txBox="1"/>
          <p:nvPr/>
        </p:nvSpPr>
        <p:spPr>
          <a:xfrm>
            <a:off x="2843471" y="195818"/>
            <a:ext cx="160913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Jank 根因分类器与决策树模型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82912285272-7"/>
          <p:cNvSpPr txBox="1"/>
          <p:nvPr/>
        </p:nvSpPr>
        <p:spPr>
          <a:xfrm>
            <a:off x="528638" y="682942"/>
            <a:ext cx="618738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56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▎根因分析</a:t>
            </a:r>
            <a:endParaRPr sz="900" b="1" spc="56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82912285273-8"/>
          <p:cNvSpPr txBox="1"/>
          <p:nvPr/>
        </p:nvSpPr>
        <p:spPr>
          <a:xfrm>
            <a:off x="1204526" y="585788"/>
            <a:ext cx="2793117" cy="2628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-1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Jank 根因分类器与决策树模型</a:t>
            </a:r>
            <a:endParaRPr sz="1570" b="1" spc="-1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2912285273-9"/>
          <p:cNvSpPr txBox="1"/>
          <p:nvPr/>
        </p:nvSpPr>
        <p:spPr>
          <a:xfrm>
            <a:off x="7599164" y="700088"/>
            <a:ext cx="1191220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scikit-learn · 11 类分类</a:t>
            </a:r>
            <a:endParaRPr sz="73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82912285317-39"/>
          <p:cNvSpPr txBox="1"/>
          <p:nvPr/>
        </p:nvSpPr>
        <p:spPr>
          <a:xfrm>
            <a:off x="621506" y="1027271"/>
            <a:ext cx="1488847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📋 11 类 Jank 根因分类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82912285317-40"/>
          <p:cNvSpPr txBox="1"/>
          <p:nvPr/>
        </p:nvSpPr>
        <p:spPr>
          <a:xfrm>
            <a:off x="4168021" y="1055846"/>
            <a:ext cx="464165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维特征</a:t>
            </a:r>
            <a:endParaRPr sz="67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l-1782912285319-42"/>
          <p:cNvSpPr txBox="1"/>
          <p:nvPr/>
        </p:nvSpPr>
        <p:spPr>
          <a:xfrm>
            <a:off x="521494" y="1313021"/>
            <a:ext cx="1190863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</a:t>
            </a:r>
            <a:endParaRPr sz="73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el-1782912285319-43"/>
          <p:cNvSpPr txBox="1"/>
          <p:nvPr/>
        </p:nvSpPr>
        <p:spPr>
          <a:xfrm>
            <a:off x="1723072" y="1313021"/>
            <a:ext cx="1606987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触发条件</a:t>
            </a:r>
            <a:endParaRPr sz="73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el-1782912285320-44"/>
          <p:cNvSpPr txBox="1"/>
          <p:nvPr/>
        </p:nvSpPr>
        <p:spPr>
          <a:xfrm>
            <a:off x="3340775" y="1313021"/>
            <a:ext cx="1294983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信号源</a:t>
            </a:r>
            <a:endParaRPr sz="73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l-1782912285308-28"/>
          <p:cNvSpPr txBox="1"/>
          <p:nvPr/>
        </p:nvSpPr>
        <p:spPr>
          <a:xfrm>
            <a:off x="521494" y="1583055"/>
            <a:ext cx="1194435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RUNNABLE_DELAY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el-1782912285321-45"/>
          <p:cNvSpPr txBox="1"/>
          <p:nvPr/>
        </p:nvSpPr>
        <p:spPr>
          <a:xfrm>
            <a:off x="1723072" y="1583055"/>
            <a:ext cx="1560552" cy="2600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15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jank 窗口内 runnable delay P95 &gt; 阈值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el-1782912285321-46"/>
          <p:cNvSpPr txBox="1"/>
          <p:nvPr/>
        </p:nvSpPr>
        <p:spPr>
          <a:xfrm>
            <a:off x="3340775" y="1583055"/>
            <a:ext cx="1298555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sched_switch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el-1782912285309-29"/>
          <p:cNvSpPr txBox="1"/>
          <p:nvPr/>
        </p:nvSpPr>
        <p:spPr>
          <a:xfrm>
            <a:off x="521494" y="1971675"/>
            <a:ext cx="1194435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BINDER_BLOCK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l-1782912285322-47"/>
          <p:cNvSpPr txBox="1"/>
          <p:nvPr/>
        </p:nvSpPr>
        <p:spPr>
          <a:xfrm>
            <a:off x="1723072" y="1971675"/>
            <a:ext cx="1610558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Binder 边中央度 &gt; 阈值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el-1782912285322-48"/>
          <p:cNvSpPr txBox="1"/>
          <p:nvPr/>
        </p:nvSpPr>
        <p:spPr>
          <a:xfrm>
            <a:off x="3340775" y="1971675"/>
            <a:ext cx="1298555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binder_transaction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el-1782912285310-30"/>
          <p:cNvSpPr txBox="1"/>
          <p:nvPr/>
        </p:nvSpPr>
        <p:spPr>
          <a:xfrm>
            <a:off x="521494" y="2230279"/>
            <a:ext cx="1194435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FUTEX_WAIT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el-1782912285323-49"/>
          <p:cNvSpPr txBox="1"/>
          <p:nvPr/>
        </p:nvSpPr>
        <p:spPr>
          <a:xfrm>
            <a:off x="1723072" y="2230279"/>
            <a:ext cx="1610558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Futex 边贡献 &gt; 阈值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el-1782912285323-50"/>
          <p:cNvSpPr txBox="1"/>
          <p:nvPr/>
        </p:nvSpPr>
        <p:spPr>
          <a:xfrm>
            <a:off x="3340775" y="2230279"/>
            <a:ext cx="1298555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futex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el-1782912285311-31"/>
          <p:cNvSpPr txBox="1"/>
          <p:nvPr/>
        </p:nvSpPr>
        <p:spPr>
          <a:xfrm>
            <a:off x="521494" y="2488882"/>
            <a:ext cx="1194435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CPU_CONTENTION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el-1782912285324-51"/>
          <p:cNvSpPr txBox="1"/>
          <p:nvPr/>
        </p:nvSpPr>
        <p:spPr>
          <a:xfrm>
            <a:off x="1723072" y="2488882"/>
            <a:ext cx="1610558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所有核 util &gt; 阈值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el-1782912285324-52"/>
          <p:cNvSpPr txBox="1"/>
          <p:nvPr/>
        </p:nvSpPr>
        <p:spPr>
          <a:xfrm>
            <a:off x="3340775" y="2488882"/>
            <a:ext cx="1298555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cpu_frequency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el-1782912285311-32"/>
          <p:cNvSpPr txBox="1"/>
          <p:nvPr/>
        </p:nvSpPr>
        <p:spPr>
          <a:xfrm>
            <a:off x="521494" y="2747486"/>
            <a:ext cx="1194435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THERMAL_THROTTLE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el-1782912285325-53"/>
          <p:cNvSpPr txBox="1"/>
          <p:nvPr/>
        </p:nvSpPr>
        <p:spPr>
          <a:xfrm>
            <a:off x="1723072" y="2747486"/>
            <a:ext cx="1610558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throttle_score &gt; 阈值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el-1782912285325-54"/>
          <p:cNvSpPr txBox="1"/>
          <p:nvPr/>
        </p:nvSpPr>
        <p:spPr>
          <a:xfrm>
            <a:off x="3340775" y="2747486"/>
            <a:ext cx="1298555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thermal + cpufreq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el-1782912285312-33"/>
          <p:cNvSpPr txBox="1"/>
          <p:nvPr/>
        </p:nvSpPr>
        <p:spPr>
          <a:xfrm>
            <a:off x="521494" y="3006090"/>
            <a:ext cx="1194435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DECODE_LATE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el-1782912285325-55"/>
          <p:cNvSpPr txBox="1"/>
          <p:nvPr/>
        </p:nvSpPr>
        <p:spPr>
          <a:xfrm>
            <a:off x="1723072" y="3006090"/>
            <a:ext cx="1610558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解码边延迟 &gt; 阈值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el-1782912285326-56"/>
          <p:cNvSpPr txBox="1"/>
          <p:nvPr/>
        </p:nvSpPr>
        <p:spPr>
          <a:xfrm>
            <a:off x="3340775" y="3006090"/>
            <a:ext cx="1298555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视频帧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el-1782912285313-34"/>
          <p:cNvSpPr txBox="1"/>
          <p:nvPr/>
        </p:nvSpPr>
        <p:spPr>
          <a:xfrm>
            <a:off x="521494" y="3264694"/>
            <a:ext cx="1194435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BUFFER_UNDERRUN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el-1782912285327-57"/>
          <p:cNvSpPr txBox="1"/>
          <p:nvPr/>
        </p:nvSpPr>
        <p:spPr>
          <a:xfrm>
            <a:off x="1723072" y="3264694"/>
            <a:ext cx="1610558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Buffer Queue 边存在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el-1782912285327-58"/>
          <p:cNvSpPr txBox="1"/>
          <p:nvPr/>
        </p:nvSpPr>
        <p:spPr>
          <a:xfrm>
            <a:off x="3340775" y="3264694"/>
            <a:ext cx="1298555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buffer 队列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el-1782912285314-35"/>
          <p:cNvSpPr txBox="1"/>
          <p:nvPr/>
        </p:nvSpPr>
        <p:spPr>
          <a:xfrm>
            <a:off x="521494" y="3523298"/>
            <a:ext cx="1194435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NETWORK_WAIT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el-1782912285328-59"/>
          <p:cNvSpPr txBox="1"/>
          <p:nvPr/>
        </p:nvSpPr>
        <p:spPr>
          <a:xfrm>
            <a:off x="1723072" y="3523298"/>
            <a:ext cx="1610558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网络延迟边存在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el-1782912285328-60"/>
          <p:cNvSpPr txBox="1"/>
          <p:nvPr/>
        </p:nvSpPr>
        <p:spPr>
          <a:xfrm>
            <a:off x="3340775" y="3523298"/>
            <a:ext cx="1298555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网络事件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el-1782912285314-36"/>
          <p:cNvSpPr txBox="1"/>
          <p:nvPr/>
        </p:nvSpPr>
        <p:spPr>
          <a:xfrm>
            <a:off x="521494" y="3781901"/>
            <a:ext cx="1194435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MEMORY_PRESSURE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el-1782912285329-61"/>
          <p:cNvSpPr txBox="1"/>
          <p:nvPr/>
        </p:nvSpPr>
        <p:spPr>
          <a:xfrm>
            <a:off x="1723072" y="3781901"/>
            <a:ext cx="1610558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内存回收事件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el-1782912285329-62"/>
          <p:cNvSpPr txBox="1"/>
          <p:nvPr/>
        </p:nvSpPr>
        <p:spPr>
          <a:xfrm>
            <a:off x="3340775" y="3781901"/>
            <a:ext cx="1298555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mem_reclaim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el-1782912285315-37"/>
          <p:cNvSpPr txBox="1"/>
          <p:nvPr/>
        </p:nvSpPr>
        <p:spPr>
          <a:xfrm>
            <a:off x="521494" y="4040505"/>
            <a:ext cx="1194435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SYSTEM_IRQ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el-1782912285329-63"/>
          <p:cNvSpPr txBox="1"/>
          <p:nvPr/>
        </p:nvSpPr>
        <p:spPr>
          <a:xfrm>
            <a:off x="1723072" y="4040505"/>
            <a:ext cx="1610558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中断 / 软中断高频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el-1782912285330-64"/>
          <p:cNvSpPr txBox="1"/>
          <p:nvPr/>
        </p:nvSpPr>
        <p:spPr>
          <a:xfrm>
            <a:off x="3340775" y="4040505"/>
            <a:ext cx="1298555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irq + softirq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el-1782912285316-38"/>
          <p:cNvSpPr txBox="1"/>
          <p:nvPr/>
        </p:nvSpPr>
        <p:spPr>
          <a:xfrm>
            <a:off x="521494" y="4299109"/>
            <a:ext cx="1194435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UNKNOWN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el-1782912285330-65"/>
          <p:cNvSpPr txBox="1"/>
          <p:nvPr/>
        </p:nvSpPr>
        <p:spPr>
          <a:xfrm>
            <a:off x="1723072" y="4299109"/>
            <a:ext cx="1610558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无明确信号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el-1782912285331-66"/>
          <p:cNvSpPr txBox="1"/>
          <p:nvPr/>
        </p:nvSpPr>
        <p:spPr>
          <a:xfrm>
            <a:off x="3340775" y="4299109"/>
            <a:ext cx="1298555" cy="1300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el-1782912285295-20"/>
          <p:cNvSpPr txBox="1"/>
          <p:nvPr/>
        </p:nvSpPr>
        <p:spPr>
          <a:xfrm>
            <a:off x="521494" y="4606290"/>
            <a:ext cx="4121408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 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r>
              <a:rPr sz="84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类，覆盖调度 / IPC / 锁 / 温控 / 解码 / 内存 / 中断 全链路</a:t>
            </a:r>
            <a:endParaRPr sz="84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el-1782912285331-67"/>
          <p:cNvSpPr txBox="1"/>
          <p:nvPr/>
        </p:nvSpPr>
        <p:spPr>
          <a:xfrm>
            <a:off x="5046524" y="1027271"/>
            <a:ext cx="1179344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🧠 决策树训练结果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el-1782912285331-68"/>
          <p:cNvSpPr txBox="1"/>
          <p:nvPr/>
        </p:nvSpPr>
        <p:spPr>
          <a:xfrm>
            <a:off x="7851071" y="1055846"/>
            <a:ext cx="814298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Task17 · 96 样本</a:t>
            </a:r>
            <a:endParaRPr sz="67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el-1782912285370-86"/>
          <p:cNvSpPr txBox="1"/>
          <p:nvPr/>
        </p:nvSpPr>
        <p:spPr>
          <a:xfrm>
            <a:off x="5032236" y="1313021"/>
            <a:ext cx="1677263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</a:t>
            </a:r>
            <a:endParaRPr sz="73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el-1782912285370-87"/>
          <p:cNvSpPr txBox="1"/>
          <p:nvPr/>
        </p:nvSpPr>
        <p:spPr>
          <a:xfrm>
            <a:off x="5032236" y="1440180"/>
            <a:ext cx="1691551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DecisionTreeClassifier</a:t>
            </a:r>
            <a:endParaRPr sz="95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el-1782912285371-88"/>
          <p:cNvSpPr txBox="1"/>
          <p:nvPr/>
        </p:nvSpPr>
        <p:spPr>
          <a:xfrm>
            <a:off x="6905953" y="1313021"/>
            <a:ext cx="1677263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</a:t>
            </a:r>
            <a:endParaRPr sz="73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el-1782912285371-89"/>
          <p:cNvSpPr txBox="1"/>
          <p:nvPr/>
        </p:nvSpPr>
        <p:spPr>
          <a:xfrm>
            <a:off x="6905953" y="1440180"/>
            <a:ext cx="1630829" cy="4800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40"/>
              </a:lnSpc>
            </a:pPr>
            <a:r>
              <a:rPr sz="95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max_depth=5, min_samples_leaf=2, class_weight=balanced</a:t>
            </a:r>
            <a:endParaRPr sz="95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el-1782912285372-90"/>
          <p:cNvSpPr txBox="1"/>
          <p:nvPr/>
        </p:nvSpPr>
        <p:spPr>
          <a:xfrm>
            <a:off x="5032236" y="2105978"/>
            <a:ext cx="1677263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训练样本</a:t>
            </a:r>
            <a:endParaRPr sz="73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el-1782912285367-83"/>
          <p:cNvSpPr txBox="1"/>
          <p:nvPr/>
        </p:nvSpPr>
        <p:spPr>
          <a:xfrm>
            <a:off x="5032236" y="2233136"/>
            <a:ext cx="1691551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96</a:t>
            </a:r>
            <a:r>
              <a:rPr sz="95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条 (3 session)</a:t>
            </a:r>
            <a:endParaRPr sz="95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el-1782912285372-91"/>
          <p:cNvSpPr txBox="1"/>
          <p:nvPr/>
        </p:nvSpPr>
        <p:spPr>
          <a:xfrm>
            <a:off x="6905953" y="2105978"/>
            <a:ext cx="1677263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特征维度</a:t>
            </a:r>
            <a:endParaRPr sz="73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el-1782912285373-92"/>
          <p:cNvSpPr txBox="1"/>
          <p:nvPr/>
        </p:nvSpPr>
        <p:spPr>
          <a:xfrm>
            <a:off x="6905953" y="2233136"/>
            <a:ext cx="1691551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维</a:t>
            </a:r>
            <a:endParaRPr sz="95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el-1782912285373-93"/>
          <p:cNvSpPr txBox="1"/>
          <p:nvPr/>
        </p:nvSpPr>
        <p:spPr>
          <a:xfrm>
            <a:off x="5032236" y="2578894"/>
            <a:ext cx="1677263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交叉验证准确率</a:t>
            </a:r>
            <a:endParaRPr sz="73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el-1782912285368-84"/>
          <p:cNvSpPr txBox="1"/>
          <p:nvPr/>
        </p:nvSpPr>
        <p:spPr>
          <a:xfrm>
            <a:off x="5032236" y="2706053"/>
            <a:ext cx="1691551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100%</a:t>
            </a:r>
            <a:r>
              <a:rPr sz="95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± 0% (5 折)</a:t>
            </a:r>
            <a:endParaRPr sz="95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el-1782912285374-94"/>
          <p:cNvSpPr txBox="1"/>
          <p:nvPr/>
        </p:nvSpPr>
        <p:spPr>
          <a:xfrm>
            <a:off x="6905953" y="2578894"/>
            <a:ext cx="1677263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实际使用特征</a:t>
            </a:r>
            <a:endParaRPr sz="73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el-1782912285369-85"/>
          <p:cNvSpPr txBox="1"/>
          <p:nvPr/>
        </p:nvSpPr>
        <p:spPr>
          <a:xfrm>
            <a:off x="6905953" y="2706053"/>
            <a:ext cx="1691551" cy="160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runnable_delay</a:t>
            </a:r>
            <a:r>
              <a:rPr sz="95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仅 1 维</a:t>
            </a:r>
            <a:endParaRPr sz="95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el-1782912285350-76"/>
          <p:cNvSpPr txBox="1"/>
          <p:nvPr/>
        </p:nvSpPr>
        <p:spPr>
          <a:xfrm>
            <a:off x="5082242" y="3080385"/>
            <a:ext cx="3497401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📐 学习到的规则 (深度 1 层, 3 节点)</a:t>
            </a:r>
            <a:endParaRPr sz="90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el-1782912285338-70"/>
          <p:cNvSpPr txBox="1"/>
          <p:nvPr/>
        </p:nvSpPr>
        <p:spPr>
          <a:xfrm>
            <a:off x="5160824" y="3327559"/>
            <a:ext cx="3293805" cy="685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45"/>
              </a:lnSpc>
            </a:pPr>
            <a:r>
              <a:rPr sz="840" b="1">
                <a:solidFill>
                  <a:srgbClr val="2D4059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if</a:t>
            </a:r>
            <a:r>
              <a:rPr sz="84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runnable_delay ≤</a:t>
            </a:r>
            <a:r>
              <a:rPr sz="840" b="1">
                <a:solidFill>
                  <a:srgbClr val="D4A017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12.13</a:t>
            </a:r>
            <a:endParaRPr sz="840" b="1">
              <a:solidFill>
                <a:srgbClr val="D4A017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  <a:p>
            <a:pPr algn="l">
              <a:lnSpc>
                <a:spcPts val="1345"/>
              </a:lnSpc>
            </a:pPr>
            <a:r>
              <a:rPr sz="84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  →</a:t>
            </a:r>
            <a:r>
              <a:rPr sz="840" b="1">
                <a:solidFill>
                  <a:srgbClr val="D4A017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RUNNABLE_DELAY</a:t>
            </a:r>
            <a:r>
              <a:rPr sz="780">
                <a:solidFill>
                  <a:srgbClr val="5A6A7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(CPU 争用导致线程排队)</a:t>
            </a:r>
            <a:endParaRPr sz="780">
              <a:solidFill>
                <a:srgbClr val="5A6A7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  <a:p>
            <a:pPr algn="l">
              <a:lnSpc>
                <a:spcPts val="1345"/>
              </a:lnSpc>
            </a:pPr>
            <a:r>
              <a:rPr sz="840" b="1">
                <a:solidFill>
                  <a:srgbClr val="2D4059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else</a:t>
            </a:r>
            <a:endParaRPr sz="840" b="1">
              <a:solidFill>
                <a:srgbClr val="2D4059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  <a:p>
            <a:pPr algn="l">
              <a:lnSpc>
                <a:spcPts val="1345"/>
              </a:lnSpc>
            </a:pPr>
            <a:r>
              <a:rPr sz="84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  →</a:t>
            </a:r>
            <a:r>
              <a:rPr sz="840" b="1">
                <a:solidFill>
                  <a:srgbClr val="D4A017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THERMAL_THROTTLE</a:t>
            </a:r>
            <a:r>
              <a:rPr sz="780">
                <a:solidFill>
                  <a:srgbClr val="5A6A7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(温控降频导致性能下降)</a:t>
            </a:r>
            <a:endParaRPr sz="780">
              <a:solidFill>
                <a:srgbClr val="5A6A7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90" name="el-1782912285341-72"/>
          <p:cNvSpPr txBox="1"/>
          <p:nvPr/>
        </p:nvSpPr>
        <p:spPr>
          <a:xfrm>
            <a:off x="5082242" y="4077652"/>
            <a:ext cx="349383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阈值 12.13 对应约 </a:t>
            </a:r>
            <a:r>
              <a:rPr sz="840" b="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180ms</a:t>
            </a:r>
            <a:r>
              <a:rPr sz="84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原始延迟</a:t>
            </a:r>
            <a:endParaRPr sz="84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el-1782912285296-21"/>
          <p:cNvSpPr txBox="1"/>
          <p:nvPr/>
        </p:nvSpPr>
        <p:spPr>
          <a:xfrm>
            <a:off x="4946511" y="4456271"/>
            <a:ext cx="3675995" cy="300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75"/>
              </a:lnSpc>
            </a:pPr>
            <a:r>
              <a:rPr sz="84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其余 5 个特征 (binder_centrality / futex_wait / thermal_throttle / decode_late / system_irq) 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重要性为 0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el-1782912285277-15"/>
          <p:cNvSpPr txBox="1"/>
          <p:nvPr/>
        </p:nvSpPr>
        <p:spPr>
          <a:xfrm>
            <a:off x="400050" y="4907042"/>
            <a:ext cx="53506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el-1782912285277-16"/>
          <p:cNvSpPr txBox="1"/>
          <p:nvPr/>
        </p:nvSpPr>
        <p:spPr>
          <a:xfrm>
            <a:off x="1056561" y="4907042"/>
            <a:ext cx="7911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el-1782912285277-17"/>
          <p:cNvSpPr txBox="1"/>
          <p:nvPr/>
        </p:nvSpPr>
        <p:spPr>
          <a:xfrm>
            <a:off x="1257121" y="4907042"/>
            <a:ext cx="44103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</a:t>
            </a:r>
            <a:r>
              <a:rPr lang="en-US" altLang="en-US"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altLang="en-US"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el-1782912285267-6"/>
          <p:cNvSpPr txBox="1"/>
          <p:nvPr/>
        </p:nvSpPr>
        <p:spPr>
          <a:xfrm>
            <a:off x="7390765" y="4907280"/>
            <a:ext cx="1403350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第五章 · 实验成果与数据分析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el-1782912285396-3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2912285417-19"/>
          <p:cNvSpPr/>
          <p:nvPr/>
        </p:nvSpPr>
        <p:spPr>
          <a:xfrm>
            <a:off x="236220" y="254635"/>
            <a:ext cx="3730625" cy="455041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9979" y="0"/>
                </a:moveTo>
                <a:lnTo>
                  <a:pt x="99992" y="58"/>
                </a:lnTo>
                <a:lnTo>
                  <a:pt x="100000" y="168"/>
                </a:lnTo>
                <a:lnTo>
                  <a:pt x="100000" y="98864"/>
                </a:lnTo>
                <a:lnTo>
                  <a:pt x="99992" y="98974"/>
                </a:lnTo>
                <a:lnTo>
                  <a:pt x="99968" y="99082"/>
                </a:lnTo>
                <a:lnTo>
                  <a:pt x="99930" y="99188"/>
                </a:lnTo>
                <a:lnTo>
                  <a:pt x="99877" y="99292"/>
                </a:lnTo>
                <a:lnTo>
                  <a:pt x="99810" y="99391"/>
                </a:lnTo>
                <a:lnTo>
                  <a:pt x="99730" y="99484"/>
                </a:lnTo>
                <a:lnTo>
                  <a:pt x="99636" y="99574"/>
                </a:lnTo>
                <a:lnTo>
                  <a:pt x="99529" y="99654"/>
                </a:lnTo>
                <a:lnTo>
                  <a:pt x="99414" y="99728"/>
                </a:lnTo>
                <a:lnTo>
                  <a:pt x="99286" y="99793"/>
                </a:lnTo>
                <a:lnTo>
                  <a:pt x="99152" y="99849"/>
                </a:lnTo>
                <a:lnTo>
                  <a:pt x="99011" y="99896"/>
                </a:lnTo>
                <a:lnTo>
                  <a:pt x="98861" y="99933"/>
                </a:lnTo>
                <a:lnTo>
                  <a:pt x="98709" y="99959"/>
                </a:lnTo>
                <a:lnTo>
                  <a:pt x="98553" y="99976"/>
                </a:lnTo>
                <a:lnTo>
                  <a:pt x="98396" y="99981"/>
                </a:lnTo>
                <a:lnTo>
                  <a:pt x="1604" y="99981"/>
                </a:lnTo>
                <a:lnTo>
                  <a:pt x="1447" y="99976"/>
                </a:lnTo>
                <a:lnTo>
                  <a:pt x="1291" y="99959"/>
                </a:lnTo>
                <a:lnTo>
                  <a:pt x="1139" y="99933"/>
                </a:lnTo>
                <a:lnTo>
                  <a:pt x="989" y="99896"/>
                </a:lnTo>
                <a:lnTo>
                  <a:pt x="848" y="99849"/>
                </a:lnTo>
                <a:lnTo>
                  <a:pt x="714" y="99793"/>
                </a:lnTo>
                <a:lnTo>
                  <a:pt x="586" y="99728"/>
                </a:lnTo>
                <a:lnTo>
                  <a:pt x="471" y="99654"/>
                </a:lnTo>
                <a:lnTo>
                  <a:pt x="364" y="99574"/>
                </a:lnTo>
                <a:lnTo>
                  <a:pt x="270" y="99484"/>
                </a:lnTo>
                <a:lnTo>
                  <a:pt x="190" y="99391"/>
                </a:lnTo>
                <a:lnTo>
                  <a:pt x="123" y="99292"/>
                </a:lnTo>
                <a:lnTo>
                  <a:pt x="70" y="99188"/>
                </a:lnTo>
                <a:lnTo>
                  <a:pt x="32" y="99082"/>
                </a:lnTo>
                <a:lnTo>
                  <a:pt x="8" y="98974"/>
                </a:lnTo>
                <a:lnTo>
                  <a:pt x="0" y="98864"/>
                </a:lnTo>
                <a:lnTo>
                  <a:pt x="0" y="168"/>
                </a:lnTo>
                <a:lnTo>
                  <a:pt x="8" y="58"/>
                </a:lnTo>
                <a:lnTo>
                  <a:pt x="21" y="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2912285455-37"/>
          <p:cNvSpPr/>
          <p:nvPr/>
        </p:nvSpPr>
        <p:spPr>
          <a:xfrm>
            <a:off x="3153162" y="37148"/>
            <a:ext cx="706338" cy="128588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8" name="el-1782912285471-63"/>
          <p:cNvCxnSpPr/>
          <p:nvPr/>
        </p:nvCxnSpPr>
        <p:spPr>
          <a:xfrm>
            <a:off x="507206" y="427911"/>
            <a:ext cx="1835855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l-1782912285471-64"/>
          <p:cNvCxnSpPr/>
          <p:nvPr/>
        </p:nvCxnSpPr>
        <p:spPr>
          <a:xfrm>
            <a:off x="2414498" y="427911"/>
            <a:ext cx="867519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-1782912285472-65"/>
          <p:cNvCxnSpPr/>
          <p:nvPr/>
        </p:nvCxnSpPr>
        <p:spPr>
          <a:xfrm>
            <a:off x="3353455" y="427911"/>
            <a:ext cx="506045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2912285431-22"/>
          <p:cNvCxnSpPr/>
          <p:nvPr/>
        </p:nvCxnSpPr>
        <p:spPr>
          <a:xfrm>
            <a:off x="507206" y="2921079"/>
            <a:ext cx="3352294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2912285433-23"/>
          <p:cNvSpPr/>
          <p:nvPr/>
        </p:nvSpPr>
        <p:spPr>
          <a:xfrm>
            <a:off x="736878" y="3141821"/>
            <a:ext cx="550069" cy="137160"/>
          </a:xfrm>
          <a:prstGeom prst="roundRect">
            <a:avLst>
              <a:gd name="adj" fmla="val 20833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2912285433-23__text"/>
          <p:cNvSpPr txBox="1"/>
          <p:nvPr/>
        </p:nvSpPr>
        <p:spPr>
          <a:xfrm>
            <a:off x="736878" y="3141821"/>
            <a:ext cx="550069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spc="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DRY-RUN</a:t>
            </a:r>
            <a:endParaRPr sz="780" spc="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2912285435-24"/>
          <p:cNvSpPr/>
          <p:nvPr/>
        </p:nvSpPr>
        <p:spPr>
          <a:xfrm>
            <a:off x="2336006" y="3141821"/>
            <a:ext cx="383441" cy="137160"/>
          </a:xfrm>
          <a:prstGeom prst="roundRect">
            <a:avLst>
              <a:gd name="adj" fmla="val 20833"/>
            </a:avLst>
          </a:pr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2912285435-24__text"/>
          <p:cNvSpPr txBox="1"/>
          <p:nvPr/>
        </p:nvSpPr>
        <p:spPr>
          <a:xfrm>
            <a:off x="2336006" y="3141821"/>
            <a:ext cx="383441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spc="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APPLY</a:t>
            </a:r>
            <a:endParaRPr sz="780" spc="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2912285419-20"/>
          <p:cNvSpPr/>
          <p:nvPr/>
        </p:nvSpPr>
        <p:spPr>
          <a:xfrm>
            <a:off x="4066540" y="478790"/>
            <a:ext cx="4677410" cy="432181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9984" y="0"/>
                </a:moveTo>
                <a:lnTo>
                  <a:pt x="99994" y="58"/>
                </a:lnTo>
                <a:lnTo>
                  <a:pt x="100000" y="168"/>
                </a:lnTo>
                <a:lnTo>
                  <a:pt x="100000" y="98864"/>
                </a:lnTo>
                <a:lnTo>
                  <a:pt x="99994" y="98974"/>
                </a:lnTo>
                <a:lnTo>
                  <a:pt x="99976" y="99082"/>
                </a:lnTo>
                <a:lnTo>
                  <a:pt x="99947" y="99188"/>
                </a:lnTo>
                <a:lnTo>
                  <a:pt x="99906" y="99292"/>
                </a:lnTo>
                <a:lnTo>
                  <a:pt x="99855" y="99391"/>
                </a:lnTo>
                <a:lnTo>
                  <a:pt x="99794" y="99484"/>
                </a:lnTo>
                <a:lnTo>
                  <a:pt x="99723" y="99574"/>
                </a:lnTo>
                <a:lnTo>
                  <a:pt x="99642" y="99654"/>
                </a:lnTo>
                <a:lnTo>
                  <a:pt x="99554" y="99728"/>
                </a:lnTo>
                <a:lnTo>
                  <a:pt x="99456" y="99793"/>
                </a:lnTo>
                <a:lnTo>
                  <a:pt x="99354" y="99849"/>
                </a:lnTo>
                <a:lnTo>
                  <a:pt x="99246" y="99896"/>
                </a:lnTo>
                <a:lnTo>
                  <a:pt x="99132" y="99933"/>
                </a:lnTo>
                <a:lnTo>
                  <a:pt x="99016" y="99959"/>
                </a:lnTo>
                <a:lnTo>
                  <a:pt x="98898" y="99976"/>
                </a:lnTo>
                <a:lnTo>
                  <a:pt x="98778" y="99981"/>
                </a:lnTo>
                <a:lnTo>
                  <a:pt x="1222" y="99981"/>
                </a:lnTo>
                <a:lnTo>
                  <a:pt x="1102" y="99976"/>
                </a:lnTo>
                <a:lnTo>
                  <a:pt x="984" y="99959"/>
                </a:lnTo>
                <a:lnTo>
                  <a:pt x="868" y="99933"/>
                </a:lnTo>
                <a:lnTo>
                  <a:pt x="754" y="99896"/>
                </a:lnTo>
                <a:lnTo>
                  <a:pt x="646" y="99849"/>
                </a:lnTo>
                <a:lnTo>
                  <a:pt x="544" y="99793"/>
                </a:lnTo>
                <a:lnTo>
                  <a:pt x="446" y="99728"/>
                </a:lnTo>
                <a:lnTo>
                  <a:pt x="358" y="99654"/>
                </a:lnTo>
                <a:lnTo>
                  <a:pt x="277" y="99574"/>
                </a:lnTo>
                <a:lnTo>
                  <a:pt x="206" y="99484"/>
                </a:lnTo>
                <a:lnTo>
                  <a:pt x="145" y="99391"/>
                </a:lnTo>
                <a:lnTo>
                  <a:pt x="94" y="99292"/>
                </a:lnTo>
                <a:lnTo>
                  <a:pt x="53" y="99188"/>
                </a:lnTo>
                <a:lnTo>
                  <a:pt x="24" y="99082"/>
                </a:lnTo>
                <a:lnTo>
                  <a:pt x="6" y="98974"/>
                </a:lnTo>
                <a:lnTo>
                  <a:pt x="0" y="98864"/>
                </a:lnTo>
                <a:lnTo>
                  <a:pt x="0" y="168"/>
                </a:lnTo>
                <a:lnTo>
                  <a:pt x="6" y="58"/>
                </a:lnTo>
                <a:lnTo>
                  <a:pt x="16" y="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9" name="el-1782912285475-66"/>
          <p:cNvCxnSpPr/>
          <p:nvPr/>
        </p:nvCxnSpPr>
        <p:spPr>
          <a:xfrm>
            <a:off x="4173825" y="410766"/>
            <a:ext cx="909489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2912285475-67"/>
          <p:cNvCxnSpPr/>
          <p:nvPr/>
        </p:nvCxnSpPr>
        <p:spPr>
          <a:xfrm>
            <a:off x="5154751" y="410766"/>
            <a:ext cx="909489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-1782912285476-68"/>
          <p:cNvCxnSpPr/>
          <p:nvPr/>
        </p:nvCxnSpPr>
        <p:spPr>
          <a:xfrm>
            <a:off x="6135678" y="410766"/>
            <a:ext cx="2501116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-1782912285485-76"/>
          <p:cNvCxnSpPr/>
          <p:nvPr/>
        </p:nvCxnSpPr>
        <p:spPr>
          <a:xfrm>
            <a:off x="6135678" y="850821"/>
            <a:ext cx="2501116" cy="914"/>
          </a:xfrm>
          <a:prstGeom prst="line">
            <a:avLst/>
          </a:prstGeom>
          <a:ln w="7144" cap="flat">
            <a:solidFill>
              <a:srgbClr val="E0E0E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l-1782912285485-77"/>
          <p:cNvCxnSpPr/>
          <p:nvPr/>
        </p:nvCxnSpPr>
        <p:spPr>
          <a:xfrm>
            <a:off x="6135678" y="1800225"/>
            <a:ext cx="2501116" cy="914"/>
          </a:xfrm>
          <a:prstGeom prst="line">
            <a:avLst/>
          </a:prstGeom>
          <a:ln w="7144" cap="flat">
            <a:solidFill>
              <a:srgbClr val="E0E0E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-1782912285485-78"/>
          <p:cNvCxnSpPr/>
          <p:nvPr/>
        </p:nvCxnSpPr>
        <p:spPr>
          <a:xfrm>
            <a:off x="6135678" y="2753916"/>
            <a:ext cx="2501116" cy="914"/>
          </a:xfrm>
          <a:prstGeom prst="line">
            <a:avLst/>
          </a:prstGeom>
          <a:ln w="7144" cap="flat">
            <a:solidFill>
              <a:srgbClr val="E0E0E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el-1782912285486-79"/>
          <p:cNvCxnSpPr/>
          <p:nvPr/>
        </p:nvCxnSpPr>
        <p:spPr>
          <a:xfrm>
            <a:off x="6135678" y="3533299"/>
            <a:ext cx="2501116" cy="914"/>
          </a:xfrm>
          <a:prstGeom prst="line">
            <a:avLst/>
          </a:prstGeom>
          <a:ln w="7144" cap="flat">
            <a:solidFill>
              <a:srgbClr val="E0E0E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l-1782912285483-74"/>
          <p:cNvCxnSpPr/>
          <p:nvPr/>
        </p:nvCxnSpPr>
        <p:spPr>
          <a:xfrm>
            <a:off x="6135678" y="4324826"/>
            <a:ext cx="2501116" cy="914"/>
          </a:xfrm>
          <a:prstGeom prst="line">
            <a:avLst/>
          </a:prstGeom>
          <a:ln w="7144" cap="flat">
            <a:solidFill>
              <a:srgbClr val="E0E0E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el-1782912285484-75"/>
          <p:cNvSpPr/>
          <p:nvPr/>
        </p:nvSpPr>
        <p:spPr>
          <a:xfrm>
            <a:off x="1013454" y="3363277"/>
            <a:ext cx="2431465" cy="434340"/>
          </a:xfrm>
          <a:prstGeom prst="roundRect">
            <a:avLst>
              <a:gd name="adj" fmla="val 4386"/>
            </a:avLst>
          </a:prstGeom>
          <a:solidFill>
            <a:srgbClr val="F0F0F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-1782912285484-75__text"/>
          <p:cNvSpPr txBox="1"/>
          <p:nvPr/>
        </p:nvSpPr>
        <p:spPr>
          <a:xfrm>
            <a:off x="921990" y="3376136"/>
            <a:ext cx="2431465" cy="4343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670" spc="0" dirty="0">
                <a:solidFill>
                  <a:srgbClr val="5A6A7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{TID=686, action=PROTECT_UI_CHAIN, </a:t>
            </a:r>
            <a:r>
              <a:rPr sz="670" spc="0" dirty="0" err="1">
                <a:solidFill>
                  <a:srgbClr val="5A6A7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ts</a:t>
            </a:r>
            <a:r>
              <a:rPr sz="670" spc="0" dirty="0">
                <a:solidFill>
                  <a:srgbClr val="5A6A7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=1777046648123456, </a:t>
            </a:r>
            <a:r>
              <a:rPr sz="670" spc="0" dirty="0" err="1">
                <a:solidFill>
                  <a:srgbClr val="5A6A7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expected_dur</a:t>
            </a:r>
            <a:r>
              <a:rPr sz="670" spc="0" dirty="0">
                <a:solidFill>
                  <a:srgbClr val="5A6A7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=16ms, </a:t>
            </a:r>
            <a:r>
              <a:rPr sz="670" spc="0" dirty="0" err="1">
                <a:solidFill>
                  <a:srgbClr val="5A6A7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actual_dur</a:t>
            </a:r>
            <a:r>
              <a:rPr sz="670" spc="0" dirty="0">
                <a:solidFill>
                  <a:srgbClr val="5A6A7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=16ms, rollback=success}</a:t>
            </a:r>
            <a:endParaRPr dirty="0"/>
          </a:p>
        </p:txBody>
      </p:sp>
      <p:sp>
        <p:nvSpPr>
          <p:cNvPr id="29" name="el-1782912285404-7"/>
          <p:cNvSpPr/>
          <p:nvPr/>
        </p:nvSpPr>
        <p:spPr>
          <a:xfrm>
            <a:off x="400050" y="5184934"/>
            <a:ext cx="8343900" cy="51292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0" y="0"/>
                </a:lnTo>
              </a:path>
            </a:pathLst>
          </a:custGeom>
          <a:noFill/>
          <a:ln w="35719" algn="in">
            <a:solidFill>
              <a:srgbClr val="D4A017"/>
            </a:solidFill>
            <a:prstDash val="solid"/>
          </a:ln>
        </p:spPr>
        <p:txBody>
          <a:bodyPr/>
          <a:lstStyle/>
          <a:p/>
        </p:txBody>
      </p:sp>
      <p:sp>
        <p:nvSpPr>
          <p:cNvPr id="30" name="el-1782912285396-2"/>
          <p:cNvSpPr/>
          <p:nvPr/>
        </p:nvSpPr>
        <p:spPr>
          <a:xfrm>
            <a:off x="0" y="4800600"/>
            <a:ext cx="9144000" cy="3429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1" name="el-1782912285397-4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l-1782912285403-6"/>
          <p:cNvSpPr txBox="1"/>
          <p:nvPr/>
        </p:nvSpPr>
        <p:spPr>
          <a:xfrm>
            <a:off x="107950" y="51673"/>
            <a:ext cx="51488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</a:t>
            </a:r>
            <a:r>
              <a:rPr sz="6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9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37</a:t>
            </a:r>
            <a:endParaRPr sz="900" b="1" spc="28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2912285412-13"/>
          <p:cNvSpPr txBox="1"/>
          <p:nvPr/>
        </p:nvSpPr>
        <p:spPr>
          <a:xfrm>
            <a:off x="2610326" y="179308"/>
            <a:ext cx="96619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D0D0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900">
              <a:solidFill>
                <a:srgbClr val="D0D0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el-1782912285411-11"/>
          <p:cNvSpPr txBox="1"/>
          <p:nvPr/>
        </p:nvSpPr>
        <p:spPr>
          <a:xfrm>
            <a:off x="4140200" y="4443730"/>
            <a:ext cx="3079115" cy="2266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TTL · 自旋保护 · 黑名单 · 置信度阈值 · Audit 日志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l-1782912285453-36"/>
          <p:cNvSpPr txBox="1"/>
          <p:nvPr/>
        </p:nvSpPr>
        <p:spPr>
          <a:xfrm>
            <a:off x="3253175" y="44291"/>
            <a:ext cx="649188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TTL=300ms</a:t>
            </a:r>
            <a:endParaRPr sz="67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el-1782912285455-38"/>
          <p:cNvSpPr txBox="1"/>
          <p:nvPr/>
        </p:nvSpPr>
        <p:spPr>
          <a:xfrm>
            <a:off x="467836" y="290989"/>
            <a:ext cx="1885861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Hint 类型</a:t>
            </a:r>
            <a:endParaRPr sz="78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el-1782912285456-39"/>
          <p:cNvSpPr txBox="1"/>
          <p:nvPr/>
        </p:nvSpPr>
        <p:spPr>
          <a:xfrm>
            <a:off x="2414498" y="258604"/>
            <a:ext cx="917525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触发条件</a:t>
            </a:r>
            <a:endParaRPr sz="78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el-1782912285456-40"/>
          <p:cNvSpPr txBox="1"/>
          <p:nvPr/>
        </p:nvSpPr>
        <p:spPr>
          <a:xfrm>
            <a:off x="3353455" y="258604"/>
            <a:ext cx="556052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</a:t>
            </a:r>
            <a:endParaRPr sz="78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l-1782912285443-27"/>
          <p:cNvSpPr txBox="1"/>
          <p:nvPr/>
        </p:nvSpPr>
        <p:spPr>
          <a:xfrm>
            <a:off x="507206" y="495776"/>
            <a:ext cx="1889433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HINT_BOOST_THREAD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el-1782912285457-41"/>
          <p:cNvSpPr txBox="1"/>
          <p:nvPr/>
        </p:nvSpPr>
        <p:spPr>
          <a:xfrm>
            <a:off x="2414498" y="495776"/>
            <a:ext cx="867519" cy="7286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3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CriticalScore &gt; 0.5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43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且 Render/UI 线程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el-1782912285457-42"/>
          <p:cNvSpPr txBox="1"/>
          <p:nvPr/>
        </p:nvSpPr>
        <p:spPr>
          <a:xfrm>
            <a:off x="3353455" y="495776"/>
            <a:ext cx="506045" cy="3643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3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nice 优先级提升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el-1782912285444-28"/>
          <p:cNvSpPr txBox="1"/>
          <p:nvPr/>
        </p:nvSpPr>
        <p:spPr>
          <a:xfrm>
            <a:off x="507206" y="1288733"/>
            <a:ext cx="1889433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HINT_UCLAMP_MIN_TEMPORARY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el-1782912285458-43"/>
          <p:cNvSpPr txBox="1"/>
          <p:nvPr/>
        </p:nvSpPr>
        <p:spPr>
          <a:xfrm>
            <a:off x="2414498" y="1288733"/>
            <a:ext cx="867519" cy="91082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3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runnable_delay ≥ 5ms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43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且 render_proximity &gt; 0.3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el-1782912285458-44"/>
          <p:cNvSpPr txBox="1"/>
          <p:nvPr/>
        </p:nvSpPr>
        <p:spPr>
          <a:xfrm>
            <a:off x="3353455" y="1288733"/>
            <a:ext cx="506045" cy="5464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3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最小 utilization clamp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el-1782912285444-29"/>
          <p:cNvSpPr txBox="1"/>
          <p:nvPr/>
        </p:nvSpPr>
        <p:spPr>
          <a:xfrm>
            <a:off x="507206" y="2263854"/>
            <a:ext cx="1889433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HINT_PROTECT_UI_CHAIN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el-1782912285459-45"/>
          <p:cNvSpPr txBox="1"/>
          <p:nvPr/>
        </p:nvSpPr>
        <p:spPr>
          <a:xfrm>
            <a:off x="2414498" y="2263854"/>
            <a:ext cx="867519" cy="5464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3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 链路线程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43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SF + App Render + App UI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el-1782912285459-46"/>
          <p:cNvSpPr txBox="1"/>
          <p:nvPr/>
        </p:nvSpPr>
        <p:spPr>
          <a:xfrm>
            <a:off x="3353455" y="2263854"/>
            <a:ext cx="506045" cy="5464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30"/>
              </a:lnSpc>
            </a:pPr>
            <a:r>
              <a:rPr sz="84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 affinity 保护</a:t>
            </a:r>
            <a:endParaRPr sz="84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el-1782912285427-21"/>
          <p:cNvSpPr txBox="1"/>
          <p:nvPr/>
        </p:nvSpPr>
        <p:spPr>
          <a:xfrm>
            <a:off x="507206" y="2960370"/>
            <a:ext cx="3362295" cy="3400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ts val="1325"/>
              </a:lnSpc>
            </a:pPr>
            <a:r>
              <a:rPr sz="78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 Hint 含</a:t>
            </a: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TTL</a:t>
            </a:r>
            <a:r>
              <a:rPr sz="78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Rollback 策略</a:t>
            </a:r>
            <a:r>
              <a:rPr sz="78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（预存原始值，到期恢复）</a:t>
            </a:r>
            <a:endParaRPr sz="78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325"/>
              </a:lnSpc>
            </a:pPr>
            <a:r>
              <a:rPr sz="78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</a:t>
            </a:r>
            <a:r>
              <a:rPr sz="72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　　　　</a:t>
            </a:r>
            <a:r>
              <a:rPr sz="78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（仅 JSON 不下发）与</a:t>
            </a:r>
            <a:r>
              <a:rPr sz="75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　　</a:t>
            </a:r>
            <a:r>
              <a:rPr sz="78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（写入 /proc）</a:t>
            </a:r>
            <a:endParaRPr sz="78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el-1782912285460-47"/>
          <p:cNvSpPr txBox="1"/>
          <p:nvPr/>
        </p:nvSpPr>
        <p:spPr>
          <a:xfrm>
            <a:off x="6476365" y="37465"/>
            <a:ext cx="984250" cy="3543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🛡️ 五层安全防护</a:t>
            </a:r>
            <a:endParaRPr sz="101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el-1782912285461-50"/>
          <p:cNvSpPr txBox="1"/>
          <p:nvPr/>
        </p:nvSpPr>
        <p:spPr>
          <a:xfrm>
            <a:off x="4173825" y="258604"/>
            <a:ext cx="955923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层级</a:t>
            </a:r>
            <a:endParaRPr sz="73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el-1782912285462-51"/>
          <p:cNvSpPr txBox="1"/>
          <p:nvPr/>
        </p:nvSpPr>
        <p:spPr>
          <a:xfrm>
            <a:off x="5154751" y="258604"/>
            <a:ext cx="955923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</a:t>
            </a:r>
            <a:endParaRPr sz="73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el-1782912285462-52"/>
          <p:cNvSpPr txBox="1"/>
          <p:nvPr/>
        </p:nvSpPr>
        <p:spPr>
          <a:xfrm>
            <a:off x="6135678" y="258604"/>
            <a:ext cx="2547551" cy="12001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endParaRPr sz="73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el-1782912285446-30"/>
          <p:cNvSpPr txBox="1"/>
          <p:nvPr/>
        </p:nvSpPr>
        <p:spPr>
          <a:xfrm>
            <a:off x="4173825" y="478631"/>
            <a:ext cx="959495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第1层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el-1782912285463-53"/>
          <p:cNvSpPr txBox="1"/>
          <p:nvPr/>
        </p:nvSpPr>
        <p:spPr>
          <a:xfrm>
            <a:off x="5154751" y="478631"/>
            <a:ext cx="959495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TTL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el-1782912285464-54"/>
          <p:cNvSpPr txBox="1"/>
          <p:nvPr/>
        </p:nvSpPr>
        <p:spPr>
          <a:xfrm>
            <a:off x="6135678" y="490061"/>
            <a:ext cx="2474327" cy="3071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25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 hint 默认 </a:t>
            </a:r>
            <a:r>
              <a:rPr sz="78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16ms = 1 帧</a:t>
            </a: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，超时自动回滚，避免影响后续帧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el-1782912285481-70"/>
          <p:cNvSpPr txBox="1"/>
          <p:nvPr/>
        </p:nvSpPr>
        <p:spPr>
          <a:xfrm>
            <a:off x="6135678" y="882967"/>
            <a:ext cx="2501116" cy="4736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40"/>
              </a:lnSpc>
            </a:pPr>
            <a:r>
              <a:rPr sz="73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➜ 例：surfaceflinger 的 BOOST_THREAD hint 在第 42 帧下发，16ms 后自动回滚 nice 优先级，确保第 43 帧的调度不受残留影响</a:t>
            </a:r>
            <a:endParaRPr sz="73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el-1782912285447-31"/>
          <p:cNvSpPr txBox="1"/>
          <p:nvPr/>
        </p:nvSpPr>
        <p:spPr>
          <a:xfrm>
            <a:off x="4140170" y="1439466"/>
            <a:ext cx="959495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第2层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el-1782912285465-55"/>
          <p:cNvSpPr txBox="1"/>
          <p:nvPr/>
        </p:nvSpPr>
        <p:spPr>
          <a:xfrm>
            <a:off x="5154751" y="1428036"/>
            <a:ext cx="959495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自旋保护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el-1782912285465-56"/>
          <p:cNvSpPr txBox="1"/>
          <p:nvPr/>
        </p:nvSpPr>
        <p:spPr>
          <a:xfrm>
            <a:off x="6135678" y="1439466"/>
            <a:ext cx="2456914" cy="3071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25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5ms 内连续 3 次 on CPU 无 sleep → 撤销 UCLAMP，避免自旋浪费 CPU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el-1782912285482-71"/>
          <p:cNvSpPr txBox="1"/>
          <p:nvPr/>
        </p:nvSpPr>
        <p:spPr>
          <a:xfrm>
            <a:off x="6135678" y="1832372"/>
            <a:ext cx="2501116" cy="4736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40"/>
              </a:lnSpc>
            </a:pPr>
            <a:r>
              <a:rPr sz="73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➜ 例：RenderThread 被 UCLAMP 提升后持续占用 CPU 超过 5ms 且未发生 sched_switch，自旋保护机制自动撤销 UCLAMP_MIN 并记录自旋事件到 audit 日志</a:t>
            </a:r>
            <a:endParaRPr sz="73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el-1782912285448-32"/>
          <p:cNvSpPr txBox="1"/>
          <p:nvPr/>
        </p:nvSpPr>
        <p:spPr>
          <a:xfrm>
            <a:off x="4173825" y="2377440"/>
            <a:ext cx="959495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第3层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el-1782912285466-57"/>
          <p:cNvSpPr txBox="1"/>
          <p:nvPr/>
        </p:nvSpPr>
        <p:spPr>
          <a:xfrm>
            <a:off x="5154751" y="2377440"/>
            <a:ext cx="959495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线程黑名单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el-1782912285467-58"/>
          <p:cNvSpPr txBox="1"/>
          <p:nvPr/>
        </p:nvSpPr>
        <p:spPr>
          <a:xfrm>
            <a:off x="6135678" y="2388870"/>
            <a:ext cx="2482007" cy="3114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70000"/>
              </a:lnSpc>
            </a:pPr>
            <a:r>
              <a:rPr sz="67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kworker</a:t>
            </a: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sz="67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rcuop</a:t>
            </a: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sz="67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swapper</a:t>
            </a: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sz="67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system_server</a:t>
            </a: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不可干预，避免内核崩溃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el-1782912285482-72"/>
          <p:cNvSpPr txBox="1"/>
          <p:nvPr/>
        </p:nvSpPr>
        <p:spPr>
          <a:xfrm>
            <a:off x="6135678" y="2786063"/>
            <a:ext cx="2501116" cy="4736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40"/>
              </a:lnSpc>
            </a:pPr>
            <a:r>
              <a:rPr sz="73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➜ 例：kworker 即使 CriticalScore 较高也直接被跳过，不生成任何 hint，防止修改内核工作线程的调度参数导致系统不稳定</a:t>
            </a:r>
            <a:endParaRPr sz="73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el-1782912285450-33"/>
          <p:cNvSpPr txBox="1"/>
          <p:nvPr/>
        </p:nvSpPr>
        <p:spPr>
          <a:xfrm>
            <a:off x="4173825" y="3331131"/>
            <a:ext cx="959495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第4层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el-1782912285467-59"/>
          <p:cNvSpPr txBox="1"/>
          <p:nvPr/>
        </p:nvSpPr>
        <p:spPr>
          <a:xfrm>
            <a:off x="5154751" y="3331131"/>
            <a:ext cx="959495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置信度阈值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el-1782912285468-60"/>
          <p:cNvSpPr txBox="1"/>
          <p:nvPr/>
        </p:nvSpPr>
        <p:spPr>
          <a:xfrm>
            <a:off x="6135678" y="3342561"/>
            <a:ext cx="2282518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 0.7 提交执行 · 0.5–0.7 仅记录建议 · &lt; 0.5 不输出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el-1782912285482-73"/>
          <p:cNvSpPr txBox="1"/>
          <p:nvPr/>
        </p:nvSpPr>
        <p:spPr>
          <a:xfrm>
            <a:off x="6135678" y="3565446"/>
            <a:ext cx="2501116" cy="3157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40"/>
              </a:lnSpc>
            </a:pPr>
            <a:r>
              <a:rPr sz="73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➜ 例：camera 场景的 jank 帧 confidence=0.5 被归为低置信度，仅写入 audit 日志作为参考，不下发实际调度操作</a:t>
            </a:r>
            <a:endParaRPr sz="73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el-1782912285452-34"/>
          <p:cNvSpPr txBox="1"/>
          <p:nvPr/>
        </p:nvSpPr>
        <p:spPr>
          <a:xfrm>
            <a:off x="4173825" y="3952637"/>
            <a:ext cx="959495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第5层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el-1782912285469-61"/>
          <p:cNvSpPr txBox="1"/>
          <p:nvPr/>
        </p:nvSpPr>
        <p:spPr>
          <a:xfrm>
            <a:off x="5154751" y="3952637"/>
            <a:ext cx="959495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Audit 日志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el-1782912285470-62"/>
          <p:cNvSpPr txBox="1"/>
          <p:nvPr/>
        </p:nvSpPr>
        <p:spPr>
          <a:xfrm>
            <a:off x="6135678" y="3964067"/>
            <a:ext cx="2418963" cy="3071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25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 hint 的 TID / 操作 / 时间戳 / 预期+实际持续时长全部记录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el-1782912285400-5"/>
          <p:cNvSpPr txBox="1"/>
          <p:nvPr/>
        </p:nvSpPr>
        <p:spPr>
          <a:xfrm>
            <a:off x="465512" y="3862110"/>
            <a:ext cx="3445163" cy="3700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30"/>
              </a:lnSpc>
            </a:pPr>
            <a:r>
              <a:rPr sz="780" dirty="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📋 Hint </a:t>
            </a:r>
            <a:r>
              <a:rPr sz="780" dirty="0" err="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生成示例</a:t>
            </a:r>
            <a:r>
              <a:rPr sz="780" dirty="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帧 f32 → inference </a:t>
            </a:r>
            <a:r>
              <a:rPr sz="780" b="1" dirty="0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RUNNABLE_DELAY</a:t>
            </a:r>
            <a:r>
              <a:rPr sz="780" dirty="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(confidence=0.9999) → </a:t>
            </a:r>
            <a:endParaRPr dirty="0"/>
          </a:p>
          <a:p>
            <a:pPr algn="l">
              <a:lnSpc>
                <a:spcPts val="1430"/>
              </a:lnSpc>
            </a:pPr>
            <a:r>
              <a:rPr sz="840" dirty="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Top-1 </a:t>
            </a:r>
            <a:r>
              <a:rPr sz="840" dirty="0" err="1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线程</a:t>
            </a:r>
            <a:r>
              <a:rPr sz="840" b="1" dirty="0" err="1">
                <a:solidFill>
                  <a:srgbClr val="D4A017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surfaceflinger</a:t>
            </a:r>
            <a:r>
              <a:rPr sz="840" dirty="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(TID=686, </a:t>
            </a:r>
            <a:r>
              <a:rPr sz="840" dirty="0" err="1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CriticalScore</a:t>
            </a:r>
            <a:r>
              <a:rPr sz="840" dirty="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=0.825) →</a:t>
            </a:r>
            <a:r>
              <a:rPr sz="840" b="1" dirty="0">
                <a:solidFill>
                  <a:srgbClr val="D4A017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HINT_PROTECT_UI_CHAIN</a:t>
            </a:r>
            <a:r>
              <a:rPr sz="840" dirty="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→ </a:t>
            </a:r>
            <a:r>
              <a:rPr sz="840" dirty="0" err="1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surfaceflinger</a:t>
            </a:r>
            <a:r>
              <a:rPr sz="840" dirty="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 </a:t>
            </a:r>
            <a:r>
              <a:rPr sz="840" dirty="0" err="1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提升</a:t>
            </a:r>
            <a:r>
              <a:rPr sz="840" dirty="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 UI </a:t>
            </a:r>
            <a:r>
              <a:rPr sz="840" dirty="0" err="1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渲染链优先级</a:t>
            </a:r>
            <a:r>
              <a:rPr sz="840" dirty="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 16ms</a:t>
            </a:r>
            <a:endParaRPr dirty="0"/>
          </a:p>
        </p:txBody>
      </p:sp>
      <p:sp>
        <p:nvSpPr>
          <p:cNvPr id="80" name="el-1782912285413-16"/>
          <p:cNvSpPr txBox="1"/>
          <p:nvPr/>
        </p:nvSpPr>
        <p:spPr>
          <a:xfrm>
            <a:off x="400050" y="4907042"/>
            <a:ext cx="53506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el-1782912285414-17"/>
          <p:cNvSpPr txBox="1"/>
          <p:nvPr/>
        </p:nvSpPr>
        <p:spPr>
          <a:xfrm>
            <a:off x="1056561" y="4907042"/>
            <a:ext cx="7911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el-1782912285414-18"/>
          <p:cNvSpPr txBox="1"/>
          <p:nvPr/>
        </p:nvSpPr>
        <p:spPr>
          <a:xfrm>
            <a:off x="1257121" y="4907042"/>
            <a:ext cx="44103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</a:t>
            </a:r>
            <a:r>
              <a:rPr lang="en-US" altLang="en-US"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altLang="en-US"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el-1782912285405-8"/>
          <p:cNvSpPr txBox="1"/>
          <p:nvPr/>
        </p:nvSpPr>
        <p:spPr>
          <a:xfrm>
            <a:off x="7308215" y="4876165"/>
            <a:ext cx="1700530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第五章 · 实验成果与数据分析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2912285724-1"/>
          <p:cNvSpPr/>
          <p:nvPr/>
        </p:nvSpPr>
        <p:spPr>
          <a:xfrm>
            <a:off x="0" y="0"/>
            <a:ext cx="9144000" cy="4000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2912285725-2"/>
          <p:cNvCxnSpPr/>
          <p:nvPr/>
        </p:nvCxnSpPr>
        <p:spPr>
          <a:xfrm>
            <a:off x="0" y="396478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2912285739-10"/>
          <p:cNvSpPr/>
          <p:nvPr/>
        </p:nvSpPr>
        <p:spPr>
          <a:xfrm>
            <a:off x="7895183" y="460058"/>
            <a:ext cx="848767" cy="165735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2912285746-17"/>
          <p:cNvSpPr/>
          <p:nvPr/>
        </p:nvSpPr>
        <p:spPr>
          <a:xfrm>
            <a:off x="400050" y="714375"/>
            <a:ext cx="8343900" cy="1968818"/>
          </a:xfrm>
          <a:prstGeom prst="roundRect">
            <a:avLst>
              <a:gd name="adj" fmla="val 3870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2912285756-20"/>
          <p:cNvCxnSpPr/>
          <p:nvPr/>
        </p:nvCxnSpPr>
        <p:spPr>
          <a:xfrm>
            <a:off x="521494" y="778669"/>
            <a:ext cx="914" cy="186452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2912285778-48"/>
          <p:cNvSpPr/>
          <p:nvPr/>
        </p:nvSpPr>
        <p:spPr>
          <a:xfrm>
            <a:off x="2873216" y="993696"/>
            <a:ext cx="1946315" cy="170021"/>
          </a:xfrm>
          <a:prstGeom prst="roundRect">
            <a:avLst>
              <a:gd name="adj" fmla="val 16807"/>
            </a:avLst>
          </a:prstGeom>
          <a:solidFill>
            <a:srgbClr val="F0F0F3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2912285779-50"/>
          <p:cNvSpPr/>
          <p:nvPr/>
        </p:nvSpPr>
        <p:spPr>
          <a:xfrm>
            <a:off x="2873216" y="1390888"/>
            <a:ext cx="1946315" cy="170021"/>
          </a:xfrm>
          <a:prstGeom prst="roundRect">
            <a:avLst>
              <a:gd name="adj" fmla="val 16807"/>
            </a:avLst>
          </a:prstGeom>
          <a:solidFill>
            <a:srgbClr val="F0F0F3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2912285781-54"/>
          <p:cNvCxnSpPr/>
          <p:nvPr/>
        </p:nvCxnSpPr>
        <p:spPr>
          <a:xfrm>
            <a:off x="4912400" y="1603772"/>
            <a:ext cx="914" cy="1000839"/>
          </a:xfrm>
          <a:prstGeom prst="line">
            <a:avLst/>
          </a:prstGeom>
          <a:ln w="14288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2912285782-55"/>
          <p:cNvSpPr/>
          <p:nvPr/>
        </p:nvSpPr>
        <p:spPr>
          <a:xfrm>
            <a:off x="6093351" y="1649492"/>
            <a:ext cx="1446163" cy="97155"/>
          </a:xfrm>
          <a:prstGeom prst="roundRect">
            <a:avLst>
              <a:gd name="adj" fmla="val 19608"/>
            </a:avLst>
          </a:prstGeom>
          <a:solidFill>
            <a:srgbClr val="F0F0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2912285782-55__text"/>
          <p:cNvSpPr txBox="1"/>
          <p:nvPr/>
        </p:nvSpPr>
        <p:spPr>
          <a:xfrm>
            <a:off x="6093351" y="1649492"/>
            <a:ext cx="1446163" cy="971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670" spc="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actual_frame_timeline_slice</a:t>
            </a:r>
            <a:endParaRPr sz="670" spc="0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12" name="el-1782912285783-56"/>
          <p:cNvSpPr/>
          <p:nvPr/>
        </p:nvSpPr>
        <p:spPr>
          <a:xfrm>
            <a:off x="7297073" y="1818084"/>
            <a:ext cx="417284" cy="97155"/>
          </a:xfrm>
          <a:prstGeom prst="roundRect">
            <a:avLst>
              <a:gd name="adj" fmla="val 19608"/>
            </a:avLst>
          </a:prstGeom>
          <a:solidFill>
            <a:srgbClr val="F0F0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2912285783-56__text"/>
          <p:cNvSpPr txBox="1"/>
          <p:nvPr/>
        </p:nvSpPr>
        <p:spPr>
          <a:xfrm>
            <a:off x="7297073" y="1818084"/>
            <a:ext cx="417284" cy="971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670" spc="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process</a:t>
            </a:r>
            <a:endParaRPr sz="670" spc="0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14" name="el-1782912285785-57"/>
          <p:cNvSpPr/>
          <p:nvPr/>
        </p:nvSpPr>
        <p:spPr>
          <a:xfrm>
            <a:off x="5018930" y="2219540"/>
            <a:ext cx="3595003" cy="434340"/>
          </a:xfrm>
          <a:prstGeom prst="roundRect">
            <a:avLst>
              <a:gd name="adj" fmla="val 4386"/>
            </a:avLst>
          </a:prstGeom>
          <a:solidFill>
            <a:srgbClr val="F0F0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2912285785-57__text"/>
          <p:cNvSpPr txBox="1"/>
          <p:nvPr/>
        </p:nvSpPr>
        <p:spPr>
          <a:xfrm>
            <a:off x="5002722" y="2230939"/>
            <a:ext cx="3595003" cy="4343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670" spc="0" dirty="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SELECT </a:t>
            </a:r>
            <a:r>
              <a:rPr sz="670" spc="0" dirty="0" err="1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upid</a:t>
            </a:r>
            <a:r>
              <a:rPr sz="670" spc="0" dirty="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, </a:t>
            </a:r>
            <a:r>
              <a:rPr sz="670" spc="0" dirty="0" err="1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pid</a:t>
            </a:r>
            <a:r>
              <a:rPr sz="670" spc="0" dirty="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, name FROM process WHERE </a:t>
            </a:r>
            <a:r>
              <a:rPr sz="670" spc="0" dirty="0" err="1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upid</a:t>
            </a:r>
            <a:r>
              <a:rPr sz="670" spc="0" dirty="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 IN (SELECT DISTINCT </a:t>
            </a:r>
            <a:r>
              <a:rPr sz="670" spc="0" dirty="0" err="1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upid</a:t>
            </a:r>
            <a:r>
              <a:rPr sz="670" spc="0" dirty="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 FROM </a:t>
            </a:r>
            <a:r>
              <a:rPr sz="670" spc="0" dirty="0" err="1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actual_frame_timeline_slice</a:t>
            </a:r>
            <a:r>
              <a:rPr sz="670" spc="0" dirty="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 WHERE </a:t>
            </a:r>
            <a:r>
              <a:rPr sz="670" spc="0" dirty="0" err="1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jank_tag</a:t>
            </a:r>
            <a:r>
              <a:rPr sz="670" spc="0" dirty="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='</a:t>
            </a:r>
            <a:r>
              <a:rPr sz="670" spc="0" dirty="0" err="1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jank</a:t>
            </a:r>
            <a:r>
              <a:rPr sz="670" spc="0" dirty="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')</a:t>
            </a:r>
            <a:endParaRPr dirty="0"/>
          </a:p>
        </p:txBody>
      </p:sp>
      <p:sp>
        <p:nvSpPr>
          <p:cNvPr id="16" name="el-1782912285747-18"/>
          <p:cNvSpPr/>
          <p:nvPr/>
        </p:nvSpPr>
        <p:spPr>
          <a:xfrm>
            <a:off x="400050" y="2754630"/>
            <a:ext cx="8343900" cy="1778794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7" name="el-1782912285757-21"/>
          <p:cNvCxnSpPr/>
          <p:nvPr/>
        </p:nvCxnSpPr>
        <p:spPr>
          <a:xfrm>
            <a:off x="521494" y="2818924"/>
            <a:ext cx="914" cy="186452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-1782912285788-63"/>
          <p:cNvCxnSpPr/>
          <p:nvPr/>
        </p:nvCxnSpPr>
        <p:spPr>
          <a:xfrm>
            <a:off x="4874270" y="3644027"/>
            <a:ext cx="914" cy="810816"/>
          </a:xfrm>
          <a:prstGeom prst="line">
            <a:avLst/>
          </a:prstGeom>
          <a:ln w="14288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l-1782912285790-64"/>
          <p:cNvSpPr/>
          <p:nvPr/>
        </p:nvSpPr>
        <p:spPr>
          <a:xfrm>
            <a:off x="5470505" y="3847624"/>
            <a:ext cx="417284" cy="97155"/>
          </a:xfrm>
          <a:prstGeom prst="roundRect">
            <a:avLst>
              <a:gd name="adj" fmla="val 19608"/>
            </a:avLst>
          </a:prstGeom>
          <a:solidFill>
            <a:srgbClr val="F0F0F3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2912285790-64__text"/>
          <p:cNvSpPr txBox="1"/>
          <p:nvPr/>
        </p:nvSpPr>
        <p:spPr>
          <a:xfrm>
            <a:off x="5470505" y="3847624"/>
            <a:ext cx="417284" cy="971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670" spc="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process</a:t>
            </a:r>
            <a:endParaRPr sz="670" spc="0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21" name="el-1782912285792-65"/>
          <p:cNvSpPr/>
          <p:nvPr/>
        </p:nvSpPr>
        <p:spPr>
          <a:xfrm>
            <a:off x="6128534" y="3847624"/>
            <a:ext cx="365849" cy="97155"/>
          </a:xfrm>
          <a:prstGeom prst="roundRect">
            <a:avLst>
              <a:gd name="adj" fmla="val 19608"/>
            </a:avLst>
          </a:prstGeom>
          <a:solidFill>
            <a:srgbClr val="F0F0F3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2912285792-65__text"/>
          <p:cNvSpPr txBox="1"/>
          <p:nvPr/>
        </p:nvSpPr>
        <p:spPr>
          <a:xfrm>
            <a:off x="6128534" y="3847624"/>
            <a:ext cx="365849" cy="971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670" spc="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thread</a:t>
            </a:r>
            <a:endParaRPr sz="670" spc="0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23" name="el-1782912285794-66"/>
          <p:cNvSpPr/>
          <p:nvPr/>
        </p:nvSpPr>
        <p:spPr>
          <a:xfrm>
            <a:off x="5737592" y="4016216"/>
            <a:ext cx="880289" cy="97155"/>
          </a:xfrm>
          <a:prstGeom prst="roundRect">
            <a:avLst>
              <a:gd name="adj" fmla="val 19608"/>
            </a:avLst>
          </a:prstGeom>
          <a:solidFill>
            <a:srgbClr val="F0F0F3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2912285794-66__text"/>
          <p:cNvSpPr txBox="1"/>
          <p:nvPr/>
        </p:nvSpPr>
        <p:spPr>
          <a:xfrm>
            <a:off x="5737592" y="4016216"/>
            <a:ext cx="880289" cy="971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670" spc="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identity_check()</a:t>
            </a:r>
            <a:endParaRPr sz="670" spc="0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cxnSp>
        <p:nvCxnSpPr>
          <p:cNvPr id="31" name="el-1782912285730-6"/>
          <p:cNvCxnSpPr/>
          <p:nvPr/>
        </p:nvCxnSpPr>
        <p:spPr>
          <a:xfrm>
            <a:off x="400050" y="8172450"/>
            <a:ext cx="8343900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el-1782912285726-3"/>
          <p:cNvCxnSpPr/>
          <p:nvPr/>
        </p:nvCxnSpPr>
        <p:spPr>
          <a:xfrm>
            <a:off x="0" y="8359617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el-1782912285729-4"/>
          <p:cNvSpPr txBox="1"/>
          <p:nvPr/>
        </p:nvSpPr>
        <p:spPr>
          <a:xfrm>
            <a:off x="400050" y="122158"/>
            <a:ext cx="51488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35</a:t>
            </a:r>
            <a:r>
              <a:rPr sz="6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9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37</a:t>
            </a:r>
            <a:endParaRPr sz="900" b="1" spc="28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2912285739-11"/>
          <p:cNvSpPr txBox="1"/>
          <p:nvPr/>
        </p:nvSpPr>
        <p:spPr>
          <a:xfrm>
            <a:off x="1086485" y="121920"/>
            <a:ext cx="1712595" cy="1657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第五章 · 实验成果与数据分析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82912285740-12"/>
          <p:cNvSpPr txBox="1"/>
          <p:nvPr/>
        </p:nvSpPr>
        <p:spPr>
          <a:xfrm>
            <a:off x="2896076" y="122158"/>
            <a:ext cx="96619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D0D0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900">
              <a:solidFill>
                <a:srgbClr val="D0D0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82912285740-13"/>
          <p:cNvSpPr txBox="1"/>
          <p:nvPr/>
        </p:nvSpPr>
        <p:spPr>
          <a:xfrm>
            <a:off x="3162241" y="122158"/>
            <a:ext cx="165735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工程实践中攻克的关键技术难点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l-1782912285735-8"/>
          <p:cNvSpPr txBox="1"/>
          <p:nvPr/>
        </p:nvSpPr>
        <p:spPr>
          <a:xfrm>
            <a:off x="400050" y="428625"/>
            <a:ext cx="2515672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50" b="1" spc="-1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工程实践中攻克的关键 </a:t>
            </a:r>
            <a:r>
              <a:rPr sz="1350" b="1" spc="-1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技术难点</a:t>
            </a:r>
            <a:endParaRPr sz="1350" b="1" spc="-1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el-1782912285737-9"/>
          <p:cNvSpPr txBox="1"/>
          <p:nvPr/>
        </p:nvSpPr>
        <p:spPr>
          <a:xfrm>
            <a:off x="8023771" y="474345"/>
            <a:ext cx="770186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个关键问题</a:t>
            </a:r>
            <a:endParaRPr sz="78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el-1782912285775-45"/>
          <p:cNvSpPr txBox="1"/>
          <p:nvPr/>
        </p:nvSpPr>
        <p:spPr>
          <a:xfrm>
            <a:off x="621506" y="792956"/>
            <a:ext cx="2226707" cy="1578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进程名截断</a:t>
            </a:r>
            <a:endParaRPr sz="95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l-1782912285776-46"/>
          <p:cNvSpPr txBox="1"/>
          <p:nvPr/>
        </p:nvSpPr>
        <p:spPr>
          <a:xfrm>
            <a:off x="2873216" y="792956"/>
            <a:ext cx="1992749" cy="1578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🔴 问题</a:t>
            </a:r>
            <a:endParaRPr sz="730" b="1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el-1782912285776-47"/>
          <p:cNvSpPr txBox="1"/>
          <p:nvPr/>
        </p:nvSpPr>
        <p:spPr>
          <a:xfrm>
            <a:off x="2916079" y="993696"/>
            <a:ext cx="1953459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task_struct-&gt;comm</a:t>
            </a:r>
            <a:endParaRPr sz="780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42" name="el-1782912285760-24"/>
          <p:cNvSpPr txBox="1"/>
          <p:nvPr/>
        </p:nvSpPr>
        <p:spPr>
          <a:xfrm>
            <a:off x="2873216" y="1203722"/>
            <a:ext cx="626596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 15 字符，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el-1782912285778-49"/>
          <p:cNvSpPr txBox="1"/>
          <p:nvPr/>
        </p:nvSpPr>
        <p:spPr>
          <a:xfrm>
            <a:off x="2916079" y="1390888"/>
            <a:ext cx="1953459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com.google.android.GoogleCamera</a:t>
            </a:r>
            <a:endParaRPr sz="780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44" name="el-1782912285760-25"/>
          <p:cNvSpPr txBox="1"/>
          <p:nvPr/>
        </p:nvSpPr>
        <p:spPr>
          <a:xfrm>
            <a:off x="2873216" y="1600914"/>
            <a:ext cx="450056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被截断为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el-1782912285779-51"/>
          <p:cNvSpPr txBox="1"/>
          <p:nvPr/>
        </p:nvSpPr>
        <p:spPr>
          <a:xfrm>
            <a:off x="2873216" y="1788081"/>
            <a:ext cx="1996321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com.google.andr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el-1782912285761-26"/>
          <p:cNvSpPr txBox="1"/>
          <p:nvPr/>
        </p:nvSpPr>
        <p:spPr>
          <a:xfrm>
            <a:off x="2873216" y="1998107"/>
            <a:ext cx="950119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，无法匹配目标进程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el-1782912285780-52"/>
          <p:cNvSpPr txBox="1"/>
          <p:nvPr/>
        </p:nvSpPr>
        <p:spPr>
          <a:xfrm>
            <a:off x="4905256" y="792956"/>
            <a:ext cx="3777972" cy="1578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 解决方案</a:t>
            </a:r>
            <a:endParaRPr sz="730" b="1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el-1782912285761-27"/>
          <p:cNvSpPr txBox="1"/>
          <p:nvPr/>
        </p:nvSpPr>
        <p:spPr>
          <a:xfrm>
            <a:off x="4905256" y="1005126"/>
            <a:ext cx="160823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反其道而行——在 Perfetto 中扫描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el-1782912285780-53"/>
          <p:cNvSpPr txBox="1"/>
          <p:nvPr/>
        </p:nvSpPr>
        <p:spPr>
          <a:xfrm>
            <a:off x="4905256" y="1192292"/>
            <a:ext cx="3781544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 Deadline Missed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el-1782912285761-28"/>
          <p:cNvSpPr txBox="1"/>
          <p:nvPr/>
        </p:nvSpPr>
        <p:spPr>
          <a:xfrm>
            <a:off x="4905256" y="1402318"/>
            <a:ext cx="1442859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 UPID，反向锁定 Janky 应用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el-1782912285767-41"/>
          <p:cNvSpPr txBox="1"/>
          <p:nvPr/>
        </p:nvSpPr>
        <p:spPr>
          <a:xfrm>
            <a:off x="5024457" y="1433750"/>
            <a:ext cx="3631526" cy="10008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ts val="1240"/>
              </a:lnSpc>
            </a:pPr>
            <a:r>
              <a:rPr sz="730" b="1" dirty="0" err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实施细节：</a:t>
            </a:r>
            <a:r>
              <a:rPr sz="730" dirty="0" err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sz="73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Perfetto 的 </a:t>
            </a:r>
            <a:r>
              <a:rPr sz="71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　　　　　　　　　　　　　　</a:t>
            </a:r>
            <a:r>
              <a:rPr sz="73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730" dirty="0" err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表中扫描</a:t>
            </a:r>
            <a:r>
              <a:rPr sz="73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Deadline Missed </a:t>
            </a:r>
            <a:r>
              <a:rPr sz="730" dirty="0" err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帧，提取其</a:t>
            </a:r>
            <a:r>
              <a:rPr sz="73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730" dirty="0" err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UPID（唯一进程标识符</a:t>
            </a:r>
            <a:r>
              <a:rPr sz="73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</a:t>
            </a:r>
            <a:r>
              <a:rPr sz="730" dirty="0" err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再通过</a:t>
            </a:r>
            <a:r>
              <a:rPr sz="73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65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　　　</a:t>
            </a:r>
            <a:r>
              <a:rPr sz="73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730" dirty="0" err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表反向查询进程全名和</a:t>
            </a:r>
            <a:r>
              <a:rPr sz="73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730" dirty="0" err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PID。具体实现：执行</a:t>
            </a:r>
            <a:r>
              <a:rPr sz="73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72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　　　　　　　　　　　　　　　　　　　　　　　　　　　　　　　　　　　　　</a:t>
            </a:r>
            <a:r>
              <a:rPr sz="73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730" dirty="0" err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绕过</a:t>
            </a:r>
            <a:r>
              <a:rPr sz="73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comm </a:t>
            </a:r>
            <a:r>
              <a:rPr sz="730" dirty="0" err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截断限制，从</a:t>
            </a:r>
            <a:r>
              <a:rPr sz="73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Perfetto </a:t>
            </a:r>
            <a:r>
              <a:rPr sz="730" dirty="0" err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的完整进程表中获取真实进程名称</a:t>
            </a:r>
            <a:r>
              <a:rPr sz="73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dirty="0"/>
          </a:p>
        </p:txBody>
      </p:sp>
      <p:sp>
        <p:nvSpPr>
          <p:cNvPr id="52" name="el-1782912285786-58"/>
          <p:cNvSpPr txBox="1"/>
          <p:nvPr/>
        </p:nvSpPr>
        <p:spPr>
          <a:xfrm>
            <a:off x="621506" y="2833211"/>
            <a:ext cx="2250013" cy="1578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PID 复用</a:t>
            </a:r>
            <a:endParaRPr sz="95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el-1782912285786-59"/>
          <p:cNvSpPr txBox="1"/>
          <p:nvPr/>
        </p:nvSpPr>
        <p:spPr>
          <a:xfrm>
            <a:off x="2896523" y="2833211"/>
            <a:ext cx="1931313" cy="1578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🔴 问题</a:t>
            </a:r>
            <a:endParaRPr sz="730" b="1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el-1782912285762-29"/>
          <p:cNvSpPr txBox="1"/>
          <p:nvPr/>
        </p:nvSpPr>
        <p:spPr>
          <a:xfrm>
            <a:off x="2896523" y="3045381"/>
            <a:ext cx="1868716" cy="3071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PID 回收后分配给别的进程，仅凭 TID 匹配导致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el-1782912285787-60"/>
          <p:cNvSpPr txBox="1"/>
          <p:nvPr/>
        </p:nvSpPr>
        <p:spPr>
          <a:xfrm>
            <a:off x="2896523" y="3402568"/>
            <a:ext cx="1934885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幽灵线程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el-1782912285762-30"/>
          <p:cNvSpPr txBox="1"/>
          <p:nvPr/>
        </p:nvSpPr>
        <p:spPr>
          <a:xfrm>
            <a:off x="2896523" y="3612594"/>
            <a:ext cx="450056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污染数据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el-1782912285787-61"/>
          <p:cNvSpPr txBox="1"/>
          <p:nvPr/>
        </p:nvSpPr>
        <p:spPr>
          <a:xfrm>
            <a:off x="4867126" y="2833211"/>
            <a:ext cx="3816102" cy="1578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 解决方案</a:t>
            </a:r>
            <a:endParaRPr sz="730" b="1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el-1782912285762-31"/>
          <p:cNvSpPr txBox="1"/>
          <p:nvPr/>
        </p:nvSpPr>
        <p:spPr>
          <a:xfrm>
            <a:off x="4867126" y="3045381"/>
            <a:ext cx="250031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引入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el-1782912285788-62"/>
          <p:cNvSpPr txBox="1"/>
          <p:nvPr/>
        </p:nvSpPr>
        <p:spPr>
          <a:xfrm>
            <a:off x="4867126" y="3232547"/>
            <a:ext cx="3819674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Identity Layer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el-1782912285763-32"/>
          <p:cNvSpPr txBox="1"/>
          <p:nvPr/>
        </p:nvSpPr>
        <p:spPr>
          <a:xfrm>
            <a:off x="4867126" y="3442573"/>
            <a:ext cx="2638366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，以 UID+TGID 为过滤键，用 Perfetto 静态血缘做白名单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el-1782912285770-42"/>
          <p:cNvSpPr txBox="1"/>
          <p:nvPr/>
        </p:nvSpPr>
        <p:spPr>
          <a:xfrm>
            <a:off x="4967139" y="3644027"/>
            <a:ext cx="3669655" cy="8108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ts val="1240"/>
              </a:lnSpc>
            </a:pPr>
            <a:r>
              <a:rPr sz="73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实施细节：</a:t>
            </a:r>
            <a:r>
              <a:rPr sz="73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引入 Identity Layer 层，以 (UID, TGID) 复合键作为事件过滤主键，结合 Perfetto 的 </a:t>
            </a:r>
            <a:r>
              <a:rPr sz="65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　　　</a:t>
            </a:r>
            <a:r>
              <a:rPr sz="73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表和 　　　　 表的静态血缘关系构建白名单。具体实现：在 eBPF 事件解析阶段增加 </a:t>
            </a:r>
            <a:r>
              <a:rPr sz="69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　　　　　　　　</a:t>
            </a:r>
            <a:r>
              <a:rPr sz="73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函数，校验当前事件的 UID+TGID 是否在白名单中，并记录 PID 分配时间戳，若检测到 PID 被回收重用（同一 PID 对应不同 UID），则丢弃该事件并写入可疑日志供人工审查。</a:t>
            </a:r>
            <a:endParaRPr sz="73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el-1782912285741-14"/>
          <p:cNvSpPr txBox="1"/>
          <p:nvPr/>
        </p:nvSpPr>
        <p:spPr>
          <a:xfrm>
            <a:off x="400050" y="8419624"/>
            <a:ext cx="53506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el-1782912285741-15"/>
          <p:cNvSpPr txBox="1"/>
          <p:nvPr/>
        </p:nvSpPr>
        <p:spPr>
          <a:xfrm>
            <a:off x="1056561" y="8419624"/>
            <a:ext cx="7911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el-1782912285742-16"/>
          <p:cNvSpPr txBox="1"/>
          <p:nvPr/>
        </p:nvSpPr>
        <p:spPr>
          <a:xfrm>
            <a:off x="1257121" y="8419624"/>
            <a:ext cx="44103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2026.06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el-1782912285730-7"/>
          <p:cNvSpPr txBox="1"/>
          <p:nvPr/>
        </p:nvSpPr>
        <p:spPr>
          <a:xfrm>
            <a:off x="7460486" y="8419624"/>
            <a:ext cx="1333470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第五章 · 实验成果与数据分析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el-1782912285758-22"/>
          <p:cNvCxnSpPr/>
          <p:nvPr/>
        </p:nvCxnSpPr>
        <p:spPr>
          <a:xfrm>
            <a:off x="444972" y="691827"/>
            <a:ext cx="914" cy="186452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el-1782912285796-70"/>
          <p:cNvSpPr/>
          <p:nvPr/>
        </p:nvSpPr>
        <p:spPr>
          <a:xfrm>
            <a:off x="2084283" y="898444"/>
            <a:ext cx="1884878" cy="170021"/>
          </a:xfrm>
          <a:prstGeom prst="roundRect">
            <a:avLst>
              <a:gd name="adj" fmla="val 16807"/>
            </a:avLst>
          </a:prstGeom>
          <a:solidFill>
            <a:srgbClr val="F0F0F3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8" name="el-1782912285799-74"/>
          <p:cNvCxnSpPr/>
          <p:nvPr/>
        </p:nvCxnSpPr>
        <p:spPr>
          <a:xfrm>
            <a:off x="4797748" y="1516930"/>
            <a:ext cx="914" cy="663654"/>
          </a:xfrm>
          <a:prstGeom prst="line">
            <a:avLst/>
          </a:prstGeom>
          <a:ln w="14288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el-1782912285759-23"/>
          <p:cNvCxnSpPr/>
          <p:nvPr/>
        </p:nvCxnSpPr>
        <p:spPr>
          <a:xfrm>
            <a:off x="444972" y="2394897"/>
            <a:ext cx="914" cy="186452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el-1782912285794-67"/>
          <p:cNvSpPr txBox="1"/>
          <p:nvPr/>
        </p:nvSpPr>
        <p:spPr>
          <a:xfrm>
            <a:off x="544984" y="706115"/>
            <a:ext cx="2250013" cy="1578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Ringbuf 丢数据</a:t>
            </a:r>
            <a:endParaRPr sz="95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el-1782912285794-68"/>
          <p:cNvSpPr txBox="1"/>
          <p:nvPr/>
        </p:nvSpPr>
        <p:spPr>
          <a:xfrm>
            <a:off x="2061066" y="669462"/>
            <a:ext cx="1931313" cy="1578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🔴 问题</a:t>
            </a:r>
            <a:endParaRPr sz="730" b="1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el-1782912285795-69"/>
          <p:cNvSpPr txBox="1"/>
          <p:nvPr/>
        </p:nvSpPr>
        <p:spPr>
          <a:xfrm>
            <a:off x="2157774" y="889035"/>
            <a:ext cx="1892022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while(1)</a:t>
            </a:r>
            <a:endParaRPr sz="780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65" name="el-1782912285763-33"/>
          <p:cNvSpPr txBox="1"/>
          <p:nvPr/>
        </p:nvSpPr>
        <p:spPr>
          <a:xfrm>
            <a:off x="2133297" y="1121621"/>
            <a:ext cx="950119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轮询退出过早，底层</a:t>
            </a:r>
            <a:endParaRPr dirty="0"/>
          </a:p>
        </p:txBody>
      </p:sp>
      <p:sp>
        <p:nvSpPr>
          <p:cNvPr id="66" name="el-1782912285797-71"/>
          <p:cNvSpPr txBox="1"/>
          <p:nvPr/>
        </p:nvSpPr>
        <p:spPr>
          <a:xfrm>
            <a:off x="2126661" y="1289649"/>
            <a:ext cx="1892022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fflush</a:t>
            </a:r>
            <a:endParaRPr sz="780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67" name="el-1782912285763-34"/>
          <p:cNvSpPr txBox="1"/>
          <p:nvPr/>
        </p:nvSpPr>
        <p:spPr>
          <a:xfrm>
            <a:off x="2113853" y="1486626"/>
            <a:ext cx="104691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未完成导致</a:t>
            </a:r>
            <a:r>
              <a:rPr sz="78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trace </a:t>
            </a:r>
            <a:r>
              <a:rPr sz="78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截断</a:t>
            </a:r>
            <a:endParaRPr dirty="0"/>
          </a:p>
        </p:txBody>
      </p:sp>
      <p:sp>
        <p:nvSpPr>
          <p:cNvPr id="68" name="el-1782912285798-72"/>
          <p:cNvSpPr txBox="1"/>
          <p:nvPr/>
        </p:nvSpPr>
        <p:spPr>
          <a:xfrm>
            <a:off x="4790604" y="706115"/>
            <a:ext cx="3816102" cy="1578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 解决方案</a:t>
            </a:r>
            <a:endParaRPr sz="730" b="1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el-1782912285763-35"/>
          <p:cNvSpPr txBox="1"/>
          <p:nvPr/>
        </p:nvSpPr>
        <p:spPr>
          <a:xfrm>
            <a:off x="4790604" y="918284"/>
            <a:ext cx="950119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修正退出生命周期</a:t>
            </a:r>
            <a:r>
              <a:rPr sz="78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dirty="0"/>
          </a:p>
        </p:txBody>
      </p:sp>
      <p:sp>
        <p:nvSpPr>
          <p:cNvPr id="70" name="el-1782912285798-73"/>
          <p:cNvSpPr txBox="1"/>
          <p:nvPr/>
        </p:nvSpPr>
        <p:spPr>
          <a:xfrm>
            <a:off x="4790604" y="1105450"/>
            <a:ext cx="3819674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 fflush 落盘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el-1782912285763-36"/>
          <p:cNvSpPr txBox="1"/>
          <p:nvPr/>
        </p:nvSpPr>
        <p:spPr>
          <a:xfrm>
            <a:off x="4790604" y="1315477"/>
            <a:ext cx="950119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，确保高频事件完整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el-1782912285772-43"/>
          <p:cNvSpPr txBox="1"/>
          <p:nvPr/>
        </p:nvSpPr>
        <p:spPr>
          <a:xfrm>
            <a:off x="4890617" y="1516930"/>
            <a:ext cx="3669655" cy="663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ts val="1240"/>
              </a:lnSpc>
            </a:pPr>
            <a:r>
              <a:rPr sz="73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实施细节：</a:t>
            </a:r>
            <a:r>
              <a:rPr sz="73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 </a:t>
            </a:r>
            <a:r>
              <a:rPr sz="6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　　　　</a:t>
            </a:r>
            <a:r>
              <a:rPr sz="73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轮询循环中每次写入 ringbuf 数据后立即调用 </a:t>
            </a:r>
            <a:r>
              <a:rPr sz="6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　　　　</a:t>
            </a:r>
            <a:r>
              <a:rPr sz="73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强制刷盘，同时增加环形缓冲区水位监控——当缓冲区使用率超过 80% 时自动增大读取批次。在采集结束前增加 </a:t>
            </a:r>
            <a:r>
              <a:rPr sz="61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　　</a:t>
            </a:r>
            <a:r>
              <a:rPr sz="73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阶段，持续轮询直到 ringbuf 为空且确认所有数据已写入 </a:t>
            </a:r>
            <a:r>
              <a:rPr sz="64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　　　　　</a:t>
            </a:r>
            <a:r>
              <a:rPr sz="73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文件，最后验证文件 CRC 校验和确保完整性。</a:t>
            </a:r>
            <a:endParaRPr sz="73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el-1782912285800-75"/>
          <p:cNvSpPr txBox="1"/>
          <p:nvPr/>
        </p:nvSpPr>
        <p:spPr>
          <a:xfrm>
            <a:off x="5503908" y="1562650"/>
            <a:ext cx="483007" cy="971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while(1)</a:t>
            </a:r>
            <a:endParaRPr sz="670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74" name="el-1782912285802-76"/>
          <p:cNvSpPr txBox="1"/>
          <p:nvPr/>
        </p:nvSpPr>
        <p:spPr>
          <a:xfrm>
            <a:off x="7891875" y="1602655"/>
            <a:ext cx="483007" cy="971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dirty="0" err="1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fflush</a:t>
            </a:r>
            <a:r>
              <a:rPr sz="670" dirty="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()</a:t>
            </a:r>
            <a:endParaRPr dirty="0"/>
          </a:p>
        </p:txBody>
      </p:sp>
      <p:sp>
        <p:nvSpPr>
          <p:cNvPr id="75" name="el-1782912285805-77"/>
          <p:cNvSpPr txBox="1"/>
          <p:nvPr/>
        </p:nvSpPr>
        <p:spPr>
          <a:xfrm>
            <a:off x="5676965" y="1890190"/>
            <a:ext cx="328702" cy="971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dirty="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drain</a:t>
            </a:r>
            <a:endParaRPr dirty="0"/>
          </a:p>
        </p:txBody>
      </p:sp>
      <p:sp>
        <p:nvSpPr>
          <p:cNvPr id="76" name="el-1782912285806-78"/>
          <p:cNvSpPr txBox="1"/>
          <p:nvPr/>
        </p:nvSpPr>
        <p:spPr>
          <a:xfrm>
            <a:off x="8313767" y="1901263"/>
            <a:ext cx="585877" cy="971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dirty="0" err="1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events.bin</a:t>
            </a:r>
            <a:endParaRPr dirty="0"/>
          </a:p>
        </p:txBody>
      </p:sp>
      <p:sp>
        <p:nvSpPr>
          <p:cNvPr id="77" name="el-1782912285807-79"/>
          <p:cNvSpPr txBox="1"/>
          <p:nvPr/>
        </p:nvSpPr>
        <p:spPr>
          <a:xfrm>
            <a:off x="537294" y="2433940"/>
            <a:ext cx="2250013" cy="1578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时钟域对齐</a:t>
            </a:r>
            <a:endParaRPr dirty="0"/>
          </a:p>
        </p:txBody>
      </p:sp>
      <p:sp>
        <p:nvSpPr>
          <p:cNvPr id="78" name="el-1782912285807-80"/>
          <p:cNvSpPr txBox="1"/>
          <p:nvPr/>
        </p:nvSpPr>
        <p:spPr>
          <a:xfrm>
            <a:off x="2113853" y="2353423"/>
            <a:ext cx="1931313" cy="1578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 spc="17" dirty="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🔴 </a:t>
            </a:r>
            <a:r>
              <a:rPr sz="730" b="1" spc="17" dirty="0" err="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dirty="0"/>
          </a:p>
        </p:txBody>
      </p:sp>
      <p:sp>
        <p:nvSpPr>
          <p:cNvPr id="79" name="el-1782912285764-37"/>
          <p:cNvSpPr txBox="1"/>
          <p:nvPr/>
        </p:nvSpPr>
        <p:spPr>
          <a:xfrm>
            <a:off x="2159292" y="2552774"/>
            <a:ext cx="413445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eBPF</a:t>
            </a:r>
            <a:r>
              <a:rPr sz="78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用</a:t>
            </a:r>
            <a:endParaRPr dirty="0"/>
          </a:p>
        </p:txBody>
      </p:sp>
      <p:sp>
        <p:nvSpPr>
          <p:cNvPr id="80" name="el-1782912285808-81"/>
          <p:cNvSpPr txBox="1"/>
          <p:nvPr/>
        </p:nvSpPr>
        <p:spPr>
          <a:xfrm>
            <a:off x="2632048" y="2538303"/>
            <a:ext cx="1892022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dirty="0" err="1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bpf_ktime_get_boot_ns</a:t>
            </a:r>
            <a:r>
              <a:rPr sz="780" dirty="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()</a:t>
            </a:r>
            <a:endParaRPr dirty="0"/>
          </a:p>
        </p:txBody>
      </p:sp>
      <p:sp>
        <p:nvSpPr>
          <p:cNvPr id="81" name="el-1782912285764-38"/>
          <p:cNvSpPr txBox="1"/>
          <p:nvPr/>
        </p:nvSpPr>
        <p:spPr>
          <a:xfrm>
            <a:off x="2114105" y="2951811"/>
            <a:ext cx="1928991" cy="3071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，Perfetto 用 </a:t>
            </a:r>
            <a:r>
              <a:rPr sz="78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BootTime</a:t>
            </a:r>
            <a:r>
              <a:rPr sz="780" dirty="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sz="780" dirty="0" err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必须一致才能对齐</a:t>
            </a:r>
            <a:endParaRPr dirty="0"/>
          </a:p>
        </p:txBody>
      </p:sp>
      <p:sp>
        <p:nvSpPr>
          <p:cNvPr id="82" name="el-1782912285810-82"/>
          <p:cNvSpPr txBox="1"/>
          <p:nvPr/>
        </p:nvSpPr>
        <p:spPr>
          <a:xfrm>
            <a:off x="4790604" y="2409185"/>
            <a:ext cx="3816102" cy="1578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 spc="17" dirty="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 </a:t>
            </a:r>
            <a:r>
              <a:rPr sz="730" b="1" spc="17" dirty="0" err="1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解决方案</a:t>
            </a:r>
            <a:endParaRPr dirty="0"/>
          </a:p>
        </p:txBody>
      </p:sp>
      <p:sp>
        <p:nvSpPr>
          <p:cNvPr id="83" name="el-1782912285764-39"/>
          <p:cNvSpPr txBox="1"/>
          <p:nvPr/>
        </p:nvSpPr>
        <p:spPr>
          <a:xfrm>
            <a:off x="4790604" y="2621354"/>
            <a:ext cx="886361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 BPF 侧统一使用</a:t>
            </a:r>
            <a:endParaRPr sz="78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el-1782912285810-83"/>
          <p:cNvSpPr txBox="1"/>
          <p:nvPr/>
        </p:nvSpPr>
        <p:spPr>
          <a:xfrm>
            <a:off x="2135329" y="2753738"/>
            <a:ext cx="3819674" cy="1700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 dirty="0" err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bpf_ktime_get_boot_ns</a:t>
            </a:r>
            <a:r>
              <a:rPr sz="780" b="1" dirty="0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()</a:t>
            </a:r>
            <a:endParaRPr dirty="0"/>
          </a:p>
        </p:txBody>
      </p:sp>
      <p:sp>
        <p:nvSpPr>
          <p:cNvPr id="87" name="el-1782912285813-85"/>
          <p:cNvSpPr txBox="1"/>
          <p:nvPr/>
        </p:nvSpPr>
        <p:spPr>
          <a:xfrm>
            <a:off x="6187654" y="3265720"/>
            <a:ext cx="1254710" cy="971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bpf_ktime_get_boot_ns()</a:t>
            </a:r>
            <a:endParaRPr sz="670">
              <a:solidFill>
                <a:srgbClr val="1A1A2E"/>
              </a:solidFill>
              <a:latin typeface="Courier New" panose="02070409020205090404"/>
              <a:ea typeface="Courier New" panose="02070409020205090404"/>
              <a:cs typeface="Courier New" panose="02070409020205090404"/>
            </a:endParaRPr>
          </a:p>
        </p:txBody>
      </p:sp>
      <p:sp>
        <p:nvSpPr>
          <p:cNvPr id="88" name="el-1782912285814-86"/>
          <p:cNvSpPr txBox="1"/>
          <p:nvPr/>
        </p:nvSpPr>
        <p:spPr>
          <a:xfrm>
            <a:off x="7905481" y="3426455"/>
            <a:ext cx="791706" cy="971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dirty="0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CLOCK_BOOTTIME</a:t>
            </a:r>
            <a:endParaRPr dirty="0"/>
          </a:p>
        </p:txBody>
      </p:sp>
      <p:sp>
        <p:nvSpPr>
          <p:cNvPr id="89" name="el-1782912285816-87"/>
          <p:cNvSpPr txBox="1"/>
          <p:nvPr/>
        </p:nvSpPr>
        <p:spPr>
          <a:xfrm>
            <a:off x="8382934" y="3574456"/>
            <a:ext cx="688836" cy="971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dirty="0" err="1">
                <a:solidFill>
                  <a:srgbClr val="1A1A2E"/>
                </a:solidFill>
                <a:latin typeface="Courier New" panose="02070409020205090404"/>
                <a:ea typeface="Courier New" panose="02070409020205090404"/>
                <a:cs typeface="Courier New" panose="02070409020205090404"/>
              </a:rPr>
              <a:t>sched_switch</a:t>
            </a:r>
            <a:endParaRPr dirty="0"/>
          </a:p>
        </p:txBody>
      </p:sp>
      <p:cxnSp>
        <p:nvCxnSpPr>
          <p:cNvPr id="30" name="el-1782912285811-84"/>
          <p:cNvCxnSpPr/>
          <p:nvPr/>
        </p:nvCxnSpPr>
        <p:spPr>
          <a:xfrm>
            <a:off x="4753700" y="3212267"/>
            <a:ext cx="914" cy="821531"/>
          </a:xfrm>
          <a:prstGeom prst="line">
            <a:avLst/>
          </a:prstGeom>
          <a:ln w="14288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el-1782912285775-44"/>
          <p:cNvSpPr txBox="1"/>
          <p:nvPr/>
        </p:nvSpPr>
        <p:spPr>
          <a:xfrm>
            <a:off x="4890616" y="3183500"/>
            <a:ext cx="3669655" cy="8215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ts val="1240"/>
              </a:lnSpc>
            </a:pPr>
            <a:r>
              <a:rPr sz="730" b="1" dirty="0" err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实施细节：</a:t>
            </a:r>
            <a:r>
              <a:rPr sz="730" dirty="0" err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sz="73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BPF </a:t>
            </a:r>
            <a:r>
              <a:rPr sz="730" dirty="0" err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侧统一使用</a:t>
            </a:r>
            <a:r>
              <a:rPr sz="73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69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　　　　　　　　　　　　</a:t>
            </a:r>
            <a:r>
              <a:rPr sz="73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730" dirty="0" err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获取时间戳，该函数返回自系统启动以来的纳秒数且不受</a:t>
            </a:r>
            <a:r>
              <a:rPr sz="73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suspend </a:t>
            </a:r>
            <a:r>
              <a:rPr sz="730" dirty="0" err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影响，与</a:t>
            </a:r>
            <a:r>
              <a:rPr sz="73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Perfetto 的 </a:t>
            </a:r>
            <a:r>
              <a:rPr sz="730" dirty="0" err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BootTime</a:t>
            </a:r>
            <a:r>
              <a:rPr sz="73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68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　　　　　　　</a:t>
            </a:r>
            <a:r>
              <a:rPr sz="73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730" dirty="0" err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时钟源完全一致。验证方法：在</a:t>
            </a:r>
            <a:r>
              <a:rPr sz="73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730" dirty="0" err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eBPF</a:t>
            </a:r>
            <a:r>
              <a:rPr sz="73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730" dirty="0" err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事件流和</a:t>
            </a:r>
            <a:r>
              <a:rPr sz="73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Perfetto trace </a:t>
            </a:r>
            <a:r>
              <a:rPr sz="730" dirty="0" err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中各选取一个已知的</a:t>
            </a:r>
            <a:r>
              <a:rPr sz="73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66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　　　　　　</a:t>
            </a:r>
            <a:r>
              <a:rPr sz="73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730" dirty="0" err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事件，对比其时间戳差值应小于</a:t>
            </a:r>
            <a:r>
              <a:rPr sz="73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1μs。实际测试中双通道时间戳偏差在 200ns </a:t>
            </a:r>
            <a:r>
              <a:rPr sz="730" dirty="0" err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以内，满足帧级对齐精度要求</a:t>
            </a:r>
            <a:r>
              <a:rPr sz="730" dirty="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2912285840-1"/>
          <p:cNvSpPr/>
          <p:nvPr/>
        </p:nvSpPr>
        <p:spPr>
          <a:xfrm>
            <a:off x="0" y="0"/>
            <a:ext cx="9144000" cy="4000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2912285842-3"/>
          <p:cNvCxnSpPr/>
          <p:nvPr/>
        </p:nvCxnSpPr>
        <p:spPr>
          <a:xfrm>
            <a:off x="0" y="396478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2912285855-14"/>
          <p:cNvCxnSpPr/>
          <p:nvPr/>
        </p:nvCxnSpPr>
        <p:spPr>
          <a:xfrm>
            <a:off x="414338" y="540782"/>
            <a:ext cx="914" cy="137160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2912285854-10"/>
          <p:cNvSpPr/>
          <p:nvPr/>
        </p:nvSpPr>
        <p:spPr>
          <a:xfrm>
            <a:off x="7077224" y="532209"/>
            <a:ext cx="1666726" cy="154305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2912285861-18"/>
          <p:cNvSpPr/>
          <p:nvPr/>
        </p:nvSpPr>
        <p:spPr>
          <a:xfrm>
            <a:off x="400050" y="780812"/>
            <a:ext cx="2867859" cy="3443288"/>
          </a:xfrm>
          <a:prstGeom prst="roundRect">
            <a:avLst>
              <a:gd name="adj" fmla="val 2657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2912285886-34"/>
          <p:cNvCxnSpPr/>
          <p:nvPr/>
        </p:nvCxnSpPr>
        <p:spPr>
          <a:xfrm>
            <a:off x="507206" y="845106"/>
            <a:ext cx="914" cy="154305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2912285894-39"/>
          <p:cNvSpPr/>
          <p:nvPr/>
        </p:nvSpPr>
        <p:spPr>
          <a:xfrm>
            <a:off x="2839462" y="865108"/>
            <a:ext cx="335578" cy="11430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2912285862-19"/>
          <p:cNvSpPr/>
          <p:nvPr/>
        </p:nvSpPr>
        <p:spPr>
          <a:xfrm>
            <a:off x="3325059" y="780812"/>
            <a:ext cx="2867859" cy="3443288"/>
          </a:xfrm>
          <a:prstGeom prst="roundRect">
            <a:avLst>
              <a:gd name="adj" fmla="val 2657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2912285887-35"/>
          <p:cNvCxnSpPr/>
          <p:nvPr/>
        </p:nvCxnSpPr>
        <p:spPr>
          <a:xfrm>
            <a:off x="3432215" y="845106"/>
            <a:ext cx="914" cy="154305"/>
          </a:xfrm>
          <a:prstGeom prst="line">
            <a:avLst/>
          </a:prstGeom>
          <a:ln w="28575" cap="flat">
            <a:solidFill>
              <a:srgbClr val="D4A017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2912285895-41"/>
          <p:cNvSpPr/>
          <p:nvPr/>
        </p:nvSpPr>
        <p:spPr>
          <a:xfrm>
            <a:off x="5764470" y="865108"/>
            <a:ext cx="335578" cy="11430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2" name="el-1782912285873-25"/>
          <p:cNvCxnSpPr/>
          <p:nvPr/>
        </p:nvCxnSpPr>
        <p:spPr>
          <a:xfrm>
            <a:off x="3417927" y="2196703"/>
            <a:ext cx="2682121" cy="914"/>
          </a:xfrm>
          <a:prstGeom prst="line">
            <a:avLst/>
          </a:prstGeom>
          <a:ln w="7144" cap="flat">
            <a:solidFill>
              <a:srgbClr val="EDED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2912285863-20"/>
          <p:cNvSpPr/>
          <p:nvPr/>
        </p:nvSpPr>
        <p:spPr>
          <a:xfrm>
            <a:off x="6250067" y="780812"/>
            <a:ext cx="2493883" cy="344328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7710" y="0"/>
                </a:lnTo>
                <a:lnTo>
                  <a:pt x="97935" y="8"/>
                </a:lnTo>
                <a:lnTo>
                  <a:pt x="98156" y="33"/>
                </a:lnTo>
                <a:lnTo>
                  <a:pt x="98374" y="72"/>
                </a:lnTo>
                <a:lnTo>
                  <a:pt x="98588" y="127"/>
                </a:lnTo>
                <a:lnTo>
                  <a:pt x="98790" y="196"/>
                </a:lnTo>
                <a:lnTo>
                  <a:pt x="98981" y="279"/>
                </a:lnTo>
                <a:lnTo>
                  <a:pt x="99164" y="376"/>
                </a:lnTo>
                <a:lnTo>
                  <a:pt x="99328" y="486"/>
                </a:lnTo>
                <a:lnTo>
                  <a:pt x="99481" y="605"/>
                </a:lnTo>
                <a:lnTo>
                  <a:pt x="99615" y="738"/>
                </a:lnTo>
                <a:lnTo>
                  <a:pt x="99729" y="876"/>
                </a:lnTo>
                <a:lnTo>
                  <a:pt x="99824" y="1022"/>
                </a:lnTo>
                <a:lnTo>
                  <a:pt x="99901" y="1177"/>
                </a:lnTo>
                <a:lnTo>
                  <a:pt x="99954" y="1334"/>
                </a:lnTo>
                <a:lnTo>
                  <a:pt x="99989" y="1494"/>
                </a:lnTo>
                <a:lnTo>
                  <a:pt x="100000" y="1657"/>
                </a:lnTo>
                <a:lnTo>
                  <a:pt x="100000" y="98343"/>
                </a:lnTo>
                <a:lnTo>
                  <a:pt x="99989" y="98506"/>
                </a:lnTo>
                <a:lnTo>
                  <a:pt x="99954" y="98666"/>
                </a:lnTo>
                <a:lnTo>
                  <a:pt x="99901" y="98823"/>
                </a:lnTo>
                <a:lnTo>
                  <a:pt x="99824" y="98978"/>
                </a:lnTo>
                <a:lnTo>
                  <a:pt x="99729" y="99124"/>
                </a:lnTo>
                <a:lnTo>
                  <a:pt x="99615" y="99262"/>
                </a:lnTo>
                <a:lnTo>
                  <a:pt x="99481" y="99395"/>
                </a:lnTo>
                <a:lnTo>
                  <a:pt x="99328" y="99514"/>
                </a:lnTo>
                <a:lnTo>
                  <a:pt x="99164" y="99624"/>
                </a:lnTo>
                <a:lnTo>
                  <a:pt x="98981" y="99721"/>
                </a:lnTo>
                <a:lnTo>
                  <a:pt x="98790" y="99804"/>
                </a:lnTo>
                <a:lnTo>
                  <a:pt x="98588" y="99873"/>
                </a:lnTo>
                <a:lnTo>
                  <a:pt x="98374" y="99928"/>
                </a:lnTo>
                <a:lnTo>
                  <a:pt x="98156" y="99967"/>
                </a:lnTo>
                <a:lnTo>
                  <a:pt x="97935" y="99992"/>
                </a:lnTo>
                <a:lnTo>
                  <a:pt x="97710" y="100000"/>
                </a:lnTo>
                <a:lnTo>
                  <a:pt x="0" y="100000"/>
                </a:lnTo>
                <a:lnTo>
                  <a:pt x="0" y="0"/>
                </a:lnTo>
                <a:close/>
              </a:path>
            </a:pathLst>
          </a:custGeom>
          <a:solidFill>
            <a:srgbClr val="EDED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2912285868-24"/>
          <p:cNvSpPr/>
          <p:nvPr/>
        </p:nvSpPr>
        <p:spPr>
          <a:xfrm>
            <a:off x="6250067" y="780812"/>
            <a:ext cx="2493883" cy="344328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100000"/>
                </a:moveTo>
                <a:lnTo>
                  <a:pt x="0" y="0"/>
                </a:lnTo>
              </a:path>
            </a:pathLst>
          </a:custGeom>
          <a:noFill/>
          <a:ln w="35719" algn="in">
            <a:solidFill>
              <a:srgbClr val="D4A017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2912285915-67"/>
          <p:cNvSpPr/>
          <p:nvPr/>
        </p:nvSpPr>
        <p:spPr>
          <a:xfrm>
            <a:off x="6385798" y="1032272"/>
            <a:ext cx="200204" cy="139303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2912285917-70"/>
          <p:cNvSpPr/>
          <p:nvPr/>
        </p:nvSpPr>
        <p:spPr>
          <a:xfrm>
            <a:off x="6385798" y="1510903"/>
            <a:ext cx="200204" cy="139303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2912285920-73"/>
          <p:cNvSpPr/>
          <p:nvPr/>
        </p:nvSpPr>
        <p:spPr>
          <a:xfrm>
            <a:off x="6385798" y="1839516"/>
            <a:ext cx="200204" cy="139303"/>
          </a:xfrm>
          <a:prstGeom prst="roundRect">
            <a:avLst>
              <a:gd name="adj" fmla="val 50000"/>
            </a:avLst>
          </a:prstGeom>
          <a:solidFill>
            <a:srgbClr val="2D4059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2912285865-21"/>
          <p:cNvSpPr/>
          <p:nvPr/>
        </p:nvSpPr>
        <p:spPr>
          <a:xfrm>
            <a:off x="400050" y="4281249"/>
            <a:ext cx="2724091" cy="524351"/>
          </a:xfrm>
          <a:prstGeom prst="roundRect">
            <a:avLst>
              <a:gd name="adj" fmla="val 14532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el-1782912285866-22"/>
          <p:cNvSpPr/>
          <p:nvPr/>
        </p:nvSpPr>
        <p:spPr>
          <a:xfrm>
            <a:off x="3209866" y="4281249"/>
            <a:ext cx="2724180" cy="524351"/>
          </a:xfrm>
          <a:prstGeom prst="roundRect">
            <a:avLst>
              <a:gd name="adj" fmla="val 14532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el-1782912285867-23"/>
          <p:cNvSpPr/>
          <p:nvPr/>
        </p:nvSpPr>
        <p:spPr>
          <a:xfrm>
            <a:off x="6019770" y="4281249"/>
            <a:ext cx="2724180" cy="524351"/>
          </a:xfrm>
          <a:prstGeom prst="roundRect">
            <a:avLst>
              <a:gd name="adj" fmla="val 14532"/>
            </a:avLst>
          </a:prstGeom>
          <a:solidFill>
            <a:srgbClr val="FFFFFF"/>
          </a:solidFill>
          <a:ln w="7144" algn="in">
            <a:solidFill>
              <a:srgbClr val="D0D0D8"/>
            </a:solidFill>
            <a:prstDash val="solid"/>
          </a:ln>
        </p:spPr>
        <p:txBody>
          <a:bodyPr/>
          <a:lstStyle/>
          <a:p/>
        </p:txBody>
      </p:sp>
      <p:sp>
        <p:nvSpPr>
          <p:cNvPr id="21" name="el-1782912285841-2"/>
          <p:cNvSpPr/>
          <p:nvPr/>
        </p:nvSpPr>
        <p:spPr>
          <a:xfrm>
            <a:off x="0" y="4886325"/>
            <a:ext cx="9144000" cy="2571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2" name="el-1782912285843-4"/>
          <p:cNvCxnSpPr/>
          <p:nvPr/>
        </p:nvCxnSpPr>
        <p:spPr>
          <a:xfrm>
            <a:off x="0" y="4889897"/>
            <a:ext cx="9144000" cy="914"/>
          </a:xfrm>
          <a:prstGeom prst="line">
            <a:avLst/>
          </a:prstGeom>
          <a:ln w="7144" cap="flat">
            <a:solidFill>
              <a:srgbClr val="D0D0D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l-1782912285845-5"/>
          <p:cNvSpPr txBox="1"/>
          <p:nvPr/>
        </p:nvSpPr>
        <p:spPr>
          <a:xfrm>
            <a:off x="400050" y="122158"/>
            <a:ext cx="51488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2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</a:t>
            </a:r>
            <a:r>
              <a:rPr sz="6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900" b="1" spc="28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37</a:t>
            </a:r>
            <a:endParaRPr sz="900" b="1" spc="28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2912285854-11"/>
          <p:cNvSpPr txBox="1"/>
          <p:nvPr/>
        </p:nvSpPr>
        <p:spPr>
          <a:xfrm>
            <a:off x="1086386" y="122158"/>
            <a:ext cx="62865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总结与展望</a:t>
            </a:r>
            <a:endParaRPr sz="90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2912285854-12"/>
          <p:cNvSpPr txBox="1"/>
          <p:nvPr/>
        </p:nvSpPr>
        <p:spPr>
          <a:xfrm>
            <a:off x="1715036" y="122158"/>
            <a:ext cx="96619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D0D0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900">
              <a:solidFill>
                <a:srgbClr val="D0D0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2912285855-13"/>
          <p:cNvSpPr txBox="1"/>
          <p:nvPr/>
        </p:nvSpPr>
        <p:spPr>
          <a:xfrm>
            <a:off x="1811655" y="122158"/>
            <a:ext cx="628650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总结与展望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2912285851-7"/>
          <p:cNvSpPr txBox="1"/>
          <p:nvPr/>
        </p:nvSpPr>
        <p:spPr>
          <a:xfrm>
            <a:off x="528638" y="540782"/>
            <a:ext cx="740182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 spc="56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▎总结与展望</a:t>
            </a:r>
            <a:endParaRPr sz="900" b="1" spc="56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2912285851-8"/>
          <p:cNvSpPr txBox="1"/>
          <p:nvPr/>
        </p:nvSpPr>
        <p:spPr>
          <a:xfrm>
            <a:off x="1325969" y="495062"/>
            <a:ext cx="935831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50" b="1" spc="-1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总结与展望</a:t>
            </a:r>
            <a:endParaRPr sz="1350" b="1" spc="-1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2912285852-9"/>
          <p:cNvSpPr txBox="1"/>
          <p:nvPr/>
        </p:nvSpPr>
        <p:spPr>
          <a:xfrm>
            <a:off x="7191524" y="546497"/>
            <a:ext cx="1598861" cy="1257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 6 项成果 · 4 条发现 · 3 项贡献</a:t>
            </a:r>
            <a:endParaRPr sz="73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2912285889-36"/>
          <p:cNvSpPr txBox="1"/>
          <p:nvPr/>
        </p:nvSpPr>
        <p:spPr>
          <a:xfrm>
            <a:off x="592931" y="850821"/>
            <a:ext cx="93395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🛠️ 我们做了什么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2912285892-38"/>
          <p:cNvSpPr txBox="1"/>
          <p:nvPr/>
        </p:nvSpPr>
        <p:spPr>
          <a:xfrm>
            <a:off x="2925187" y="865108"/>
            <a:ext cx="29271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项</a:t>
            </a:r>
            <a:endParaRPr sz="67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82912285908-52"/>
          <p:cNvSpPr txBox="1"/>
          <p:nvPr/>
        </p:nvSpPr>
        <p:spPr>
          <a:xfrm>
            <a:off x="507206" y="1042273"/>
            <a:ext cx="192881" cy="1450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82912285932-75"/>
          <p:cNvSpPr txBox="1"/>
          <p:nvPr/>
        </p:nvSpPr>
        <p:spPr>
          <a:xfrm>
            <a:off x="692944" y="1042273"/>
            <a:ext cx="2482096" cy="2900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3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eBPF + Perfetto 双通道采集，覆盖 </a:t>
            </a: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五大场景</a:t>
            </a: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（页面/视频/信息流/相机/游戏）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2912285937-80"/>
          <p:cNvSpPr txBox="1"/>
          <p:nvPr/>
        </p:nvSpPr>
        <p:spPr>
          <a:xfrm>
            <a:off x="907256" y="1332309"/>
            <a:ext cx="2267784" cy="2600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20"/>
              </a:lnSpc>
            </a:pPr>
            <a:r>
              <a:rPr sz="73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 Pixel 6a 上完成 30s~60s 多轮采集，累计产生 7.8GB 原始事件数据</a:t>
            </a:r>
            <a:endParaRPr sz="73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82912285908-53"/>
          <p:cNvSpPr txBox="1"/>
          <p:nvPr/>
        </p:nvSpPr>
        <p:spPr>
          <a:xfrm>
            <a:off x="507206" y="1613773"/>
            <a:ext cx="192881" cy="1450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82912285933-76"/>
          <p:cNvSpPr txBox="1"/>
          <p:nvPr/>
        </p:nvSpPr>
        <p:spPr>
          <a:xfrm>
            <a:off x="692944" y="1613773"/>
            <a:ext cx="2482096" cy="2900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3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帧对齐 + 依赖图构建，最高 </a:t>
            </a: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60K 节点</a:t>
            </a: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图，两条独立验证路径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l-1782912285938-81"/>
          <p:cNvSpPr txBox="1"/>
          <p:nvPr/>
        </p:nvSpPr>
        <p:spPr>
          <a:xfrm>
            <a:off x="907256" y="1903809"/>
            <a:ext cx="2267784" cy="2600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20"/>
              </a:lnSpc>
            </a:pPr>
            <a:r>
              <a:rPr sz="73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 Perfetto SQL 帧边界提取 + eBPF 事件窗口匹配 + 依赖继承机制，双路径互校验确保根因定位准确</a:t>
            </a:r>
            <a:endParaRPr sz="73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el-1782912285909-54"/>
          <p:cNvSpPr txBox="1"/>
          <p:nvPr/>
        </p:nvSpPr>
        <p:spPr>
          <a:xfrm>
            <a:off x="507206" y="2185273"/>
            <a:ext cx="192881" cy="1450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el-1782912285934-77"/>
          <p:cNvSpPr txBox="1"/>
          <p:nvPr/>
        </p:nvSpPr>
        <p:spPr>
          <a:xfrm>
            <a:off x="692944" y="2185273"/>
            <a:ext cx="2532102" cy="1450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维特征 + 决策树分类，端到端 </a:t>
            </a: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Jank 根因自动分类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l-1782912285939-82"/>
          <p:cNvSpPr txBox="1"/>
          <p:nvPr/>
        </p:nvSpPr>
        <p:spPr>
          <a:xfrm>
            <a:off x="907256" y="2330291"/>
            <a:ext cx="2267784" cy="2600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20"/>
              </a:lnSpc>
            </a:pPr>
            <a:r>
              <a:rPr sz="73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 CriticalScore 7 项加权公式提取特征，训练决策树模型实现 CPU_CONTENTION 等 5 类根因自动分类</a:t>
            </a:r>
            <a:endParaRPr sz="73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el-1782912285909-55"/>
          <p:cNvSpPr txBox="1"/>
          <p:nvPr/>
        </p:nvSpPr>
        <p:spPr>
          <a:xfrm>
            <a:off x="507206" y="2611755"/>
            <a:ext cx="192881" cy="1450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el-1782912285939-83"/>
          <p:cNvSpPr txBox="1"/>
          <p:nvPr/>
        </p:nvSpPr>
        <p:spPr>
          <a:xfrm>
            <a:off x="692944" y="2611755"/>
            <a:ext cx="2482096" cy="2900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3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Hint Engine 五层安全防护（TTL / 自旋 / 黑名单 / 阈值 / 审计）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el-1782912285940-84"/>
          <p:cNvSpPr txBox="1"/>
          <p:nvPr/>
        </p:nvSpPr>
        <p:spPr>
          <a:xfrm>
            <a:off x="907256" y="2901791"/>
            <a:ext cx="2267784" cy="2600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20"/>
              </a:lnSpc>
            </a:pPr>
            <a:r>
              <a:rPr sz="73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TTL=16ms 自动回滚 + 自旋检测 + 线程黑名单 + 置信度分级 + 全量 audit 日志，确保生产环境安全</a:t>
            </a:r>
            <a:endParaRPr sz="73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l-1782912285909-56"/>
          <p:cNvSpPr txBox="1"/>
          <p:nvPr/>
        </p:nvSpPr>
        <p:spPr>
          <a:xfrm>
            <a:off x="507206" y="3183255"/>
            <a:ext cx="192881" cy="1450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el-1782912285935-78"/>
          <p:cNvSpPr txBox="1"/>
          <p:nvPr/>
        </p:nvSpPr>
        <p:spPr>
          <a:xfrm>
            <a:off x="692944" y="3183255"/>
            <a:ext cx="2482096" cy="2900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3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Camera 全自动 </a:t>
            </a: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Pipeline</a:t>
            </a: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：30s 采集 → 9 步分析 → 750 行报告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el-1782912285941-85"/>
          <p:cNvSpPr txBox="1"/>
          <p:nvPr/>
        </p:nvSpPr>
        <p:spPr>
          <a:xfrm>
            <a:off x="907256" y="3473291"/>
            <a:ext cx="2267784" cy="2600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20"/>
              </a:lnSpc>
            </a:pPr>
            <a:r>
              <a:rPr sz="73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 auto_run.py 一键启动到 460 万事件处理完成，全流程自动化无需人工干预</a:t>
            </a:r>
            <a:endParaRPr sz="73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el-1782912285910-57"/>
          <p:cNvSpPr txBox="1"/>
          <p:nvPr/>
        </p:nvSpPr>
        <p:spPr>
          <a:xfrm>
            <a:off x="507206" y="3754755"/>
            <a:ext cx="192881" cy="1450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el-1782912285936-79"/>
          <p:cNvSpPr txBox="1"/>
          <p:nvPr/>
        </p:nvSpPr>
        <p:spPr>
          <a:xfrm>
            <a:off x="692944" y="3754755"/>
            <a:ext cx="2532102" cy="1450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个测试脚本覆盖 eBPF 探针 → 决策树 </a:t>
            </a: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全链路校验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el-1782912285942-86"/>
          <p:cNvSpPr txBox="1"/>
          <p:nvPr/>
        </p:nvSpPr>
        <p:spPr>
          <a:xfrm>
            <a:off x="907256" y="3899773"/>
            <a:ext cx="2267784" cy="2600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20"/>
              </a:lnSpc>
            </a:pPr>
            <a:r>
              <a:rPr sz="73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覆盖探针加载、数据采集、帧对齐、图构建、CriticalScore 计算、Hint 生成的每个环节</a:t>
            </a:r>
            <a:endParaRPr sz="73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el-1782912285890-37"/>
          <p:cNvSpPr txBox="1"/>
          <p:nvPr/>
        </p:nvSpPr>
        <p:spPr>
          <a:xfrm>
            <a:off x="3517940" y="850821"/>
            <a:ext cx="1048256" cy="1485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🔍 我们发现了什么</a:t>
            </a:r>
            <a:endParaRPr sz="9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el-1782912285894-40"/>
          <p:cNvSpPr txBox="1"/>
          <p:nvPr/>
        </p:nvSpPr>
        <p:spPr>
          <a:xfrm>
            <a:off x="5850195" y="865108"/>
            <a:ext cx="29271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条</a:t>
            </a:r>
            <a:endParaRPr sz="67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el-1782912285910-58"/>
          <p:cNvSpPr txBox="1"/>
          <p:nvPr/>
        </p:nvSpPr>
        <p:spPr>
          <a:xfrm>
            <a:off x="3432215" y="1042273"/>
            <a:ext cx="192881" cy="1450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el-1782912285910-59"/>
          <p:cNvSpPr txBox="1"/>
          <p:nvPr/>
        </p:nvSpPr>
        <p:spPr>
          <a:xfrm>
            <a:off x="3617952" y="1042273"/>
            <a:ext cx="785723" cy="2900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3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调度竞争是卡顿主因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el-1782912285902-42"/>
          <p:cNvSpPr txBox="1"/>
          <p:nvPr/>
        </p:nvSpPr>
        <p:spPr>
          <a:xfrm>
            <a:off x="4446538" y="1042273"/>
            <a:ext cx="1375082" cy="28217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无温控 Jank 率 72.5%，非 Binder 非锁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el-1782912285911-60"/>
          <p:cNvSpPr txBox="1"/>
          <p:nvPr/>
        </p:nvSpPr>
        <p:spPr>
          <a:xfrm>
            <a:off x="3432215" y="1353741"/>
            <a:ext cx="192881" cy="1450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el-1782912285911-61"/>
          <p:cNvSpPr txBox="1"/>
          <p:nvPr/>
        </p:nvSpPr>
        <p:spPr>
          <a:xfrm>
            <a:off x="3617952" y="1353741"/>
            <a:ext cx="850106" cy="1450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温控降频雪上加霜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el-1782912285903-43"/>
          <p:cNvSpPr txBox="1"/>
          <p:nvPr/>
        </p:nvSpPr>
        <p:spPr>
          <a:xfrm>
            <a:off x="4460915" y="1353741"/>
            <a:ext cx="157510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温度升高后 Jank 率升至 96.6%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el-1782912285912-62"/>
          <p:cNvSpPr txBox="1"/>
          <p:nvPr/>
        </p:nvSpPr>
        <p:spPr>
          <a:xfrm>
            <a:off x="3432215" y="1520190"/>
            <a:ext cx="192881" cy="1450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el-1782912285912-63"/>
          <p:cNvSpPr txBox="1"/>
          <p:nvPr/>
        </p:nvSpPr>
        <p:spPr>
          <a:xfrm>
            <a:off x="3617952" y="1520190"/>
            <a:ext cx="496133" cy="2900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3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场景差异显著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el-1782912285903-44"/>
          <p:cNvSpPr txBox="1"/>
          <p:nvPr/>
        </p:nvSpPr>
        <p:spPr>
          <a:xfrm>
            <a:off x="4156948" y="1520190"/>
            <a:ext cx="1900148" cy="28217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视频有额外容忍度，游戏 Unity 线程模型完全不同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el-1782912285913-64"/>
          <p:cNvSpPr txBox="1"/>
          <p:nvPr/>
        </p:nvSpPr>
        <p:spPr>
          <a:xfrm>
            <a:off x="3432215" y="1831657"/>
            <a:ext cx="192881" cy="1450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el-1782912285913-65"/>
          <p:cNvSpPr txBox="1"/>
          <p:nvPr/>
        </p:nvSpPr>
        <p:spPr>
          <a:xfrm>
            <a:off x="3617952" y="1831657"/>
            <a:ext cx="770275" cy="2900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3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Hint Engine 自适应</a:t>
            </a:r>
            <a:endParaRPr sz="78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el-1782912285903-45"/>
          <p:cNvSpPr txBox="1"/>
          <p:nvPr/>
        </p:nvSpPr>
        <p:spPr>
          <a:xfrm>
            <a:off x="4431090" y="1831657"/>
            <a:ext cx="1585555" cy="28217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根据温控自动切换 PROTECT → UCLAMP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el-1782912285875-26"/>
          <p:cNvSpPr txBox="1"/>
          <p:nvPr/>
        </p:nvSpPr>
        <p:spPr>
          <a:xfrm>
            <a:off x="3417927" y="2271713"/>
            <a:ext cx="2682121" cy="2800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90"/>
              </a:lnSpc>
            </a:pPr>
            <a:r>
              <a:rPr sz="78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核心发现</a:t>
            </a:r>
            <a:r>
              <a:rPr sz="78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：调度竞争 (而非 Binder 或锁) 是 Android 交互卡顿的首要瓶颈，温控降频进一步放大问题。</a:t>
            </a:r>
            <a:endParaRPr sz="78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el-1782912285876-27"/>
          <p:cNvSpPr txBox="1"/>
          <p:nvPr/>
        </p:nvSpPr>
        <p:spPr>
          <a:xfrm>
            <a:off x="6385798" y="837962"/>
            <a:ext cx="2315289" cy="15430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🏆 核心贡献 </a:t>
            </a:r>
            <a:r>
              <a:rPr sz="78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条</a:t>
            </a:r>
            <a:endParaRPr sz="78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el-1782912285914-66"/>
          <p:cNvSpPr txBox="1"/>
          <p:nvPr/>
        </p:nvSpPr>
        <p:spPr>
          <a:xfrm>
            <a:off x="6457236" y="1032272"/>
            <a:ext cx="175200" cy="1393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73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el-1782912285903-46"/>
          <p:cNvSpPr txBox="1"/>
          <p:nvPr/>
        </p:nvSpPr>
        <p:spPr>
          <a:xfrm>
            <a:off x="6614577" y="1026557"/>
            <a:ext cx="150019" cy="43719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证明了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el-1782912285915-68"/>
          <p:cNvSpPr txBox="1"/>
          <p:nvPr/>
        </p:nvSpPr>
        <p:spPr>
          <a:xfrm>
            <a:off x="6771204" y="1020842"/>
            <a:ext cx="356116" cy="300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70"/>
              </a:lnSpc>
            </a:pPr>
            <a:r>
              <a:rPr sz="78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Frame-Centric</a:t>
            </a:r>
            <a:endParaRPr sz="78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el-1782912285904-47"/>
          <p:cNvSpPr txBox="1"/>
          <p:nvPr/>
        </p:nvSpPr>
        <p:spPr>
          <a:xfrm>
            <a:off x="7155894" y="1026557"/>
            <a:ext cx="1383566" cy="43719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（帧对齐 + 依赖感知）比传统 PID-Centric 更有效定位 Android 交互卡顿根因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el-1782912285915-69"/>
          <p:cNvSpPr txBox="1"/>
          <p:nvPr/>
        </p:nvSpPr>
        <p:spPr>
          <a:xfrm>
            <a:off x="6457236" y="1510903"/>
            <a:ext cx="175200" cy="1393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73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el-1782912285904-48"/>
          <p:cNvSpPr txBox="1"/>
          <p:nvPr/>
        </p:nvSpPr>
        <p:spPr>
          <a:xfrm>
            <a:off x="6614577" y="1505188"/>
            <a:ext cx="250031" cy="2871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识别了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el-1782912285918-71"/>
          <p:cNvSpPr txBox="1"/>
          <p:nvPr/>
        </p:nvSpPr>
        <p:spPr>
          <a:xfrm>
            <a:off x="6875770" y="1499473"/>
            <a:ext cx="697944" cy="300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70"/>
              </a:lnSpc>
            </a:pPr>
            <a:r>
              <a:rPr sz="78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调度竞争为卡顿主因</a:t>
            </a:r>
            <a:endParaRPr sz="78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el-1782912285904-49"/>
          <p:cNvSpPr txBox="1"/>
          <p:nvPr/>
        </p:nvSpPr>
        <p:spPr>
          <a:xfrm>
            <a:off x="7602289" y="1505188"/>
            <a:ext cx="1063883" cy="2871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（非温控 / 非 Binder / 非锁）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el-1782912285918-72"/>
          <p:cNvSpPr txBox="1"/>
          <p:nvPr/>
        </p:nvSpPr>
        <p:spPr>
          <a:xfrm>
            <a:off x="6457236" y="1839516"/>
            <a:ext cx="175200" cy="1393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73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el-1782912285904-50"/>
          <p:cNvSpPr txBox="1"/>
          <p:nvPr/>
        </p:nvSpPr>
        <p:spPr>
          <a:xfrm>
            <a:off x="6614577" y="1833801"/>
            <a:ext cx="937707" cy="2871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Hint Engine 能根据温度等环境条件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el-1782912285920-74"/>
          <p:cNvSpPr txBox="1"/>
          <p:nvPr/>
        </p:nvSpPr>
        <p:spPr>
          <a:xfrm>
            <a:off x="7535049" y="1828086"/>
            <a:ext cx="393263" cy="4500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70"/>
              </a:lnSpc>
            </a:pPr>
            <a:r>
              <a:rPr sz="780" b="1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自适应调整策略</a:t>
            </a:r>
            <a:endParaRPr sz="780" b="1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el-1782912285904-51"/>
          <p:cNvSpPr txBox="1"/>
          <p:nvPr/>
        </p:nvSpPr>
        <p:spPr>
          <a:xfrm>
            <a:off x="7956888" y="1833801"/>
            <a:ext cx="718304" cy="2871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（PROTECT → UCLAMP）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el-1782912285877-28"/>
          <p:cNvSpPr txBox="1"/>
          <p:nvPr/>
        </p:nvSpPr>
        <p:spPr>
          <a:xfrm>
            <a:off x="492919" y="4331256"/>
            <a:ext cx="259193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🚀 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sched_ext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el-1782912285878-29"/>
          <p:cNvSpPr txBox="1"/>
          <p:nvPr/>
        </p:nvSpPr>
        <p:spPr>
          <a:xfrm>
            <a:off x="492919" y="4495562"/>
            <a:ext cx="2538353" cy="2600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20"/>
              </a:lnSpc>
            </a:pPr>
            <a:r>
              <a:rPr sz="73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Linux 6.12+ </a:t>
            </a:r>
            <a:r>
              <a:rPr sz="73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可编程调度器</a:t>
            </a:r>
            <a:r>
              <a:rPr sz="73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，将 TracePilot 的 Hint 逻辑直接嵌入内核调度策略</a:t>
            </a:r>
            <a:endParaRPr sz="73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el-1782912285879-30"/>
          <p:cNvSpPr txBox="1"/>
          <p:nvPr/>
        </p:nvSpPr>
        <p:spPr>
          <a:xfrm>
            <a:off x="3302734" y="4331256"/>
            <a:ext cx="259202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🧠 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Learned Policy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el-1782912285880-31"/>
          <p:cNvSpPr txBox="1"/>
          <p:nvPr/>
        </p:nvSpPr>
        <p:spPr>
          <a:xfrm>
            <a:off x="3302734" y="4495562"/>
            <a:ext cx="2538442" cy="2600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20"/>
              </a:lnSpc>
            </a:pPr>
            <a:r>
              <a:rPr sz="73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强化学习</a:t>
            </a:r>
            <a:r>
              <a:rPr sz="73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多 trace 训练，让 Hint Engine 学会更优的调度干预策略</a:t>
            </a:r>
            <a:endParaRPr sz="73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el-1782912285881-32"/>
          <p:cNvSpPr txBox="1"/>
          <p:nvPr/>
        </p:nvSpPr>
        <p:spPr>
          <a:xfrm>
            <a:off x="6112639" y="4331256"/>
            <a:ext cx="2592020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🌐 </a:t>
            </a:r>
            <a:r>
              <a:rPr sz="84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多场景扩展</a:t>
            </a:r>
            <a:endParaRPr sz="840" b="1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el-1782912285882-33"/>
          <p:cNvSpPr txBox="1"/>
          <p:nvPr/>
        </p:nvSpPr>
        <p:spPr>
          <a:xfrm>
            <a:off x="6112639" y="4495562"/>
            <a:ext cx="2538442" cy="2600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20"/>
              </a:lnSpc>
            </a:pPr>
            <a:r>
              <a:rPr sz="73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游戏深化 / 支付场景 / </a:t>
            </a:r>
            <a:r>
              <a:rPr sz="730" b="1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传感器融合</a:t>
            </a:r>
            <a:r>
              <a:rPr sz="730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，覆盖更多 Android 交互场景</a:t>
            </a:r>
            <a:endParaRPr sz="730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el-1782912285856-15"/>
          <p:cNvSpPr txBox="1"/>
          <p:nvPr/>
        </p:nvSpPr>
        <p:spPr>
          <a:xfrm>
            <a:off x="400050" y="4949905"/>
            <a:ext cx="53506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el-1782912285856-16"/>
          <p:cNvSpPr txBox="1"/>
          <p:nvPr/>
        </p:nvSpPr>
        <p:spPr>
          <a:xfrm>
            <a:off x="1056561" y="4949905"/>
            <a:ext cx="7911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el-1782912285857-17"/>
          <p:cNvSpPr txBox="1"/>
          <p:nvPr/>
        </p:nvSpPr>
        <p:spPr>
          <a:xfrm>
            <a:off x="1257121" y="4949905"/>
            <a:ext cx="441037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</a:t>
            </a:r>
            <a:r>
              <a:rPr lang="en-US" altLang="en-US" sz="780" spc="17">
                <a:solidFill>
                  <a:srgbClr val="5A6A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altLang="en-US" sz="780" spc="17">
              <a:solidFill>
                <a:srgbClr val="5A6A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el-1782912285846-6"/>
          <p:cNvSpPr txBox="1"/>
          <p:nvPr/>
        </p:nvSpPr>
        <p:spPr>
          <a:xfrm>
            <a:off x="8243888" y="4949905"/>
            <a:ext cx="550069" cy="137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2D40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总结与展望</a:t>
            </a:r>
            <a:endParaRPr sz="780">
              <a:solidFill>
                <a:srgbClr val="2D40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2912285957-2"/>
          <p:cNvSpPr/>
          <p:nvPr/>
        </p:nvSpPr>
        <p:spPr>
          <a:xfrm>
            <a:off x="-36195" y="123825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25334A"/>
              </a:gs>
              <a:gs pos="100000">
                <a:srgbClr val="141824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/>
        </p:txBody>
      </p:sp>
      <p:sp>
        <p:nvSpPr>
          <p:cNvPr id="3" name="el-1782912285958-3"/>
          <p:cNvSpPr/>
          <p:nvPr/>
        </p:nvSpPr>
        <p:spPr>
          <a:xfrm>
            <a:off x="5286375" y="571500"/>
            <a:ext cx="3000375" cy="30003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D4A017">
                  <a:alpha val="6000"/>
                </a:srgbClr>
              </a:gs>
              <a:gs pos="70000">
                <a:srgbClr val="D4A01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/>
        </p:txBody>
      </p:sp>
      <p:sp>
        <p:nvSpPr>
          <p:cNvPr id="4" name="el-1782912285959-4"/>
          <p:cNvSpPr/>
          <p:nvPr/>
        </p:nvSpPr>
        <p:spPr>
          <a:xfrm>
            <a:off x="428625" y="2786063"/>
            <a:ext cx="2143125" cy="21431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2D4059">
                  <a:alpha val="25000"/>
                </a:srgbClr>
              </a:gs>
              <a:gs pos="70000">
                <a:srgbClr val="2D405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/>
        </p:txBody>
      </p:sp>
      <p:sp>
        <p:nvSpPr>
          <p:cNvPr id="5" name="el-1782912285962-6"/>
          <p:cNvSpPr/>
          <p:nvPr/>
        </p:nvSpPr>
        <p:spPr>
          <a:xfrm>
            <a:off x="7822406" y="928688"/>
            <a:ext cx="35719" cy="35719"/>
          </a:xfrm>
          <a:prstGeom prst="ellipse">
            <a:avLst/>
          </a:prstGeom>
          <a:solidFill>
            <a:srgbClr val="D4A017">
              <a:alpha val="3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2912285963-7"/>
          <p:cNvSpPr/>
          <p:nvPr/>
        </p:nvSpPr>
        <p:spPr>
          <a:xfrm>
            <a:off x="7122319" y="3979069"/>
            <a:ext cx="21431" cy="21431"/>
          </a:xfrm>
          <a:prstGeom prst="ellipse">
            <a:avLst/>
          </a:prstGeom>
          <a:solidFill>
            <a:srgbClr val="D4A017">
              <a:alpha val="2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2912285964-8"/>
          <p:cNvSpPr/>
          <p:nvPr/>
        </p:nvSpPr>
        <p:spPr>
          <a:xfrm>
            <a:off x="785813" y="1714500"/>
            <a:ext cx="28575" cy="28575"/>
          </a:xfrm>
          <a:prstGeom prst="ellipse">
            <a:avLst/>
          </a:prstGeom>
          <a:solidFill>
            <a:srgbClr val="D4A017">
              <a:alpha val="2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2912285965-9"/>
          <p:cNvSpPr/>
          <p:nvPr/>
        </p:nvSpPr>
        <p:spPr>
          <a:xfrm>
            <a:off x="1857375" y="3671888"/>
            <a:ext cx="42863" cy="42863"/>
          </a:xfrm>
          <a:prstGeom prst="ellipse">
            <a:avLst/>
          </a:prstGeom>
          <a:solidFill>
            <a:srgbClr val="D4A017">
              <a:alpha val="20000"/>
            </a:srgbClr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2912285970-10"/>
          <p:cNvCxnSpPr/>
          <p:nvPr/>
        </p:nvCxnSpPr>
        <p:spPr>
          <a:xfrm>
            <a:off x="4250531" y="1955244"/>
            <a:ext cx="642938" cy="914"/>
          </a:xfrm>
          <a:prstGeom prst="line">
            <a:avLst/>
          </a:prstGeom>
          <a:ln w="14288" cap="flat">
            <a:solidFill>
              <a:srgbClr val="D4A017">
                <a:alpha val="70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2912285976-13"/>
          <p:cNvSpPr/>
          <p:nvPr/>
        </p:nvSpPr>
        <p:spPr>
          <a:xfrm>
            <a:off x="2417088" y="2773918"/>
            <a:ext cx="4309824" cy="1058704"/>
          </a:xfrm>
          <a:prstGeom prst="roundRect">
            <a:avLst>
              <a:gd name="adj" fmla="val 3599"/>
            </a:avLst>
          </a:prstGeom>
          <a:solidFill>
            <a:srgbClr val="FFFFFF">
              <a:alpha val="4000"/>
            </a:srgbClr>
          </a:solidFill>
          <a:ln w="7144" algn="in">
            <a:solidFill>
              <a:srgbClr val="D4A017">
                <a:alpha val="1500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2912285972-11"/>
          <p:cNvSpPr txBox="1"/>
          <p:nvPr/>
        </p:nvSpPr>
        <p:spPr>
          <a:xfrm>
            <a:off x="2364581" y="1225153"/>
            <a:ext cx="4414838" cy="565785"/>
          </a:xfrm>
          <a:prstGeom prst="rect">
            <a:avLst/>
          </a:prstGeom>
          <a:noFill/>
          <a:ln>
            <a:noFill/>
          </a:ln>
          <a:effectLst>
            <a:outerShdw blurRad="171450" dist="28575" dir="5400000" algn="ctr">
              <a:srgbClr val="000000">
                <a:alpha val="5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4050" b="1" spc="338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谢谢！</a:t>
            </a:r>
            <a:r>
              <a:rPr sz="4050" b="1" spc="338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欢迎提问</a:t>
            </a:r>
            <a:endParaRPr sz="4050" b="1" spc="338">
              <a:solidFill>
                <a:srgbClr val="D4A0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2912285973-12"/>
          <p:cNvSpPr txBox="1"/>
          <p:nvPr/>
        </p:nvSpPr>
        <p:spPr>
          <a:xfrm>
            <a:off x="3089672" y="2133838"/>
            <a:ext cx="2964656" cy="297180"/>
          </a:xfrm>
          <a:prstGeom prst="rect">
            <a:avLst/>
          </a:prstGeom>
          <a:noFill/>
          <a:ln>
            <a:noFill/>
          </a:ln>
          <a:effectLst>
            <a:outerShdw blurRad="85725" dist="14288" dir="5400000" algn="ctr">
              <a:srgbClr val="000000">
                <a:alpha val="30000"/>
              </a:srgbClr>
            </a:outerShdw>
          </a:effectLst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800" spc="338">
                <a:solidFill>
                  <a:srgbClr val="E8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 YOU · Q&amp;A</a:t>
            </a:r>
            <a:endParaRPr sz="1800" spc="338">
              <a:solidFill>
                <a:srgbClr val="E8E8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2912285979-15"/>
          <p:cNvSpPr txBox="1"/>
          <p:nvPr/>
        </p:nvSpPr>
        <p:spPr>
          <a:xfrm>
            <a:off x="3844230" y="2938225"/>
            <a:ext cx="145545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10" spc="169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 团队</a:t>
            </a:r>
            <a:endParaRPr sz="1010" spc="169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2912285979-14"/>
          <p:cNvSpPr txBox="1"/>
          <p:nvPr/>
        </p:nvSpPr>
        <p:spPr>
          <a:xfrm>
            <a:off x="2688550" y="3166825"/>
            <a:ext cx="3766900" cy="2357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30" spc="113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潘智勇 </a:t>
            </a:r>
            <a:r>
              <a:rPr sz="900" spc="113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1230" spc="113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r>
              <a:rPr sz="900" spc="113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1230" spc="113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李松茂 </a:t>
            </a:r>
            <a:r>
              <a:rPr sz="900" spc="113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1230" spc="113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r>
              <a:rPr sz="900" spc="113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1230" spc="113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邵晨轩 </a:t>
            </a:r>
            <a:r>
              <a:rPr sz="900" spc="113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1230" spc="113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r>
              <a:rPr sz="900" spc="113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1230" spc="113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贺小轩 </a:t>
            </a:r>
            <a:r>
              <a:rPr sz="900" spc="113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1230" spc="113">
                <a:solidFill>
                  <a:srgbClr val="D4A0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r>
              <a:rPr sz="900" spc="113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1230" spc="113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杨子皓</a:t>
            </a:r>
            <a:endParaRPr sz="1230" spc="113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2912285980-16"/>
          <p:cNvSpPr txBox="1"/>
          <p:nvPr/>
        </p:nvSpPr>
        <p:spPr>
          <a:xfrm>
            <a:off x="4059882" y="3488293"/>
            <a:ext cx="1024235" cy="1657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50" spc="169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年 </a:t>
            </a:r>
            <a:r>
              <a:rPr lang="en-US" altLang="en-US" sz="950" spc="169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sz="950" spc="169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月</a:t>
            </a:r>
            <a:endParaRPr sz="950" spc="169">
              <a:solidFill>
                <a:srgbClr val="FFFFFF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2912285961-5"/>
          <p:cNvSpPr/>
          <p:nvPr/>
        </p:nvSpPr>
        <p:spPr>
          <a:xfrm>
            <a:off x="228600" y="2000250"/>
            <a:ext cx="28575" cy="1143000"/>
          </a:xfrm>
          <a:prstGeom prst="roundRect">
            <a:avLst>
              <a:gd name="adj" fmla="val 50000"/>
            </a:avLst>
          </a:prstGeom>
          <a:solidFill>
            <a:srgbClr val="D4A017">
              <a:alpha val="4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2912285955-1"/>
          <p:cNvSpPr txBox="1"/>
          <p:nvPr/>
        </p:nvSpPr>
        <p:spPr>
          <a:xfrm>
            <a:off x="400050" y="4817745"/>
            <a:ext cx="1139696" cy="1257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 spc="113">
                <a:solidFill>
                  <a:srgbClr val="FFFFFF">
                    <a:alpha val="1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TracePilot | 2026.0</a:t>
            </a:r>
            <a:r>
              <a:rPr lang="en-US" altLang="en-US" sz="730" spc="113">
                <a:solidFill>
                  <a:srgbClr val="FFFFFF">
                    <a:alpha val="1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altLang="en-US" sz="730" spc="113">
              <a:solidFill>
                <a:srgbClr val="FFFFFF">
                  <a:alpha val="1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27825</Words>
  <Application>WPS 演示</Application>
  <PresentationFormat>全屏显示(16:9)</PresentationFormat>
  <Paragraphs>3726</Paragraphs>
  <Slides>41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60" baseType="lpstr">
      <vt:lpstr>Arial</vt:lpstr>
      <vt:lpstr>宋体</vt:lpstr>
      <vt:lpstr>Wingdings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Courier New</vt:lpstr>
      <vt:lpstr>Courier New</vt:lpstr>
      <vt:lpstr>微软雅黑</vt:lpstr>
      <vt:lpstr>Apple Color Emoji</vt:lpstr>
      <vt:lpstr>ui-sans-serif</vt:lpstr>
      <vt:lpstr>Thonburi</vt:lpstr>
      <vt:lpstr>MS PGothic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</dc:title>
  <dc:creator>html-to-pptx-demo</dc:creator>
  <cp:lastModifiedBy>潘智勇</cp:lastModifiedBy>
  <cp:revision>10</cp:revision>
  <dcterms:created xsi:type="dcterms:W3CDTF">2026-07-02T02:53:56Z</dcterms:created>
  <dcterms:modified xsi:type="dcterms:W3CDTF">2026-07-02T02:53:56Z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DBD029907A80FF5DDC38456AF4F02450_43</vt:lpwstr>
  </property>
  <property fmtid="{D5CDD505-2E9C-101B-9397-08002B2CF9AE}" pid="3" name="KSOProductBuildVer">
    <vt:lpwstr>2052-12.1.25867.25867</vt:lpwstr>
  </property>
</Properties>
</file>